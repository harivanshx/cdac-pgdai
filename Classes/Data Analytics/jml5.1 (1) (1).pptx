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s/slide48.xml" ContentType="application/vnd.openxmlformats-officedocument.presentationml.slide+xml"/>
  <Override PartName="/ppt/slides/slide59.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58.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57.xml" ContentType="application/vnd.openxmlformats-officedocument.presentationml.slide+xml"/>
  <Override PartName="/ppt/slides/slide33.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60.xml" ContentType="application/vnd.openxmlformats-officedocument.presentationml.slide+xml"/>
  <Override PartName="/ppt/slides/slide22.xml" ContentType="application/vnd.openxmlformats-officedocument.presentationml.slide+xml"/>
  <Override PartName="/ppt/slides/slide6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49.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4.xml" ContentType="application/vnd.openxmlformats-officedocument.presentationml.slide+xml"/>
  <Override PartName="/ppt/slides/slide56.xml" ContentType="application/vnd.openxmlformats-officedocument.presentationml.slide+xml"/>
  <Override PartName="/ppt/slides/slide35.xml" ContentType="application/vnd.openxmlformats-officedocument.presentationml.slide+xml"/>
  <Override PartName="/ppt/slides/slide5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1.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0.xml" ContentType="application/vnd.openxmlformats-officedocument.presentationml.slide+xml"/>
  <Override PartName="/ppt/slides/slide47.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53.xml" ContentType="application/vnd.openxmlformats-officedocument.presentationml.slide+xml"/>
  <Override PartName="/ppt/slides/slide36.xml" ContentType="application/vnd.openxmlformats-officedocument.presentationml.slide+xml"/>
  <Override PartName="/ppt/slides/slide5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54.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21.xml" ContentType="application/vnd.openxmlformats-officedocument.presentationml.slide+xml"/>
  <Override PartName="/ppt/slides/slide61.xml" ContentType="application/vnd.openxmlformats-officedocument.presentationml.slide+xml"/>
  <Override PartName="/ppt/slides/slide1.xml" ContentType="application/vnd.openxmlformats-officedocument.presentationml.slide+xml"/>
  <Override PartName="/ppt/slides/slide9.xml" ContentType="application/vnd.openxmlformats-officedocument.presentationml.slide+xml"/>
  <Override PartName="/ppt/slides/slide6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4.xml" ContentType="application/vnd.openxmlformats-officedocument.presentationml.slide+xml"/>
  <Override PartName="/ppt/slides/slide10.xml" ContentType="application/vnd.openxmlformats-officedocument.presentationml.slide+xml"/>
  <Override PartName="/ppt/slides/slide19.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0.xml" ContentType="application/vnd.openxmlformats-officedocument.presentationml.slide+xml"/>
  <Override PartName="/ppt/slides/slide15.xml" ContentType="application/vnd.openxmlformats-officedocument.presentationml.slide+xml"/>
  <Override PartName="/ppt/slides/slide18.xml" ContentType="application/vnd.openxmlformats-officedocument.presentationml.slide+xml"/>
  <Override PartName="/ppt/notesSlides/notesSlide63.xml" ContentType="application/vnd.openxmlformats-officedocument.presentationml.notesSlide+xml"/>
  <Override PartName="/ppt/notesSlides/notesSlide61.xml" ContentType="application/vnd.openxmlformats-officedocument.presentationml.notesSlide+xml"/>
  <Override PartName="/ppt/slideMasters/slideMaster1.xml" ContentType="application/vnd.openxmlformats-officedocument.presentationml.slideMaster+xml"/>
  <Override PartName="/ppt/notesSlides/notesSlide60.xml" ContentType="application/vnd.openxmlformats-officedocument.presentationml.notesSlide+xml"/>
  <Override PartName="/ppt/notesSlides/notesSlide62.xml" ContentType="application/vnd.openxmlformats-officedocument.presentationml.notesSlide+xml"/>
  <Override PartName="/ppt/notesSlides/notesSlide58.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notesSlides/notesSlide33.xml" ContentType="application/vnd.openxmlformats-officedocument.presentationml.notesSlide+xml"/>
  <Override PartName="/ppt/notesSlides/notesSlide59.xml" ContentType="application/vnd.openxmlformats-officedocument.presentationml.notesSlide+xml"/>
  <Override PartName="/ppt/notesSlides/notesSlide52.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50.xml" ContentType="application/vnd.openxmlformats-officedocument.presentationml.notesSlide+xml"/>
  <Override PartName="/ppt/notesSlides/notesSlide38.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1.xml" ContentType="application/vnd.openxmlformats-officedocument.presentationml.notesSlide+xml"/>
  <Override PartName="/ppt/notesSlides/notesSlide41.xml" ContentType="application/vnd.openxmlformats-officedocument.presentationml.notesSlide+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49.xml" ContentType="application/vnd.openxmlformats-officedocument.presentationml.notesSlide+xml"/>
  <Override PartName="/ppt/notesSlides/notesSlide34.xml" ContentType="application/vnd.openxmlformats-officedocument.presentationml.notesSlide+xml"/>
  <Override PartName="/ppt/notesSlides/notesSlide46.xml" ContentType="application/vnd.openxmlformats-officedocument.presentationml.notesSlide+xml"/>
  <Override PartName="/ppt/notesSlides/notesSlide45.xml" ContentType="application/vnd.openxmlformats-officedocument.presentationml.notesSlide+xml"/>
  <Override PartName="/ppt/notesSlides/notesSlide47.xml" ContentType="application/vnd.openxmlformats-officedocument.presentationml.notesSlide+xml"/>
  <Override PartName="/ppt/notesSlides/notesSlide35.xml" ContentType="application/vnd.openxmlformats-officedocument.presentationml.notesSlide+xml"/>
  <Override PartName="/ppt/notesSlides/notesSlide42.xml" ContentType="application/vnd.openxmlformats-officedocument.presentationml.notesSlide+xml"/>
  <Override PartName="/ppt/notesSlides/notesSlide48.xml" ContentType="application/vnd.openxmlformats-officedocument.presentationml.notesSlide+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65"/>
  </p:notesMasterIdLst>
  <p:sldIdLst>
    <p:sldId id="256" r:id="rId2"/>
    <p:sldId id="257" r:id="rId3"/>
    <p:sldId id="258" r:id="rId4"/>
    <p:sldId id="259" r:id="rId5"/>
    <p:sldId id="260" r:id="rId6"/>
    <p:sldId id="261" r:id="rId7"/>
    <p:sldId id="262" r:id="rId8"/>
    <p:sldId id="263"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13" r:id="rId55"/>
    <p:sldId id="314" r:id="rId56"/>
    <p:sldId id="315" r:id="rId57"/>
    <p:sldId id="316" r:id="rId58"/>
    <p:sldId id="317" r:id="rId59"/>
    <p:sldId id="318" r:id="rId60"/>
    <p:sldId id="319" r:id="rId61"/>
    <p:sldId id="320" r:id="rId62"/>
    <p:sldId id="321" r:id="rId63"/>
    <p:sldId id="322" r:id="rId64"/>
  </p:sldIdLst>
  <p:sldSz cx="9144000" cy="6858000" type="screen4x3"/>
  <p:notesSz cx="6858000" cy="9144000"/>
  <p:embeddedFontLst>
    <p:embeddedFont>
      <p:font typeface="Tahoma" pitchFamily="34" charset="0"/>
      <p:regular r:id="rId66"/>
      <p:bold r:id="rId67"/>
    </p:embeddedFont>
    <p:embeddedFont>
      <p:font typeface="Century" pitchFamily="18" charset="0"/>
      <p:regular r:id="rId68"/>
    </p:embeddedFont>
    <p:embeddedFont>
      <p:font typeface="Trebuchet MS" pitchFamily="34" charset="0"/>
      <p:regular r:id="rId69"/>
      <p:bold r:id="rId70"/>
      <p:italic r:id="rId71"/>
      <p:boldItalic r:id="rId72"/>
    </p:embeddedFont>
    <p:embeddedFont>
      <p:font typeface="Arial Narrow" pitchFamily="34" charset="0"/>
      <p:regular r:id="rId73"/>
      <p:bold r:id="rId74"/>
      <p:italic r:id="rId75"/>
      <p:boldItalic r:id="rId76"/>
    </p:embeddedFont>
    <p:embeddedFont>
      <p:font typeface="Lucida Sans" pitchFamily="34" charset="0"/>
      <p:regular r:id="rId77"/>
      <p:bold r:id="rId78"/>
      <p:italic r:id="rId79"/>
      <p:boldItalic r:id="rId8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2880">
          <p15:clr>
            <a:srgbClr val="000000"/>
          </p15:clr>
        </p15:guide>
      </p15:sldGuideLst>
    </p:ext>
    <p:ext uri="{2D200454-40CA-4A62-9FC3-DE9A4176ACB9}">
      <p15:notes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1777CA09-EAB0-4852-9CA1-627062E9AE65}">
  <a:tblStyle styleId="{1777CA09-EAB0-4852-9CA1-627062E9AE6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varScale="1">
        <p:scale>
          <a:sx n="68" d="100"/>
          <a:sy n="68" d="100"/>
        </p:scale>
        <p:origin x="-1428" y="-96"/>
      </p:cViewPr>
      <p:guideLst>
        <p:guide orient="horz" pos="2160"/>
        <p:guide pos="2880"/>
      </p:guideLst>
    </p:cSldViewPr>
  </p:slideViewPr>
  <p:notesTextViewPr>
    <p:cViewPr>
      <p:scale>
        <a:sx n="100" d="100"/>
        <a:sy n="100" d="100"/>
      </p:scale>
      <p:origin x="0" y="0"/>
    </p:cViewPr>
  </p:notesTextViewPr>
  <p:notesViewPr>
    <p:cSldViewPr snapToGrid="0">
      <p:cViewPr varScale="1">
        <p:scale>
          <a:sx n="100" d="100"/>
          <a:sy n="100" d="100"/>
        </p:scale>
        <p:origin x="0" y="0"/>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3.fntdata"/><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9.fntdata"/><Relationship Id="rId79" Type="http://schemas.openxmlformats.org/officeDocument/2006/relationships/font" Target="fonts/font14.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4.fntdata"/><Relationship Id="rId77"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7.fntdata"/><Relationship Id="rId80" Type="http://schemas.openxmlformats.org/officeDocument/2006/relationships/font" Target="fonts/font15.fntdata"/><Relationship Id="rId85" Type="http://schemas.openxmlformats.org/officeDocument/2006/relationships/customXml" Target="../customXml/item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5.fntdata"/><Relationship Id="rId75" Type="http://schemas.openxmlformats.org/officeDocument/2006/relationships/font" Target="fonts/font10.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73" Type="http://schemas.openxmlformats.org/officeDocument/2006/relationships/font" Target="fonts/font8.fntdata"/><Relationship Id="rId78" Type="http://schemas.openxmlformats.org/officeDocument/2006/relationships/font" Target="fonts/font13.fntdata"/><Relationship Id="rId81" Type="http://schemas.openxmlformats.org/officeDocument/2006/relationships/presProps" Target="presProps.xml"/><Relationship Id="rId86"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1.fntdata"/><Relationship Id="rId7" Type="http://schemas.openxmlformats.org/officeDocument/2006/relationships/slide" Target="slides/slide6.xml"/><Relationship Id="rId71" Type="http://schemas.openxmlformats.org/officeDocument/2006/relationships/font" Target="fonts/font6.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1.fntdata"/><Relationship Id="rId61" Type="http://schemas.openxmlformats.org/officeDocument/2006/relationships/slide" Target="slides/slide60.xml"/><Relationship Id="rId8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body" idx="1"/>
          </p:nvPr>
        </p:nvSpPr>
        <p:spPr>
          <a:xfrm>
            <a:off x="914400" y="3429000"/>
            <a:ext cx="5029200" cy="5029200"/>
          </a:xfrm>
          <a:prstGeom prst="rect">
            <a:avLst/>
          </a:prstGeom>
          <a:noFill/>
          <a:ln>
            <a:noFill/>
          </a:ln>
        </p:spPr>
        <p:txBody>
          <a:bodyPr spcFirstLastPara="1" wrap="square" lIns="90475" tIns="44450" rIns="90475" bIns="44450" anchor="t" anchorCtr="0">
            <a:noAutofit/>
          </a:bodyPr>
          <a:lstStyle>
            <a:lvl1pPr marL="457200" marR="0" lvl="0" indent="-228600" algn="l" rtl="0">
              <a:spcBef>
                <a:spcPts val="420"/>
              </a:spcBef>
              <a:spcAft>
                <a:spcPts val="0"/>
              </a:spcAft>
              <a:buSzPts val="1400"/>
              <a:buNone/>
              <a:defRPr sz="1400" b="0" i="0" u="none" strike="noStrike" cap="none">
                <a:solidFill>
                  <a:schemeClr val="dk1"/>
                </a:solidFill>
                <a:latin typeface="Arial"/>
                <a:ea typeface="Arial"/>
                <a:cs typeface="Arial"/>
                <a:sym typeface="Arial"/>
              </a:defRPr>
            </a:lvl1pPr>
            <a:lvl2pPr marL="914400" marR="0" lvl="1" indent="-228600" algn="l" rtl="0">
              <a:spcBef>
                <a:spcPts val="420"/>
              </a:spcBef>
              <a:spcAft>
                <a:spcPts val="0"/>
              </a:spcAft>
              <a:buSzPts val="1400"/>
              <a:buNone/>
              <a:defRPr sz="1400" b="0" i="0" u="none" strike="noStrike" cap="none">
                <a:solidFill>
                  <a:schemeClr val="dk1"/>
                </a:solidFill>
                <a:latin typeface="Arial"/>
                <a:ea typeface="Arial"/>
                <a:cs typeface="Arial"/>
                <a:sym typeface="Arial"/>
              </a:defRPr>
            </a:lvl2pPr>
            <a:lvl3pPr marL="1371600" marR="0" lvl="2" indent="-228600" algn="l" rtl="0">
              <a:spcBef>
                <a:spcPts val="420"/>
              </a:spcBef>
              <a:spcAft>
                <a:spcPts val="0"/>
              </a:spcAft>
              <a:buSzPts val="1400"/>
              <a:buNone/>
              <a:defRPr sz="1400" b="0" i="0" u="none" strike="noStrike" cap="none">
                <a:solidFill>
                  <a:schemeClr val="dk1"/>
                </a:solidFill>
                <a:latin typeface="Arial"/>
                <a:ea typeface="Arial"/>
                <a:cs typeface="Arial"/>
                <a:sym typeface="Arial"/>
              </a:defRPr>
            </a:lvl3pPr>
            <a:lvl4pPr marL="1828800" marR="0" lvl="3" indent="-228600" algn="l" rtl="0">
              <a:spcBef>
                <a:spcPts val="420"/>
              </a:spcBef>
              <a:spcAft>
                <a:spcPts val="0"/>
              </a:spcAft>
              <a:buSzPts val="1400"/>
              <a:buNone/>
              <a:defRPr sz="1400" b="0" i="0" u="none" strike="noStrike" cap="none">
                <a:solidFill>
                  <a:schemeClr val="dk1"/>
                </a:solidFill>
                <a:latin typeface="Arial"/>
                <a:ea typeface="Arial"/>
                <a:cs typeface="Arial"/>
                <a:sym typeface="Arial"/>
              </a:defRPr>
            </a:lvl4pPr>
            <a:lvl5pPr marL="2286000" marR="0" lvl="4" indent="-228600" algn="l" rtl="0">
              <a:spcBef>
                <a:spcPts val="420"/>
              </a:spcBef>
              <a:spcAft>
                <a:spcPts val="0"/>
              </a:spcAft>
              <a:buSzPts val="1400"/>
              <a:buNone/>
              <a:defRPr sz="14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4" name="Google Shape;4;n"/>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miter lim="800000"/>
            <a:headEnd type="none" w="sm" len="sm"/>
            <a:tailEnd type="none" w="sm" len="sm"/>
          </a:ln>
        </p:spPr>
      </p:sp>
      <p:cxnSp>
        <p:nvCxnSpPr>
          <p:cNvPr id="5" name="Google Shape;5;n"/>
          <p:cNvCxnSpPr/>
          <p:nvPr/>
        </p:nvCxnSpPr>
        <p:spPr>
          <a:xfrm>
            <a:off x="1120775" y="3581400"/>
            <a:ext cx="4657725" cy="0"/>
          </a:xfrm>
          <a:prstGeom prst="straightConnector1">
            <a:avLst/>
          </a:prstGeom>
          <a:noFill/>
          <a:ln w="12700" cap="flat" cmpd="sng">
            <a:solidFill>
              <a:schemeClr val="folHlink"/>
            </a:solidFill>
            <a:prstDash val="solid"/>
            <a:round/>
            <a:headEnd type="none" w="med" len="med"/>
            <a:tailEnd type="none" w="med" len="med"/>
          </a:ln>
        </p:spPr>
      </p:cxnSp>
      <p:cxnSp>
        <p:nvCxnSpPr>
          <p:cNvPr id="6" name="Google Shape;6;n"/>
          <p:cNvCxnSpPr/>
          <p:nvPr/>
        </p:nvCxnSpPr>
        <p:spPr>
          <a:xfrm>
            <a:off x="1120775" y="3886200"/>
            <a:ext cx="4657725" cy="0"/>
          </a:xfrm>
          <a:prstGeom prst="straightConnector1">
            <a:avLst/>
          </a:prstGeom>
          <a:noFill/>
          <a:ln w="12700" cap="flat" cmpd="sng">
            <a:solidFill>
              <a:schemeClr val="folHlink"/>
            </a:solidFill>
            <a:prstDash val="solid"/>
            <a:round/>
            <a:headEnd type="none" w="med" len="med"/>
            <a:tailEnd type="none" w="med" len="med"/>
          </a:ln>
        </p:spPr>
      </p:cxnSp>
      <p:cxnSp>
        <p:nvCxnSpPr>
          <p:cNvPr id="7" name="Google Shape;7;n"/>
          <p:cNvCxnSpPr/>
          <p:nvPr/>
        </p:nvCxnSpPr>
        <p:spPr>
          <a:xfrm>
            <a:off x="1120775" y="4191000"/>
            <a:ext cx="4657725" cy="0"/>
          </a:xfrm>
          <a:prstGeom prst="straightConnector1">
            <a:avLst/>
          </a:prstGeom>
          <a:noFill/>
          <a:ln w="12700" cap="flat" cmpd="sng">
            <a:solidFill>
              <a:schemeClr val="folHlink"/>
            </a:solidFill>
            <a:prstDash val="solid"/>
            <a:round/>
            <a:headEnd type="none" w="med" len="med"/>
            <a:tailEnd type="none" w="med" len="med"/>
          </a:ln>
        </p:spPr>
      </p:cxnSp>
      <p:cxnSp>
        <p:nvCxnSpPr>
          <p:cNvPr id="8" name="Google Shape;8;n"/>
          <p:cNvCxnSpPr/>
          <p:nvPr/>
        </p:nvCxnSpPr>
        <p:spPr>
          <a:xfrm>
            <a:off x="1120775" y="4495800"/>
            <a:ext cx="4657725" cy="0"/>
          </a:xfrm>
          <a:prstGeom prst="straightConnector1">
            <a:avLst/>
          </a:prstGeom>
          <a:noFill/>
          <a:ln w="12700" cap="flat" cmpd="sng">
            <a:solidFill>
              <a:schemeClr val="folHlink"/>
            </a:solidFill>
            <a:prstDash val="solid"/>
            <a:round/>
            <a:headEnd type="none" w="med" len="med"/>
            <a:tailEnd type="none" w="med" len="med"/>
          </a:ln>
        </p:spPr>
      </p:cxnSp>
      <p:cxnSp>
        <p:nvCxnSpPr>
          <p:cNvPr id="9" name="Google Shape;9;n"/>
          <p:cNvCxnSpPr/>
          <p:nvPr/>
        </p:nvCxnSpPr>
        <p:spPr>
          <a:xfrm>
            <a:off x="1120775" y="4800600"/>
            <a:ext cx="4657725" cy="0"/>
          </a:xfrm>
          <a:prstGeom prst="straightConnector1">
            <a:avLst/>
          </a:prstGeom>
          <a:noFill/>
          <a:ln w="12700" cap="flat" cmpd="sng">
            <a:solidFill>
              <a:schemeClr val="folHlink"/>
            </a:solidFill>
            <a:prstDash val="solid"/>
            <a:round/>
            <a:headEnd type="none" w="med" len="med"/>
            <a:tailEnd type="none" w="med" len="med"/>
          </a:ln>
        </p:spPr>
      </p:cxnSp>
      <p:cxnSp>
        <p:nvCxnSpPr>
          <p:cNvPr id="10" name="Google Shape;10;n"/>
          <p:cNvCxnSpPr/>
          <p:nvPr/>
        </p:nvCxnSpPr>
        <p:spPr>
          <a:xfrm>
            <a:off x="1120775" y="5105400"/>
            <a:ext cx="4657725" cy="0"/>
          </a:xfrm>
          <a:prstGeom prst="straightConnector1">
            <a:avLst/>
          </a:prstGeom>
          <a:noFill/>
          <a:ln w="12700" cap="flat" cmpd="sng">
            <a:solidFill>
              <a:schemeClr val="folHlink"/>
            </a:solidFill>
            <a:prstDash val="solid"/>
            <a:round/>
            <a:headEnd type="none" w="med" len="med"/>
            <a:tailEnd type="none" w="med" len="med"/>
          </a:ln>
        </p:spPr>
      </p:cxnSp>
      <p:cxnSp>
        <p:nvCxnSpPr>
          <p:cNvPr id="11" name="Google Shape;11;n"/>
          <p:cNvCxnSpPr/>
          <p:nvPr/>
        </p:nvCxnSpPr>
        <p:spPr>
          <a:xfrm>
            <a:off x="1120775" y="5105400"/>
            <a:ext cx="4657725" cy="0"/>
          </a:xfrm>
          <a:prstGeom prst="straightConnector1">
            <a:avLst/>
          </a:prstGeom>
          <a:noFill/>
          <a:ln w="12700" cap="flat" cmpd="sng">
            <a:solidFill>
              <a:schemeClr val="folHlink"/>
            </a:solidFill>
            <a:prstDash val="solid"/>
            <a:round/>
            <a:headEnd type="none" w="med" len="med"/>
            <a:tailEnd type="none" w="med" len="med"/>
          </a:ln>
        </p:spPr>
      </p:cxnSp>
      <p:cxnSp>
        <p:nvCxnSpPr>
          <p:cNvPr id="12" name="Google Shape;12;n"/>
          <p:cNvCxnSpPr/>
          <p:nvPr/>
        </p:nvCxnSpPr>
        <p:spPr>
          <a:xfrm>
            <a:off x="1120775" y="5410200"/>
            <a:ext cx="4657725" cy="0"/>
          </a:xfrm>
          <a:prstGeom prst="straightConnector1">
            <a:avLst/>
          </a:prstGeom>
          <a:noFill/>
          <a:ln w="12700" cap="flat" cmpd="sng">
            <a:solidFill>
              <a:schemeClr val="folHlink"/>
            </a:solidFill>
            <a:prstDash val="solid"/>
            <a:round/>
            <a:headEnd type="none" w="med" len="med"/>
            <a:tailEnd type="none" w="med" len="med"/>
          </a:ln>
        </p:spPr>
      </p:cxnSp>
      <p:cxnSp>
        <p:nvCxnSpPr>
          <p:cNvPr id="13" name="Google Shape;13;n"/>
          <p:cNvCxnSpPr/>
          <p:nvPr/>
        </p:nvCxnSpPr>
        <p:spPr>
          <a:xfrm>
            <a:off x="1120775" y="5715000"/>
            <a:ext cx="4657725" cy="0"/>
          </a:xfrm>
          <a:prstGeom prst="straightConnector1">
            <a:avLst/>
          </a:prstGeom>
          <a:noFill/>
          <a:ln w="12700" cap="flat" cmpd="sng">
            <a:solidFill>
              <a:schemeClr val="folHlink"/>
            </a:solidFill>
            <a:prstDash val="solid"/>
            <a:round/>
            <a:headEnd type="none" w="med" len="med"/>
            <a:tailEnd type="none" w="med" len="med"/>
          </a:ln>
        </p:spPr>
      </p:cxnSp>
      <p:cxnSp>
        <p:nvCxnSpPr>
          <p:cNvPr id="14" name="Google Shape;14;n"/>
          <p:cNvCxnSpPr/>
          <p:nvPr/>
        </p:nvCxnSpPr>
        <p:spPr>
          <a:xfrm>
            <a:off x="1120775" y="6019800"/>
            <a:ext cx="4657725" cy="0"/>
          </a:xfrm>
          <a:prstGeom prst="straightConnector1">
            <a:avLst/>
          </a:prstGeom>
          <a:noFill/>
          <a:ln w="12700" cap="flat" cmpd="sng">
            <a:solidFill>
              <a:schemeClr val="folHlink"/>
            </a:solidFill>
            <a:prstDash val="solid"/>
            <a:round/>
            <a:headEnd type="none" w="med" len="med"/>
            <a:tailEnd type="none" w="med" len="med"/>
          </a:ln>
        </p:spPr>
      </p:cxnSp>
      <p:cxnSp>
        <p:nvCxnSpPr>
          <p:cNvPr id="15" name="Google Shape;15;n"/>
          <p:cNvCxnSpPr/>
          <p:nvPr/>
        </p:nvCxnSpPr>
        <p:spPr>
          <a:xfrm>
            <a:off x="1120775" y="6324600"/>
            <a:ext cx="4657725" cy="0"/>
          </a:xfrm>
          <a:prstGeom prst="straightConnector1">
            <a:avLst/>
          </a:prstGeom>
          <a:noFill/>
          <a:ln w="12700" cap="flat" cmpd="sng">
            <a:solidFill>
              <a:schemeClr val="folHlink"/>
            </a:solidFill>
            <a:prstDash val="solid"/>
            <a:round/>
            <a:headEnd type="none" w="med" len="med"/>
            <a:tailEnd type="none" w="med" len="med"/>
          </a:ln>
        </p:spPr>
      </p:cxnSp>
      <p:cxnSp>
        <p:nvCxnSpPr>
          <p:cNvPr id="16" name="Google Shape;16;n"/>
          <p:cNvCxnSpPr/>
          <p:nvPr/>
        </p:nvCxnSpPr>
        <p:spPr>
          <a:xfrm>
            <a:off x="1120775" y="6629400"/>
            <a:ext cx="4657725" cy="0"/>
          </a:xfrm>
          <a:prstGeom prst="straightConnector1">
            <a:avLst/>
          </a:prstGeom>
          <a:noFill/>
          <a:ln w="12700" cap="flat" cmpd="sng">
            <a:solidFill>
              <a:schemeClr val="folHlink"/>
            </a:solidFill>
            <a:prstDash val="solid"/>
            <a:round/>
            <a:headEnd type="none" w="med" len="med"/>
            <a:tailEnd type="none" w="med" len="med"/>
          </a:ln>
        </p:spPr>
      </p:cxnSp>
      <p:cxnSp>
        <p:nvCxnSpPr>
          <p:cNvPr id="17" name="Google Shape;17;n"/>
          <p:cNvCxnSpPr/>
          <p:nvPr/>
        </p:nvCxnSpPr>
        <p:spPr>
          <a:xfrm>
            <a:off x="1120775" y="6934200"/>
            <a:ext cx="4657725" cy="0"/>
          </a:xfrm>
          <a:prstGeom prst="straightConnector1">
            <a:avLst/>
          </a:prstGeom>
          <a:noFill/>
          <a:ln w="12700" cap="flat" cmpd="sng">
            <a:solidFill>
              <a:schemeClr val="folHlink"/>
            </a:solidFill>
            <a:prstDash val="solid"/>
            <a:round/>
            <a:headEnd type="none" w="med" len="med"/>
            <a:tailEnd type="none" w="med" len="med"/>
          </a:ln>
        </p:spPr>
      </p:cxnSp>
      <p:cxnSp>
        <p:nvCxnSpPr>
          <p:cNvPr id="18" name="Google Shape;18;n"/>
          <p:cNvCxnSpPr/>
          <p:nvPr/>
        </p:nvCxnSpPr>
        <p:spPr>
          <a:xfrm>
            <a:off x="1120775" y="7239000"/>
            <a:ext cx="4657725" cy="0"/>
          </a:xfrm>
          <a:prstGeom prst="straightConnector1">
            <a:avLst/>
          </a:prstGeom>
          <a:noFill/>
          <a:ln w="12700" cap="flat" cmpd="sng">
            <a:solidFill>
              <a:schemeClr val="folHlink"/>
            </a:solidFill>
            <a:prstDash val="solid"/>
            <a:round/>
            <a:headEnd type="none" w="med" len="med"/>
            <a:tailEnd type="none" w="med" len="med"/>
          </a:ln>
        </p:spPr>
      </p:cxnSp>
      <p:cxnSp>
        <p:nvCxnSpPr>
          <p:cNvPr id="19" name="Google Shape;19;n"/>
          <p:cNvCxnSpPr/>
          <p:nvPr/>
        </p:nvCxnSpPr>
        <p:spPr>
          <a:xfrm>
            <a:off x="1120775" y="7543800"/>
            <a:ext cx="4657725" cy="0"/>
          </a:xfrm>
          <a:prstGeom prst="straightConnector1">
            <a:avLst/>
          </a:prstGeom>
          <a:noFill/>
          <a:ln w="12700" cap="flat" cmpd="sng">
            <a:solidFill>
              <a:schemeClr val="folHlink"/>
            </a:solidFill>
            <a:prstDash val="solid"/>
            <a:round/>
            <a:headEnd type="none" w="med" len="med"/>
            <a:tailEnd type="none" w="med" len="med"/>
          </a:ln>
        </p:spPr>
      </p:cxnSp>
      <p:cxnSp>
        <p:nvCxnSpPr>
          <p:cNvPr id="20" name="Google Shape;20;n"/>
          <p:cNvCxnSpPr/>
          <p:nvPr/>
        </p:nvCxnSpPr>
        <p:spPr>
          <a:xfrm>
            <a:off x="1120775" y="7848600"/>
            <a:ext cx="4657725" cy="0"/>
          </a:xfrm>
          <a:prstGeom prst="straightConnector1">
            <a:avLst/>
          </a:prstGeom>
          <a:noFill/>
          <a:ln w="12700" cap="flat" cmpd="sng">
            <a:solidFill>
              <a:schemeClr val="folHlink"/>
            </a:solidFill>
            <a:prstDash val="solid"/>
            <a:round/>
            <a:headEnd type="none" w="med" len="med"/>
            <a:tailEnd type="none" w="med" len="med"/>
          </a:ln>
        </p:spPr>
      </p:cxnSp>
      <p:cxnSp>
        <p:nvCxnSpPr>
          <p:cNvPr id="21" name="Google Shape;21;n"/>
          <p:cNvCxnSpPr/>
          <p:nvPr/>
        </p:nvCxnSpPr>
        <p:spPr>
          <a:xfrm>
            <a:off x="1120775" y="8153400"/>
            <a:ext cx="4657725" cy="0"/>
          </a:xfrm>
          <a:prstGeom prst="straightConnector1">
            <a:avLst/>
          </a:prstGeom>
          <a:noFill/>
          <a:ln w="12700" cap="flat" cmpd="sng">
            <a:solidFill>
              <a:schemeClr val="folHlink"/>
            </a:solidFill>
            <a:prstDash val="solid"/>
            <a:round/>
            <a:headEnd type="none" w="med" len="med"/>
            <a:tailEnd type="none" w="med" len="med"/>
          </a:ln>
        </p:spPr>
      </p:cxnSp>
      <p:cxnSp>
        <p:nvCxnSpPr>
          <p:cNvPr id="22" name="Google Shape;22;n"/>
          <p:cNvCxnSpPr/>
          <p:nvPr/>
        </p:nvCxnSpPr>
        <p:spPr>
          <a:xfrm>
            <a:off x="1120775" y="8458200"/>
            <a:ext cx="4657725" cy="0"/>
          </a:xfrm>
          <a:prstGeom prst="straightConnector1">
            <a:avLst/>
          </a:prstGeom>
          <a:noFill/>
          <a:ln w="12700" cap="flat" cmpd="sng">
            <a:solidFill>
              <a:schemeClr val="folHlink"/>
            </a:solidFill>
            <a:prstDash val="solid"/>
            <a:round/>
            <a:headEnd type="none" w="med" len="med"/>
            <a:tailEnd type="none" w="med" len="med"/>
          </a:ln>
        </p:spPr>
      </p:cxnSp>
      <p:cxnSp>
        <p:nvCxnSpPr>
          <p:cNvPr id="23" name="Google Shape;23;n"/>
          <p:cNvCxnSpPr/>
          <p:nvPr/>
        </p:nvCxnSpPr>
        <p:spPr>
          <a:xfrm>
            <a:off x="523875" y="381000"/>
            <a:ext cx="5851525" cy="0"/>
          </a:xfrm>
          <a:prstGeom prst="straightConnector1">
            <a:avLst/>
          </a:prstGeom>
          <a:noFill/>
          <a:ln w="25400" cap="flat" cmpd="sng">
            <a:solidFill>
              <a:schemeClr val="dk1"/>
            </a:solidFill>
            <a:prstDash val="solid"/>
            <a:round/>
            <a:headEnd type="none" w="med" len="med"/>
            <a:tailEnd type="none" w="med" len="med"/>
          </a:ln>
        </p:spPr>
      </p:cxnSp>
      <p:sp>
        <p:nvSpPr>
          <p:cNvPr id="24" name="Google Shape;24;n"/>
          <p:cNvSpPr/>
          <p:nvPr/>
        </p:nvSpPr>
        <p:spPr>
          <a:xfrm>
            <a:off x="77788" y="8824913"/>
            <a:ext cx="6702425" cy="241300"/>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000" b="0" i="0" u="none" strike="noStrike" cap="none">
                <a:solidFill>
                  <a:schemeClr val="dk1"/>
                </a:solidFill>
                <a:latin typeface="Arial"/>
                <a:ea typeface="Arial"/>
                <a:cs typeface="Arial"/>
                <a:sym typeface="Arial"/>
              </a:rPr>
              <a:t>Business Statistics: A Decision-Making Approach, 6e	© 2005 Prentice-Hall, Inc.</a:t>
            </a:r>
            <a:endParaRPr/>
          </a:p>
        </p:txBody>
      </p:sp>
      <p:cxnSp>
        <p:nvCxnSpPr>
          <p:cNvPr id="25" name="Google Shape;25;n"/>
          <p:cNvCxnSpPr/>
          <p:nvPr/>
        </p:nvCxnSpPr>
        <p:spPr>
          <a:xfrm>
            <a:off x="523875" y="8763000"/>
            <a:ext cx="5851525" cy="0"/>
          </a:xfrm>
          <a:prstGeom prst="straightConnector1">
            <a:avLst/>
          </a:prstGeom>
          <a:noFill/>
          <a:ln w="25400" cap="flat" cmpd="sng">
            <a:solidFill>
              <a:schemeClr val="dk1"/>
            </a:solidFill>
            <a:prstDash val="solid"/>
            <a:round/>
            <a:headEnd type="none" w="med" len="med"/>
            <a:tailEnd type="none" w="med" len="med"/>
          </a:ln>
        </p:spPr>
      </p:cxnSp>
      <p:sp>
        <p:nvSpPr>
          <p:cNvPr id="26" name="Google Shape;26;n"/>
          <p:cNvSpPr/>
          <p:nvPr/>
        </p:nvSpPr>
        <p:spPr>
          <a:xfrm>
            <a:off x="77788" y="61913"/>
            <a:ext cx="6702425" cy="273050"/>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200" b="0" i="0" u="none" strike="noStrike" cap="none">
                <a:solidFill>
                  <a:schemeClr val="dk1"/>
                </a:solidFill>
                <a:latin typeface="Arial"/>
                <a:ea typeface="Arial"/>
                <a:cs typeface="Arial"/>
                <a:sym typeface="Arial"/>
              </a:rPr>
              <a:t>	Chapter 5	</a:t>
            </a:r>
            <a:r>
              <a:rPr lang="en-US" sz="1200" b="1" i="0" u="none" strike="noStrike" cap="none">
                <a:solidFill>
                  <a:schemeClr val="dk1"/>
                </a:solidFill>
                <a:latin typeface="Arial"/>
                <a:ea typeface="Arial"/>
                <a:cs typeface="Arial"/>
                <a:sym typeface="Arial"/>
              </a:rPr>
              <a:t>Instructor Notes</a:t>
            </a:r>
            <a:r>
              <a:rPr lang="en-US" sz="1200" b="0" i="0" u="none" strike="noStrike" cap="none">
                <a:solidFill>
                  <a:schemeClr val="dk1"/>
                </a:solidFill>
                <a:latin typeface="Arial"/>
                <a:ea typeface="Arial"/>
                <a:cs typeface="Arial"/>
                <a:sym typeface="Arial"/>
              </a:rPr>
              <a:t>	5-</a:t>
            </a:r>
            <a:fld id="{00000000-1234-1234-1234-123412341234}" type="slidenum">
              <a:rPr lang="en-US" sz="1200" b="0" i="0" u="none" strike="noStrike" cap="none">
                <a:solidFill>
                  <a:schemeClr val="dk1"/>
                </a:solidFill>
                <a:latin typeface="Arial"/>
                <a:ea typeface="Arial"/>
                <a:cs typeface="Arial"/>
                <a:sym typeface="Arial"/>
              </a:rPr>
              <a:pPr marL="0" marR="0" lvl="0" indent="0" algn="l" rtl="0">
                <a:spcBef>
                  <a:spcPts val="0"/>
                </a:spcBef>
                <a:spcAft>
                  <a:spcPts val="0"/>
                </a:spcAft>
                <a:buNone/>
              </a:p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15" name="Google Shape;115;p1: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2:notes"/>
          <p:cNvSpPr txBox="1">
            <a:spLocks noGrp="1"/>
          </p:cNvSpPr>
          <p:nvPr>
            <p:ph type="sldNum" idx="12"/>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2400" b="0" i="0" u="none" strike="noStrike" cap="none">
                <a:solidFill>
                  <a:schemeClr val="dk1"/>
                </a:solidFill>
                <a:latin typeface="Arial"/>
                <a:ea typeface="Arial"/>
                <a:cs typeface="Arial"/>
                <a:sym typeface="Arial"/>
              </a:rPr>
              <a:pPr marL="0" marR="0" lvl="0" indent="0" algn="ctr" rtl="0">
                <a:spcBef>
                  <a:spcPts val="0"/>
                </a:spcBef>
                <a:spcAft>
                  <a:spcPts val="0"/>
                </a:spcAft>
                <a:buNone/>
              </a:pPr>
              <a:t>2</a:t>
            </a:fld>
            <a:endParaRPr sz="2400" b="0" i="0" u="none" strike="noStrike" cap="none">
              <a:solidFill>
                <a:schemeClr val="dk1"/>
              </a:solidFill>
              <a:latin typeface="Arial"/>
              <a:ea typeface="Arial"/>
              <a:cs typeface="Arial"/>
              <a:sym typeface="Arial"/>
            </a:endParaRPr>
          </a:p>
        </p:txBody>
      </p:sp>
      <p:sp>
        <p:nvSpPr>
          <p:cNvPr id="120" name="Google Shape;120;p2:notes"/>
          <p:cNvSpPr>
            <a:spLocks noGrp="1" noRot="1" noChangeAspect="1"/>
          </p:cNvSpPr>
          <p:nvPr>
            <p:ph type="sldImg" idx="2"/>
          </p:nvPr>
        </p:nvSpPr>
        <p:spPr>
          <a:xfrm>
            <a:off x="1612900" y="457200"/>
            <a:ext cx="3851275" cy="2889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1" name="Google Shape;121;p2:notes"/>
          <p:cNvSpPr txBox="1">
            <a:spLocks noGrp="1"/>
          </p:cNvSpPr>
          <p:nvPr>
            <p:ph type="body" idx="1"/>
          </p:nvPr>
        </p:nvSpPr>
        <p:spPr>
          <a:xfrm>
            <a:off x="914400" y="3429000"/>
            <a:ext cx="5029200" cy="50292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3: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64" name="Google Shape;164;p3: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70" name="Google Shape;170;p4: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5:notes"/>
          <p:cNvSpPr txBox="1">
            <a:spLocks noGrp="1"/>
          </p:cNvSpPr>
          <p:nvPr>
            <p:ph type="sldNum" idx="12"/>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2400" b="0" i="0" u="none" strike="noStrike" cap="none">
                <a:solidFill>
                  <a:schemeClr val="dk1"/>
                </a:solidFill>
                <a:latin typeface="Arial"/>
                <a:ea typeface="Arial"/>
                <a:cs typeface="Arial"/>
                <a:sym typeface="Arial"/>
              </a:rPr>
              <a:pPr marL="0" marR="0" lvl="0" indent="0" algn="ctr" rtl="0">
                <a:spcBef>
                  <a:spcPts val="0"/>
                </a:spcBef>
                <a:spcAft>
                  <a:spcPts val="0"/>
                </a:spcAft>
                <a:buNone/>
              </a:pPr>
              <a:t>5</a:t>
            </a:fld>
            <a:endParaRPr sz="2400" b="0" i="0" u="none" strike="noStrike" cap="none">
              <a:solidFill>
                <a:schemeClr val="dk1"/>
              </a:solidFill>
              <a:latin typeface="Arial"/>
              <a:ea typeface="Arial"/>
              <a:cs typeface="Arial"/>
              <a:sym typeface="Arial"/>
            </a:endParaRPr>
          </a:p>
        </p:txBody>
      </p:sp>
      <p:sp>
        <p:nvSpPr>
          <p:cNvPr id="176" name="Google Shape;176;p5:notes"/>
          <p:cNvSpPr>
            <a:spLocks noGrp="1" noRot="1" noChangeAspect="1"/>
          </p:cNvSpPr>
          <p:nvPr>
            <p:ph type="sldImg" idx="2"/>
          </p:nvPr>
        </p:nvSpPr>
        <p:spPr>
          <a:xfrm>
            <a:off x="1087438" y="690563"/>
            <a:ext cx="4713287" cy="35353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7" name="Google Shape;177;p5:notes"/>
          <p:cNvSpPr txBox="1">
            <a:spLocks noGrp="1"/>
          </p:cNvSpPr>
          <p:nvPr>
            <p:ph type="body" idx="1"/>
          </p:nvPr>
        </p:nvSpPr>
        <p:spPr>
          <a:xfrm>
            <a:off x="908050" y="4456113"/>
            <a:ext cx="5070475" cy="4224337"/>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6:notes"/>
          <p:cNvSpPr/>
          <p:nvPr/>
        </p:nvSpPr>
        <p:spPr>
          <a:xfrm>
            <a:off x="3886200" y="0"/>
            <a:ext cx="29718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Arial"/>
              <a:ea typeface="Arial"/>
              <a:cs typeface="Arial"/>
              <a:sym typeface="Arial"/>
            </a:endParaRPr>
          </a:p>
        </p:txBody>
      </p:sp>
      <p:sp>
        <p:nvSpPr>
          <p:cNvPr id="185" name="Google Shape;185;p6:notes"/>
          <p:cNvSpPr>
            <a:spLocks noGrp="1" noRot="1" noChangeAspect="1"/>
          </p:cNvSpPr>
          <p:nvPr>
            <p:ph type="sldImg" idx="2"/>
          </p:nvPr>
        </p:nvSpPr>
        <p:spPr>
          <a:xfrm>
            <a:off x="1150938"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6" name="Google Shape;186;p6:notes"/>
          <p:cNvSpPr txBox="1">
            <a:spLocks noGrp="1"/>
          </p:cNvSpPr>
          <p:nvPr>
            <p:ph type="body" idx="1"/>
          </p:nvPr>
        </p:nvSpPr>
        <p:spPr>
          <a:xfrm>
            <a:off x="914400" y="3276600"/>
            <a:ext cx="5029200" cy="51816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7:notes"/>
          <p:cNvSpPr/>
          <p:nvPr/>
        </p:nvSpPr>
        <p:spPr>
          <a:xfrm>
            <a:off x="3886200" y="0"/>
            <a:ext cx="29718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Arial"/>
              <a:ea typeface="Arial"/>
              <a:cs typeface="Arial"/>
              <a:sym typeface="Arial"/>
            </a:endParaRPr>
          </a:p>
        </p:txBody>
      </p:sp>
      <p:sp>
        <p:nvSpPr>
          <p:cNvPr id="213" name="Google Shape;213;p7:notes"/>
          <p:cNvSpPr>
            <a:spLocks noGrp="1" noRot="1" noChangeAspect="1"/>
          </p:cNvSpPr>
          <p:nvPr>
            <p:ph type="sldImg" idx="2"/>
          </p:nvPr>
        </p:nvSpPr>
        <p:spPr>
          <a:xfrm>
            <a:off x="1150938"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4" name="Google Shape;214;p7:notes"/>
          <p:cNvSpPr txBox="1">
            <a:spLocks noGrp="1"/>
          </p:cNvSpPr>
          <p:nvPr>
            <p:ph type="body" idx="1"/>
          </p:nvPr>
        </p:nvSpPr>
        <p:spPr>
          <a:xfrm>
            <a:off x="914400" y="3276600"/>
            <a:ext cx="5029200" cy="51816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8:notes"/>
          <p:cNvSpPr txBox="1">
            <a:spLocks noGrp="1"/>
          </p:cNvSpPr>
          <p:nvPr>
            <p:ph type="sldNum" idx="12"/>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2400" b="0" i="0" u="none" strike="noStrike" cap="none">
                <a:solidFill>
                  <a:schemeClr val="dk1"/>
                </a:solidFill>
                <a:latin typeface="Arial"/>
                <a:ea typeface="Arial"/>
                <a:cs typeface="Arial"/>
                <a:sym typeface="Arial"/>
              </a:rPr>
              <a:pPr marL="0" marR="0" lvl="0" indent="0" algn="ctr" rtl="0">
                <a:spcBef>
                  <a:spcPts val="0"/>
                </a:spcBef>
                <a:spcAft>
                  <a:spcPts val="0"/>
                </a:spcAft>
                <a:buNone/>
              </a:pPr>
              <a:t>8</a:t>
            </a:fld>
            <a:endParaRPr sz="2400" b="0" i="0" u="none" strike="noStrike" cap="none">
              <a:solidFill>
                <a:schemeClr val="dk1"/>
              </a:solidFill>
              <a:latin typeface="Arial"/>
              <a:ea typeface="Arial"/>
              <a:cs typeface="Arial"/>
              <a:sym typeface="Arial"/>
            </a:endParaRPr>
          </a:p>
        </p:txBody>
      </p:sp>
      <p:sp>
        <p:nvSpPr>
          <p:cNvPr id="233" name="Google Shape;233;p8:notes"/>
          <p:cNvSpPr>
            <a:spLocks noGrp="1" noRot="1" noChangeAspect="1"/>
          </p:cNvSpPr>
          <p:nvPr>
            <p:ph type="sldImg" idx="2"/>
          </p:nvPr>
        </p:nvSpPr>
        <p:spPr>
          <a:xfrm>
            <a:off x="1612900" y="457200"/>
            <a:ext cx="3851275" cy="2889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4" name="Google Shape;234;p8:notes"/>
          <p:cNvSpPr txBox="1">
            <a:spLocks noGrp="1"/>
          </p:cNvSpPr>
          <p:nvPr>
            <p:ph type="body" idx="1"/>
          </p:nvPr>
        </p:nvSpPr>
        <p:spPr>
          <a:xfrm>
            <a:off x="914400" y="3429000"/>
            <a:ext cx="5029200" cy="50292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13:notes"/>
          <p:cNvSpPr txBox="1">
            <a:spLocks noGrp="1"/>
          </p:cNvSpPr>
          <p:nvPr>
            <p:ph type="sldNum" idx="12"/>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2400">
                <a:solidFill>
                  <a:schemeClr val="dk1"/>
                </a:solidFill>
                <a:latin typeface="Arial"/>
                <a:ea typeface="Arial"/>
                <a:cs typeface="Arial"/>
                <a:sym typeface="Arial"/>
              </a:rPr>
              <a:pPr marL="0" marR="0" lvl="0" indent="0" algn="ctr" rtl="0">
                <a:spcBef>
                  <a:spcPts val="0"/>
                </a:spcBef>
                <a:spcAft>
                  <a:spcPts val="0"/>
                </a:spcAft>
                <a:buNone/>
              </a:pPr>
              <a:t>9</a:t>
            </a:fld>
            <a:endParaRPr sz="2400">
              <a:solidFill>
                <a:schemeClr val="dk1"/>
              </a:solidFill>
              <a:latin typeface="Arial"/>
              <a:ea typeface="Arial"/>
              <a:cs typeface="Arial"/>
              <a:sym typeface="Arial"/>
            </a:endParaRPr>
          </a:p>
        </p:txBody>
      </p:sp>
      <p:sp>
        <p:nvSpPr>
          <p:cNvPr id="354" name="Google Shape;354;p13:notes"/>
          <p:cNvSpPr>
            <a:spLocks noGrp="1" noRot="1" noChangeAspect="1"/>
          </p:cNvSpPr>
          <p:nvPr>
            <p:ph type="sldImg" idx="2"/>
          </p:nvPr>
        </p:nvSpPr>
        <p:spPr>
          <a:xfrm>
            <a:off x="1612900" y="457200"/>
            <a:ext cx="3851275" cy="2889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5" name="Google Shape;355;p13:notes"/>
          <p:cNvSpPr txBox="1">
            <a:spLocks noGrp="1"/>
          </p:cNvSpPr>
          <p:nvPr>
            <p:ph type="body" idx="1"/>
          </p:nvPr>
        </p:nvSpPr>
        <p:spPr>
          <a:xfrm>
            <a:off x="914400" y="3429000"/>
            <a:ext cx="5029200" cy="50292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14:notes"/>
          <p:cNvSpPr txBox="1">
            <a:spLocks noGrp="1"/>
          </p:cNvSpPr>
          <p:nvPr>
            <p:ph type="sldNum" idx="12"/>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2400">
                <a:solidFill>
                  <a:schemeClr val="dk1"/>
                </a:solidFill>
                <a:latin typeface="Arial"/>
                <a:ea typeface="Arial"/>
                <a:cs typeface="Arial"/>
                <a:sym typeface="Arial"/>
              </a:rPr>
              <a:pPr marL="0" marR="0" lvl="0" indent="0" algn="ctr" rtl="0">
                <a:spcBef>
                  <a:spcPts val="0"/>
                </a:spcBef>
                <a:spcAft>
                  <a:spcPts val="0"/>
                </a:spcAft>
                <a:buNone/>
              </a:pPr>
              <a:t>10</a:t>
            </a:fld>
            <a:endParaRPr sz="2400">
              <a:solidFill>
                <a:schemeClr val="dk1"/>
              </a:solidFill>
              <a:latin typeface="Arial"/>
              <a:ea typeface="Arial"/>
              <a:cs typeface="Arial"/>
              <a:sym typeface="Arial"/>
            </a:endParaRPr>
          </a:p>
        </p:txBody>
      </p:sp>
      <p:sp>
        <p:nvSpPr>
          <p:cNvPr id="403" name="Google Shape;403;p14:notes"/>
          <p:cNvSpPr>
            <a:spLocks noGrp="1" noRot="1" noChangeAspect="1"/>
          </p:cNvSpPr>
          <p:nvPr>
            <p:ph type="sldImg" idx="2"/>
          </p:nvPr>
        </p:nvSpPr>
        <p:spPr>
          <a:xfrm>
            <a:off x="1612900" y="457200"/>
            <a:ext cx="3851275" cy="2889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4" name="Google Shape;404;p14:notes"/>
          <p:cNvSpPr txBox="1">
            <a:spLocks noGrp="1"/>
          </p:cNvSpPr>
          <p:nvPr>
            <p:ph type="body" idx="1"/>
          </p:nvPr>
        </p:nvSpPr>
        <p:spPr>
          <a:xfrm>
            <a:off x="914400" y="3429000"/>
            <a:ext cx="5029200" cy="50292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15:notes"/>
          <p:cNvSpPr txBox="1">
            <a:spLocks noGrp="1"/>
          </p:cNvSpPr>
          <p:nvPr>
            <p:ph type="sldNum" idx="12"/>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2400">
                <a:solidFill>
                  <a:schemeClr val="dk1"/>
                </a:solidFill>
                <a:latin typeface="Arial"/>
                <a:ea typeface="Arial"/>
                <a:cs typeface="Arial"/>
                <a:sym typeface="Arial"/>
              </a:rPr>
              <a:pPr marL="0" marR="0" lvl="0" indent="0" algn="ctr" rtl="0">
                <a:spcBef>
                  <a:spcPts val="0"/>
                </a:spcBef>
                <a:spcAft>
                  <a:spcPts val="0"/>
                </a:spcAft>
                <a:buNone/>
              </a:pPr>
              <a:t>11</a:t>
            </a:fld>
            <a:endParaRPr sz="2400">
              <a:solidFill>
                <a:schemeClr val="dk1"/>
              </a:solidFill>
              <a:latin typeface="Arial"/>
              <a:ea typeface="Arial"/>
              <a:cs typeface="Arial"/>
              <a:sym typeface="Arial"/>
            </a:endParaRPr>
          </a:p>
        </p:txBody>
      </p:sp>
      <p:sp>
        <p:nvSpPr>
          <p:cNvPr id="416" name="Google Shape;416;p15:notes"/>
          <p:cNvSpPr>
            <a:spLocks noGrp="1" noRot="1" noChangeAspect="1"/>
          </p:cNvSpPr>
          <p:nvPr>
            <p:ph type="sldImg" idx="2"/>
          </p:nvPr>
        </p:nvSpPr>
        <p:spPr>
          <a:xfrm>
            <a:off x="1612900" y="457200"/>
            <a:ext cx="3851275" cy="2889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7" name="Google Shape;417;p15:notes"/>
          <p:cNvSpPr txBox="1">
            <a:spLocks noGrp="1"/>
          </p:cNvSpPr>
          <p:nvPr>
            <p:ph type="body" idx="1"/>
          </p:nvPr>
        </p:nvSpPr>
        <p:spPr>
          <a:xfrm>
            <a:off x="914400" y="3429000"/>
            <a:ext cx="5029200" cy="50292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6:notes"/>
          <p:cNvSpPr txBox="1">
            <a:spLocks noGrp="1"/>
          </p:cNvSpPr>
          <p:nvPr>
            <p:ph type="sldNum" idx="12"/>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2400">
                <a:solidFill>
                  <a:schemeClr val="dk1"/>
                </a:solidFill>
                <a:latin typeface="Arial"/>
                <a:ea typeface="Arial"/>
                <a:cs typeface="Arial"/>
                <a:sym typeface="Arial"/>
              </a:rPr>
              <a:pPr marL="0" marR="0" lvl="0" indent="0" algn="ctr" rtl="0">
                <a:spcBef>
                  <a:spcPts val="0"/>
                </a:spcBef>
                <a:spcAft>
                  <a:spcPts val="0"/>
                </a:spcAft>
                <a:buNone/>
              </a:pPr>
              <a:t>12</a:t>
            </a:fld>
            <a:endParaRPr sz="2400">
              <a:solidFill>
                <a:schemeClr val="dk1"/>
              </a:solidFill>
              <a:latin typeface="Arial"/>
              <a:ea typeface="Arial"/>
              <a:cs typeface="Arial"/>
              <a:sym typeface="Arial"/>
            </a:endParaRPr>
          </a:p>
        </p:txBody>
      </p:sp>
      <p:sp>
        <p:nvSpPr>
          <p:cNvPr id="431" name="Google Shape;431;p16:notes"/>
          <p:cNvSpPr>
            <a:spLocks noGrp="1" noRot="1" noChangeAspect="1"/>
          </p:cNvSpPr>
          <p:nvPr>
            <p:ph type="sldImg" idx="2"/>
          </p:nvPr>
        </p:nvSpPr>
        <p:spPr>
          <a:xfrm>
            <a:off x="1612900" y="457200"/>
            <a:ext cx="3851275" cy="2889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2" name="Google Shape;432;p16:notes"/>
          <p:cNvSpPr txBox="1">
            <a:spLocks noGrp="1"/>
          </p:cNvSpPr>
          <p:nvPr>
            <p:ph type="body" idx="1"/>
          </p:nvPr>
        </p:nvSpPr>
        <p:spPr>
          <a:xfrm>
            <a:off x="914400" y="3429000"/>
            <a:ext cx="5029200" cy="50292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17:notes"/>
          <p:cNvSpPr txBox="1">
            <a:spLocks noGrp="1"/>
          </p:cNvSpPr>
          <p:nvPr>
            <p:ph type="sldNum" idx="12"/>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2400">
                <a:solidFill>
                  <a:schemeClr val="dk1"/>
                </a:solidFill>
                <a:latin typeface="Arial"/>
                <a:ea typeface="Arial"/>
                <a:cs typeface="Arial"/>
                <a:sym typeface="Arial"/>
              </a:rPr>
              <a:pPr marL="0" marR="0" lvl="0" indent="0" algn="ctr" rtl="0">
                <a:spcBef>
                  <a:spcPts val="0"/>
                </a:spcBef>
                <a:spcAft>
                  <a:spcPts val="0"/>
                </a:spcAft>
                <a:buNone/>
              </a:pPr>
              <a:t>13</a:t>
            </a:fld>
            <a:endParaRPr sz="2400">
              <a:solidFill>
                <a:schemeClr val="dk1"/>
              </a:solidFill>
              <a:latin typeface="Arial"/>
              <a:ea typeface="Arial"/>
              <a:cs typeface="Arial"/>
              <a:sym typeface="Arial"/>
            </a:endParaRPr>
          </a:p>
        </p:txBody>
      </p:sp>
      <p:sp>
        <p:nvSpPr>
          <p:cNvPr id="447" name="Google Shape;447;p17:notes"/>
          <p:cNvSpPr>
            <a:spLocks noGrp="1" noRot="1" noChangeAspect="1"/>
          </p:cNvSpPr>
          <p:nvPr>
            <p:ph type="sldImg" idx="2"/>
          </p:nvPr>
        </p:nvSpPr>
        <p:spPr>
          <a:xfrm>
            <a:off x="1612900" y="457200"/>
            <a:ext cx="3851275" cy="2889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8" name="Google Shape;448;p17:notes"/>
          <p:cNvSpPr txBox="1">
            <a:spLocks noGrp="1"/>
          </p:cNvSpPr>
          <p:nvPr>
            <p:ph type="body" idx="1"/>
          </p:nvPr>
        </p:nvSpPr>
        <p:spPr>
          <a:xfrm>
            <a:off x="914400" y="3429000"/>
            <a:ext cx="5029200" cy="50292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18:notes"/>
          <p:cNvSpPr txBox="1">
            <a:spLocks noGrp="1"/>
          </p:cNvSpPr>
          <p:nvPr>
            <p:ph type="sldNum" idx="12"/>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2400">
                <a:solidFill>
                  <a:schemeClr val="dk1"/>
                </a:solidFill>
                <a:latin typeface="Arial"/>
                <a:ea typeface="Arial"/>
                <a:cs typeface="Arial"/>
                <a:sym typeface="Arial"/>
              </a:rPr>
              <a:pPr marL="0" marR="0" lvl="0" indent="0" algn="ctr" rtl="0">
                <a:spcBef>
                  <a:spcPts val="0"/>
                </a:spcBef>
                <a:spcAft>
                  <a:spcPts val="0"/>
                </a:spcAft>
                <a:buNone/>
              </a:pPr>
              <a:t>14</a:t>
            </a:fld>
            <a:endParaRPr sz="2400">
              <a:solidFill>
                <a:schemeClr val="dk1"/>
              </a:solidFill>
              <a:latin typeface="Arial"/>
              <a:ea typeface="Arial"/>
              <a:cs typeface="Arial"/>
              <a:sym typeface="Arial"/>
            </a:endParaRPr>
          </a:p>
        </p:txBody>
      </p:sp>
      <p:sp>
        <p:nvSpPr>
          <p:cNvPr id="458" name="Google Shape;458;p18:notes"/>
          <p:cNvSpPr>
            <a:spLocks noGrp="1" noRot="1" noChangeAspect="1"/>
          </p:cNvSpPr>
          <p:nvPr>
            <p:ph type="sldImg" idx="2"/>
          </p:nvPr>
        </p:nvSpPr>
        <p:spPr>
          <a:xfrm>
            <a:off x="1612900" y="457200"/>
            <a:ext cx="3851275" cy="2889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9" name="Google Shape;459;p18:notes"/>
          <p:cNvSpPr txBox="1">
            <a:spLocks noGrp="1"/>
          </p:cNvSpPr>
          <p:nvPr>
            <p:ph type="body" idx="1"/>
          </p:nvPr>
        </p:nvSpPr>
        <p:spPr>
          <a:xfrm>
            <a:off x="914400" y="3429000"/>
            <a:ext cx="5029200" cy="50292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19: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479" name="Google Shape;479;p19: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20: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487" name="Google Shape;487;p20: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21: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493" name="Google Shape;493;p21: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22: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499" name="Google Shape;499;p22: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23:notes"/>
          <p:cNvSpPr txBox="1">
            <a:spLocks noGrp="1"/>
          </p:cNvSpPr>
          <p:nvPr>
            <p:ph type="body" idx="1"/>
          </p:nvPr>
        </p:nvSpPr>
        <p:spPr>
          <a:xfrm>
            <a:off x="914400" y="3276600"/>
            <a:ext cx="5029200" cy="51816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507" name="Google Shape;507;p23:notes"/>
          <p:cNvSpPr>
            <a:spLocks noGrp="1" noRot="1" noChangeAspect="1"/>
          </p:cNvSpPr>
          <p:nvPr>
            <p:ph type="sldImg" idx="2"/>
          </p:nvPr>
        </p:nvSpPr>
        <p:spPr>
          <a:xfrm>
            <a:off x="1150938"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24:notes"/>
          <p:cNvSpPr>
            <a:spLocks noGrp="1" noRot="1" noChangeAspect="1"/>
          </p:cNvSpPr>
          <p:nvPr>
            <p:ph type="sldImg" idx="2"/>
          </p:nvPr>
        </p:nvSpPr>
        <p:spPr>
          <a:xfrm>
            <a:off x="1150938"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5" name="Google Shape;535;p24:notes"/>
          <p:cNvSpPr txBox="1">
            <a:spLocks noGrp="1"/>
          </p:cNvSpPr>
          <p:nvPr>
            <p:ph type="body" idx="1"/>
          </p:nvPr>
        </p:nvSpPr>
        <p:spPr>
          <a:xfrm>
            <a:off x="914400" y="3276600"/>
            <a:ext cx="5029200" cy="51816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25: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615" name="Google Shape;615;p25: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26:notes"/>
          <p:cNvSpPr>
            <a:spLocks noGrp="1" noRot="1" noChangeAspect="1"/>
          </p:cNvSpPr>
          <p:nvPr>
            <p:ph type="sldImg" idx="2"/>
          </p:nvPr>
        </p:nvSpPr>
        <p:spPr>
          <a:xfrm>
            <a:off x="1150938"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6" name="Google Shape;626;p26:notes"/>
          <p:cNvSpPr txBox="1">
            <a:spLocks noGrp="1"/>
          </p:cNvSpPr>
          <p:nvPr>
            <p:ph type="body" idx="1"/>
          </p:nvPr>
        </p:nvSpPr>
        <p:spPr>
          <a:xfrm>
            <a:off x="914400" y="3276600"/>
            <a:ext cx="5029200" cy="51816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27: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708" name="Google Shape;708;p27: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p28: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723" name="Google Shape;723;p28: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p29: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731" name="Google Shape;731;p29: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p30: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737" name="Google Shape;737;p30: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p31:notes"/>
          <p:cNvSpPr txBox="1">
            <a:spLocks noGrp="1"/>
          </p:cNvSpPr>
          <p:nvPr>
            <p:ph type="sldNum" idx="12"/>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2400">
                <a:solidFill>
                  <a:schemeClr val="dk1"/>
                </a:solidFill>
                <a:latin typeface="Arial"/>
                <a:ea typeface="Arial"/>
                <a:cs typeface="Arial"/>
                <a:sym typeface="Arial"/>
              </a:rPr>
              <a:pPr marL="0" marR="0" lvl="0" indent="0" algn="ctr" rtl="0">
                <a:spcBef>
                  <a:spcPts val="0"/>
                </a:spcBef>
                <a:spcAft>
                  <a:spcPts val="0"/>
                </a:spcAft>
                <a:buNone/>
              </a:pPr>
              <a:t>27</a:t>
            </a:fld>
            <a:endParaRPr sz="2400">
              <a:solidFill>
                <a:schemeClr val="dk1"/>
              </a:solidFill>
              <a:latin typeface="Arial"/>
              <a:ea typeface="Arial"/>
              <a:cs typeface="Arial"/>
              <a:sym typeface="Arial"/>
            </a:endParaRPr>
          </a:p>
        </p:txBody>
      </p:sp>
      <p:sp>
        <p:nvSpPr>
          <p:cNvPr id="743" name="Google Shape;743;p31:notes"/>
          <p:cNvSpPr>
            <a:spLocks noGrp="1" noRot="1" noChangeAspect="1"/>
          </p:cNvSpPr>
          <p:nvPr>
            <p:ph type="sldImg" idx="2"/>
          </p:nvPr>
        </p:nvSpPr>
        <p:spPr>
          <a:xfrm>
            <a:off x="1612900" y="457200"/>
            <a:ext cx="3851275" cy="2889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4" name="Google Shape;744;p31:notes"/>
          <p:cNvSpPr txBox="1">
            <a:spLocks noGrp="1"/>
          </p:cNvSpPr>
          <p:nvPr>
            <p:ph type="body" idx="1"/>
          </p:nvPr>
        </p:nvSpPr>
        <p:spPr>
          <a:xfrm>
            <a:off x="914400" y="3429000"/>
            <a:ext cx="5029200" cy="50292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32: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758" name="Google Shape;758;p32: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p33: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763" name="Google Shape;763;p33: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p34: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770" name="Google Shape;770;p34: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p35:notes"/>
          <p:cNvSpPr/>
          <p:nvPr/>
        </p:nvSpPr>
        <p:spPr>
          <a:xfrm>
            <a:off x="3886200" y="0"/>
            <a:ext cx="29718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777" name="Google Shape;777;p35:notes"/>
          <p:cNvSpPr>
            <a:spLocks noGrp="1" noRot="1" noChangeAspect="1"/>
          </p:cNvSpPr>
          <p:nvPr>
            <p:ph type="sldImg" idx="2"/>
          </p:nvPr>
        </p:nvSpPr>
        <p:spPr>
          <a:xfrm>
            <a:off x="1150938" y="692150"/>
            <a:ext cx="4556125"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78" name="Google Shape;778;p35:notes"/>
          <p:cNvSpPr txBox="1">
            <a:spLocks noGrp="1"/>
          </p:cNvSpPr>
          <p:nvPr>
            <p:ph type="body" idx="1"/>
          </p:nvPr>
        </p:nvSpPr>
        <p:spPr>
          <a:xfrm>
            <a:off x="914400" y="3276600"/>
            <a:ext cx="5029200" cy="51816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36: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797" name="Google Shape;797;p36: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p37:notes"/>
          <p:cNvSpPr>
            <a:spLocks noGrp="1" noRot="1" noChangeAspect="1"/>
          </p:cNvSpPr>
          <p:nvPr>
            <p:ph type="sldImg" idx="2"/>
          </p:nvPr>
        </p:nvSpPr>
        <p:spPr>
          <a:xfrm>
            <a:off x="1612900" y="457200"/>
            <a:ext cx="3851275" cy="2889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4" name="Google Shape;804;p37:notes"/>
          <p:cNvSpPr txBox="1">
            <a:spLocks noGrp="1"/>
          </p:cNvSpPr>
          <p:nvPr>
            <p:ph type="body" idx="1"/>
          </p:nvPr>
        </p:nvSpPr>
        <p:spPr>
          <a:xfrm>
            <a:off x="914400" y="3429000"/>
            <a:ext cx="5029200" cy="50292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805" name="Google Shape;805;p37:notes"/>
          <p:cNvSpPr txBox="1">
            <a:spLocks noGrp="1"/>
          </p:cNvSpPr>
          <p:nvPr>
            <p:ph type="sldNum" idx="12"/>
          </p:nvPr>
        </p:nvSpPr>
        <p:spPr>
          <a:xfrm>
            <a:off x="0" y="0"/>
            <a:ext cx="0" cy="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2400">
                <a:solidFill>
                  <a:schemeClr val="dk1"/>
                </a:solidFill>
                <a:latin typeface="Arial"/>
                <a:ea typeface="Arial"/>
                <a:cs typeface="Arial"/>
                <a:sym typeface="Arial"/>
              </a:rPr>
              <a:pPr marL="0" marR="0" lvl="0" indent="0" algn="ctr" rtl="0">
                <a:spcBef>
                  <a:spcPts val="0"/>
                </a:spcBef>
                <a:spcAft>
                  <a:spcPts val="0"/>
                </a:spcAft>
                <a:buNone/>
              </a:pPr>
              <a:t>33</a:t>
            </a:fld>
            <a:endParaRPr sz="2400">
              <a:solidFill>
                <a:schemeClr val="dk1"/>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p38: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814" name="Google Shape;814;p38: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39: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831" name="Google Shape;831;p39: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p40: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840" name="Google Shape;840;p40: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p41: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847" name="Google Shape;847;p41: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p42: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855" name="Google Shape;855;p42: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p43: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862" name="Google Shape;862;p43: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p44:notes"/>
          <p:cNvSpPr txBox="1">
            <a:spLocks noGrp="1"/>
          </p:cNvSpPr>
          <p:nvPr>
            <p:ph type="body" idx="1"/>
          </p:nvPr>
        </p:nvSpPr>
        <p:spPr>
          <a:xfrm>
            <a:off x="914400" y="4197350"/>
            <a:ext cx="5029200" cy="4260850"/>
          </a:xfrm>
          <a:prstGeom prst="rect">
            <a:avLst/>
          </a:prstGeom>
          <a:noFill/>
          <a:ln>
            <a:noFill/>
          </a:ln>
        </p:spPr>
        <p:txBody>
          <a:bodyPr spcFirstLastPara="1" wrap="square" lIns="90475" tIns="44425" rIns="90475" bIns="44425"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869" name="Google Shape;869;p44:notes"/>
          <p:cNvSpPr>
            <a:spLocks noGrp="1" noRot="1" noChangeAspect="1"/>
          </p:cNvSpPr>
          <p:nvPr>
            <p:ph type="sldImg" idx="2"/>
          </p:nvPr>
        </p:nvSpPr>
        <p:spPr>
          <a:xfrm>
            <a:off x="1152525" y="692150"/>
            <a:ext cx="455453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p45: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908" name="Google Shape;908;p45: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p46:notes"/>
          <p:cNvSpPr txBox="1">
            <a:spLocks noGrp="1"/>
          </p:cNvSpPr>
          <p:nvPr>
            <p:ph type="body" idx="1"/>
          </p:nvPr>
        </p:nvSpPr>
        <p:spPr>
          <a:xfrm>
            <a:off x="914400" y="4197350"/>
            <a:ext cx="5029200" cy="4260850"/>
          </a:xfrm>
          <a:prstGeom prst="rect">
            <a:avLst/>
          </a:prstGeom>
          <a:noFill/>
          <a:ln>
            <a:noFill/>
          </a:ln>
        </p:spPr>
        <p:txBody>
          <a:bodyPr spcFirstLastPara="1" wrap="square" lIns="90475" tIns="44425" rIns="90475" bIns="44425"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947" name="Google Shape;947;p46:notes"/>
          <p:cNvSpPr>
            <a:spLocks noGrp="1" noRot="1" noChangeAspect="1"/>
          </p:cNvSpPr>
          <p:nvPr>
            <p:ph type="sldImg" idx="2"/>
          </p:nvPr>
        </p:nvSpPr>
        <p:spPr>
          <a:xfrm>
            <a:off x="1152525" y="692150"/>
            <a:ext cx="455453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p47: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995" name="Google Shape;995;p47: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p48: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015" name="Google Shape;1015;p48: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p49: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041" name="Google Shape;1041;p49: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p50: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075" name="Google Shape;1075;p50: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p51: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081" name="Google Shape;1081;p51: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7"/>
        <p:cNvGrpSpPr/>
        <p:nvPr/>
      </p:nvGrpSpPr>
      <p:grpSpPr>
        <a:xfrm>
          <a:off x="0" y="0"/>
          <a:ext cx="0" cy="0"/>
          <a:chOff x="0" y="0"/>
          <a:chExt cx="0" cy="0"/>
        </a:xfrm>
      </p:grpSpPr>
      <p:sp>
        <p:nvSpPr>
          <p:cNvPr id="1118" name="Google Shape;1118;p52: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119" name="Google Shape;1119;p52: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p53: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125" name="Google Shape;1125;p53: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0"/>
        <p:cNvGrpSpPr/>
        <p:nvPr/>
      </p:nvGrpSpPr>
      <p:grpSpPr>
        <a:xfrm>
          <a:off x="0" y="0"/>
          <a:ext cx="0" cy="0"/>
          <a:chOff x="0" y="0"/>
          <a:chExt cx="0" cy="0"/>
        </a:xfrm>
      </p:grpSpPr>
      <p:sp>
        <p:nvSpPr>
          <p:cNvPr id="1131" name="Google Shape;1131;p54: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132" name="Google Shape;1132;p54: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p55: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139" name="Google Shape;1139;p55: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8"/>
        <p:cNvGrpSpPr/>
        <p:nvPr/>
      </p:nvGrpSpPr>
      <p:grpSpPr>
        <a:xfrm>
          <a:off x="0" y="0"/>
          <a:ext cx="0" cy="0"/>
          <a:chOff x="0" y="0"/>
          <a:chExt cx="0" cy="0"/>
        </a:xfrm>
      </p:grpSpPr>
      <p:sp>
        <p:nvSpPr>
          <p:cNvPr id="1179" name="Google Shape;1179;p56: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180" name="Google Shape;1180;p56: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0"/>
        <p:cNvGrpSpPr/>
        <p:nvPr/>
      </p:nvGrpSpPr>
      <p:grpSpPr>
        <a:xfrm>
          <a:off x="0" y="0"/>
          <a:ext cx="0" cy="0"/>
          <a:chOff x="0" y="0"/>
          <a:chExt cx="0" cy="0"/>
        </a:xfrm>
      </p:grpSpPr>
      <p:sp>
        <p:nvSpPr>
          <p:cNvPr id="1201" name="Google Shape;1201;p57: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202" name="Google Shape;1202;p57: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p58: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221" name="Google Shape;1221;p58: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6"/>
        <p:cNvGrpSpPr/>
        <p:nvPr/>
      </p:nvGrpSpPr>
      <p:grpSpPr>
        <a:xfrm>
          <a:off x="0" y="0"/>
          <a:ext cx="0" cy="0"/>
          <a:chOff x="0" y="0"/>
          <a:chExt cx="0" cy="0"/>
        </a:xfrm>
      </p:grpSpPr>
      <p:sp>
        <p:nvSpPr>
          <p:cNvPr id="1227" name="Google Shape;1227;p59: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228" name="Google Shape;1228;p59: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2"/>
        <p:cNvGrpSpPr/>
        <p:nvPr/>
      </p:nvGrpSpPr>
      <p:grpSpPr>
        <a:xfrm>
          <a:off x="0" y="0"/>
          <a:ext cx="0" cy="0"/>
          <a:chOff x="0" y="0"/>
          <a:chExt cx="0" cy="0"/>
        </a:xfrm>
      </p:grpSpPr>
      <p:sp>
        <p:nvSpPr>
          <p:cNvPr id="1253" name="Google Shape;1253;p60: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254" name="Google Shape;1254;p60: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6"/>
        <p:cNvGrpSpPr/>
        <p:nvPr/>
      </p:nvGrpSpPr>
      <p:grpSpPr>
        <a:xfrm>
          <a:off x="0" y="0"/>
          <a:ext cx="0" cy="0"/>
          <a:chOff x="0" y="0"/>
          <a:chExt cx="0" cy="0"/>
        </a:xfrm>
      </p:grpSpPr>
      <p:sp>
        <p:nvSpPr>
          <p:cNvPr id="1287" name="Google Shape;1287;p61:notes"/>
          <p:cNvSpPr txBox="1">
            <a:spLocks noGrp="1"/>
          </p:cNvSpPr>
          <p:nvPr>
            <p:ph type="body" idx="1"/>
          </p:nvPr>
        </p:nvSpPr>
        <p:spPr>
          <a:xfrm>
            <a:off x="914400" y="4197350"/>
            <a:ext cx="5029200" cy="4260850"/>
          </a:xfrm>
          <a:prstGeom prst="rect">
            <a:avLst/>
          </a:prstGeom>
          <a:noFill/>
          <a:ln>
            <a:noFill/>
          </a:ln>
        </p:spPr>
        <p:txBody>
          <a:bodyPr spcFirstLastPara="1" wrap="square" lIns="90475" tIns="44425" rIns="90475" bIns="44425"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288" name="Google Shape;1288;p61:notes"/>
          <p:cNvSpPr>
            <a:spLocks noGrp="1" noRot="1" noChangeAspect="1"/>
          </p:cNvSpPr>
          <p:nvPr>
            <p:ph type="sldImg" idx="2"/>
          </p:nvPr>
        </p:nvSpPr>
        <p:spPr>
          <a:xfrm>
            <a:off x="1152525" y="692150"/>
            <a:ext cx="455453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7"/>
        <p:cNvGrpSpPr/>
        <p:nvPr/>
      </p:nvGrpSpPr>
      <p:grpSpPr>
        <a:xfrm>
          <a:off x="0" y="0"/>
          <a:ext cx="0" cy="0"/>
          <a:chOff x="0" y="0"/>
          <a:chExt cx="0" cy="0"/>
        </a:xfrm>
      </p:grpSpPr>
      <p:sp>
        <p:nvSpPr>
          <p:cNvPr id="1388" name="Google Shape;1388;p62: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389" name="Google Shape;1389;p62: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7"/>
        <p:cNvGrpSpPr/>
        <p:nvPr/>
      </p:nvGrpSpPr>
      <p:grpSpPr>
        <a:xfrm>
          <a:off x="0" y="0"/>
          <a:ext cx="0" cy="0"/>
          <a:chOff x="0" y="0"/>
          <a:chExt cx="0" cy="0"/>
        </a:xfrm>
      </p:grpSpPr>
      <p:sp>
        <p:nvSpPr>
          <p:cNvPr id="1408" name="Google Shape;1408;p63: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409" name="Google Shape;1409;p63: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6"/>
        <p:cNvGrpSpPr/>
        <p:nvPr/>
      </p:nvGrpSpPr>
      <p:grpSpPr>
        <a:xfrm>
          <a:off x="0" y="0"/>
          <a:ext cx="0" cy="0"/>
          <a:chOff x="0" y="0"/>
          <a:chExt cx="0" cy="0"/>
        </a:xfrm>
      </p:grpSpPr>
      <p:sp>
        <p:nvSpPr>
          <p:cNvPr id="1437" name="Google Shape;1437;p64: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438" name="Google Shape;1438;p64: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2"/>
        <p:cNvGrpSpPr/>
        <p:nvPr/>
      </p:nvGrpSpPr>
      <p:grpSpPr>
        <a:xfrm>
          <a:off x="0" y="0"/>
          <a:ext cx="0" cy="0"/>
          <a:chOff x="0" y="0"/>
          <a:chExt cx="0" cy="0"/>
        </a:xfrm>
      </p:grpSpPr>
      <p:sp>
        <p:nvSpPr>
          <p:cNvPr id="1453" name="Google Shape;1453;p65: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454" name="Google Shape;1454;p65: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4"/>
        <p:cNvGrpSpPr/>
        <p:nvPr/>
      </p:nvGrpSpPr>
      <p:grpSpPr>
        <a:xfrm>
          <a:off x="0" y="0"/>
          <a:ext cx="0" cy="0"/>
          <a:chOff x="0" y="0"/>
          <a:chExt cx="0" cy="0"/>
        </a:xfrm>
      </p:grpSpPr>
      <p:sp>
        <p:nvSpPr>
          <p:cNvPr id="1495" name="Google Shape;1495;p66: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496" name="Google Shape;1496;p66: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p:cNvGrpSpPr/>
        <p:nvPr/>
      </p:nvGrpSpPr>
      <p:grpSpPr>
        <a:xfrm>
          <a:off x="0" y="0"/>
          <a:ext cx="0" cy="0"/>
          <a:chOff x="0" y="0"/>
          <a:chExt cx="0" cy="0"/>
        </a:xfrm>
      </p:grpSpPr>
      <p:sp>
        <p:nvSpPr>
          <p:cNvPr id="1512" name="Google Shape;1512;p67:notes"/>
          <p:cNvSpPr txBox="1">
            <a:spLocks noGrp="1"/>
          </p:cNvSpPr>
          <p:nvPr>
            <p:ph type="body" idx="1"/>
          </p:nvPr>
        </p:nvSpPr>
        <p:spPr>
          <a:xfrm>
            <a:off x="914400" y="3429000"/>
            <a:ext cx="5029200" cy="5029200"/>
          </a:xfrm>
          <a:prstGeom prst="rect">
            <a:avLst/>
          </a:prstGeom>
        </p:spPr>
        <p:txBody>
          <a:bodyPr spcFirstLastPara="1" wrap="square" lIns="90475" tIns="44450" rIns="90475" bIns="44450" anchor="t" anchorCtr="0">
            <a:noAutofit/>
          </a:bodyPr>
          <a:lstStyle/>
          <a:p>
            <a:pPr marL="0" lvl="0" indent="0" algn="l" rtl="0">
              <a:spcBef>
                <a:spcPts val="420"/>
              </a:spcBef>
              <a:spcAft>
                <a:spcPts val="0"/>
              </a:spcAft>
              <a:buNone/>
            </a:pPr>
            <a:endParaRPr/>
          </a:p>
        </p:txBody>
      </p:sp>
      <p:sp>
        <p:nvSpPr>
          <p:cNvPr id="1513" name="Google Shape;1513;p67:notes"/>
          <p:cNvSpPr>
            <a:spLocks noGrp="1" noRot="1" noChangeAspect="1"/>
          </p:cNvSpPr>
          <p:nvPr>
            <p:ph type="sldImg" idx="2"/>
          </p:nvPr>
        </p:nvSpPr>
        <p:spPr>
          <a:xfrm>
            <a:off x="1447800" y="457200"/>
            <a:ext cx="4181475" cy="2889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33"/>
        <p:cNvGrpSpPr/>
        <p:nvPr/>
      </p:nvGrpSpPr>
      <p:grpSpPr>
        <a:xfrm>
          <a:off x="0" y="0"/>
          <a:ext cx="0" cy="0"/>
          <a:chOff x="0" y="0"/>
          <a:chExt cx="0" cy="0"/>
        </a:xfrm>
      </p:grpSpPr>
      <p:pic>
        <p:nvPicPr>
          <p:cNvPr id="34" name="Google Shape;34;p2"/>
          <p:cNvPicPr preferRelativeResize="0"/>
          <p:nvPr/>
        </p:nvPicPr>
        <p:blipFill rotWithShape="1">
          <a:blip r:embed="rId2">
            <a:alphaModFix/>
          </a:blip>
          <a:srcRect/>
          <a:stretch/>
        </p:blipFill>
        <p:spPr>
          <a:xfrm>
            <a:off x="152400" y="2057400"/>
            <a:ext cx="8839200" cy="1196975"/>
          </a:xfrm>
          <a:prstGeom prst="rect">
            <a:avLst/>
          </a:prstGeom>
          <a:noFill/>
          <a:ln>
            <a:noFill/>
          </a:ln>
        </p:spPr>
      </p:pic>
      <p:sp>
        <p:nvSpPr>
          <p:cNvPr id="35" name="Google Shape;35;p2"/>
          <p:cNvSpPr/>
          <p:nvPr/>
        </p:nvSpPr>
        <p:spPr>
          <a:xfrm>
            <a:off x="457200" y="3200400"/>
            <a:ext cx="8077200" cy="1447800"/>
          </a:xfrm>
          <a:prstGeom prst="rect">
            <a:avLst/>
          </a:prstGeom>
          <a:noFill/>
          <a:ln>
            <a:noFill/>
          </a:ln>
        </p:spPr>
        <p:txBody>
          <a:bodyPr spcFirstLastPara="1" wrap="square" lIns="85325" tIns="42650" rIns="85325" bIns="42650" anchor="t" anchorCtr="0">
            <a:noAutofit/>
          </a:bodyPr>
          <a:lstStyle/>
          <a:p>
            <a:pPr marL="0" marR="0" lvl="0" indent="0" algn="ctr" rtl="0">
              <a:spcBef>
                <a:spcPts val="0"/>
              </a:spcBef>
              <a:spcAft>
                <a:spcPts val="0"/>
              </a:spcAft>
              <a:buNone/>
            </a:pPr>
            <a:endParaRPr sz="2800" b="0" i="0" u="none" strike="noStrike" cap="none">
              <a:solidFill>
                <a:schemeClr val="dk1"/>
              </a:solidFill>
              <a:latin typeface="Arial"/>
              <a:ea typeface="Arial"/>
              <a:cs typeface="Arial"/>
              <a:sym typeface="Arial"/>
            </a:endParaRPr>
          </a:p>
        </p:txBody>
      </p:sp>
      <p:sp>
        <p:nvSpPr>
          <p:cNvPr id="36" name="Google Shape;36;p2"/>
          <p:cNvSpPr txBox="1">
            <a:spLocks noGrp="1"/>
          </p:cNvSpPr>
          <p:nvPr>
            <p:ph type="ctrTitle"/>
          </p:nvPr>
        </p:nvSpPr>
        <p:spPr>
          <a:xfrm>
            <a:off x="1066800" y="1676400"/>
            <a:ext cx="7772400" cy="704850"/>
          </a:xfrm>
          <a:prstGeom prst="rect">
            <a:avLst/>
          </a:prstGeom>
          <a:noFill/>
          <a:ln>
            <a:noFill/>
          </a:ln>
        </p:spPr>
        <p:txBody>
          <a:bodyPr spcFirstLastPara="1" wrap="square" lIns="85325" tIns="42650" rIns="85325" bIns="4265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7" name="Google Shape;37;p2"/>
          <p:cNvSpPr txBox="1">
            <a:spLocks noGrp="1"/>
          </p:cNvSpPr>
          <p:nvPr>
            <p:ph type="ftr" idx="11"/>
          </p:nvPr>
        </p:nvSpPr>
        <p:spPr>
          <a:xfrm>
            <a:off x="152400" y="6400800"/>
            <a:ext cx="4648200" cy="323850"/>
          </a:xfrm>
          <a:prstGeom prst="rect">
            <a:avLst/>
          </a:prstGeom>
          <a:noFill/>
          <a:ln>
            <a:noFill/>
          </a:ln>
        </p:spPr>
        <p:txBody>
          <a:bodyPr spcFirstLastPara="1" wrap="square" lIns="85325" tIns="42650" rIns="85325" bIns="4265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
          <p:cNvSpPr txBox="1">
            <a:spLocks noGrp="1"/>
          </p:cNvSpPr>
          <p:nvPr>
            <p:ph type="sldNum" idx="12"/>
          </p:nvPr>
        </p:nvSpPr>
        <p:spPr>
          <a:xfrm>
            <a:off x="6858000" y="6400800"/>
            <a:ext cx="2133600" cy="320675"/>
          </a:xfrm>
          <a:prstGeom prst="rect">
            <a:avLst/>
          </a:prstGeom>
          <a:noFill/>
          <a:ln>
            <a:noFill/>
          </a:ln>
        </p:spPr>
        <p:txBody>
          <a:bodyPr spcFirstLastPara="1" wrap="square" lIns="85325" tIns="42650" rIns="85325" bIns="42650" anchor="b" anchorCtr="0">
            <a:noAutofit/>
          </a:bodyPr>
          <a:lstStyle>
            <a:lvl1pPr marL="0" lvl="0" indent="0" algn="r">
              <a:spcBef>
                <a:spcPts val="0"/>
              </a:spcBef>
              <a:spcAft>
                <a:spcPts val="0"/>
              </a:spcAft>
              <a:buNone/>
              <a:defRPr sz="1000" b="0" i="0" u="none" strike="noStrike" cap="none">
                <a:solidFill>
                  <a:schemeClr val="dk1"/>
                </a:solidFill>
                <a:latin typeface="Tahoma"/>
                <a:ea typeface="Tahoma"/>
                <a:cs typeface="Tahoma"/>
                <a:sym typeface="Tahoma"/>
              </a:defRPr>
            </a:lvl1pPr>
            <a:lvl2pPr marL="0" lvl="1" indent="0" algn="r">
              <a:spcBef>
                <a:spcPts val="0"/>
              </a:spcBef>
              <a:spcAft>
                <a:spcPts val="0"/>
              </a:spcAft>
              <a:buNone/>
              <a:defRPr sz="1000" b="0" i="0" u="none" strike="noStrike" cap="none">
                <a:solidFill>
                  <a:schemeClr val="dk1"/>
                </a:solidFill>
                <a:latin typeface="Tahoma"/>
                <a:ea typeface="Tahoma"/>
                <a:cs typeface="Tahoma"/>
                <a:sym typeface="Tahoma"/>
              </a:defRPr>
            </a:lvl2pPr>
            <a:lvl3pPr marL="0" lvl="2" indent="0" algn="r">
              <a:spcBef>
                <a:spcPts val="0"/>
              </a:spcBef>
              <a:spcAft>
                <a:spcPts val="0"/>
              </a:spcAft>
              <a:buNone/>
              <a:defRPr sz="1000" b="0" i="0" u="none" strike="noStrike" cap="none">
                <a:solidFill>
                  <a:schemeClr val="dk1"/>
                </a:solidFill>
                <a:latin typeface="Tahoma"/>
                <a:ea typeface="Tahoma"/>
                <a:cs typeface="Tahoma"/>
                <a:sym typeface="Tahoma"/>
              </a:defRPr>
            </a:lvl3pPr>
            <a:lvl4pPr marL="0" lvl="3" indent="0" algn="r">
              <a:spcBef>
                <a:spcPts val="0"/>
              </a:spcBef>
              <a:spcAft>
                <a:spcPts val="0"/>
              </a:spcAft>
              <a:buNone/>
              <a:defRPr sz="1000" b="0" i="0" u="none" strike="noStrike" cap="none">
                <a:solidFill>
                  <a:schemeClr val="dk1"/>
                </a:solidFill>
                <a:latin typeface="Tahoma"/>
                <a:ea typeface="Tahoma"/>
                <a:cs typeface="Tahoma"/>
                <a:sym typeface="Tahoma"/>
              </a:defRPr>
            </a:lvl4pPr>
            <a:lvl5pPr marL="0" lvl="4" indent="0" algn="r">
              <a:spcBef>
                <a:spcPts val="0"/>
              </a:spcBef>
              <a:spcAft>
                <a:spcPts val="0"/>
              </a:spcAft>
              <a:buNone/>
              <a:defRPr sz="1000" b="0" i="0" u="none" strike="noStrike" cap="none">
                <a:solidFill>
                  <a:schemeClr val="dk1"/>
                </a:solidFill>
                <a:latin typeface="Tahoma"/>
                <a:ea typeface="Tahoma"/>
                <a:cs typeface="Tahoma"/>
                <a:sym typeface="Tahoma"/>
              </a:defRPr>
            </a:lvl5pPr>
            <a:lvl6pPr marL="0" lvl="5" indent="0" algn="r">
              <a:spcBef>
                <a:spcPts val="0"/>
              </a:spcBef>
              <a:spcAft>
                <a:spcPts val="0"/>
              </a:spcAft>
              <a:buNone/>
              <a:defRPr sz="1000" b="0" i="0" u="none" strike="noStrike" cap="none">
                <a:solidFill>
                  <a:schemeClr val="dk1"/>
                </a:solidFill>
                <a:latin typeface="Tahoma"/>
                <a:ea typeface="Tahoma"/>
                <a:cs typeface="Tahoma"/>
                <a:sym typeface="Tahoma"/>
              </a:defRPr>
            </a:lvl6pPr>
            <a:lvl7pPr marL="0" lvl="6" indent="0" algn="r">
              <a:spcBef>
                <a:spcPts val="0"/>
              </a:spcBef>
              <a:spcAft>
                <a:spcPts val="0"/>
              </a:spcAft>
              <a:buNone/>
              <a:defRPr sz="1000" b="0" i="0" u="none" strike="noStrike" cap="none">
                <a:solidFill>
                  <a:schemeClr val="dk1"/>
                </a:solidFill>
                <a:latin typeface="Tahoma"/>
                <a:ea typeface="Tahoma"/>
                <a:cs typeface="Tahoma"/>
                <a:sym typeface="Tahoma"/>
              </a:defRPr>
            </a:lvl7pPr>
            <a:lvl8pPr marL="0" lvl="7" indent="0" algn="r">
              <a:spcBef>
                <a:spcPts val="0"/>
              </a:spcBef>
              <a:spcAft>
                <a:spcPts val="0"/>
              </a:spcAft>
              <a:buNone/>
              <a:defRPr sz="1000" b="0" i="0" u="none" strike="noStrike" cap="none">
                <a:solidFill>
                  <a:schemeClr val="dk1"/>
                </a:solidFill>
                <a:latin typeface="Tahoma"/>
                <a:ea typeface="Tahoma"/>
                <a:cs typeface="Tahoma"/>
                <a:sym typeface="Tahoma"/>
              </a:defRPr>
            </a:lvl8pPr>
            <a:lvl9pPr marL="0" lvl="8" indent="0" algn="r">
              <a:spcBef>
                <a:spcPts val="0"/>
              </a:spcBef>
              <a:spcAft>
                <a:spcPts val="0"/>
              </a:spcAft>
              <a:buNone/>
              <a:defRPr sz="1000" b="0" i="0" u="none" strike="noStrike" cap="none">
                <a:solidFill>
                  <a:schemeClr val="dk1"/>
                </a:solidFill>
                <a:latin typeface="Tahoma"/>
                <a:ea typeface="Tahoma"/>
                <a:cs typeface="Tahoma"/>
                <a:sym typeface="Tahoma"/>
              </a:defRPr>
            </a:lvl9pPr>
          </a:lstStyle>
          <a:p>
            <a:pPr marL="0" lvl="0" indent="0" algn="r" rtl="0">
              <a:spcBef>
                <a:spcPts val="0"/>
              </a:spcBef>
              <a:spcAft>
                <a:spcPts val="0"/>
              </a:spcAft>
              <a:buNone/>
            </a:pPr>
            <a:r>
              <a:rPr lang="en-US"/>
              <a:t>Chap 5-</a:t>
            </a:r>
            <a:fld id="{00000000-1234-1234-1234-123412341234}" type="slidenum">
              <a:rPr lang="en-US"/>
              <a:pPr marL="0" lvl="0" indent="0" algn="r" rtl="0">
                <a:spcBef>
                  <a:spcPts val="0"/>
                </a:spcBef>
                <a:spcAft>
                  <a:spcPts val="0"/>
                </a:spcAft>
                <a:buNone/>
              </a:pPr>
              <a:t>‹#›</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 calcmode="lin" valueType="num">
                                      <p:cBhvr additive="base">
                                        <p:cTn id="7" dur="500"/>
                                        <p:tgtEl>
                                          <p:spTgt spid="35">
                                            <p:txEl>
                                              <p:pRg st="0" end="0"/>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able" type="tbl">
  <p:cSld name="TABLE">
    <p:spTree>
      <p:nvGrpSpPr>
        <p:cNvPr id="1" name="Shape 39"/>
        <p:cNvGrpSpPr/>
        <p:nvPr/>
      </p:nvGrpSpPr>
      <p:grpSpPr>
        <a:xfrm>
          <a:off x="0" y="0"/>
          <a:ext cx="0" cy="0"/>
          <a:chOff x="0" y="0"/>
          <a:chExt cx="0" cy="0"/>
        </a:xfrm>
      </p:grpSpPr>
      <p:sp>
        <p:nvSpPr>
          <p:cNvPr id="40" name="Google Shape;40;p3"/>
          <p:cNvSpPr txBox="1">
            <a:spLocks noGrp="1"/>
          </p:cNvSpPr>
          <p:nvPr>
            <p:ph type="title"/>
          </p:nvPr>
        </p:nvSpPr>
        <p:spPr>
          <a:xfrm>
            <a:off x="0" y="76200"/>
            <a:ext cx="9144000" cy="990600"/>
          </a:xfrm>
          <a:prstGeom prst="rect">
            <a:avLst/>
          </a:prstGeom>
          <a:noFill/>
          <a:ln>
            <a:noFill/>
          </a:ln>
        </p:spPr>
        <p:txBody>
          <a:bodyPr spcFirstLastPara="1" wrap="square" lIns="85325" tIns="42650" rIns="85325" bIns="4265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1"/>
        <p:cNvGrpSpPr/>
        <p:nvPr/>
      </p:nvGrpSpPr>
      <p:grpSpPr>
        <a:xfrm>
          <a:off x="0" y="0"/>
          <a:ext cx="0" cy="0"/>
          <a:chOff x="0" y="0"/>
          <a:chExt cx="0" cy="0"/>
        </a:xfrm>
      </p:grpSpPr>
      <p:sp>
        <p:nvSpPr>
          <p:cNvPr id="42" name="Google Shape;42;p4"/>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 name="Google Shape;43;p4"/>
          <p:cNvSpPr txBox="1">
            <a:spLocks noGrp="1"/>
          </p:cNvSpPr>
          <p:nvPr>
            <p:ph type="body" idx="1"/>
          </p:nvPr>
        </p:nvSpPr>
        <p:spPr>
          <a:xfrm>
            <a:off x="762000" y="1600200"/>
            <a:ext cx="8077200" cy="4114800"/>
          </a:xfrm>
          <a:prstGeom prst="rect">
            <a:avLst/>
          </a:prstGeom>
          <a:noFill/>
          <a:ln>
            <a:noFill/>
          </a:ln>
        </p:spPr>
        <p:txBody>
          <a:bodyPr spcFirstLastPara="1" wrap="square" lIns="85325" tIns="42650" rIns="85325" bIns="4265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
          <p:cNvSpPr txBox="1">
            <a:spLocks noGrp="1"/>
          </p:cNvSpPr>
          <p:nvPr>
            <p:ph type="ftr" idx="11"/>
          </p:nvPr>
        </p:nvSpPr>
        <p:spPr>
          <a:xfrm>
            <a:off x="152400" y="6400800"/>
            <a:ext cx="4648200" cy="304800"/>
          </a:xfrm>
          <a:prstGeom prst="rect">
            <a:avLst/>
          </a:prstGeom>
          <a:noFill/>
          <a:ln>
            <a:noFill/>
          </a:ln>
        </p:spPr>
        <p:txBody>
          <a:bodyPr spcFirstLastPara="1" wrap="square" lIns="85325" tIns="42650" rIns="85325" bIns="4265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4"/>
          <p:cNvSpPr txBox="1">
            <a:spLocks noGrp="1"/>
          </p:cNvSpPr>
          <p:nvPr>
            <p:ph type="sldNum" idx="12"/>
          </p:nvPr>
        </p:nvSpPr>
        <p:spPr>
          <a:xfrm>
            <a:off x="7086600" y="6400800"/>
            <a:ext cx="1905000" cy="309563"/>
          </a:xfrm>
          <a:prstGeom prst="rect">
            <a:avLst/>
          </a:prstGeom>
          <a:noFill/>
          <a:ln>
            <a:noFill/>
          </a:ln>
        </p:spPr>
        <p:txBody>
          <a:bodyPr spcFirstLastPara="1" wrap="square" lIns="85325" tIns="42650" rIns="85325" bIns="42650" anchor="b" anchorCtr="0">
            <a:noAutofit/>
          </a:bodyPr>
          <a:lstStyle>
            <a:lvl1pPr marL="0" lvl="0" indent="0" algn="r">
              <a:spcBef>
                <a:spcPts val="0"/>
              </a:spcBef>
              <a:spcAft>
                <a:spcPts val="0"/>
              </a:spcAft>
              <a:buNone/>
              <a:defRPr sz="1000" b="0" i="0" u="none" strike="noStrike" cap="none">
                <a:solidFill>
                  <a:schemeClr val="dk1"/>
                </a:solidFill>
                <a:latin typeface="Tahoma"/>
                <a:ea typeface="Tahoma"/>
                <a:cs typeface="Tahoma"/>
                <a:sym typeface="Tahoma"/>
              </a:defRPr>
            </a:lvl1pPr>
            <a:lvl2pPr marL="0" lvl="1" indent="0" algn="r">
              <a:spcBef>
                <a:spcPts val="0"/>
              </a:spcBef>
              <a:spcAft>
                <a:spcPts val="0"/>
              </a:spcAft>
              <a:buNone/>
              <a:defRPr sz="1000" b="0" i="0" u="none" strike="noStrike" cap="none">
                <a:solidFill>
                  <a:schemeClr val="dk1"/>
                </a:solidFill>
                <a:latin typeface="Tahoma"/>
                <a:ea typeface="Tahoma"/>
                <a:cs typeface="Tahoma"/>
                <a:sym typeface="Tahoma"/>
              </a:defRPr>
            </a:lvl2pPr>
            <a:lvl3pPr marL="0" lvl="2" indent="0" algn="r">
              <a:spcBef>
                <a:spcPts val="0"/>
              </a:spcBef>
              <a:spcAft>
                <a:spcPts val="0"/>
              </a:spcAft>
              <a:buNone/>
              <a:defRPr sz="1000" b="0" i="0" u="none" strike="noStrike" cap="none">
                <a:solidFill>
                  <a:schemeClr val="dk1"/>
                </a:solidFill>
                <a:latin typeface="Tahoma"/>
                <a:ea typeface="Tahoma"/>
                <a:cs typeface="Tahoma"/>
                <a:sym typeface="Tahoma"/>
              </a:defRPr>
            </a:lvl3pPr>
            <a:lvl4pPr marL="0" lvl="3" indent="0" algn="r">
              <a:spcBef>
                <a:spcPts val="0"/>
              </a:spcBef>
              <a:spcAft>
                <a:spcPts val="0"/>
              </a:spcAft>
              <a:buNone/>
              <a:defRPr sz="1000" b="0" i="0" u="none" strike="noStrike" cap="none">
                <a:solidFill>
                  <a:schemeClr val="dk1"/>
                </a:solidFill>
                <a:latin typeface="Tahoma"/>
                <a:ea typeface="Tahoma"/>
                <a:cs typeface="Tahoma"/>
                <a:sym typeface="Tahoma"/>
              </a:defRPr>
            </a:lvl4pPr>
            <a:lvl5pPr marL="0" lvl="4" indent="0" algn="r">
              <a:spcBef>
                <a:spcPts val="0"/>
              </a:spcBef>
              <a:spcAft>
                <a:spcPts val="0"/>
              </a:spcAft>
              <a:buNone/>
              <a:defRPr sz="1000" b="0" i="0" u="none" strike="noStrike" cap="none">
                <a:solidFill>
                  <a:schemeClr val="dk1"/>
                </a:solidFill>
                <a:latin typeface="Tahoma"/>
                <a:ea typeface="Tahoma"/>
                <a:cs typeface="Tahoma"/>
                <a:sym typeface="Tahoma"/>
              </a:defRPr>
            </a:lvl5pPr>
            <a:lvl6pPr marL="0" lvl="5" indent="0" algn="r">
              <a:spcBef>
                <a:spcPts val="0"/>
              </a:spcBef>
              <a:spcAft>
                <a:spcPts val="0"/>
              </a:spcAft>
              <a:buNone/>
              <a:defRPr sz="1000" b="0" i="0" u="none" strike="noStrike" cap="none">
                <a:solidFill>
                  <a:schemeClr val="dk1"/>
                </a:solidFill>
                <a:latin typeface="Tahoma"/>
                <a:ea typeface="Tahoma"/>
                <a:cs typeface="Tahoma"/>
                <a:sym typeface="Tahoma"/>
              </a:defRPr>
            </a:lvl6pPr>
            <a:lvl7pPr marL="0" lvl="6" indent="0" algn="r">
              <a:spcBef>
                <a:spcPts val="0"/>
              </a:spcBef>
              <a:spcAft>
                <a:spcPts val="0"/>
              </a:spcAft>
              <a:buNone/>
              <a:defRPr sz="1000" b="0" i="0" u="none" strike="noStrike" cap="none">
                <a:solidFill>
                  <a:schemeClr val="dk1"/>
                </a:solidFill>
                <a:latin typeface="Tahoma"/>
                <a:ea typeface="Tahoma"/>
                <a:cs typeface="Tahoma"/>
                <a:sym typeface="Tahoma"/>
              </a:defRPr>
            </a:lvl7pPr>
            <a:lvl8pPr marL="0" lvl="7" indent="0" algn="r">
              <a:spcBef>
                <a:spcPts val="0"/>
              </a:spcBef>
              <a:spcAft>
                <a:spcPts val="0"/>
              </a:spcAft>
              <a:buNone/>
              <a:defRPr sz="1000" b="0" i="0" u="none" strike="noStrike" cap="none">
                <a:solidFill>
                  <a:schemeClr val="dk1"/>
                </a:solidFill>
                <a:latin typeface="Tahoma"/>
                <a:ea typeface="Tahoma"/>
                <a:cs typeface="Tahoma"/>
                <a:sym typeface="Tahoma"/>
              </a:defRPr>
            </a:lvl8pPr>
            <a:lvl9pPr marL="0" lvl="8" indent="0" algn="r">
              <a:spcBef>
                <a:spcPts val="0"/>
              </a:spcBef>
              <a:spcAft>
                <a:spcPts val="0"/>
              </a:spcAft>
              <a:buNone/>
              <a:defRPr sz="1000" b="0" i="0" u="none" strike="noStrike" cap="none">
                <a:solidFill>
                  <a:schemeClr val="dk1"/>
                </a:solidFill>
                <a:latin typeface="Tahoma"/>
                <a:ea typeface="Tahoma"/>
                <a:cs typeface="Tahoma"/>
                <a:sym typeface="Tahoma"/>
              </a:defRPr>
            </a:lvl9pPr>
          </a:lstStyle>
          <a:p>
            <a:pPr marL="0" lvl="0" indent="0" algn="r" rtl="0">
              <a:spcBef>
                <a:spcPts val="0"/>
              </a:spcBef>
              <a:spcAft>
                <a:spcPts val="0"/>
              </a:spcAft>
              <a:buNone/>
            </a:pPr>
            <a:r>
              <a:rPr lang="en-US"/>
              <a:t>Chap 5-</a:t>
            </a: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6"/>
        <p:cNvGrpSpPr/>
        <p:nvPr/>
      </p:nvGrpSpPr>
      <p:grpSpPr>
        <a:xfrm>
          <a:off x="0" y="0"/>
          <a:ext cx="0" cy="0"/>
          <a:chOff x="0" y="0"/>
          <a:chExt cx="0" cy="0"/>
        </a:xfrm>
      </p:grpSpPr>
      <p:sp>
        <p:nvSpPr>
          <p:cNvPr id="47" name="Google Shape;47;p5"/>
          <p:cNvSpPr txBox="1">
            <a:spLocks noGrp="1"/>
          </p:cNvSpPr>
          <p:nvPr>
            <p:ph type="ftr" idx="11"/>
          </p:nvPr>
        </p:nvSpPr>
        <p:spPr>
          <a:xfrm>
            <a:off x="152400" y="6400800"/>
            <a:ext cx="4648200" cy="304800"/>
          </a:xfrm>
          <a:prstGeom prst="rect">
            <a:avLst/>
          </a:prstGeom>
          <a:noFill/>
          <a:ln>
            <a:noFill/>
          </a:ln>
        </p:spPr>
        <p:txBody>
          <a:bodyPr spcFirstLastPara="1" wrap="square" lIns="85325" tIns="42650" rIns="85325" bIns="4265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
          <p:cNvSpPr txBox="1">
            <a:spLocks noGrp="1"/>
          </p:cNvSpPr>
          <p:nvPr>
            <p:ph type="sldNum" idx="12"/>
          </p:nvPr>
        </p:nvSpPr>
        <p:spPr>
          <a:xfrm>
            <a:off x="7086600" y="6400800"/>
            <a:ext cx="1905000" cy="309563"/>
          </a:xfrm>
          <a:prstGeom prst="rect">
            <a:avLst/>
          </a:prstGeom>
          <a:noFill/>
          <a:ln>
            <a:noFill/>
          </a:ln>
        </p:spPr>
        <p:txBody>
          <a:bodyPr spcFirstLastPara="1" wrap="square" lIns="85325" tIns="42650" rIns="85325" bIns="42650" anchor="b" anchorCtr="0">
            <a:noAutofit/>
          </a:bodyPr>
          <a:lstStyle>
            <a:lvl1pPr marL="0" lvl="0" indent="0" algn="r">
              <a:spcBef>
                <a:spcPts val="0"/>
              </a:spcBef>
              <a:spcAft>
                <a:spcPts val="0"/>
              </a:spcAft>
              <a:buNone/>
              <a:defRPr sz="1000" b="0" i="0" u="none" strike="noStrike" cap="none">
                <a:solidFill>
                  <a:schemeClr val="dk1"/>
                </a:solidFill>
                <a:latin typeface="Tahoma"/>
                <a:ea typeface="Tahoma"/>
                <a:cs typeface="Tahoma"/>
                <a:sym typeface="Tahoma"/>
              </a:defRPr>
            </a:lvl1pPr>
            <a:lvl2pPr marL="0" lvl="1" indent="0" algn="r">
              <a:spcBef>
                <a:spcPts val="0"/>
              </a:spcBef>
              <a:spcAft>
                <a:spcPts val="0"/>
              </a:spcAft>
              <a:buNone/>
              <a:defRPr sz="1000" b="0" i="0" u="none" strike="noStrike" cap="none">
                <a:solidFill>
                  <a:schemeClr val="dk1"/>
                </a:solidFill>
                <a:latin typeface="Tahoma"/>
                <a:ea typeface="Tahoma"/>
                <a:cs typeface="Tahoma"/>
                <a:sym typeface="Tahoma"/>
              </a:defRPr>
            </a:lvl2pPr>
            <a:lvl3pPr marL="0" lvl="2" indent="0" algn="r">
              <a:spcBef>
                <a:spcPts val="0"/>
              </a:spcBef>
              <a:spcAft>
                <a:spcPts val="0"/>
              </a:spcAft>
              <a:buNone/>
              <a:defRPr sz="1000" b="0" i="0" u="none" strike="noStrike" cap="none">
                <a:solidFill>
                  <a:schemeClr val="dk1"/>
                </a:solidFill>
                <a:latin typeface="Tahoma"/>
                <a:ea typeface="Tahoma"/>
                <a:cs typeface="Tahoma"/>
                <a:sym typeface="Tahoma"/>
              </a:defRPr>
            </a:lvl3pPr>
            <a:lvl4pPr marL="0" lvl="3" indent="0" algn="r">
              <a:spcBef>
                <a:spcPts val="0"/>
              </a:spcBef>
              <a:spcAft>
                <a:spcPts val="0"/>
              </a:spcAft>
              <a:buNone/>
              <a:defRPr sz="1000" b="0" i="0" u="none" strike="noStrike" cap="none">
                <a:solidFill>
                  <a:schemeClr val="dk1"/>
                </a:solidFill>
                <a:latin typeface="Tahoma"/>
                <a:ea typeface="Tahoma"/>
                <a:cs typeface="Tahoma"/>
                <a:sym typeface="Tahoma"/>
              </a:defRPr>
            </a:lvl4pPr>
            <a:lvl5pPr marL="0" lvl="4" indent="0" algn="r">
              <a:spcBef>
                <a:spcPts val="0"/>
              </a:spcBef>
              <a:spcAft>
                <a:spcPts val="0"/>
              </a:spcAft>
              <a:buNone/>
              <a:defRPr sz="1000" b="0" i="0" u="none" strike="noStrike" cap="none">
                <a:solidFill>
                  <a:schemeClr val="dk1"/>
                </a:solidFill>
                <a:latin typeface="Tahoma"/>
                <a:ea typeface="Tahoma"/>
                <a:cs typeface="Tahoma"/>
                <a:sym typeface="Tahoma"/>
              </a:defRPr>
            </a:lvl5pPr>
            <a:lvl6pPr marL="0" lvl="5" indent="0" algn="r">
              <a:spcBef>
                <a:spcPts val="0"/>
              </a:spcBef>
              <a:spcAft>
                <a:spcPts val="0"/>
              </a:spcAft>
              <a:buNone/>
              <a:defRPr sz="1000" b="0" i="0" u="none" strike="noStrike" cap="none">
                <a:solidFill>
                  <a:schemeClr val="dk1"/>
                </a:solidFill>
                <a:latin typeface="Tahoma"/>
                <a:ea typeface="Tahoma"/>
                <a:cs typeface="Tahoma"/>
                <a:sym typeface="Tahoma"/>
              </a:defRPr>
            </a:lvl6pPr>
            <a:lvl7pPr marL="0" lvl="6" indent="0" algn="r">
              <a:spcBef>
                <a:spcPts val="0"/>
              </a:spcBef>
              <a:spcAft>
                <a:spcPts val="0"/>
              </a:spcAft>
              <a:buNone/>
              <a:defRPr sz="1000" b="0" i="0" u="none" strike="noStrike" cap="none">
                <a:solidFill>
                  <a:schemeClr val="dk1"/>
                </a:solidFill>
                <a:latin typeface="Tahoma"/>
                <a:ea typeface="Tahoma"/>
                <a:cs typeface="Tahoma"/>
                <a:sym typeface="Tahoma"/>
              </a:defRPr>
            </a:lvl7pPr>
            <a:lvl8pPr marL="0" lvl="7" indent="0" algn="r">
              <a:spcBef>
                <a:spcPts val="0"/>
              </a:spcBef>
              <a:spcAft>
                <a:spcPts val="0"/>
              </a:spcAft>
              <a:buNone/>
              <a:defRPr sz="1000" b="0" i="0" u="none" strike="noStrike" cap="none">
                <a:solidFill>
                  <a:schemeClr val="dk1"/>
                </a:solidFill>
                <a:latin typeface="Tahoma"/>
                <a:ea typeface="Tahoma"/>
                <a:cs typeface="Tahoma"/>
                <a:sym typeface="Tahoma"/>
              </a:defRPr>
            </a:lvl8pPr>
            <a:lvl9pPr marL="0" lvl="8" indent="0" algn="r">
              <a:spcBef>
                <a:spcPts val="0"/>
              </a:spcBef>
              <a:spcAft>
                <a:spcPts val="0"/>
              </a:spcAft>
              <a:buNone/>
              <a:defRPr sz="1000" b="0" i="0" u="none" strike="noStrike" cap="none">
                <a:solidFill>
                  <a:schemeClr val="dk1"/>
                </a:solidFill>
                <a:latin typeface="Tahoma"/>
                <a:ea typeface="Tahoma"/>
                <a:cs typeface="Tahoma"/>
                <a:sym typeface="Tahoma"/>
              </a:defRPr>
            </a:lvl9pPr>
          </a:lstStyle>
          <a:p>
            <a:pPr marL="0" lvl="0" indent="0" algn="r" rtl="0">
              <a:spcBef>
                <a:spcPts val="0"/>
              </a:spcBef>
              <a:spcAft>
                <a:spcPts val="0"/>
              </a:spcAft>
              <a:buNone/>
            </a:pPr>
            <a:r>
              <a:rPr lang="en-US"/>
              <a:t>Chap 5-</a:t>
            </a: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9"/>
        <p:cNvGrpSpPr/>
        <p:nvPr/>
      </p:nvGrpSpPr>
      <p:grpSpPr>
        <a:xfrm>
          <a:off x="0" y="0"/>
          <a:ext cx="0" cy="0"/>
          <a:chOff x="0" y="0"/>
          <a:chExt cx="0" cy="0"/>
        </a:xfrm>
      </p:grpSpPr>
      <p:sp>
        <p:nvSpPr>
          <p:cNvPr id="50" name="Google Shape;50;p6"/>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1" name="Google Shape;51;p6"/>
          <p:cNvSpPr txBox="1">
            <a:spLocks noGrp="1"/>
          </p:cNvSpPr>
          <p:nvPr>
            <p:ph type="body" idx="1"/>
          </p:nvPr>
        </p:nvSpPr>
        <p:spPr>
          <a:xfrm>
            <a:off x="762000" y="1600200"/>
            <a:ext cx="3962400" cy="4114800"/>
          </a:xfrm>
          <a:prstGeom prst="rect">
            <a:avLst/>
          </a:prstGeom>
          <a:noFill/>
          <a:ln>
            <a:noFill/>
          </a:ln>
        </p:spPr>
        <p:txBody>
          <a:bodyPr spcFirstLastPara="1" wrap="square" lIns="85325" tIns="42650" rIns="85325" bIns="4265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6"/>
          <p:cNvSpPr txBox="1">
            <a:spLocks noGrp="1"/>
          </p:cNvSpPr>
          <p:nvPr>
            <p:ph type="body" idx="2"/>
          </p:nvPr>
        </p:nvSpPr>
        <p:spPr>
          <a:xfrm>
            <a:off x="4876800" y="1600200"/>
            <a:ext cx="3962400" cy="4114800"/>
          </a:xfrm>
          <a:prstGeom prst="rect">
            <a:avLst/>
          </a:prstGeom>
          <a:noFill/>
          <a:ln>
            <a:noFill/>
          </a:ln>
        </p:spPr>
        <p:txBody>
          <a:bodyPr spcFirstLastPara="1" wrap="square" lIns="85325" tIns="42650" rIns="85325" bIns="4265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6"/>
          <p:cNvSpPr txBox="1">
            <a:spLocks noGrp="1"/>
          </p:cNvSpPr>
          <p:nvPr>
            <p:ph type="ftr" idx="11"/>
          </p:nvPr>
        </p:nvSpPr>
        <p:spPr>
          <a:xfrm>
            <a:off x="152400" y="6400800"/>
            <a:ext cx="4648200" cy="304800"/>
          </a:xfrm>
          <a:prstGeom prst="rect">
            <a:avLst/>
          </a:prstGeom>
          <a:noFill/>
          <a:ln>
            <a:noFill/>
          </a:ln>
        </p:spPr>
        <p:txBody>
          <a:bodyPr spcFirstLastPara="1" wrap="square" lIns="85325" tIns="42650" rIns="85325" bIns="4265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
          <p:cNvSpPr txBox="1">
            <a:spLocks noGrp="1"/>
          </p:cNvSpPr>
          <p:nvPr>
            <p:ph type="sldNum" idx="12"/>
          </p:nvPr>
        </p:nvSpPr>
        <p:spPr>
          <a:xfrm>
            <a:off x="7086600" y="6400800"/>
            <a:ext cx="1905000" cy="309563"/>
          </a:xfrm>
          <a:prstGeom prst="rect">
            <a:avLst/>
          </a:prstGeom>
          <a:noFill/>
          <a:ln>
            <a:noFill/>
          </a:ln>
        </p:spPr>
        <p:txBody>
          <a:bodyPr spcFirstLastPara="1" wrap="square" lIns="85325" tIns="42650" rIns="85325" bIns="42650" anchor="b" anchorCtr="0">
            <a:noAutofit/>
          </a:bodyPr>
          <a:lstStyle>
            <a:lvl1pPr marL="0" lvl="0" indent="0" algn="r">
              <a:spcBef>
                <a:spcPts val="0"/>
              </a:spcBef>
              <a:spcAft>
                <a:spcPts val="0"/>
              </a:spcAft>
              <a:buNone/>
              <a:defRPr sz="1000">
                <a:solidFill>
                  <a:schemeClr val="dk1"/>
                </a:solidFill>
                <a:latin typeface="Tahoma"/>
                <a:ea typeface="Tahoma"/>
                <a:cs typeface="Tahoma"/>
                <a:sym typeface="Tahoma"/>
              </a:defRPr>
            </a:lvl1pPr>
            <a:lvl2pPr marL="0" lvl="1" indent="0" algn="r">
              <a:spcBef>
                <a:spcPts val="0"/>
              </a:spcBef>
              <a:spcAft>
                <a:spcPts val="0"/>
              </a:spcAft>
              <a:buNone/>
              <a:defRPr sz="1000">
                <a:solidFill>
                  <a:schemeClr val="dk1"/>
                </a:solidFill>
                <a:latin typeface="Tahoma"/>
                <a:ea typeface="Tahoma"/>
                <a:cs typeface="Tahoma"/>
                <a:sym typeface="Tahoma"/>
              </a:defRPr>
            </a:lvl2pPr>
            <a:lvl3pPr marL="0" lvl="2" indent="0" algn="r">
              <a:spcBef>
                <a:spcPts val="0"/>
              </a:spcBef>
              <a:spcAft>
                <a:spcPts val="0"/>
              </a:spcAft>
              <a:buNone/>
              <a:defRPr sz="1000">
                <a:solidFill>
                  <a:schemeClr val="dk1"/>
                </a:solidFill>
                <a:latin typeface="Tahoma"/>
                <a:ea typeface="Tahoma"/>
                <a:cs typeface="Tahoma"/>
                <a:sym typeface="Tahoma"/>
              </a:defRPr>
            </a:lvl3pPr>
            <a:lvl4pPr marL="0" lvl="3" indent="0" algn="r">
              <a:spcBef>
                <a:spcPts val="0"/>
              </a:spcBef>
              <a:spcAft>
                <a:spcPts val="0"/>
              </a:spcAft>
              <a:buNone/>
              <a:defRPr sz="1000">
                <a:solidFill>
                  <a:schemeClr val="dk1"/>
                </a:solidFill>
                <a:latin typeface="Tahoma"/>
                <a:ea typeface="Tahoma"/>
                <a:cs typeface="Tahoma"/>
                <a:sym typeface="Tahoma"/>
              </a:defRPr>
            </a:lvl4pPr>
            <a:lvl5pPr marL="0" lvl="4" indent="0" algn="r">
              <a:spcBef>
                <a:spcPts val="0"/>
              </a:spcBef>
              <a:spcAft>
                <a:spcPts val="0"/>
              </a:spcAft>
              <a:buNone/>
              <a:defRPr sz="1000">
                <a:solidFill>
                  <a:schemeClr val="dk1"/>
                </a:solidFill>
                <a:latin typeface="Tahoma"/>
                <a:ea typeface="Tahoma"/>
                <a:cs typeface="Tahoma"/>
                <a:sym typeface="Tahoma"/>
              </a:defRPr>
            </a:lvl5pPr>
            <a:lvl6pPr marL="0" lvl="5" indent="0" algn="r">
              <a:spcBef>
                <a:spcPts val="0"/>
              </a:spcBef>
              <a:spcAft>
                <a:spcPts val="0"/>
              </a:spcAft>
              <a:buNone/>
              <a:defRPr sz="1000">
                <a:solidFill>
                  <a:schemeClr val="dk1"/>
                </a:solidFill>
                <a:latin typeface="Tahoma"/>
                <a:ea typeface="Tahoma"/>
                <a:cs typeface="Tahoma"/>
                <a:sym typeface="Tahoma"/>
              </a:defRPr>
            </a:lvl6pPr>
            <a:lvl7pPr marL="0" lvl="6" indent="0" algn="r">
              <a:spcBef>
                <a:spcPts val="0"/>
              </a:spcBef>
              <a:spcAft>
                <a:spcPts val="0"/>
              </a:spcAft>
              <a:buNone/>
              <a:defRPr sz="1000">
                <a:solidFill>
                  <a:schemeClr val="dk1"/>
                </a:solidFill>
                <a:latin typeface="Tahoma"/>
                <a:ea typeface="Tahoma"/>
                <a:cs typeface="Tahoma"/>
                <a:sym typeface="Tahoma"/>
              </a:defRPr>
            </a:lvl7pPr>
            <a:lvl8pPr marL="0" lvl="7" indent="0" algn="r">
              <a:spcBef>
                <a:spcPts val="0"/>
              </a:spcBef>
              <a:spcAft>
                <a:spcPts val="0"/>
              </a:spcAft>
              <a:buNone/>
              <a:defRPr sz="1000">
                <a:solidFill>
                  <a:schemeClr val="dk1"/>
                </a:solidFill>
                <a:latin typeface="Tahoma"/>
                <a:ea typeface="Tahoma"/>
                <a:cs typeface="Tahoma"/>
                <a:sym typeface="Tahoma"/>
              </a:defRPr>
            </a:lvl8pPr>
            <a:lvl9pPr marL="0" lvl="8" indent="0" algn="r">
              <a:spcBef>
                <a:spcPts val="0"/>
              </a:spcBef>
              <a:spcAft>
                <a:spcPts val="0"/>
              </a:spcAft>
              <a:buNone/>
              <a:defRPr sz="1000">
                <a:solidFill>
                  <a:schemeClr val="dk1"/>
                </a:solidFill>
                <a:latin typeface="Tahoma"/>
                <a:ea typeface="Tahoma"/>
                <a:cs typeface="Tahoma"/>
                <a:sym typeface="Tahoma"/>
              </a:defRPr>
            </a:lvl9pPr>
          </a:lstStyle>
          <a:p>
            <a:pPr marL="0" lvl="0" indent="0" algn="r" rtl="0">
              <a:spcBef>
                <a:spcPts val="0"/>
              </a:spcBef>
              <a:spcAft>
                <a:spcPts val="0"/>
              </a:spcAft>
              <a:buNone/>
            </a:pPr>
            <a:r>
              <a:rPr lang="en-US"/>
              <a:t>Chap 5-</a:t>
            </a: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Text, and 2 Content" type="txAndTwoObj">
  <p:cSld name="TEXT_AND_TWO_OBJECTS">
    <p:spTree>
      <p:nvGrpSpPr>
        <p:cNvPr id="1" name="Shape 55"/>
        <p:cNvGrpSpPr/>
        <p:nvPr/>
      </p:nvGrpSpPr>
      <p:grpSpPr>
        <a:xfrm>
          <a:off x="0" y="0"/>
          <a:ext cx="0" cy="0"/>
          <a:chOff x="0" y="0"/>
          <a:chExt cx="0" cy="0"/>
        </a:xfrm>
      </p:grpSpPr>
      <p:sp>
        <p:nvSpPr>
          <p:cNvPr id="56" name="Google Shape;56;p7"/>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7" name="Google Shape;57;p7"/>
          <p:cNvSpPr txBox="1">
            <a:spLocks noGrp="1"/>
          </p:cNvSpPr>
          <p:nvPr>
            <p:ph type="body" idx="1"/>
          </p:nvPr>
        </p:nvSpPr>
        <p:spPr>
          <a:xfrm>
            <a:off x="762000" y="1600200"/>
            <a:ext cx="3962400" cy="4114800"/>
          </a:xfrm>
          <a:prstGeom prst="rect">
            <a:avLst/>
          </a:prstGeom>
          <a:noFill/>
          <a:ln>
            <a:noFill/>
          </a:ln>
        </p:spPr>
        <p:txBody>
          <a:bodyPr spcFirstLastPara="1" wrap="square" lIns="85325" tIns="42650" rIns="85325" bIns="4265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7"/>
          <p:cNvSpPr txBox="1">
            <a:spLocks noGrp="1"/>
          </p:cNvSpPr>
          <p:nvPr>
            <p:ph type="body" idx="2"/>
          </p:nvPr>
        </p:nvSpPr>
        <p:spPr>
          <a:xfrm>
            <a:off x="4876800" y="1600200"/>
            <a:ext cx="3962400" cy="1981200"/>
          </a:xfrm>
          <a:prstGeom prst="rect">
            <a:avLst/>
          </a:prstGeom>
          <a:noFill/>
          <a:ln>
            <a:noFill/>
          </a:ln>
        </p:spPr>
        <p:txBody>
          <a:bodyPr spcFirstLastPara="1" wrap="square" lIns="85325" tIns="42650" rIns="85325" bIns="4265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7"/>
          <p:cNvSpPr txBox="1">
            <a:spLocks noGrp="1"/>
          </p:cNvSpPr>
          <p:nvPr>
            <p:ph type="body" idx="3"/>
          </p:nvPr>
        </p:nvSpPr>
        <p:spPr>
          <a:xfrm>
            <a:off x="4876800" y="3733800"/>
            <a:ext cx="3962400" cy="1981200"/>
          </a:xfrm>
          <a:prstGeom prst="rect">
            <a:avLst/>
          </a:prstGeom>
          <a:noFill/>
          <a:ln>
            <a:noFill/>
          </a:ln>
        </p:spPr>
        <p:txBody>
          <a:bodyPr spcFirstLastPara="1" wrap="square" lIns="85325" tIns="42650" rIns="85325" bIns="4265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7"/>
          <p:cNvSpPr txBox="1">
            <a:spLocks noGrp="1"/>
          </p:cNvSpPr>
          <p:nvPr>
            <p:ph type="ftr" idx="11"/>
          </p:nvPr>
        </p:nvSpPr>
        <p:spPr>
          <a:xfrm>
            <a:off x="152400" y="6400800"/>
            <a:ext cx="4648200" cy="304800"/>
          </a:xfrm>
          <a:prstGeom prst="rect">
            <a:avLst/>
          </a:prstGeom>
          <a:noFill/>
          <a:ln>
            <a:noFill/>
          </a:ln>
        </p:spPr>
        <p:txBody>
          <a:bodyPr spcFirstLastPara="1" wrap="square" lIns="85325" tIns="42650" rIns="85325" bIns="4265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7"/>
          <p:cNvSpPr txBox="1">
            <a:spLocks noGrp="1"/>
          </p:cNvSpPr>
          <p:nvPr>
            <p:ph type="sldNum" idx="12"/>
          </p:nvPr>
        </p:nvSpPr>
        <p:spPr>
          <a:xfrm>
            <a:off x="7086600" y="6400800"/>
            <a:ext cx="1905000" cy="309563"/>
          </a:xfrm>
          <a:prstGeom prst="rect">
            <a:avLst/>
          </a:prstGeom>
          <a:noFill/>
          <a:ln>
            <a:noFill/>
          </a:ln>
        </p:spPr>
        <p:txBody>
          <a:bodyPr spcFirstLastPara="1" wrap="square" lIns="85325" tIns="42650" rIns="85325" bIns="42650" anchor="b" anchorCtr="0">
            <a:noAutofit/>
          </a:bodyPr>
          <a:lstStyle>
            <a:lvl1pPr marL="0" lvl="0" indent="0" algn="r">
              <a:spcBef>
                <a:spcPts val="0"/>
              </a:spcBef>
              <a:spcAft>
                <a:spcPts val="0"/>
              </a:spcAft>
              <a:buNone/>
              <a:defRPr sz="1000">
                <a:solidFill>
                  <a:schemeClr val="dk1"/>
                </a:solidFill>
                <a:latin typeface="Tahoma"/>
                <a:ea typeface="Tahoma"/>
                <a:cs typeface="Tahoma"/>
                <a:sym typeface="Tahoma"/>
              </a:defRPr>
            </a:lvl1pPr>
            <a:lvl2pPr marL="0" lvl="1" indent="0" algn="r">
              <a:spcBef>
                <a:spcPts val="0"/>
              </a:spcBef>
              <a:spcAft>
                <a:spcPts val="0"/>
              </a:spcAft>
              <a:buNone/>
              <a:defRPr sz="1000">
                <a:solidFill>
                  <a:schemeClr val="dk1"/>
                </a:solidFill>
                <a:latin typeface="Tahoma"/>
                <a:ea typeface="Tahoma"/>
                <a:cs typeface="Tahoma"/>
                <a:sym typeface="Tahoma"/>
              </a:defRPr>
            </a:lvl2pPr>
            <a:lvl3pPr marL="0" lvl="2" indent="0" algn="r">
              <a:spcBef>
                <a:spcPts val="0"/>
              </a:spcBef>
              <a:spcAft>
                <a:spcPts val="0"/>
              </a:spcAft>
              <a:buNone/>
              <a:defRPr sz="1000">
                <a:solidFill>
                  <a:schemeClr val="dk1"/>
                </a:solidFill>
                <a:latin typeface="Tahoma"/>
                <a:ea typeface="Tahoma"/>
                <a:cs typeface="Tahoma"/>
                <a:sym typeface="Tahoma"/>
              </a:defRPr>
            </a:lvl3pPr>
            <a:lvl4pPr marL="0" lvl="3" indent="0" algn="r">
              <a:spcBef>
                <a:spcPts val="0"/>
              </a:spcBef>
              <a:spcAft>
                <a:spcPts val="0"/>
              </a:spcAft>
              <a:buNone/>
              <a:defRPr sz="1000">
                <a:solidFill>
                  <a:schemeClr val="dk1"/>
                </a:solidFill>
                <a:latin typeface="Tahoma"/>
                <a:ea typeface="Tahoma"/>
                <a:cs typeface="Tahoma"/>
                <a:sym typeface="Tahoma"/>
              </a:defRPr>
            </a:lvl4pPr>
            <a:lvl5pPr marL="0" lvl="4" indent="0" algn="r">
              <a:spcBef>
                <a:spcPts val="0"/>
              </a:spcBef>
              <a:spcAft>
                <a:spcPts val="0"/>
              </a:spcAft>
              <a:buNone/>
              <a:defRPr sz="1000">
                <a:solidFill>
                  <a:schemeClr val="dk1"/>
                </a:solidFill>
                <a:latin typeface="Tahoma"/>
                <a:ea typeface="Tahoma"/>
                <a:cs typeface="Tahoma"/>
                <a:sym typeface="Tahoma"/>
              </a:defRPr>
            </a:lvl5pPr>
            <a:lvl6pPr marL="0" lvl="5" indent="0" algn="r">
              <a:spcBef>
                <a:spcPts val="0"/>
              </a:spcBef>
              <a:spcAft>
                <a:spcPts val="0"/>
              </a:spcAft>
              <a:buNone/>
              <a:defRPr sz="1000">
                <a:solidFill>
                  <a:schemeClr val="dk1"/>
                </a:solidFill>
                <a:latin typeface="Tahoma"/>
                <a:ea typeface="Tahoma"/>
                <a:cs typeface="Tahoma"/>
                <a:sym typeface="Tahoma"/>
              </a:defRPr>
            </a:lvl6pPr>
            <a:lvl7pPr marL="0" lvl="6" indent="0" algn="r">
              <a:spcBef>
                <a:spcPts val="0"/>
              </a:spcBef>
              <a:spcAft>
                <a:spcPts val="0"/>
              </a:spcAft>
              <a:buNone/>
              <a:defRPr sz="1000">
                <a:solidFill>
                  <a:schemeClr val="dk1"/>
                </a:solidFill>
                <a:latin typeface="Tahoma"/>
                <a:ea typeface="Tahoma"/>
                <a:cs typeface="Tahoma"/>
                <a:sym typeface="Tahoma"/>
              </a:defRPr>
            </a:lvl7pPr>
            <a:lvl8pPr marL="0" lvl="7" indent="0" algn="r">
              <a:spcBef>
                <a:spcPts val="0"/>
              </a:spcBef>
              <a:spcAft>
                <a:spcPts val="0"/>
              </a:spcAft>
              <a:buNone/>
              <a:defRPr sz="1000">
                <a:solidFill>
                  <a:schemeClr val="dk1"/>
                </a:solidFill>
                <a:latin typeface="Tahoma"/>
                <a:ea typeface="Tahoma"/>
                <a:cs typeface="Tahoma"/>
                <a:sym typeface="Tahoma"/>
              </a:defRPr>
            </a:lvl8pPr>
            <a:lvl9pPr marL="0" lvl="8" indent="0" algn="r">
              <a:spcBef>
                <a:spcPts val="0"/>
              </a:spcBef>
              <a:spcAft>
                <a:spcPts val="0"/>
              </a:spcAft>
              <a:buNone/>
              <a:defRPr sz="1000">
                <a:solidFill>
                  <a:schemeClr val="dk1"/>
                </a:solidFill>
                <a:latin typeface="Tahoma"/>
                <a:ea typeface="Tahoma"/>
                <a:cs typeface="Tahoma"/>
                <a:sym typeface="Tahoma"/>
              </a:defRPr>
            </a:lvl9pPr>
          </a:lstStyle>
          <a:p>
            <a:pPr marL="0" lvl="0" indent="0" algn="r" rtl="0">
              <a:spcBef>
                <a:spcPts val="0"/>
              </a:spcBef>
              <a:spcAft>
                <a:spcPts val="0"/>
              </a:spcAft>
              <a:buNone/>
            </a:pPr>
            <a:r>
              <a:rPr lang="en-US"/>
              <a:t>Chap 5-</a:t>
            </a: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62"/>
        <p:cNvGrpSpPr/>
        <p:nvPr/>
      </p:nvGrpSpPr>
      <p:grpSpPr>
        <a:xfrm>
          <a:off x="0" y="0"/>
          <a:ext cx="0" cy="0"/>
          <a:chOff x="0" y="0"/>
          <a:chExt cx="0" cy="0"/>
        </a:xfrm>
      </p:grpSpPr>
      <p:sp>
        <p:nvSpPr>
          <p:cNvPr id="63" name="Google Shape;63;p8"/>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4" name="Google Shape;64;p8"/>
          <p:cNvSpPr txBox="1">
            <a:spLocks noGrp="1"/>
          </p:cNvSpPr>
          <p:nvPr>
            <p:ph type="body" idx="1"/>
          </p:nvPr>
        </p:nvSpPr>
        <p:spPr>
          <a:xfrm>
            <a:off x="762000" y="1600200"/>
            <a:ext cx="3962400" cy="4114800"/>
          </a:xfrm>
          <a:prstGeom prst="rect">
            <a:avLst/>
          </a:prstGeom>
          <a:noFill/>
          <a:ln>
            <a:noFill/>
          </a:ln>
        </p:spPr>
        <p:txBody>
          <a:bodyPr spcFirstLastPara="1" wrap="square" lIns="85325" tIns="42650" rIns="85325" bIns="4265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8"/>
          <p:cNvSpPr txBox="1">
            <a:spLocks noGrp="1"/>
          </p:cNvSpPr>
          <p:nvPr>
            <p:ph type="body" idx="2"/>
          </p:nvPr>
        </p:nvSpPr>
        <p:spPr>
          <a:xfrm>
            <a:off x="4876800" y="1600200"/>
            <a:ext cx="3962400" cy="4114800"/>
          </a:xfrm>
          <a:prstGeom prst="rect">
            <a:avLst/>
          </a:prstGeom>
          <a:noFill/>
          <a:ln>
            <a:noFill/>
          </a:ln>
        </p:spPr>
        <p:txBody>
          <a:bodyPr spcFirstLastPara="1" wrap="square" lIns="85325" tIns="42650" rIns="85325" bIns="4265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8"/>
          <p:cNvSpPr txBox="1">
            <a:spLocks noGrp="1"/>
          </p:cNvSpPr>
          <p:nvPr>
            <p:ph type="ftr" idx="11"/>
          </p:nvPr>
        </p:nvSpPr>
        <p:spPr>
          <a:xfrm>
            <a:off x="152400" y="6400800"/>
            <a:ext cx="4648200" cy="304800"/>
          </a:xfrm>
          <a:prstGeom prst="rect">
            <a:avLst/>
          </a:prstGeom>
          <a:noFill/>
          <a:ln>
            <a:noFill/>
          </a:ln>
        </p:spPr>
        <p:txBody>
          <a:bodyPr spcFirstLastPara="1" wrap="square" lIns="85325" tIns="42650" rIns="85325" bIns="4265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8"/>
          <p:cNvSpPr txBox="1">
            <a:spLocks noGrp="1"/>
          </p:cNvSpPr>
          <p:nvPr>
            <p:ph type="sldNum" idx="12"/>
          </p:nvPr>
        </p:nvSpPr>
        <p:spPr>
          <a:xfrm>
            <a:off x="7086600" y="6400800"/>
            <a:ext cx="1905000" cy="309563"/>
          </a:xfrm>
          <a:prstGeom prst="rect">
            <a:avLst/>
          </a:prstGeom>
          <a:noFill/>
          <a:ln>
            <a:noFill/>
          </a:ln>
        </p:spPr>
        <p:txBody>
          <a:bodyPr spcFirstLastPara="1" wrap="square" lIns="85325" tIns="42650" rIns="85325" bIns="42650" anchor="b" anchorCtr="0">
            <a:noAutofit/>
          </a:bodyPr>
          <a:lstStyle>
            <a:lvl1pPr marL="0" lvl="0" indent="0" algn="r">
              <a:spcBef>
                <a:spcPts val="0"/>
              </a:spcBef>
              <a:spcAft>
                <a:spcPts val="0"/>
              </a:spcAft>
              <a:buNone/>
              <a:defRPr sz="1000">
                <a:solidFill>
                  <a:schemeClr val="dk1"/>
                </a:solidFill>
                <a:latin typeface="Tahoma"/>
                <a:ea typeface="Tahoma"/>
                <a:cs typeface="Tahoma"/>
                <a:sym typeface="Tahoma"/>
              </a:defRPr>
            </a:lvl1pPr>
            <a:lvl2pPr marL="0" lvl="1" indent="0" algn="r">
              <a:spcBef>
                <a:spcPts val="0"/>
              </a:spcBef>
              <a:spcAft>
                <a:spcPts val="0"/>
              </a:spcAft>
              <a:buNone/>
              <a:defRPr sz="1000">
                <a:solidFill>
                  <a:schemeClr val="dk1"/>
                </a:solidFill>
                <a:latin typeface="Tahoma"/>
                <a:ea typeface="Tahoma"/>
                <a:cs typeface="Tahoma"/>
                <a:sym typeface="Tahoma"/>
              </a:defRPr>
            </a:lvl2pPr>
            <a:lvl3pPr marL="0" lvl="2" indent="0" algn="r">
              <a:spcBef>
                <a:spcPts val="0"/>
              </a:spcBef>
              <a:spcAft>
                <a:spcPts val="0"/>
              </a:spcAft>
              <a:buNone/>
              <a:defRPr sz="1000">
                <a:solidFill>
                  <a:schemeClr val="dk1"/>
                </a:solidFill>
                <a:latin typeface="Tahoma"/>
                <a:ea typeface="Tahoma"/>
                <a:cs typeface="Tahoma"/>
                <a:sym typeface="Tahoma"/>
              </a:defRPr>
            </a:lvl3pPr>
            <a:lvl4pPr marL="0" lvl="3" indent="0" algn="r">
              <a:spcBef>
                <a:spcPts val="0"/>
              </a:spcBef>
              <a:spcAft>
                <a:spcPts val="0"/>
              </a:spcAft>
              <a:buNone/>
              <a:defRPr sz="1000">
                <a:solidFill>
                  <a:schemeClr val="dk1"/>
                </a:solidFill>
                <a:latin typeface="Tahoma"/>
                <a:ea typeface="Tahoma"/>
                <a:cs typeface="Tahoma"/>
                <a:sym typeface="Tahoma"/>
              </a:defRPr>
            </a:lvl4pPr>
            <a:lvl5pPr marL="0" lvl="4" indent="0" algn="r">
              <a:spcBef>
                <a:spcPts val="0"/>
              </a:spcBef>
              <a:spcAft>
                <a:spcPts val="0"/>
              </a:spcAft>
              <a:buNone/>
              <a:defRPr sz="1000">
                <a:solidFill>
                  <a:schemeClr val="dk1"/>
                </a:solidFill>
                <a:latin typeface="Tahoma"/>
                <a:ea typeface="Tahoma"/>
                <a:cs typeface="Tahoma"/>
                <a:sym typeface="Tahoma"/>
              </a:defRPr>
            </a:lvl5pPr>
            <a:lvl6pPr marL="0" lvl="5" indent="0" algn="r">
              <a:spcBef>
                <a:spcPts val="0"/>
              </a:spcBef>
              <a:spcAft>
                <a:spcPts val="0"/>
              </a:spcAft>
              <a:buNone/>
              <a:defRPr sz="1000">
                <a:solidFill>
                  <a:schemeClr val="dk1"/>
                </a:solidFill>
                <a:latin typeface="Tahoma"/>
                <a:ea typeface="Tahoma"/>
                <a:cs typeface="Tahoma"/>
                <a:sym typeface="Tahoma"/>
              </a:defRPr>
            </a:lvl6pPr>
            <a:lvl7pPr marL="0" lvl="6" indent="0" algn="r">
              <a:spcBef>
                <a:spcPts val="0"/>
              </a:spcBef>
              <a:spcAft>
                <a:spcPts val="0"/>
              </a:spcAft>
              <a:buNone/>
              <a:defRPr sz="1000">
                <a:solidFill>
                  <a:schemeClr val="dk1"/>
                </a:solidFill>
                <a:latin typeface="Tahoma"/>
                <a:ea typeface="Tahoma"/>
                <a:cs typeface="Tahoma"/>
                <a:sym typeface="Tahoma"/>
              </a:defRPr>
            </a:lvl7pPr>
            <a:lvl8pPr marL="0" lvl="7" indent="0" algn="r">
              <a:spcBef>
                <a:spcPts val="0"/>
              </a:spcBef>
              <a:spcAft>
                <a:spcPts val="0"/>
              </a:spcAft>
              <a:buNone/>
              <a:defRPr sz="1000">
                <a:solidFill>
                  <a:schemeClr val="dk1"/>
                </a:solidFill>
                <a:latin typeface="Tahoma"/>
                <a:ea typeface="Tahoma"/>
                <a:cs typeface="Tahoma"/>
                <a:sym typeface="Tahoma"/>
              </a:defRPr>
            </a:lvl8pPr>
            <a:lvl9pPr marL="0" lvl="8" indent="0" algn="r">
              <a:spcBef>
                <a:spcPts val="0"/>
              </a:spcBef>
              <a:spcAft>
                <a:spcPts val="0"/>
              </a:spcAft>
              <a:buNone/>
              <a:defRPr sz="1000">
                <a:solidFill>
                  <a:schemeClr val="dk1"/>
                </a:solidFill>
                <a:latin typeface="Tahoma"/>
                <a:ea typeface="Tahoma"/>
                <a:cs typeface="Tahoma"/>
                <a:sym typeface="Tahoma"/>
              </a:defRPr>
            </a:lvl9pPr>
          </a:lstStyle>
          <a:p>
            <a:pPr marL="0" lvl="0" indent="0" algn="r" rtl="0">
              <a:spcBef>
                <a:spcPts val="0"/>
              </a:spcBef>
              <a:spcAft>
                <a:spcPts val="0"/>
              </a:spcAft>
              <a:buNone/>
            </a:pPr>
            <a:r>
              <a:rPr lang="en-US"/>
              <a:t>Chap 5-</a:t>
            </a: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Text" type="objAndTx">
  <p:cSld name="OBJECT_AND_TEXT">
    <p:spTree>
      <p:nvGrpSpPr>
        <p:cNvPr id="1" name="Shape 68"/>
        <p:cNvGrpSpPr/>
        <p:nvPr/>
      </p:nvGrpSpPr>
      <p:grpSpPr>
        <a:xfrm>
          <a:off x="0" y="0"/>
          <a:ext cx="0" cy="0"/>
          <a:chOff x="0" y="0"/>
          <a:chExt cx="0" cy="0"/>
        </a:xfrm>
      </p:grpSpPr>
      <p:sp>
        <p:nvSpPr>
          <p:cNvPr id="69" name="Google Shape;69;p9"/>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0" name="Google Shape;70;p9"/>
          <p:cNvSpPr txBox="1">
            <a:spLocks noGrp="1"/>
          </p:cNvSpPr>
          <p:nvPr>
            <p:ph type="body" idx="1"/>
          </p:nvPr>
        </p:nvSpPr>
        <p:spPr>
          <a:xfrm>
            <a:off x="762000" y="1600200"/>
            <a:ext cx="3962400" cy="4114800"/>
          </a:xfrm>
          <a:prstGeom prst="rect">
            <a:avLst/>
          </a:prstGeom>
          <a:noFill/>
          <a:ln>
            <a:noFill/>
          </a:ln>
        </p:spPr>
        <p:txBody>
          <a:bodyPr spcFirstLastPara="1" wrap="square" lIns="85325" tIns="42650" rIns="85325" bIns="4265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9"/>
          <p:cNvSpPr txBox="1">
            <a:spLocks noGrp="1"/>
          </p:cNvSpPr>
          <p:nvPr>
            <p:ph type="body" idx="2"/>
          </p:nvPr>
        </p:nvSpPr>
        <p:spPr>
          <a:xfrm>
            <a:off x="4876800" y="1600200"/>
            <a:ext cx="3962400" cy="4114800"/>
          </a:xfrm>
          <a:prstGeom prst="rect">
            <a:avLst/>
          </a:prstGeom>
          <a:noFill/>
          <a:ln>
            <a:noFill/>
          </a:ln>
        </p:spPr>
        <p:txBody>
          <a:bodyPr spcFirstLastPara="1" wrap="square" lIns="85325" tIns="42650" rIns="85325" bIns="4265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9"/>
          <p:cNvSpPr txBox="1">
            <a:spLocks noGrp="1"/>
          </p:cNvSpPr>
          <p:nvPr>
            <p:ph type="ftr" idx="11"/>
          </p:nvPr>
        </p:nvSpPr>
        <p:spPr>
          <a:xfrm>
            <a:off x="152400" y="6400800"/>
            <a:ext cx="4648200" cy="304800"/>
          </a:xfrm>
          <a:prstGeom prst="rect">
            <a:avLst/>
          </a:prstGeom>
          <a:noFill/>
          <a:ln>
            <a:noFill/>
          </a:ln>
        </p:spPr>
        <p:txBody>
          <a:bodyPr spcFirstLastPara="1" wrap="square" lIns="85325" tIns="42650" rIns="85325" bIns="4265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9"/>
          <p:cNvSpPr txBox="1">
            <a:spLocks noGrp="1"/>
          </p:cNvSpPr>
          <p:nvPr>
            <p:ph type="sldNum" idx="12"/>
          </p:nvPr>
        </p:nvSpPr>
        <p:spPr>
          <a:xfrm>
            <a:off x="7086600" y="6400800"/>
            <a:ext cx="1905000" cy="309563"/>
          </a:xfrm>
          <a:prstGeom prst="rect">
            <a:avLst/>
          </a:prstGeom>
          <a:noFill/>
          <a:ln>
            <a:noFill/>
          </a:ln>
        </p:spPr>
        <p:txBody>
          <a:bodyPr spcFirstLastPara="1" wrap="square" lIns="85325" tIns="42650" rIns="85325" bIns="42650" anchor="b" anchorCtr="0">
            <a:noAutofit/>
          </a:bodyPr>
          <a:lstStyle>
            <a:lvl1pPr marL="0" lvl="0" indent="0" algn="r">
              <a:spcBef>
                <a:spcPts val="0"/>
              </a:spcBef>
              <a:spcAft>
                <a:spcPts val="0"/>
              </a:spcAft>
              <a:buNone/>
              <a:defRPr sz="1000">
                <a:solidFill>
                  <a:schemeClr val="dk1"/>
                </a:solidFill>
                <a:latin typeface="Tahoma"/>
                <a:ea typeface="Tahoma"/>
                <a:cs typeface="Tahoma"/>
                <a:sym typeface="Tahoma"/>
              </a:defRPr>
            </a:lvl1pPr>
            <a:lvl2pPr marL="0" lvl="1" indent="0" algn="r">
              <a:spcBef>
                <a:spcPts val="0"/>
              </a:spcBef>
              <a:spcAft>
                <a:spcPts val="0"/>
              </a:spcAft>
              <a:buNone/>
              <a:defRPr sz="1000">
                <a:solidFill>
                  <a:schemeClr val="dk1"/>
                </a:solidFill>
                <a:latin typeface="Tahoma"/>
                <a:ea typeface="Tahoma"/>
                <a:cs typeface="Tahoma"/>
                <a:sym typeface="Tahoma"/>
              </a:defRPr>
            </a:lvl2pPr>
            <a:lvl3pPr marL="0" lvl="2" indent="0" algn="r">
              <a:spcBef>
                <a:spcPts val="0"/>
              </a:spcBef>
              <a:spcAft>
                <a:spcPts val="0"/>
              </a:spcAft>
              <a:buNone/>
              <a:defRPr sz="1000">
                <a:solidFill>
                  <a:schemeClr val="dk1"/>
                </a:solidFill>
                <a:latin typeface="Tahoma"/>
                <a:ea typeface="Tahoma"/>
                <a:cs typeface="Tahoma"/>
                <a:sym typeface="Tahoma"/>
              </a:defRPr>
            </a:lvl3pPr>
            <a:lvl4pPr marL="0" lvl="3" indent="0" algn="r">
              <a:spcBef>
                <a:spcPts val="0"/>
              </a:spcBef>
              <a:spcAft>
                <a:spcPts val="0"/>
              </a:spcAft>
              <a:buNone/>
              <a:defRPr sz="1000">
                <a:solidFill>
                  <a:schemeClr val="dk1"/>
                </a:solidFill>
                <a:latin typeface="Tahoma"/>
                <a:ea typeface="Tahoma"/>
                <a:cs typeface="Tahoma"/>
                <a:sym typeface="Tahoma"/>
              </a:defRPr>
            </a:lvl4pPr>
            <a:lvl5pPr marL="0" lvl="4" indent="0" algn="r">
              <a:spcBef>
                <a:spcPts val="0"/>
              </a:spcBef>
              <a:spcAft>
                <a:spcPts val="0"/>
              </a:spcAft>
              <a:buNone/>
              <a:defRPr sz="1000">
                <a:solidFill>
                  <a:schemeClr val="dk1"/>
                </a:solidFill>
                <a:latin typeface="Tahoma"/>
                <a:ea typeface="Tahoma"/>
                <a:cs typeface="Tahoma"/>
                <a:sym typeface="Tahoma"/>
              </a:defRPr>
            </a:lvl5pPr>
            <a:lvl6pPr marL="0" lvl="5" indent="0" algn="r">
              <a:spcBef>
                <a:spcPts val="0"/>
              </a:spcBef>
              <a:spcAft>
                <a:spcPts val="0"/>
              </a:spcAft>
              <a:buNone/>
              <a:defRPr sz="1000">
                <a:solidFill>
                  <a:schemeClr val="dk1"/>
                </a:solidFill>
                <a:latin typeface="Tahoma"/>
                <a:ea typeface="Tahoma"/>
                <a:cs typeface="Tahoma"/>
                <a:sym typeface="Tahoma"/>
              </a:defRPr>
            </a:lvl6pPr>
            <a:lvl7pPr marL="0" lvl="6" indent="0" algn="r">
              <a:spcBef>
                <a:spcPts val="0"/>
              </a:spcBef>
              <a:spcAft>
                <a:spcPts val="0"/>
              </a:spcAft>
              <a:buNone/>
              <a:defRPr sz="1000">
                <a:solidFill>
                  <a:schemeClr val="dk1"/>
                </a:solidFill>
                <a:latin typeface="Tahoma"/>
                <a:ea typeface="Tahoma"/>
                <a:cs typeface="Tahoma"/>
                <a:sym typeface="Tahoma"/>
              </a:defRPr>
            </a:lvl7pPr>
            <a:lvl8pPr marL="0" lvl="7" indent="0" algn="r">
              <a:spcBef>
                <a:spcPts val="0"/>
              </a:spcBef>
              <a:spcAft>
                <a:spcPts val="0"/>
              </a:spcAft>
              <a:buNone/>
              <a:defRPr sz="1000">
                <a:solidFill>
                  <a:schemeClr val="dk1"/>
                </a:solidFill>
                <a:latin typeface="Tahoma"/>
                <a:ea typeface="Tahoma"/>
                <a:cs typeface="Tahoma"/>
                <a:sym typeface="Tahoma"/>
              </a:defRPr>
            </a:lvl8pPr>
            <a:lvl9pPr marL="0" lvl="8" indent="0" algn="r">
              <a:spcBef>
                <a:spcPts val="0"/>
              </a:spcBef>
              <a:spcAft>
                <a:spcPts val="0"/>
              </a:spcAft>
              <a:buNone/>
              <a:defRPr sz="1000">
                <a:solidFill>
                  <a:schemeClr val="dk1"/>
                </a:solidFill>
                <a:latin typeface="Tahoma"/>
                <a:ea typeface="Tahoma"/>
                <a:cs typeface="Tahoma"/>
                <a:sym typeface="Tahoma"/>
              </a:defRPr>
            </a:lvl9pPr>
          </a:lstStyle>
          <a:p>
            <a:pPr marL="0" lvl="0" indent="0" algn="r" rtl="0">
              <a:spcBef>
                <a:spcPts val="0"/>
              </a:spcBef>
              <a:spcAft>
                <a:spcPts val="0"/>
              </a:spcAft>
              <a:buNone/>
            </a:pPr>
            <a:r>
              <a:rPr lang="en-US"/>
              <a:t>Chap 5-</a:t>
            </a: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4"/>
        <p:cNvGrpSpPr/>
        <p:nvPr/>
      </p:nvGrpSpPr>
      <p:grpSpPr>
        <a:xfrm>
          <a:off x="0" y="0"/>
          <a:ext cx="0" cy="0"/>
          <a:chOff x="0" y="0"/>
          <a:chExt cx="0" cy="0"/>
        </a:xfrm>
      </p:grpSpPr>
      <p:sp>
        <p:nvSpPr>
          <p:cNvPr id="75" name="Google Shape;75;p10"/>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6" name="Google Shape;76;p10"/>
          <p:cNvSpPr txBox="1">
            <a:spLocks noGrp="1"/>
          </p:cNvSpPr>
          <p:nvPr>
            <p:ph type="ftr" idx="11"/>
          </p:nvPr>
        </p:nvSpPr>
        <p:spPr>
          <a:xfrm>
            <a:off x="152400" y="6400800"/>
            <a:ext cx="4648200" cy="304800"/>
          </a:xfrm>
          <a:prstGeom prst="rect">
            <a:avLst/>
          </a:prstGeom>
          <a:noFill/>
          <a:ln>
            <a:noFill/>
          </a:ln>
        </p:spPr>
        <p:txBody>
          <a:bodyPr spcFirstLastPara="1" wrap="square" lIns="85325" tIns="42650" rIns="85325" bIns="4265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7086600" y="6400800"/>
            <a:ext cx="1905000" cy="309563"/>
          </a:xfrm>
          <a:prstGeom prst="rect">
            <a:avLst/>
          </a:prstGeom>
          <a:noFill/>
          <a:ln>
            <a:noFill/>
          </a:ln>
        </p:spPr>
        <p:txBody>
          <a:bodyPr spcFirstLastPara="1" wrap="square" lIns="85325" tIns="42650" rIns="85325" bIns="42650" anchor="b" anchorCtr="0">
            <a:noAutofit/>
          </a:bodyPr>
          <a:lstStyle>
            <a:lvl1pPr marL="0" lvl="0" indent="0" algn="r">
              <a:spcBef>
                <a:spcPts val="0"/>
              </a:spcBef>
              <a:spcAft>
                <a:spcPts val="0"/>
              </a:spcAft>
              <a:buNone/>
              <a:defRPr sz="1000">
                <a:solidFill>
                  <a:schemeClr val="dk1"/>
                </a:solidFill>
                <a:latin typeface="Tahoma"/>
                <a:ea typeface="Tahoma"/>
                <a:cs typeface="Tahoma"/>
                <a:sym typeface="Tahoma"/>
              </a:defRPr>
            </a:lvl1pPr>
            <a:lvl2pPr marL="0" lvl="1" indent="0" algn="r">
              <a:spcBef>
                <a:spcPts val="0"/>
              </a:spcBef>
              <a:spcAft>
                <a:spcPts val="0"/>
              </a:spcAft>
              <a:buNone/>
              <a:defRPr sz="1000">
                <a:solidFill>
                  <a:schemeClr val="dk1"/>
                </a:solidFill>
                <a:latin typeface="Tahoma"/>
                <a:ea typeface="Tahoma"/>
                <a:cs typeface="Tahoma"/>
                <a:sym typeface="Tahoma"/>
              </a:defRPr>
            </a:lvl2pPr>
            <a:lvl3pPr marL="0" lvl="2" indent="0" algn="r">
              <a:spcBef>
                <a:spcPts val="0"/>
              </a:spcBef>
              <a:spcAft>
                <a:spcPts val="0"/>
              </a:spcAft>
              <a:buNone/>
              <a:defRPr sz="1000">
                <a:solidFill>
                  <a:schemeClr val="dk1"/>
                </a:solidFill>
                <a:latin typeface="Tahoma"/>
                <a:ea typeface="Tahoma"/>
                <a:cs typeface="Tahoma"/>
                <a:sym typeface="Tahoma"/>
              </a:defRPr>
            </a:lvl3pPr>
            <a:lvl4pPr marL="0" lvl="3" indent="0" algn="r">
              <a:spcBef>
                <a:spcPts val="0"/>
              </a:spcBef>
              <a:spcAft>
                <a:spcPts val="0"/>
              </a:spcAft>
              <a:buNone/>
              <a:defRPr sz="1000">
                <a:solidFill>
                  <a:schemeClr val="dk1"/>
                </a:solidFill>
                <a:latin typeface="Tahoma"/>
                <a:ea typeface="Tahoma"/>
                <a:cs typeface="Tahoma"/>
                <a:sym typeface="Tahoma"/>
              </a:defRPr>
            </a:lvl4pPr>
            <a:lvl5pPr marL="0" lvl="4" indent="0" algn="r">
              <a:spcBef>
                <a:spcPts val="0"/>
              </a:spcBef>
              <a:spcAft>
                <a:spcPts val="0"/>
              </a:spcAft>
              <a:buNone/>
              <a:defRPr sz="1000">
                <a:solidFill>
                  <a:schemeClr val="dk1"/>
                </a:solidFill>
                <a:latin typeface="Tahoma"/>
                <a:ea typeface="Tahoma"/>
                <a:cs typeface="Tahoma"/>
                <a:sym typeface="Tahoma"/>
              </a:defRPr>
            </a:lvl5pPr>
            <a:lvl6pPr marL="0" lvl="5" indent="0" algn="r">
              <a:spcBef>
                <a:spcPts val="0"/>
              </a:spcBef>
              <a:spcAft>
                <a:spcPts val="0"/>
              </a:spcAft>
              <a:buNone/>
              <a:defRPr sz="1000">
                <a:solidFill>
                  <a:schemeClr val="dk1"/>
                </a:solidFill>
                <a:latin typeface="Tahoma"/>
                <a:ea typeface="Tahoma"/>
                <a:cs typeface="Tahoma"/>
                <a:sym typeface="Tahoma"/>
              </a:defRPr>
            </a:lvl6pPr>
            <a:lvl7pPr marL="0" lvl="6" indent="0" algn="r">
              <a:spcBef>
                <a:spcPts val="0"/>
              </a:spcBef>
              <a:spcAft>
                <a:spcPts val="0"/>
              </a:spcAft>
              <a:buNone/>
              <a:defRPr sz="1000">
                <a:solidFill>
                  <a:schemeClr val="dk1"/>
                </a:solidFill>
                <a:latin typeface="Tahoma"/>
                <a:ea typeface="Tahoma"/>
                <a:cs typeface="Tahoma"/>
                <a:sym typeface="Tahoma"/>
              </a:defRPr>
            </a:lvl7pPr>
            <a:lvl8pPr marL="0" lvl="7" indent="0" algn="r">
              <a:spcBef>
                <a:spcPts val="0"/>
              </a:spcBef>
              <a:spcAft>
                <a:spcPts val="0"/>
              </a:spcAft>
              <a:buNone/>
              <a:defRPr sz="1000">
                <a:solidFill>
                  <a:schemeClr val="dk1"/>
                </a:solidFill>
                <a:latin typeface="Tahoma"/>
                <a:ea typeface="Tahoma"/>
                <a:cs typeface="Tahoma"/>
                <a:sym typeface="Tahoma"/>
              </a:defRPr>
            </a:lvl8pPr>
            <a:lvl9pPr marL="0" lvl="8" indent="0" algn="r">
              <a:spcBef>
                <a:spcPts val="0"/>
              </a:spcBef>
              <a:spcAft>
                <a:spcPts val="0"/>
              </a:spcAft>
              <a:buNone/>
              <a:defRPr sz="1000">
                <a:solidFill>
                  <a:schemeClr val="dk1"/>
                </a:solidFill>
                <a:latin typeface="Tahoma"/>
                <a:ea typeface="Tahoma"/>
                <a:cs typeface="Tahoma"/>
                <a:sym typeface="Tahoma"/>
              </a:defRPr>
            </a:lvl9pPr>
          </a:lstStyle>
          <a:p>
            <a:pPr marL="0" lvl="0" indent="0" algn="r" rtl="0">
              <a:spcBef>
                <a:spcPts val="0"/>
              </a:spcBef>
              <a:spcAft>
                <a:spcPts val="0"/>
              </a:spcAft>
              <a:buNone/>
            </a:pPr>
            <a:r>
              <a:rPr lang="en-US"/>
              <a:t>Chap 5-</a:t>
            </a: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8"/>
        <p:cNvGrpSpPr/>
        <p:nvPr/>
      </p:nvGrpSpPr>
      <p:grpSpPr>
        <a:xfrm>
          <a:off x="0" y="0"/>
          <a:ext cx="0" cy="0"/>
          <a:chOff x="0" y="0"/>
          <a:chExt cx="0" cy="0"/>
        </a:xfrm>
      </p:grpSpPr>
      <p:sp>
        <p:nvSpPr>
          <p:cNvPr id="79" name="Google Shape;79;p11"/>
          <p:cNvSpPr txBox="1">
            <a:spLocks noGrp="1"/>
          </p:cNvSpPr>
          <p:nvPr>
            <p:ph type="title"/>
          </p:nvPr>
        </p:nvSpPr>
        <p:spPr>
          <a:xfrm>
            <a:off x="623888" y="1709738"/>
            <a:ext cx="7886700" cy="2852737"/>
          </a:xfrm>
          <a:prstGeom prst="rect">
            <a:avLst/>
          </a:prstGeom>
          <a:noFill/>
          <a:ln>
            <a:noFill/>
          </a:ln>
        </p:spPr>
        <p:txBody>
          <a:bodyPr spcFirstLastPara="1" wrap="square" lIns="85325" tIns="42650" rIns="85325" bIns="42650" anchor="b" anchorCtr="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0" name="Google Shape;80;p11"/>
          <p:cNvSpPr txBox="1">
            <a:spLocks noGrp="1"/>
          </p:cNvSpPr>
          <p:nvPr>
            <p:ph type="body" idx="1"/>
          </p:nvPr>
        </p:nvSpPr>
        <p:spPr>
          <a:xfrm>
            <a:off x="623888" y="4589463"/>
            <a:ext cx="7886700" cy="1500187"/>
          </a:xfrm>
          <a:prstGeom prst="rect">
            <a:avLst/>
          </a:prstGeom>
          <a:noFill/>
          <a:ln>
            <a:noFill/>
          </a:ln>
        </p:spPr>
        <p:txBody>
          <a:bodyPr spcFirstLastPara="1" wrap="square" lIns="85325" tIns="42650" rIns="85325" bIns="42650" anchor="t" anchorCtr="0">
            <a:noAutofit/>
          </a:bodyPr>
          <a:lstStyle>
            <a:lvl1pPr marL="457200" lvl="0" indent="-228600" algn="l">
              <a:spcBef>
                <a:spcPts val="480"/>
              </a:spcBef>
              <a:spcAft>
                <a:spcPts val="0"/>
              </a:spcAft>
              <a:buSzPts val="1440"/>
              <a:buNone/>
              <a:defRPr sz="2400"/>
            </a:lvl1pPr>
            <a:lvl2pPr marL="914400" lvl="1" indent="-228600" algn="l">
              <a:spcBef>
                <a:spcPts val="400"/>
              </a:spcBef>
              <a:spcAft>
                <a:spcPts val="0"/>
              </a:spcAft>
              <a:buSzPts val="1100"/>
              <a:buNone/>
              <a:defRPr sz="2000"/>
            </a:lvl2pPr>
            <a:lvl3pPr marL="1371600" lvl="2" indent="-228600" algn="l">
              <a:spcBef>
                <a:spcPts val="360"/>
              </a:spcBef>
              <a:spcAft>
                <a:spcPts val="0"/>
              </a:spcAft>
              <a:buSzPts val="900"/>
              <a:buNone/>
              <a:defRPr sz="1800"/>
            </a:lvl3pPr>
            <a:lvl4pPr marL="1828800" lvl="3" indent="-228600" algn="l">
              <a:spcBef>
                <a:spcPts val="320"/>
              </a:spcBef>
              <a:spcAft>
                <a:spcPts val="0"/>
              </a:spcAft>
              <a:buSzPts val="880"/>
              <a:buNone/>
              <a:defRPr sz="1600"/>
            </a:lvl4pPr>
            <a:lvl5pPr marL="2286000" lvl="4" indent="-228600" algn="l">
              <a:spcBef>
                <a:spcPts val="320"/>
              </a:spcBef>
              <a:spcAft>
                <a:spcPts val="0"/>
              </a:spcAft>
              <a:buSzPts val="800"/>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81" name="Google Shape;81;p11"/>
          <p:cNvSpPr txBox="1">
            <a:spLocks noGrp="1"/>
          </p:cNvSpPr>
          <p:nvPr>
            <p:ph type="ftr" idx="11"/>
          </p:nvPr>
        </p:nvSpPr>
        <p:spPr>
          <a:xfrm>
            <a:off x="152400" y="6400800"/>
            <a:ext cx="4648200" cy="304800"/>
          </a:xfrm>
          <a:prstGeom prst="rect">
            <a:avLst/>
          </a:prstGeom>
          <a:noFill/>
          <a:ln>
            <a:noFill/>
          </a:ln>
        </p:spPr>
        <p:txBody>
          <a:bodyPr spcFirstLastPara="1" wrap="square" lIns="85325" tIns="42650" rIns="85325" bIns="4265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1"/>
          <p:cNvSpPr txBox="1">
            <a:spLocks noGrp="1"/>
          </p:cNvSpPr>
          <p:nvPr>
            <p:ph type="sldNum" idx="12"/>
          </p:nvPr>
        </p:nvSpPr>
        <p:spPr>
          <a:xfrm>
            <a:off x="7086600" y="6400800"/>
            <a:ext cx="1905000" cy="309563"/>
          </a:xfrm>
          <a:prstGeom prst="rect">
            <a:avLst/>
          </a:prstGeom>
          <a:noFill/>
          <a:ln>
            <a:noFill/>
          </a:ln>
        </p:spPr>
        <p:txBody>
          <a:bodyPr spcFirstLastPara="1" wrap="square" lIns="85325" tIns="42650" rIns="85325" bIns="42650" anchor="b" anchorCtr="0">
            <a:noAutofit/>
          </a:bodyPr>
          <a:lstStyle>
            <a:lvl1pPr marL="0" lvl="0" indent="0" algn="r">
              <a:spcBef>
                <a:spcPts val="0"/>
              </a:spcBef>
              <a:spcAft>
                <a:spcPts val="0"/>
              </a:spcAft>
              <a:buNone/>
              <a:defRPr sz="1000">
                <a:solidFill>
                  <a:schemeClr val="dk1"/>
                </a:solidFill>
                <a:latin typeface="Tahoma"/>
                <a:ea typeface="Tahoma"/>
                <a:cs typeface="Tahoma"/>
                <a:sym typeface="Tahoma"/>
              </a:defRPr>
            </a:lvl1pPr>
            <a:lvl2pPr marL="0" lvl="1" indent="0" algn="r">
              <a:spcBef>
                <a:spcPts val="0"/>
              </a:spcBef>
              <a:spcAft>
                <a:spcPts val="0"/>
              </a:spcAft>
              <a:buNone/>
              <a:defRPr sz="1000">
                <a:solidFill>
                  <a:schemeClr val="dk1"/>
                </a:solidFill>
                <a:latin typeface="Tahoma"/>
                <a:ea typeface="Tahoma"/>
                <a:cs typeface="Tahoma"/>
                <a:sym typeface="Tahoma"/>
              </a:defRPr>
            </a:lvl2pPr>
            <a:lvl3pPr marL="0" lvl="2" indent="0" algn="r">
              <a:spcBef>
                <a:spcPts val="0"/>
              </a:spcBef>
              <a:spcAft>
                <a:spcPts val="0"/>
              </a:spcAft>
              <a:buNone/>
              <a:defRPr sz="1000">
                <a:solidFill>
                  <a:schemeClr val="dk1"/>
                </a:solidFill>
                <a:latin typeface="Tahoma"/>
                <a:ea typeface="Tahoma"/>
                <a:cs typeface="Tahoma"/>
                <a:sym typeface="Tahoma"/>
              </a:defRPr>
            </a:lvl3pPr>
            <a:lvl4pPr marL="0" lvl="3" indent="0" algn="r">
              <a:spcBef>
                <a:spcPts val="0"/>
              </a:spcBef>
              <a:spcAft>
                <a:spcPts val="0"/>
              </a:spcAft>
              <a:buNone/>
              <a:defRPr sz="1000">
                <a:solidFill>
                  <a:schemeClr val="dk1"/>
                </a:solidFill>
                <a:latin typeface="Tahoma"/>
                <a:ea typeface="Tahoma"/>
                <a:cs typeface="Tahoma"/>
                <a:sym typeface="Tahoma"/>
              </a:defRPr>
            </a:lvl4pPr>
            <a:lvl5pPr marL="0" lvl="4" indent="0" algn="r">
              <a:spcBef>
                <a:spcPts val="0"/>
              </a:spcBef>
              <a:spcAft>
                <a:spcPts val="0"/>
              </a:spcAft>
              <a:buNone/>
              <a:defRPr sz="1000">
                <a:solidFill>
                  <a:schemeClr val="dk1"/>
                </a:solidFill>
                <a:latin typeface="Tahoma"/>
                <a:ea typeface="Tahoma"/>
                <a:cs typeface="Tahoma"/>
                <a:sym typeface="Tahoma"/>
              </a:defRPr>
            </a:lvl5pPr>
            <a:lvl6pPr marL="0" lvl="5" indent="0" algn="r">
              <a:spcBef>
                <a:spcPts val="0"/>
              </a:spcBef>
              <a:spcAft>
                <a:spcPts val="0"/>
              </a:spcAft>
              <a:buNone/>
              <a:defRPr sz="1000">
                <a:solidFill>
                  <a:schemeClr val="dk1"/>
                </a:solidFill>
                <a:latin typeface="Tahoma"/>
                <a:ea typeface="Tahoma"/>
                <a:cs typeface="Tahoma"/>
                <a:sym typeface="Tahoma"/>
              </a:defRPr>
            </a:lvl6pPr>
            <a:lvl7pPr marL="0" lvl="6" indent="0" algn="r">
              <a:spcBef>
                <a:spcPts val="0"/>
              </a:spcBef>
              <a:spcAft>
                <a:spcPts val="0"/>
              </a:spcAft>
              <a:buNone/>
              <a:defRPr sz="1000">
                <a:solidFill>
                  <a:schemeClr val="dk1"/>
                </a:solidFill>
                <a:latin typeface="Tahoma"/>
                <a:ea typeface="Tahoma"/>
                <a:cs typeface="Tahoma"/>
                <a:sym typeface="Tahoma"/>
              </a:defRPr>
            </a:lvl7pPr>
            <a:lvl8pPr marL="0" lvl="7" indent="0" algn="r">
              <a:spcBef>
                <a:spcPts val="0"/>
              </a:spcBef>
              <a:spcAft>
                <a:spcPts val="0"/>
              </a:spcAft>
              <a:buNone/>
              <a:defRPr sz="1000">
                <a:solidFill>
                  <a:schemeClr val="dk1"/>
                </a:solidFill>
                <a:latin typeface="Tahoma"/>
                <a:ea typeface="Tahoma"/>
                <a:cs typeface="Tahoma"/>
                <a:sym typeface="Tahoma"/>
              </a:defRPr>
            </a:lvl8pPr>
            <a:lvl9pPr marL="0" lvl="8" indent="0" algn="r">
              <a:spcBef>
                <a:spcPts val="0"/>
              </a:spcBef>
              <a:spcAft>
                <a:spcPts val="0"/>
              </a:spcAft>
              <a:buNone/>
              <a:defRPr sz="1000">
                <a:solidFill>
                  <a:schemeClr val="dk1"/>
                </a:solidFill>
                <a:latin typeface="Tahoma"/>
                <a:ea typeface="Tahoma"/>
                <a:cs typeface="Tahoma"/>
                <a:sym typeface="Tahoma"/>
              </a:defRPr>
            </a:lvl9pPr>
          </a:lstStyle>
          <a:p>
            <a:pPr marL="0" lvl="0" indent="0" algn="r" rtl="0">
              <a:spcBef>
                <a:spcPts val="0"/>
              </a:spcBef>
              <a:spcAft>
                <a:spcPts val="0"/>
              </a:spcAft>
              <a:buNone/>
            </a:pPr>
            <a:r>
              <a:rPr lang="en-US"/>
              <a:t>Chap 5-</a:t>
            </a: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3"/>
        <p:cNvGrpSpPr/>
        <p:nvPr/>
      </p:nvGrpSpPr>
      <p:grpSpPr>
        <a:xfrm>
          <a:off x="0" y="0"/>
          <a:ext cx="0" cy="0"/>
          <a:chOff x="0" y="0"/>
          <a:chExt cx="0" cy="0"/>
        </a:xfrm>
      </p:grpSpPr>
      <p:sp>
        <p:nvSpPr>
          <p:cNvPr id="84" name="Google Shape;84;p12"/>
          <p:cNvSpPr txBox="1">
            <a:spLocks noGrp="1"/>
          </p:cNvSpPr>
          <p:nvPr>
            <p:ph type="title"/>
          </p:nvPr>
        </p:nvSpPr>
        <p:spPr>
          <a:xfrm>
            <a:off x="630238" y="365125"/>
            <a:ext cx="7886700" cy="1325563"/>
          </a:xfrm>
          <a:prstGeom prst="rect">
            <a:avLst/>
          </a:prstGeom>
          <a:noFill/>
          <a:ln>
            <a:noFill/>
          </a:ln>
        </p:spPr>
        <p:txBody>
          <a:bodyPr spcFirstLastPara="1" wrap="square" lIns="85325" tIns="42650" rIns="85325" bIns="4265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5" name="Google Shape;85;p12"/>
          <p:cNvSpPr txBox="1">
            <a:spLocks noGrp="1"/>
          </p:cNvSpPr>
          <p:nvPr>
            <p:ph type="body" idx="1"/>
          </p:nvPr>
        </p:nvSpPr>
        <p:spPr>
          <a:xfrm>
            <a:off x="630238" y="1681163"/>
            <a:ext cx="3868737" cy="823912"/>
          </a:xfrm>
          <a:prstGeom prst="rect">
            <a:avLst/>
          </a:prstGeom>
          <a:noFill/>
          <a:ln>
            <a:noFill/>
          </a:ln>
        </p:spPr>
        <p:txBody>
          <a:bodyPr spcFirstLastPara="1" wrap="square" lIns="85325" tIns="42650" rIns="85325" bIns="42650" anchor="b" anchorCtr="0">
            <a:noAutofit/>
          </a:bodyPr>
          <a:lstStyle>
            <a:lvl1pPr marL="457200" lvl="0" indent="-228600" algn="l">
              <a:spcBef>
                <a:spcPts val="480"/>
              </a:spcBef>
              <a:spcAft>
                <a:spcPts val="0"/>
              </a:spcAft>
              <a:buSzPts val="1440"/>
              <a:buNone/>
              <a:defRPr sz="2400" b="1"/>
            </a:lvl1pPr>
            <a:lvl2pPr marL="914400" lvl="1" indent="-228600" algn="l">
              <a:spcBef>
                <a:spcPts val="400"/>
              </a:spcBef>
              <a:spcAft>
                <a:spcPts val="0"/>
              </a:spcAft>
              <a:buSzPts val="1100"/>
              <a:buNone/>
              <a:defRPr sz="2000" b="1"/>
            </a:lvl2pPr>
            <a:lvl3pPr marL="1371600" lvl="2" indent="-228600" algn="l">
              <a:spcBef>
                <a:spcPts val="360"/>
              </a:spcBef>
              <a:spcAft>
                <a:spcPts val="0"/>
              </a:spcAft>
              <a:buSzPts val="900"/>
              <a:buNone/>
              <a:defRPr sz="1800" b="1"/>
            </a:lvl3pPr>
            <a:lvl4pPr marL="1828800" lvl="3" indent="-228600" algn="l">
              <a:spcBef>
                <a:spcPts val="320"/>
              </a:spcBef>
              <a:spcAft>
                <a:spcPts val="0"/>
              </a:spcAft>
              <a:buSzPts val="880"/>
              <a:buNone/>
              <a:defRPr sz="1600" b="1"/>
            </a:lvl4pPr>
            <a:lvl5pPr marL="2286000" lvl="4" indent="-228600" algn="l">
              <a:spcBef>
                <a:spcPts val="320"/>
              </a:spcBef>
              <a:spcAft>
                <a:spcPts val="0"/>
              </a:spcAft>
              <a:buSzPts val="8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6" name="Google Shape;86;p12"/>
          <p:cNvSpPr txBox="1">
            <a:spLocks noGrp="1"/>
          </p:cNvSpPr>
          <p:nvPr>
            <p:ph type="body" idx="2"/>
          </p:nvPr>
        </p:nvSpPr>
        <p:spPr>
          <a:xfrm>
            <a:off x="630238" y="2505075"/>
            <a:ext cx="3868737" cy="3684588"/>
          </a:xfrm>
          <a:prstGeom prst="rect">
            <a:avLst/>
          </a:prstGeom>
          <a:noFill/>
          <a:ln>
            <a:noFill/>
          </a:ln>
        </p:spPr>
        <p:txBody>
          <a:bodyPr spcFirstLastPara="1" wrap="square" lIns="85325" tIns="42650" rIns="85325" bIns="4265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12"/>
          <p:cNvSpPr txBox="1">
            <a:spLocks noGrp="1"/>
          </p:cNvSpPr>
          <p:nvPr>
            <p:ph type="body" idx="3"/>
          </p:nvPr>
        </p:nvSpPr>
        <p:spPr>
          <a:xfrm>
            <a:off x="4629150" y="1681163"/>
            <a:ext cx="3887788" cy="823912"/>
          </a:xfrm>
          <a:prstGeom prst="rect">
            <a:avLst/>
          </a:prstGeom>
          <a:noFill/>
          <a:ln>
            <a:noFill/>
          </a:ln>
        </p:spPr>
        <p:txBody>
          <a:bodyPr spcFirstLastPara="1" wrap="square" lIns="85325" tIns="42650" rIns="85325" bIns="42650" anchor="b" anchorCtr="0">
            <a:noAutofit/>
          </a:bodyPr>
          <a:lstStyle>
            <a:lvl1pPr marL="457200" lvl="0" indent="-228600" algn="l">
              <a:spcBef>
                <a:spcPts val="480"/>
              </a:spcBef>
              <a:spcAft>
                <a:spcPts val="0"/>
              </a:spcAft>
              <a:buSzPts val="1440"/>
              <a:buNone/>
              <a:defRPr sz="2400" b="1"/>
            </a:lvl1pPr>
            <a:lvl2pPr marL="914400" lvl="1" indent="-228600" algn="l">
              <a:spcBef>
                <a:spcPts val="400"/>
              </a:spcBef>
              <a:spcAft>
                <a:spcPts val="0"/>
              </a:spcAft>
              <a:buSzPts val="1100"/>
              <a:buNone/>
              <a:defRPr sz="2000" b="1"/>
            </a:lvl2pPr>
            <a:lvl3pPr marL="1371600" lvl="2" indent="-228600" algn="l">
              <a:spcBef>
                <a:spcPts val="360"/>
              </a:spcBef>
              <a:spcAft>
                <a:spcPts val="0"/>
              </a:spcAft>
              <a:buSzPts val="900"/>
              <a:buNone/>
              <a:defRPr sz="1800" b="1"/>
            </a:lvl3pPr>
            <a:lvl4pPr marL="1828800" lvl="3" indent="-228600" algn="l">
              <a:spcBef>
                <a:spcPts val="320"/>
              </a:spcBef>
              <a:spcAft>
                <a:spcPts val="0"/>
              </a:spcAft>
              <a:buSzPts val="880"/>
              <a:buNone/>
              <a:defRPr sz="1600" b="1"/>
            </a:lvl4pPr>
            <a:lvl5pPr marL="2286000" lvl="4" indent="-228600" algn="l">
              <a:spcBef>
                <a:spcPts val="320"/>
              </a:spcBef>
              <a:spcAft>
                <a:spcPts val="0"/>
              </a:spcAft>
              <a:buSzPts val="8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8" name="Google Shape;88;p12"/>
          <p:cNvSpPr txBox="1">
            <a:spLocks noGrp="1"/>
          </p:cNvSpPr>
          <p:nvPr>
            <p:ph type="body" idx="4"/>
          </p:nvPr>
        </p:nvSpPr>
        <p:spPr>
          <a:xfrm>
            <a:off x="4629150" y="2505075"/>
            <a:ext cx="3887788" cy="3684588"/>
          </a:xfrm>
          <a:prstGeom prst="rect">
            <a:avLst/>
          </a:prstGeom>
          <a:noFill/>
          <a:ln>
            <a:noFill/>
          </a:ln>
        </p:spPr>
        <p:txBody>
          <a:bodyPr spcFirstLastPara="1" wrap="square" lIns="85325" tIns="42650" rIns="85325" bIns="4265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12"/>
          <p:cNvSpPr txBox="1">
            <a:spLocks noGrp="1"/>
          </p:cNvSpPr>
          <p:nvPr>
            <p:ph type="ftr" idx="11"/>
          </p:nvPr>
        </p:nvSpPr>
        <p:spPr>
          <a:xfrm>
            <a:off x="152400" y="6400800"/>
            <a:ext cx="4648200" cy="304800"/>
          </a:xfrm>
          <a:prstGeom prst="rect">
            <a:avLst/>
          </a:prstGeom>
          <a:noFill/>
          <a:ln>
            <a:noFill/>
          </a:ln>
        </p:spPr>
        <p:txBody>
          <a:bodyPr spcFirstLastPara="1" wrap="square" lIns="85325" tIns="42650" rIns="85325" bIns="4265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2"/>
          <p:cNvSpPr txBox="1">
            <a:spLocks noGrp="1"/>
          </p:cNvSpPr>
          <p:nvPr>
            <p:ph type="sldNum" idx="12"/>
          </p:nvPr>
        </p:nvSpPr>
        <p:spPr>
          <a:xfrm>
            <a:off x="7086600" y="6400800"/>
            <a:ext cx="1905000" cy="309563"/>
          </a:xfrm>
          <a:prstGeom prst="rect">
            <a:avLst/>
          </a:prstGeom>
          <a:noFill/>
          <a:ln>
            <a:noFill/>
          </a:ln>
        </p:spPr>
        <p:txBody>
          <a:bodyPr spcFirstLastPara="1" wrap="square" lIns="85325" tIns="42650" rIns="85325" bIns="42650" anchor="b" anchorCtr="0">
            <a:noAutofit/>
          </a:bodyPr>
          <a:lstStyle>
            <a:lvl1pPr marL="0" lvl="0" indent="0" algn="r">
              <a:spcBef>
                <a:spcPts val="0"/>
              </a:spcBef>
              <a:spcAft>
                <a:spcPts val="0"/>
              </a:spcAft>
              <a:buNone/>
              <a:defRPr sz="1000">
                <a:solidFill>
                  <a:schemeClr val="dk1"/>
                </a:solidFill>
                <a:latin typeface="Tahoma"/>
                <a:ea typeface="Tahoma"/>
                <a:cs typeface="Tahoma"/>
                <a:sym typeface="Tahoma"/>
              </a:defRPr>
            </a:lvl1pPr>
            <a:lvl2pPr marL="0" lvl="1" indent="0" algn="r">
              <a:spcBef>
                <a:spcPts val="0"/>
              </a:spcBef>
              <a:spcAft>
                <a:spcPts val="0"/>
              </a:spcAft>
              <a:buNone/>
              <a:defRPr sz="1000">
                <a:solidFill>
                  <a:schemeClr val="dk1"/>
                </a:solidFill>
                <a:latin typeface="Tahoma"/>
                <a:ea typeface="Tahoma"/>
                <a:cs typeface="Tahoma"/>
                <a:sym typeface="Tahoma"/>
              </a:defRPr>
            </a:lvl2pPr>
            <a:lvl3pPr marL="0" lvl="2" indent="0" algn="r">
              <a:spcBef>
                <a:spcPts val="0"/>
              </a:spcBef>
              <a:spcAft>
                <a:spcPts val="0"/>
              </a:spcAft>
              <a:buNone/>
              <a:defRPr sz="1000">
                <a:solidFill>
                  <a:schemeClr val="dk1"/>
                </a:solidFill>
                <a:latin typeface="Tahoma"/>
                <a:ea typeface="Tahoma"/>
                <a:cs typeface="Tahoma"/>
                <a:sym typeface="Tahoma"/>
              </a:defRPr>
            </a:lvl3pPr>
            <a:lvl4pPr marL="0" lvl="3" indent="0" algn="r">
              <a:spcBef>
                <a:spcPts val="0"/>
              </a:spcBef>
              <a:spcAft>
                <a:spcPts val="0"/>
              </a:spcAft>
              <a:buNone/>
              <a:defRPr sz="1000">
                <a:solidFill>
                  <a:schemeClr val="dk1"/>
                </a:solidFill>
                <a:latin typeface="Tahoma"/>
                <a:ea typeface="Tahoma"/>
                <a:cs typeface="Tahoma"/>
                <a:sym typeface="Tahoma"/>
              </a:defRPr>
            </a:lvl4pPr>
            <a:lvl5pPr marL="0" lvl="4" indent="0" algn="r">
              <a:spcBef>
                <a:spcPts val="0"/>
              </a:spcBef>
              <a:spcAft>
                <a:spcPts val="0"/>
              </a:spcAft>
              <a:buNone/>
              <a:defRPr sz="1000">
                <a:solidFill>
                  <a:schemeClr val="dk1"/>
                </a:solidFill>
                <a:latin typeface="Tahoma"/>
                <a:ea typeface="Tahoma"/>
                <a:cs typeface="Tahoma"/>
                <a:sym typeface="Tahoma"/>
              </a:defRPr>
            </a:lvl5pPr>
            <a:lvl6pPr marL="0" lvl="5" indent="0" algn="r">
              <a:spcBef>
                <a:spcPts val="0"/>
              </a:spcBef>
              <a:spcAft>
                <a:spcPts val="0"/>
              </a:spcAft>
              <a:buNone/>
              <a:defRPr sz="1000">
                <a:solidFill>
                  <a:schemeClr val="dk1"/>
                </a:solidFill>
                <a:latin typeface="Tahoma"/>
                <a:ea typeface="Tahoma"/>
                <a:cs typeface="Tahoma"/>
                <a:sym typeface="Tahoma"/>
              </a:defRPr>
            </a:lvl6pPr>
            <a:lvl7pPr marL="0" lvl="6" indent="0" algn="r">
              <a:spcBef>
                <a:spcPts val="0"/>
              </a:spcBef>
              <a:spcAft>
                <a:spcPts val="0"/>
              </a:spcAft>
              <a:buNone/>
              <a:defRPr sz="1000">
                <a:solidFill>
                  <a:schemeClr val="dk1"/>
                </a:solidFill>
                <a:latin typeface="Tahoma"/>
                <a:ea typeface="Tahoma"/>
                <a:cs typeface="Tahoma"/>
                <a:sym typeface="Tahoma"/>
              </a:defRPr>
            </a:lvl7pPr>
            <a:lvl8pPr marL="0" lvl="7" indent="0" algn="r">
              <a:spcBef>
                <a:spcPts val="0"/>
              </a:spcBef>
              <a:spcAft>
                <a:spcPts val="0"/>
              </a:spcAft>
              <a:buNone/>
              <a:defRPr sz="1000">
                <a:solidFill>
                  <a:schemeClr val="dk1"/>
                </a:solidFill>
                <a:latin typeface="Tahoma"/>
                <a:ea typeface="Tahoma"/>
                <a:cs typeface="Tahoma"/>
                <a:sym typeface="Tahoma"/>
              </a:defRPr>
            </a:lvl8pPr>
            <a:lvl9pPr marL="0" lvl="8" indent="0" algn="r">
              <a:spcBef>
                <a:spcPts val="0"/>
              </a:spcBef>
              <a:spcAft>
                <a:spcPts val="0"/>
              </a:spcAft>
              <a:buNone/>
              <a:defRPr sz="1000">
                <a:solidFill>
                  <a:schemeClr val="dk1"/>
                </a:solidFill>
                <a:latin typeface="Tahoma"/>
                <a:ea typeface="Tahoma"/>
                <a:cs typeface="Tahoma"/>
                <a:sym typeface="Tahoma"/>
              </a:defRPr>
            </a:lvl9pPr>
          </a:lstStyle>
          <a:p>
            <a:pPr marL="0" lvl="0" indent="0" algn="r" rtl="0">
              <a:spcBef>
                <a:spcPts val="0"/>
              </a:spcBef>
              <a:spcAft>
                <a:spcPts val="0"/>
              </a:spcAft>
              <a:buNone/>
            </a:pPr>
            <a:r>
              <a:rPr lang="en-US"/>
              <a:t>Chap 5-</a:t>
            </a: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1"/>
        <p:cNvGrpSpPr/>
        <p:nvPr/>
      </p:nvGrpSpPr>
      <p:grpSpPr>
        <a:xfrm>
          <a:off x="0" y="0"/>
          <a:ext cx="0" cy="0"/>
          <a:chOff x="0" y="0"/>
          <a:chExt cx="0" cy="0"/>
        </a:xfrm>
      </p:grpSpPr>
      <p:sp>
        <p:nvSpPr>
          <p:cNvPr id="92" name="Google Shape;92;p13"/>
          <p:cNvSpPr txBox="1">
            <a:spLocks noGrp="1"/>
          </p:cNvSpPr>
          <p:nvPr>
            <p:ph type="title"/>
          </p:nvPr>
        </p:nvSpPr>
        <p:spPr>
          <a:xfrm>
            <a:off x="630238" y="457200"/>
            <a:ext cx="2949575" cy="1600200"/>
          </a:xfrm>
          <a:prstGeom prst="rect">
            <a:avLst/>
          </a:prstGeom>
          <a:noFill/>
          <a:ln>
            <a:noFill/>
          </a:ln>
        </p:spPr>
        <p:txBody>
          <a:bodyPr spcFirstLastPara="1" wrap="square" lIns="85325" tIns="42650" rIns="85325" bIns="42650" anchor="b"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3" name="Google Shape;93;p13"/>
          <p:cNvSpPr txBox="1">
            <a:spLocks noGrp="1"/>
          </p:cNvSpPr>
          <p:nvPr>
            <p:ph type="body" idx="1"/>
          </p:nvPr>
        </p:nvSpPr>
        <p:spPr>
          <a:xfrm>
            <a:off x="3887788" y="987425"/>
            <a:ext cx="4629150" cy="4873625"/>
          </a:xfrm>
          <a:prstGeom prst="rect">
            <a:avLst/>
          </a:prstGeom>
          <a:noFill/>
          <a:ln>
            <a:noFill/>
          </a:ln>
        </p:spPr>
        <p:txBody>
          <a:bodyPr spcFirstLastPara="1" wrap="square" lIns="85325" tIns="42650" rIns="85325" bIns="42650" anchor="t" anchorCtr="0">
            <a:noAutofit/>
          </a:bodyPr>
          <a:lstStyle>
            <a:lvl1pPr marL="457200" lvl="0" indent="-350520" algn="l">
              <a:spcBef>
                <a:spcPts val="640"/>
              </a:spcBef>
              <a:spcAft>
                <a:spcPts val="0"/>
              </a:spcAft>
              <a:buSzPts val="1920"/>
              <a:buChar char="■"/>
              <a:defRPr sz="3200"/>
            </a:lvl1pPr>
            <a:lvl2pPr marL="914400" lvl="1" indent="-326390" algn="l">
              <a:spcBef>
                <a:spcPts val="560"/>
              </a:spcBef>
              <a:spcAft>
                <a:spcPts val="0"/>
              </a:spcAft>
              <a:buSzPts val="1540"/>
              <a:buChar char="■"/>
              <a:defRPr sz="2800"/>
            </a:lvl2pPr>
            <a:lvl3pPr marL="1371600" lvl="2" indent="-304800" algn="l">
              <a:spcBef>
                <a:spcPts val="480"/>
              </a:spcBef>
              <a:spcAft>
                <a:spcPts val="0"/>
              </a:spcAft>
              <a:buSzPts val="1200"/>
              <a:buChar char="■"/>
              <a:defRPr sz="2400"/>
            </a:lvl3pPr>
            <a:lvl4pPr marL="1828800" lvl="3" indent="-298450" algn="l">
              <a:spcBef>
                <a:spcPts val="400"/>
              </a:spcBef>
              <a:spcAft>
                <a:spcPts val="0"/>
              </a:spcAft>
              <a:buSzPts val="1100"/>
              <a:buChar char="■"/>
              <a:defRPr sz="2000"/>
            </a:lvl4pPr>
            <a:lvl5pPr marL="2286000" lvl="4" indent="-292100" algn="l">
              <a:spcBef>
                <a:spcPts val="400"/>
              </a:spcBef>
              <a:spcAft>
                <a:spcPts val="0"/>
              </a:spcAft>
              <a:buSzPts val="1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4" name="Google Shape;94;p13"/>
          <p:cNvSpPr txBox="1">
            <a:spLocks noGrp="1"/>
          </p:cNvSpPr>
          <p:nvPr>
            <p:ph type="body" idx="2"/>
          </p:nvPr>
        </p:nvSpPr>
        <p:spPr>
          <a:xfrm>
            <a:off x="630238" y="2057400"/>
            <a:ext cx="2949575" cy="3811588"/>
          </a:xfrm>
          <a:prstGeom prst="rect">
            <a:avLst/>
          </a:prstGeom>
          <a:noFill/>
          <a:ln>
            <a:noFill/>
          </a:ln>
        </p:spPr>
        <p:txBody>
          <a:bodyPr spcFirstLastPara="1" wrap="square" lIns="85325" tIns="42650" rIns="85325" bIns="42650" anchor="t" anchorCtr="0">
            <a:noAutofit/>
          </a:bodyPr>
          <a:lstStyle>
            <a:lvl1pPr marL="457200" lvl="0" indent="-228600" algn="l">
              <a:spcBef>
                <a:spcPts val="320"/>
              </a:spcBef>
              <a:spcAft>
                <a:spcPts val="0"/>
              </a:spcAft>
              <a:buSzPts val="960"/>
              <a:buNone/>
              <a:defRPr sz="1600"/>
            </a:lvl1pPr>
            <a:lvl2pPr marL="914400" lvl="1" indent="-228600" algn="l">
              <a:spcBef>
                <a:spcPts val="280"/>
              </a:spcBef>
              <a:spcAft>
                <a:spcPts val="0"/>
              </a:spcAft>
              <a:buSzPts val="770"/>
              <a:buNone/>
              <a:defRPr sz="1400"/>
            </a:lvl2pPr>
            <a:lvl3pPr marL="1371600" lvl="2" indent="-228600" algn="l">
              <a:spcBef>
                <a:spcPts val="240"/>
              </a:spcBef>
              <a:spcAft>
                <a:spcPts val="0"/>
              </a:spcAft>
              <a:buSzPts val="600"/>
              <a:buNone/>
              <a:defRPr sz="1200"/>
            </a:lvl3pPr>
            <a:lvl4pPr marL="1828800" lvl="3" indent="-228600" algn="l">
              <a:spcBef>
                <a:spcPts val="200"/>
              </a:spcBef>
              <a:spcAft>
                <a:spcPts val="0"/>
              </a:spcAft>
              <a:buSzPts val="550"/>
              <a:buNone/>
              <a:defRPr sz="1000"/>
            </a:lvl4pPr>
            <a:lvl5pPr marL="2286000" lvl="4" indent="-228600" algn="l">
              <a:spcBef>
                <a:spcPts val="200"/>
              </a:spcBef>
              <a:spcAft>
                <a:spcPts val="0"/>
              </a:spcAft>
              <a:buSzPts val="5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5" name="Google Shape;95;p13"/>
          <p:cNvSpPr txBox="1">
            <a:spLocks noGrp="1"/>
          </p:cNvSpPr>
          <p:nvPr>
            <p:ph type="ftr" idx="11"/>
          </p:nvPr>
        </p:nvSpPr>
        <p:spPr>
          <a:xfrm>
            <a:off x="152400" y="6400800"/>
            <a:ext cx="4648200" cy="304800"/>
          </a:xfrm>
          <a:prstGeom prst="rect">
            <a:avLst/>
          </a:prstGeom>
          <a:noFill/>
          <a:ln>
            <a:noFill/>
          </a:ln>
        </p:spPr>
        <p:txBody>
          <a:bodyPr spcFirstLastPara="1" wrap="square" lIns="85325" tIns="42650" rIns="85325" bIns="4265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3"/>
          <p:cNvSpPr txBox="1">
            <a:spLocks noGrp="1"/>
          </p:cNvSpPr>
          <p:nvPr>
            <p:ph type="sldNum" idx="12"/>
          </p:nvPr>
        </p:nvSpPr>
        <p:spPr>
          <a:xfrm>
            <a:off x="7086600" y="6400800"/>
            <a:ext cx="1905000" cy="309563"/>
          </a:xfrm>
          <a:prstGeom prst="rect">
            <a:avLst/>
          </a:prstGeom>
          <a:noFill/>
          <a:ln>
            <a:noFill/>
          </a:ln>
        </p:spPr>
        <p:txBody>
          <a:bodyPr spcFirstLastPara="1" wrap="square" lIns="85325" tIns="42650" rIns="85325" bIns="42650" anchor="b" anchorCtr="0">
            <a:noAutofit/>
          </a:bodyPr>
          <a:lstStyle>
            <a:lvl1pPr marL="0" lvl="0" indent="0" algn="r">
              <a:spcBef>
                <a:spcPts val="0"/>
              </a:spcBef>
              <a:spcAft>
                <a:spcPts val="0"/>
              </a:spcAft>
              <a:buNone/>
              <a:defRPr sz="1000">
                <a:solidFill>
                  <a:schemeClr val="dk1"/>
                </a:solidFill>
                <a:latin typeface="Tahoma"/>
                <a:ea typeface="Tahoma"/>
                <a:cs typeface="Tahoma"/>
                <a:sym typeface="Tahoma"/>
              </a:defRPr>
            </a:lvl1pPr>
            <a:lvl2pPr marL="0" lvl="1" indent="0" algn="r">
              <a:spcBef>
                <a:spcPts val="0"/>
              </a:spcBef>
              <a:spcAft>
                <a:spcPts val="0"/>
              </a:spcAft>
              <a:buNone/>
              <a:defRPr sz="1000">
                <a:solidFill>
                  <a:schemeClr val="dk1"/>
                </a:solidFill>
                <a:latin typeface="Tahoma"/>
                <a:ea typeface="Tahoma"/>
                <a:cs typeface="Tahoma"/>
                <a:sym typeface="Tahoma"/>
              </a:defRPr>
            </a:lvl2pPr>
            <a:lvl3pPr marL="0" lvl="2" indent="0" algn="r">
              <a:spcBef>
                <a:spcPts val="0"/>
              </a:spcBef>
              <a:spcAft>
                <a:spcPts val="0"/>
              </a:spcAft>
              <a:buNone/>
              <a:defRPr sz="1000">
                <a:solidFill>
                  <a:schemeClr val="dk1"/>
                </a:solidFill>
                <a:latin typeface="Tahoma"/>
                <a:ea typeface="Tahoma"/>
                <a:cs typeface="Tahoma"/>
                <a:sym typeface="Tahoma"/>
              </a:defRPr>
            </a:lvl3pPr>
            <a:lvl4pPr marL="0" lvl="3" indent="0" algn="r">
              <a:spcBef>
                <a:spcPts val="0"/>
              </a:spcBef>
              <a:spcAft>
                <a:spcPts val="0"/>
              </a:spcAft>
              <a:buNone/>
              <a:defRPr sz="1000">
                <a:solidFill>
                  <a:schemeClr val="dk1"/>
                </a:solidFill>
                <a:latin typeface="Tahoma"/>
                <a:ea typeface="Tahoma"/>
                <a:cs typeface="Tahoma"/>
                <a:sym typeface="Tahoma"/>
              </a:defRPr>
            </a:lvl4pPr>
            <a:lvl5pPr marL="0" lvl="4" indent="0" algn="r">
              <a:spcBef>
                <a:spcPts val="0"/>
              </a:spcBef>
              <a:spcAft>
                <a:spcPts val="0"/>
              </a:spcAft>
              <a:buNone/>
              <a:defRPr sz="1000">
                <a:solidFill>
                  <a:schemeClr val="dk1"/>
                </a:solidFill>
                <a:latin typeface="Tahoma"/>
                <a:ea typeface="Tahoma"/>
                <a:cs typeface="Tahoma"/>
                <a:sym typeface="Tahoma"/>
              </a:defRPr>
            </a:lvl5pPr>
            <a:lvl6pPr marL="0" lvl="5" indent="0" algn="r">
              <a:spcBef>
                <a:spcPts val="0"/>
              </a:spcBef>
              <a:spcAft>
                <a:spcPts val="0"/>
              </a:spcAft>
              <a:buNone/>
              <a:defRPr sz="1000">
                <a:solidFill>
                  <a:schemeClr val="dk1"/>
                </a:solidFill>
                <a:latin typeface="Tahoma"/>
                <a:ea typeface="Tahoma"/>
                <a:cs typeface="Tahoma"/>
                <a:sym typeface="Tahoma"/>
              </a:defRPr>
            </a:lvl6pPr>
            <a:lvl7pPr marL="0" lvl="6" indent="0" algn="r">
              <a:spcBef>
                <a:spcPts val="0"/>
              </a:spcBef>
              <a:spcAft>
                <a:spcPts val="0"/>
              </a:spcAft>
              <a:buNone/>
              <a:defRPr sz="1000">
                <a:solidFill>
                  <a:schemeClr val="dk1"/>
                </a:solidFill>
                <a:latin typeface="Tahoma"/>
                <a:ea typeface="Tahoma"/>
                <a:cs typeface="Tahoma"/>
                <a:sym typeface="Tahoma"/>
              </a:defRPr>
            </a:lvl7pPr>
            <a:lvl8pPr marL="0" lvl="7" indent="0" algn="r">
              <a:spcBef>
                <a:spcPts val="0"/>
              </a:spcBef>
              <a:spcAft>
                <a:spcPts val="0"/>
              </a:spcAft>
              <a:buNone/>
              <a:defRPr sz="1000">
                <a:solidFill>
                  <a:schemeClr val="dk1"/>
                </a:solidFill>
                <a:latin typeface="Tahoma"/>
                <a:ea typeface="Tahoma"/>
                <a:cs typeface="Tahoma"/>
                <a:sym typeface="Tahoma"/>
              </a:defRPr>
            </a:lvl8pPr>
            <a:lvl9pPr marL="0" lvl="8" indent="0" algn="r">
              <a:spcBef>
                <a:spcPts val="0"/>
              </a:spcBef>
              <a:spcAft>
                <a:spcPts val="0"/>
              </a:spcAft>
              <a:buNone/>
              <a:defRPr sz="1000">
                <a:solidFill>
                  <a:schemeClr val="dk1"/>
                </a:solidFill>
                <a:latin typeface="Tahoma"/>
                <a:ea typeface="Tahoma"/>
                <a:cs typeface="Tahoma"/>
                <a:sym typeface="Tahoma"/>
              </a:defRPr>
            </a:lvl9pPr>
          </a:lstStyle>
          <a:p>
            <a:pPr marL="0" lvl="0" indent="0" algn="r" rtl="0">
              <a:spcBef>
                <a:spcPts val="0"/>
              </a:spcBef>
              <a:spcAft>
                <a:spcPts val="0"/>
              </a:spcAft>
              <a:buNone/>
            </a:pPr>
            <a:r>
              <a:rPr lang="en-US"/>
              <a:t>Chap 5-</a:t>
            </a: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630238" y="457200"/>
            <a:ext cx="2949575" cy="1600200"/>
          </a:xfrm>
          <a:prstGeom prst="rect">
            <a:avLst/>
          </a:prstGeom>
          <a:noFill/>
          <a:ln>
            <a:noFill/>
          </a:ln>
        </p:spPr>
        <p:txBody>
          <a:bodyPr spcFirstLastPara="1" wrap="square" lIns="85325" tIns="42650" rIns="85325" bIns="42650" anchor="b"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9" name="Google Shape;99;p14"/>
          <p:cNvSpPr>
            <a:spLocks noGrp="1"/>
          </p:cNvSpPr>
          <p:nvPr>
            <p:ph type="pic" idx="2"/>
          </p:nvPr>
        </p:nvSpPr>
        <p:spPr>
          <a:xfrm>
            <a:off x="3887788" y="987425"/>
            <a:ext cx="4629150" cy="4873625"/>
          </a:xfrm>
          <a:prstGeom prst="rect">
            <a:avLst/>
          </a:prstGeom>
          <a:noFill/>
          <a:ln>
            <a:noFill/>
          </a:ln>
        </p:spPr>
      </p:sp>
      <p:sp>
        <p:nvSpPr>
          <p:cNvPr id="100" name="Google Shape;100;p14"/>
          <p:cNvSpPr txBox="1">
            <a:spLocks noGrp="1"/>
          </p:cNvSpPr>
          <p:nvPr>
            <p:ph type="body" idx="1"/>
          </p:nvPr>
        </p:nvSpPr>
        <p:spPr>
          <a:xfrm>
            <a:off x="630238" y="2057400"/>
            <a:ext cx="2949575" cy="3811588"/>
          </a:xfrm>
          <a:prstGeom prst="rect">
            <a:avLst/>
          </a:prstGeom>
          <a:noFill/>
          <a:ln>
            <a:noFill/>
          </a:ln>
        </p:spPr>
        <p:txBody>
          <a:bodyPr spcFirstLastPara="1" wrap="square" lIns="85325" tIns="42650" rIns="85325" bIns="42650" anchor="t" anchorCtr="0">
            <a:noAutofit/>
          </a:bodyPr>
          <a:lstStyle>
            <a:lvl1pPr marL="457200" lvl="0" indent="-228600" algn="l">
              <a:spcBef>
                <a:spcPts val="320"/>
              </a:spcBef>
              <a:spcAft>
                <a:spcPts val="0"/>
              </a:spcAft>
              <a:buSzPts val="960"/>
              <a:buNone/>
              <a:defRPr sz="1600"/>
            </a:lvl1pPr>
            <a:lvl2pPr marL="914400" lvl="1" indent="-228600" algn="l">
              <a:spcBef>
                <a:spcPts val="280"/>
              </a:spcBef>
              <a:spcAft>
                <a:spcPts val="0"/>
              </a:spcAft>
              <a:buSzPts val="770"/>
              <a:buNone/>
              <a:defRPr sz="1400"/>
            </a:lvl2pPr>
            <a:lvl3pPr marL="1371600" lvl="2" indent="-228600" algn="l">
              <a:spcBef>
                <a:spcPts val="240"/>
              </a:spcBef>
              <a:spcAft>
                <a:spcPts val="0"/>
              </a:spcAft>
              <a:buSzPts val="600"/>
              <a:buNone/>
              <a:defRPr sz="1200"/>
            </a:lvl3pPr>
            <a:lvl4pPr marL="1828800" lvl="3" indent="-228600" algn="l">
              <a:spcBef>
                <a:spcPts val="200"/>
              </a:spcBef>
              <a:spcAft>
                <a:spcPts val="0"/>
              </a:spcAft>
              <a:buSzPts val="550"/>
              <a:buNone/>
              <a:defRPr sz="1000"/>
            </a:lvl4pPr>
            <a:lvl5pPr marL="2286000" lvl="4" indent="-228600" algn="l">
              <a:spcBef>
                <a:spcPts val="200"/>
              </a:spcBef>
              <a:spcAft>
                <a:spcPts val="0"/>
              </a:spcAft>
              <a:buSzPts val="5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1" name="Google Shape;101;p14"/>
          <p:cNvSpPr txBox="1">
            <a:spLocks noGrp="1"/>
          </p:cNvSpPr>
          <p:nvPr>
            <p:ph type="ftr" idx="11"/>
          </p:nvPr>
        </p:nvSpPr>
        <p:spPr>
          <a:xfrm>
            <a:off x="152400" y="6400800"/>
            <a:ext cx="4648200" cy="304800"/>
          </a:xfrm>
          <a:prstGeom prst="rect">
            <a:avLst/>
          </a:prstGeom>
          <a:noFill/>
          <a:ln>
            <a:noFill/>
          </a:ln>
        </p:spPr>
        <p:txBody>
          <a:bodyPr spcFirstLastPara="1" wrap="square" lIns="85325" tIns="42650" rIns="85325" bIns="4265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4"/>
          <p:cNvSpPr txBox="1">
            <a:spLocks noGrp="1"/>
          </p:cNvSpPr>
          <p:nvPr>
            <p:ph type="sldNum" idx="12"/>
          </p:nvPr>
        </p:nvSpPr>
        <p:spPr>
          <a:xfrm>
            <a:off x="7086600" y="6400800"/>
            <a:ext cx="1905000" cy="309563"/>
          </a:xfrm>
          <a:prstGeom prst="rect">
            <a:avLst/>
          </a:prstGeom>
          <a:noFill/>
          <a:ln>
            <a:noFill/>
          </a:ln>
        </p:spPr>
        <p:txBody>
          <a:bodyPr spcFirstLastPara="1" wrap="square" lIns="85325" tIns="42650" rIns="85325" bIns="42650" anchor="b" anchorCtr="0">
            <a:noAutofit/>
          </a:bodyPr>
          <a:lstStyle>
            <a:lvl1pPr marL="0" lvl="0" indent="0" algn="r">
              <a:spcBef>
                <a:spcPts val="0"/>
              </a:spcBef>
              <a:spcAft>
                <a:spcPts val="0"/>
              </a:spcAft>
              <a:buNone/>
              <a:defRPr sz="1000">
                <a:solidFill>
                  <a:schemeClr val="dk1"/>
                </a:solidFill>
                <a:latin typeface="Tahoma"/>
                <a:ea typeface="Tahoma"/>
                <a:cs typeface="Tahoma"/>
                <a:sym typeface="Tahoma"/>
              </a:defRPr>
            </a:lvl1pPr>
            <a:lvl2pPr marL="0" lvl="1" indent="0" algn="r">
              <a:spcBef>
                <a:spcPts val="0"/>
              </a:spcBef>
              <a:spcAft>
                <a:spcPts val="0"/>
              </a:spcAft>
              <a:buNone/>
              <a:defRPr sz="1000">
                <a:solidFill>
                  <a:schemeClr val="dk1"/>
                </a:solidFill>
                <a:latin typeface="Tahoma"/>
                <a:ea typeface="Tahoma"/>
                <a:cs typeface="Tahoma"/>
                <a:sym typeface="Tahoma"/>
              </a:defRPr>
            </a:lvl2pPr>
            <a:lvl3pPr marL="0" lvl="2" indent="0" algn="r">
              <a:spcBef>
                <a:spcPts val="0"/>
              </a:spcBef>
              <a:spcAft>
                <a:spcPts val="0"/>
              </a:spcAft>
              <a:buNone/>
              <a:defRPr sz="1000">
                <a:solidFill>
                  <a:schemeClr val="dk1"/>
                </a:solidFill>
                <a:latin typeface="Tahoma"/>
                <a:ea typeface="Tahoma"/>
                <a:cs typeface="Tahoma"/>
                <a:sym typeface="Tahoma"/>
              </a:defRPr>
            </a:lvl3pPr>
            <a:lvl4pPr marL="0" lvl="3" indent="0" algn="r">
              <a:spcBef>
                <a:spcPts val="0"/>
              </a:spcBef>
              <a:spcAft>
                <a:spcPts val="0"/>
              </a:spcAft>
              <a:buNone/>
              <a:defRPr sz="1000">
                <a:solidFill>
                  <a:schemeClr val="dk1"/>
                </a:solidFill>
                <a:latin typeface="Tahoma"/>
                <a:ea typeface="Tahoma"/>
                <a:cs typeface="Tahoma"/>
                <a:sym typeface="Tahoma"/>
              </a:defRPr>
            </a:lvl4pPr>
            <a:lvl5pPr marL="0" lvl="4" indent="0" algn="r">
              <a:spcBef>
                <a:spcPts val="0"/>
              </a:spcBef>
              <a:spcAft>
                <a:spcPts val="0"/>
              </a:spcAft>
              <a:buNone/>
              <a:defRPr sz="1000">
                <a:solidFill>
                  <a:schemeClr val="dk1"/>
                </a:solidFill>
                <a:latin typeface="Tahoma"/>
                <a:ea typeface="Tahoma"/>
                <a:cs typeface="Tahoma"/>
                <a:sym typeface="Tahoma"/>
              </a:defRPr>
            </a:lvl5pPr>
            <a:lvl6pPr marL="0" lvl="5" indent="0" algn="r">
              <a:spcBef>
                <a:spcPts val="0"/>
              </a:spcBef>
              <a:spcAft>
                <a:spcPts val="0"/>
              </a:spcAft>
              <a:buNone/>
              <a:defRPr sz="1000">
                <a:solidFill>
                  <a:schemeClr val="dk1"/>
                </a:solidFill>
                <a:latin typeface="Tahoma"/>
                <a:ea typeface="Tahoma"/>
                <a:cs typeface="Tahoma"/>
                <a:sym typeface="Tahoma"/>
              </a:defRPr>
            </a:lvl6pPr>
            <a:lvl7pPr marL="0" lvl="6" indent="0" algn="r">
              <a:spcBef>
                <a:spcPts val="0"/>
              </a:spcBef>
              <a:spcAft>
                <a:spcPts val="0"/>
              </a:spcAft>
              <a:buNone/>
              <a:defRPr sz="1000">
                <a:solidFill>
                  <a:schemeClr val="dk1"/>
                </a:solidFill>
                <a:latin typeface="Tahoma"/>
                <a:ea typeface="Tahoma"/>
                <a:cs typeface="Tahoma"/>
                <a:sym typeface="Tahoma"/>
              </a:defRPr>
            </a:lvl7pPr>
            <a:lvl8pPr marL="0" lvl="7" indent="0" algn="r">
              <a:spcBef>
                <a:spcPts val="0"/>
              </a:spcBef>
              <a:spcAft>
                <a:spcPts val="0"/>
              </a:spcAft>
              <a:buNone/>
              <a:defRPr sz="1000">
                <a:solidFill>
                  <a:schemeClr val="dk1"/>
                </a:solidFill>
                <a:latin typeface="Tahoma"/>
                <a:ea typeface="Tahoma"/>
                <a:cs typeface="Tahoma"/>
                <a:sym typeface="Tahoma"/>
              </a:defRPr>
            </a:lvl8pPr>
            <a:lvl9pPr marL="0" lvl="8" indent="0" algn="r">
              <a:spcBef>
                <a:spcPts val="0"/>
              </a:spcBef>
              <a:spcAft>
                <a:spcPts val="0"/>
              </a:spcAft>
              <a:buNone/>
              <a:defRPr sz="1000">
                <a:solidFill>
                  <a:schemeClr val="dk1"/>
                </a:solidFill>
                <a:latin typeface="Tahoma"/>
                <a:ea typeface="Tahoma"/>
                <a:cs typeface="Tahoma"/>
                <a:sym typeface="Tahoma"/>
              </a:defRPr>
            </a:lvl9pPr>
          </a:lstStyle>
          <a:p>
            <a:pPr marL="0" lvl="0" indent="0" algn="r" rtl="0">
              <a:spcBef>
                <a:spcPts val="0"/>
              </a:spcBef>
              <a:spcAft>
                <a:spcPts val="0"/>
              </a:spcAft>
              <a:buNone/>
            </a:pPr>
            <a:r>
              <a:rPr lang="en-US"/>
              <a:t>Chap 5-</a:t>
            </a: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3"/>
        <p:cNvGrpSpPr/>
        <p:nvPr/>
      </p:nvGrpSpPr>
      <p:grpSpPr>
        <a:xfrm>
          <a:off x="0" y="0"/>
          <a:ext cx="0" cy="0"/>
          <a:chOff x="0" y="0"/>
          <a:chExt cx="0" cy="0"/>
        </a:xfrm>
      </p:grpSpPr>
      <p:sp>
        <p:nvSpPr>
          <p:cNvPr id="104" name="Google Shape;104;p15"/>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5" name="Google Shape;105;p15"/>
          <p:cNvSpPr txBox="1">
            <a:spLocks noGrp="1"/>
          </p:cNvSpPr>
          <p:nvPr>
            <p:ph type="body" idx="1"/>
          </p:nvPr>
        </p:nvSpPr>
        <p:spPr>
          <a:xfrm rot="5400000">
            <a:off x="2743200" y="-381000"/>
            <a:ext cx="4114800" cy="8077200"/>
          </a:xfrm>
          <a:prstGeom prst="rect">
            <a:avLst/>
          </a:prstGeom>
          <a:noFill/>
          <a:ln>
            <a:noFill/>
          </a:ln>
        </p:spPr>
        <p:txBody>
          <a:bodyPr spcFirstLastPara="1" wrap="square" lIns="85325" tIns="42650" rIns="85325" bIns="4265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15"/>
          <p:cNvSpPr txBox="1">
            <a:spLocks noGrp="1"/>
          </p:cNvSpPr>
          <p:nvPr>
            <p:ph type="ftr" idx="11"/>
          </p:nvPr>
        </p:nvSpPr>
        <p:spPr>
          <a:xfrm>
            <a:off x="152400" y="6400800"/>
            <a:ext cx="4648200" cy="304800"/>
          </a:xfrm>
          <a:prstGeom prst="rect">
            <a:avLst/>
          </a:prstGeom>
          <a:noFill/>
          <a:ln>
            <a:noFill/>
          </a:ln>
        </p:spPr>
        <p:txBody>
          <a:bodyPr spcFirstLastPara="1" wrap="square" lIns="85325" tIns="42650" rIns="85325" bIns="4265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5"/>
          <p:cNvSpPr txBox="1">
            <a:spLocks noGrp="1"/>
          </p:cNvSpPr>
          <p:nvPr>
            <p:ph type="sldNum" idx="12"/>
          </p:nvPr>
        </p:nvSpPr>
        <p:spPr>
          <a:xfrm>
            <a:off x="7086600" y="6400800"/>
            <a:ext cx="1905000" cy="309563"/>
          </a:xfrm>
          <a:prstGeom prst="rect">
            <a:avLst/>
          </a:prstGeom>
          <a:noFill/>
          <a:ln>
            <a:noFill/>
          </a:ln>
        </p:spPr>
        <p:txBody>
          <a:bodyPr spcFirstLastPara="1" wrap="square" lIns="85325" tIns="42650" rIns="85325" bIns="42650" anchor="b" anchorCtr="0">
            <a:noAutofit/>
          </a:bodyPr>
          <a:lstStyle>
            <a:lvl1pPr marL="0" lvl="0" indent="0" algn="r">
              <a:spcBef>
                <a:spcPts val="0"/>
              </a:spcBef>
              <a:spcAft>
                <a:spcPts val="0"/>
              </a:spcAft>
              <a:buNone/>
              <a:defRPr sz="1000">
                <a:solidFill>
                  <a:schemeClr val="dk1"/>
                </a:solidFill>
                <a:latin typeface="Tahoma"/>
                <a:ea typeface="Tahoma"/>
                <a:cs typeface="Tahoma"/>
                <a:sym typeface="Tahoma"/>
              </a:defRPr>
            </a:lvl1pPr>
            <a:lvl2pPr marL="0" lvl="1" indent="0" algn="r">
              <a:spcBef>
                <a:spcPts val="0"/>
              </a:spcBef>
              <a:spcAft>
                <a:spcPts val="0"/>
              </a:spcAft>
              <a:buNone/>
              <a:defRPr sz="1000">
                <a:solidFill>
                  <a:schemeClr val="dk1"/>
                </a:solidFill>
                <a:latin typeface="Tahoma"/>
                <a:ea typeface="Tahoma"/>
                <a:cs typeface="Tahoma"/>
                <a:sym typeface="Tahoma"/>
              </a:defRPr>
            </a:lvl2pPr>
            <a:lvl3pPr marL="0" lvl="2" indent="0" algn="r">
              <a:spcBef>
                <a:spcPts val="0"/>
              </a:spcBef>
              <a:spcAft>
                <a:spcPts val="0"/>
              </a:spcAft>
              <a:buNone/>
              <a:defRPr sz="1000">
                <a:solidFill>
                  <a:schemeClr val="dk1"/>
                </a:solidFill>
                <a:latin typeface="Tahoma"/>
                <a:ea typeface="Tahoma"/>
                <a:cs typeface="Tahoma"/>
                <a:sym typeface="Tahoma"/>
              </a:defRPr>
            </a:lvl3pPr>
            <a:lvl4pPr marL="0" lvl="3" indent="0" algn="r">
              <a:spcBef>
                <a:spcPts val="0"/>
              </a:spcBef>
              <a:spcAft>
                <a:spcPts val="0"/>
              </a:spcAft>
              <a:buNone/>
              <a:defRPr sz="1000">
                <a:solidFill>
                  <a:schemeClr val="dk1"/>
                </a:solidFill>
                <a:latin typeface="Tahoma"/>
                <a:ea typeface="Tahoma"/>
                <a:cs typeface="Tahoma"/>
                <a:sym typeface="Tahoma"/>
              </a:defRPr>
            </a:lvl4pPr>
            <a:lvl5pPr marL="0" lvl="4" indent="0" algn="r">
              <a:spcBef>
                <a:spcPts val="0"/>
              </a:spcBef>
              <a:spcAft>
                <a:spcPts val="0"/>
              </a:spcAft>
              <a:buNone/>
              <a:defRPr sz="1000">
                <a:solidFill>
                  <a:schemeClr val="dk1"/>
                </a:solidFill>
                <a:latin typeface="Tahoma"/>
                <a:ea typeface="Tahoma"/>
                <a:cs typeface="Tahoma"/>
                <a:sym typeface="Tahoma"/>
              </a:defRPr>
            </a:lvl5pPr>
            <a:lvl6pPr marL="0" lvl="5" indent="0" algn="r">
              <a:spcBef>
                <a:spcPts val="0"/>
              </a:spcBef>
              <a:spcAft>
                <a:spcPts val="0"/>
              </a:spcAft>
              <a:buNone/>
              <a:defRPr sz="1000">
                <a:solidFill>
                  <a:schemeClr val="dk1"/>
                </a:solidFill>
                <a:latin typeface="Tahoma"/>
                <a:ea typeface="Tahoma"/>
                <a:cs typeface="Tahoma"/>
                <a:sym typeface="Tahoma"/>
              </a:defRPr>
            </a:lvl6pPr>
            <a:lvl7pPr marL="0" lvl="6" indent="0" algn="r">
              <a:spcBef>
                <a:spcPts val="0"/>
              </a:spcBef>
              <a:spcAft>
                <a:spcPts val="0"/>
              </a:spcAft>
              <a:buNone/>
              <a:defRPr sz="1000">
                <a:solidFill>
                  <a:schemeClr val="dk1"/>
                </a:solidFill>
                <a:latin typeface="Tahoma"/>
                <a:ea typeface="Tahoma"/>
                <a:cs typeface="Tahoma"/>
                <a:sym typeface="Tahoma"/>
              </a:defRPr>
            </a:lvl7pPr>
            <a:lvl8pPr marL="0" lvl="7" indent="0" algn="r">
              <a:spcBef>
                <a:spcPts val="0"/>
              </a:spcBef>
              <a:spcAft>
                <a:spcPts val="0"/>
              </a:spcAft>
              <a:buNone/>
              <a:defRPr sz="1000">
                <a:solidFill>
                  <a:schemeClr val="dk1"/>
                </a:solidFill>
                <a:latin typeface="Tahoma"/>
                <a:ea typeface="Tahoma"/>
                <a:cs typeface="Tahoma"/>
                <a:sym typeface="Tahoma"/>
              </a:defRPr>
            </a:lvl8pPr>
            <a:lvl9pPr marL="0" lvl="8" indent="0" algn="r">
              <a:spcBef>
                <a:spcPts val="0"/>
              </a:spcBef>
              <a:spcAft>
                <a:spcPts val="0"/>
              </a:spcAft>
              <a:buNone/>
              <a:defRPr sz="1000">
                <a:solidFill>
                  <a:schemeClr val="dk1"/>
                </a:solidFill>
                <a:latin typeface="Tahoma"/>
                <a:ea typeface="Tahoma"/>
                <a:cs typeface="Tahoma"/>
                <a:sym typeface="Tahoma"/>
              </a:defRPr>
            </a:lvl9pPr>
          </a:lstStyle>
          <a:p>
            <a:pPr marL="0" lvl="0" indent="0" algn="r" rtl="0">
              <a:spcBef>
                <a:spcPts val="0"/>
              </a:spcBef>
              <a:spcAft>
                <a:spcPts val="0"/>
              </a:spcAft>
              <a:buNone/>
            </a:pPr>
            <a:r>
              <a:rPr lang="en-US"/>
              <a:t>Chap 5-</a:t>
            </a: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rot="5400000">
            <a:off x="5162550" y="2038350"/>
            <a:ext cx="5334000" cy="2019300"/>
          </a:xfrm>
          <a:prstGeom prst="rect">
            <a:avLst/>
          </a:prstGeom>
          <a:noFill/>
          <a:ln>
            <a:noFill/>
          </a:ln>
        </p:spPr>
        <p:txBody>
          <a:bodyPr spcFirstLastPara="1" wrap="square" lIns="85325" tIns="42650" rIns="85325" bIns="4265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0" name="Google Shape;110;p16"/>
          <p:cNvSpPr txBox="1">
            <a:spLocks noGrp="1"/>
          </p:cNvSpPr>
          <p:nvPr>
            <p:ph type="body" idx="1"/>
          </p:nvPr>
        </p:nvSpPr>
        <p:spPr>
          <a:xfrm rot="5400000">
            <a:off x="1047750" y="95250"/>
            <a:ext cx="5334000" cy="5905500"/>
          </a:xfrm>
          <a:prstGeom prst="rect">
            <a:avLst/>
          </a:prstGeom>
          <a:noFill/>
          <a:ln>
            <a:noFill/>
          </a:ln>
        </p:spPr>
        <p:txBody>
          <a:bodyPr spcFirstLastPara="1" wrap="square" lIns="85325" tIns="42650" rIns="85325" bIns="4265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16"/>
          <p:cNvSpPr txBox="1">
            <a:spLocks noGrp="1"/>
          </p:cNvSpPr>
          <p:nvPr>
            <p:ph type="ftr" idx="11"/>
          </p:nvPr>
        </p:nvSpPr>
        <p:spPr>
          <a:xfrm>
            <a:off x="152400" y="6400800"/>
            <a:ext cx="4648200" cy="304800"/>
          </a:xfrm>
          <a:prstGeom prst="rect">
            <a:avLst/>
          </a:prstGeom>
          <a:noFill/>
          <a:ln>
            <a:noFill/>
          </a:ln>
        </p:spPr>
        <p:txBody>
          <a:bodyPr spcFirstLastPara="1" wrap="square" lIns="85325" tIns="42650" rIns="85325" bIns="4265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16"/>
          <p:cNvSpPr txBox="1">
            <a:spLocks noGrp="1"/>
          </p:cNvSpPr>
          <p:nvPr>
            <p:ph type="sldNum" idx="12"/>
          </p:nvPr>
        </p:nvSpPr>
        <p:spPr>
          <a:xfrm>
            <a:off x="7086600" y="6400800"/>
            <a:ext cx="1905000" cy="309563"/>
          </a:xfrm>
          <a:prstGeom prst="rect">
            <a:avLst/>
          </a:prstGeom>
          <a:noFill/>
          <a:ln>
            <a:noFill/>
          </a:ln>
        </p:spPr>
        <p:txBody>
          <a:bodyPr spcFirstLastPara="1" wrap="square" lIns="85325" tIns="42650" rIns="85325" bIns="42650" anchor="b" anchorCtr="0">
            <a:noAutofit/>
          </a:bodyPr>
          <a:lstStyle>
            <a:lvl1pPr marL="0" lvl="0" indent="0" algn="r">
              <a:spcBef>
                <a:spcPts val="0"/>
              </a:spcBef>
              <a:spcAft>
                <a:spcPts val="0"/>
              </a:spcAft>
              <a:buNone/>
              <a:defRPr sz="1000">
                <a:solidFill>
                  <a:schemeClr val="dk1"/>
                </a:solidFill>
                <a:latin typeface="Tahoma"/>
                <a:ea typeface="Tahoma"/>
                <a:cs typeface="Tahoma"/>
                <a:sym typeface="Tahoma"/>
              </a:defRPr>
            </a:lvl1pPr>
            <a:lvl2pPr marL="0" lvl="1" indent="0" algn="r">
              <a:spcBef>
                <a:spcPts val="0"/>
              </a:spcBef>
              <a:spcAft>
                <a:spcPts val="0"/>
              </a:spcAft>
              <a:buNone/>
              <a:defRPr sz="1000">
                <a:solidFill>
                  <a:schemeClr val="dk1"/>
                </a:solidFill>
                <a:latin typeface="Tahoma"/>
                <a:ea typeface="Tahoma"/>
                <a:cs typeface="Tahoma"/>
                <a:sym typeface="Tahoma"/>
              </a:defRPr>
            </a:lvl2pPr>
            <a:lvl3pPr marL="0" lvl="2" indent="0" algn="r">
              <a:spcBef>
                <a:spcPts val="0"/>
              </a:spcBef>
              <a:spcAft>
                <a:spcPts val="0"/>
              </a:spcAft>
              <a:buNone/>
              <a:defRPr sz="1000">
                <a:solidFill>
                  <a:schemeClr val="dk1"/>
                </a:solidFill>
                <a:latin typeface="Tahoma"/>
                <a:ea typeface="Tahoma"/>
                <a:cs typeface="Tahoma"/>
                <a:sym typeface="Tahoma"/>
              </a:defRPr>
            </a:lvl3pPr>
            <a:lvl4pPr marL="0" lvl="3" indent="0" algn="r">
              <a:spcBef>
                <a:spcPts val="0"/>
              </a:spcBef>
              <a:spcAft>
                <a:spcPts val="0"/>
              </a:spcAft>
              <a:buNone/>
              <a:defRPr sz="1000">
                <a:solidFill>
                  <a:schemeClr val="dk1"/>
                </a:solidFill>
                <a:latin typeface="Tahoma"/>
                <a:ea typeface="Tahoma"/>
                <a:cs typeface="Tahoma"/>
                <a:sym typeface="Tahoma"/>
              </a:defRPr>
            </a:lvl4pPr>
            <a:lvl5pPr marL="0" lvl="4" indent="0" algn="r">
              <a:spcBef>
                <a:spcPts val="0"/>
              </a:spcBef>
              <a:spcAft>
                <a:spcPts val="0"/>
              </a:spcAft>
              <a:buNone/>
              <a:defRPr sz="1000">
                <a:solidFill>
                  <a:schemeClr val="dk1"/>
                </a:solidFill>
                <a:latin typeface="Tahoma"/>
                <a:ea typeface="Tahoma"/>
                <a:cs typeface="Tahoma"/>
                <a:sym typeface="Tahoma"/>
              </a:defRPr>
            </a:lvl5pPr>
            <a:lvl6pPr marL="0" lvl="5" indent="0" algn="r">
              <a:spcBef>
                <a:spcPts val="0"/>
              </a:spcBef>
              <a:spcAft>
                <a:spcPts val="0"/>
              </a:spcAft>
              <a:buNone/>
              <a:defRPr sz="1000">
                <a:solidFill>
                  <a:schemeClr val="dk1"/>
                </a:solidFill>
                <a:latin typeface="Tahoma"/>
                <a:ea typeface="Tahoma"/>
                <a:cs typeface="Tahoma"/>
                <a:sym typeface="Tahoma"/>
              </a:defRPr>
            </a:lvl6pPr>
            <a:lvl7pPr marL="0" lvl="6" indent="0" algn="r">
              <a:spcBef>
                <a:spcPts val="0"/>
              </a:spcBef>
              <a:spcAft>
                <a:spcPts val="0"/>
              </a:spcAft>
              <a:buNone/>
              <a:defRPr sz="1000">
                <a:solidFill>
                  <a:schemeClr val="dk1"/>
                </a:solidFill>
                <a:latin typeface="Tahoma"/>
                <a:ea typeface="Tahoma"/>
                <a:cs typeface="Tahoma"/>
                <a:sym typeface="Tahoma"/>
              </a:defRPr>
            </a:lvl7pPr>
            <a:lvl8pPr marL="0" lvl="7" indent="0" algn="r">
              <a:spcBef>
                <a:spcPts val="0"/>
              </a:spcBef>
              <a:spcAft>
                <a:spcPts val="0"/>
              </a:spcAft>
              <a:buNone/>
              <a:defRPr sz="1000">
                <a:solidFill>
                  <a:schemeClr val="dk1"/>
                </a:solidFill>
                <a:latin typeface="Tahoma"/>
                <a:ea typeface="Tahoma"/>
                <a:cs typeface="Tahoma"/>
                <a:sym typeface="Tahoma"/>
              </a:defRPr>
            </a:lvl8pPr>
            <a:lvl9pPr marL="0" lvl="8" indent="0" algn="r">
              <a:spcBef>
                <a:spcPts val="0"/>
              </a:spcBef>
              <a:spcAft>
                <a:spcPts val="0"/>
              </a:spcAft>
              <a:buNone/>
              <a:defRPr sz="1000">
                <a:solidFill>
                  <a:schemeClr val="dk1"/>
                </a:solidFill>
                <a:latin typeface="Tahoma"/>
                <a:ea typeface="Tahoma"/>
                <a:cs typeface="Tahoma"/>
                <a:sym typeface="Tahoma"/>
              </a:defRPr>
            </a:lvl9pPr>
          </a:lstStyle>
          <a:p>
            <a:pPr marL="0" lvl="0" indent="0" algn="r" rtl="0">
              <a:spcBef>
                <a:spcPts val="0"/>
              </a:spcBef>
              <a:spcAft>
                <a:spcPts val="0"/>
              </a:spcAft>
              <a:buNone/>
            </a:pPr>
            <a:r>
              <a:rPr lang="en-US"/>
              <a:t>Chap 5-</a:t>
            </a: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
        <p:cNvGrpSpPr/>
        <p:nvPr/>
      </p:nvGrpSpPr>
      <p:grpSpPr>
        <a:xfrm>
          <a:off x="0" y="0"/>
          <a:ext cx="0" cy="0"/>
          <a:chOff x="0" y="0"/>
          <a:chExt cx="0" cy="0"/>
        </a:xfrm>
      </p:grpSpPr>
      <p:sp>
        <p:nvSpPr>
          <p:cNvPr id="28" name="Google Shape;28;p1"/>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lvl1pPr marR="0" lvl="0" algn="ctr" rtl="0">
              <a:spcBef>
                <a:spcPts val="0"/>
              </a:spcBef>
              <a:spcAft>
                <a:spcPts val="0"/>
              </a:spcAft>
              <a:buSzPts val="1400"/>
              <a:buNone/>
              <a:defRPr sz="4100" b="0" i="0" u="none" strike="noStrike" cap="none">
                <a:solidFill>
                  <a:schemeClr val="dk2"/>
                </a:solidFill>
                <a:latin typeface="Tahoma"/>
                <a:ea typeface="Tahoma"/>
                <a:cs typeface="Tahoma"/>
                <a:sym typeface="Tahoma"/>
              </a:defRPr>
            </a:lvl1pPr>
            <a:lvl2pPr marR="0" lvl="1" algn="ctr" rtl="0">
              <a:spcBef>
                <a:spcPts val="0"/>
              </a:spcBef>
              <a:spcAft>
                <a:spcPts val="0"/>
              </a:spcAft>
              <a:buSzPts val="1400"/>
              <a:buNone/>
              <a:defRPr sz="4100" b="0" i="0" u="none" strike="noStrike" cap="none">
                <a:solidFill>
                  <a:schemeClr val="dk2"/>
                </a:solidFill>
                <a:latin typeface="Tahoma"/>
                <a:ea typeface="Tahoma"/>
                <a:cs typeface="Tahoma"/>
                <a:sym typeface="Tahoma"/>
              </a:defRPr>
            </a:lvl2pPr>
            <a:lvl3pPr marR="0" lvl="2" algn="ctr" rtl="0">
              <a:spcBef>
                <a:spcPts val="0"/>
              </a:spcBef>
              <a:spcAft>
                <a:spcPts val="0"/>
              </a:spcAft>
              <a:buSzPts val="1400"/>
              <a:buNone/>
              <a:defRPr sz="4100" b="0" i="0" u="none" strike="noStrike" cap="none">
                <a:solidFill>
                  <a:schemeClr val="dk2"/>
                </a:solidFill>
                <a:latin typeface="Tahoma"/>
                <a:ea typeface="Tahoma"/>
                <a:cs typeface="Tahoma"/>
                <a:sym typeface="Tahoma"/>
              </a:defRPr>
            </a:lvl3pPr>
            <a:lvl4pPr marR="0" lvl="3" algn="ctr" rtl="0">
              <a:spcBef>
                <a:spcPts val="0"/>
              </a:spcBef>
              <a:spcAft>
                <a:spcPts val="0"/>
              </a:spcAft>
              <a:buSzPts val="1400"/>
              <a:buNone/>
              <a:defRPr sz="4100" b="0" i="0" u="none" strike="noStrike" cap="none">
                <a:solidFill>
                  <a:schemeClr val="dk2"/>
                </a:solidFill>
                <a:latin typeface="Tahoma"/>
                <a:ea typeface="Tahoma"/>
                <a:cs typeface="Tahoma"/>
                <a:sym typeface="Tahoma"/>
              </a:defRPr>
            </a:lvl4pPr>
            <a:lvl5pPr marR="0" lvl="4" algn="ctr" rtl="0">
              <a:spcBef>
                <a:spcPts val="0"/>
              </a:spcBef>
              <a:spcAft>
                <a:spcPts val="0"/>
              </a:spcAft>
              <a:buSzPts val="1400"/>
              <a:buNone/>
              <a:defRPr sz="4100" b="0" i="0" u="none" strike="noStrike" cap="none">
                <a:solidFill>
                  <a:schemeClr val="dk2"/>
                </a:solidFill>
                <a:latin typeface="Tahoma"/>
                <a:ea typeface="Tahoma"/>
                <a:cs typeface="Tahoma"/>
                <a:sym typeface="Tahoma"/>
              </a:defRPr>
            </a:lvl5pPr>
            <a:lvl6pPr marR="0" lvl="5" algn="ctr" rtl="0">
              <a:spcBef>
                <a:spcPts val="0"/>
              </a:spcBef>
              <a:spcAft>
                <a:spcPts val="0"/>
              </a:spcAft>
              <a:buSzPts val="1400"/>
              <a:buNone/>
              <a:defRPr sz="4100" b="0" i="0" u="none" strike="noStrike" cap="none">
                <a:solidFill>
                  <a:schemeClr val="dk2"/>
                </a:solidFill>
                <a:latin typeface="Tahoma"/>
                <a:ea typeface="Tahoma"/>
                <a:cs typeface="Tahoma"/>
                <a:sym typeface="Tahoma"/>
              </a:defRPr>
            </a:lvl6pPr>
            <a:lvl7pPr marR="0" lvl="6" algn="ctr" rtl="0">
              <a:spcBef>
                <a:spcPts val="0"/>
              </a:spcBef>
              <a:spcAft>
                <a:spcPts val="0"/>
              </a:spcAft>
              <a:buSzPts val="1400"/>
              <a:buNone/>
              <a:defRPr sz="4100" b="0" i="0" u="none" strike="noStrike" cap="none">
                <a:solidFill>
                  <a:schemeClr val="dk2"/>
                </a:solidFill>
                <a:latin typeface="Tahoma"/>
                <a:ea typeface="Tahoma"/>
                <a:cs typeface="Tahoma"/>
                <a:sym typeface="Tahoma"/>
              </a:defRPr>
            </a:lvl7pPr>
            <a:lvl8pPr marR="0" lvl="7" algn="ctr" rtl="0">
              <a:spcBef>
                <a:spcPts val="0"/>
              </a:spcBef>
              <a:spcAft>
                <a:spcPts val="0"/>
              </a:spcAft>
              <a:buSzPts val="1400"/>
              <a:buNone/>
              <a:defRPr sz="4100" b="0" i="0" u="none" strike="noStrike" cap="none">
                <a:solidFill>
                  <a:schemeClr val="dk2"/>
                </a:solidFill>
                <a:latin typeface="Tahoma"/>
                <a:ea typeface="Tahoma"/>
                <a:cs typeface="Tahoma"/>
                <a:sym typeface="Tahoma"/>
              </a:defRPr>
            </a:lvl8pPr>
            <a:lvl9pPr marR="0" lvl="8" algn="ctr" rtl="0">
              <a:spcBef>
                <a:spcPts val="0"/>
              </a:spcBef>
              <a:spcAft>
                <a:spcPts val="0"/>
              </a:spcAft>
              <a:buSzPts val="1400"/>
              <a:buNone/>
              <a:defRPr sz="4100" b="0" i="0" u="none" strike="noStrike" cap="none">
                <a:solidFill>
                  <a:schemeClr val="dk2"/>
                </a:solidFill>
                <a:latin typeface="Tahoma"/>
                <a:ea typeface="Tahoma"/>
                <a:cs typeface="Tahoma"/>
                <a:sym typeface="Tahoma"/>
              </a:defRPr>
            </a:lvl9pPr>
          </a:lstStyle>
          <a:p>
            <a:endParaRPr/>
          </a:p>
        </p:txBody>
      </p:sp>
      <p:sp>
        <p:nvSpPr>
          <p:cNvPr id="29" name="Google Shape;29;p1"/>
          <p:cNvSpPr txBox="1">
            <a:spLocks noGrp="1"/>
          </p:cNvSpPr>
          <p:nvPr>
            <p:ph type="body" idx="1"/>
          </p:nvPr>
        </p:nvSpPr>
        <p:spPr>
          <a:xfrm>
            <a:off x="762000" y="1600200"/>
            <a:ext cx="8077200" cy="4114800"/>
          </a:xfrm>
          <a:prstGeom prst="rect">
            <a:avLst/>
          </a:prstGeom>
          <a:noFill/>
          <a:ln>
            <a:noFill/>
          </a:ln>
        </p:spPr>
        <p:txBody>
          <a:bodyPr spcFirstLastPara="1" wrap="square" lIns="85325" tIns="42650" rIns="85325" bIns="42650" anchor="t" anchorCtr="0">
            <a:noAutofit/>
          </a:bodyPr>
          <a:lstStyle>
            <a:lvl1pPr marL="457200" marR="0" lvl="0" indent="-335280" algn="l" rtl="0">
              <a:spcBef>
                <a:spcPts val="560"/>
              </a:spcBef>
              <a:spcAft>
                <a:spcPts val="0"/>
              </a:spcAft>
              <a:buClr>
                <a:schemeClr val="folHlink"/>
              </a:buClr>
              <a:buSzPts val="1680"/>
              <a:buFont typeface="Noto Sans Symbols"/>
              <a:buChar char="■"/>
              <a:defRPr sz="2800" b="0" i="0" u="none" strike="noStrike" cap="none">
                <a:solidFill>
                  <a:schemeClr val="dk1"/>
                </a:solidFill>
                <a:latin typeface="Arial"/>
                <a:ea typeface="Arial"/>
                <a:cs typeface="Arial"/>
                <a:sym typeface="Arial"/>
              </a:defRPr>
            </a:lvl1pPr>
            <a:lvl2pPr marL="914400" marR="0" lvl="1" indent="-312419" algn="l" rtl="0">
              <a:spcBef>
                <a:spcPts val="480"/>
              </a:spcBef>
              <a:spcAft>
                <a:spcPts val="0"/>
              </a:spcAft>
              <a:buClr>
                <a:schemeClr val="hlink"/>
              </a:buClr>
              <a:buSzPts val="1320"/>
              <a:buFont typeface="Noto Sans Symbols"/>
              <a:buChar char="■"/>
              <a:defRPr sz="2400" b="0" i="0" u="none" strike="noStrike" cap="none">
                <a:solidFill>
                  <a:schemeClr val="dk1"/>
                </a:solidFill>
                <a:latin typeface="Arial"/>
                <a:ea typeface="Arial"/>
                <a:cs typeface="Arial"/>
                <a:sym typeface="Arial"/>
              </a:defRPr>
            </a:lvl2pPr>
            <a:lvl3pPr marL="1371600" marR="0" lvl="2" indent="-304800" algn="l" rtl="0">
              <a:spcBef>
                <a:spcPts val="480"/>
              </a:spcBef>
              <a:spcAft>
                <a:spcPts val="0"/>
              </a:spcAft>
              <a:buClr>
                <a:schemeClr val="accent2"/>
              </a:buClr>
              <a:buSzPts val="1200"/>
              <a:buFont typeface="Noto Sans Symbols"/>
              <a:buChar char="■"/>
              <a:defRPr sz="2400" b="0" i="0" u="none" strike="noStrike" cap="none">
                <a:solidFill>
                  <a:schemeClr val="dk1"/>
                </a:solidFill>
                <a:latin typeface="Arial"/>
                <a:ea typeface="Arial"/>
                <a:cs typeface="Arial"/>
                <a:sym typeface="Arial"/>
              </a:defRPr>
            </a:lvl3pPr>
            <a:lvl4pPr marL="1828800" marR="0" lvl="3" indent="-298450" algn="l" rtl="0">
              <a:spcBef>
                <a:spcPts val="400"/>
              </a:spcBef>
              <a:spcAft>
                <a:spcPts val="0"/>
              </a:spcAft>
              <a:buClr>
                <a:schemeClr val="folHlink"/>
              </a:buClr>
              <a:buSzPts val="1100"/>
              <a:buFont typeface="Noto Sans Symbols"/>
              <a:buChar char="■"/>
              <a:defRPr sz="2000" b="0" i="0" u="none" strike="noStrike" cap="none">
                <a:solidFill>
                  <a:schemeClr val="dk1"/>
                </a:solidFill>
                <a:latin typeface="Arial"/>
                <a:ea typeface="Arial"/>
                <a:cs typeface="Arial"/>
                <a:sym typeface="Arial"/>
              </a:defRPr>
            </a:lvl4pPr>
            <a:lvl5pPr marL="2286000" marR="0" lvl="4" indent="-292100" algn="l" rtl="0">
              <a:spcBef>
                <a:spcPts val="400"/>
              </a:spcBef>
              <a:spcAft>
                <a:spcPts val="0"/>
              </a:spcAft>
              <a:buClr>
                <a:srgbClr val="FD2B4E"/>
              </a:buClr>
              <a:buSzPts val="1000"/>
              <a:buFont typeface="Noto Sans Symbols"/>
              <a:buChar char="■"/>
              <a:defRPr sz="2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0" name="Google Shape;30;p1"/>
          <p:cNvSpPr txBox="1">
            <a:spLocks noGrp="1"/>
          </p:cNvSpPr>
          <p:nvPr>
            <p:ph type="ftr" idx="11"/>
          </p:nvPr>
        </p:nvSpPr>
        <p:spPr>
          <a:xfrm>
            <a:off x="152400" y="6400800"/>
            <a:ext cx="4648200" cy="304800"/>
          </a:xfrm>
          <a:prstGeom prst="rect">
            <a:avLst/>
          </a:prstGeom>
          <a:noFill/>
          <a:ln>
            <a:noFill/>
          </a:ln>
        </p:spPr>
        <p:txBody>
          <a:bodyPr spcFirstLastPara="1" wrap="square" lIns="85325" tIns="42650" rIns="85325" bIns="42650" anchor="b" anchorCtr="0">
            <a:noAutofit/>
          </a:bodyPr>
          <a:lstStyle>
            <a:lvl1pPr marR="0" lvl="0" algn="l" rtl="0">
              <a:spcBef>
                <a:spcPts val="0"/>
              </a:spcBef>
              <a:spcAft>
                <a:spcPts val="0"/>
              </a:spcAft>
              <a:buSzPts val="1400"/>
              <a:buNone/>
              <a:defRPr sz="1000" b="0" i="0" u="none" strike="noStrike" cap="none">
                <a:solidFill>
                  <a:schemeClr val="dk1"/>
                </a:solidFill>
                <a:latin typeface="Tahoma"/>
                <a:ea typeface="Tahoma"/>
                <a:cs typeface="Tahoma"/>
                <a:sym typeface="Tahoma"/>
              </a:defRPr>
            </a:lvl1pPr>
            <a:lvl2pPr marR="0" lvl="1" algn="l" rtl="0">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
        <p:nvSpPr>
          <p:cNvPr id="31" name="Google Shape;31;p1"/>
          <p:cNvSpPr txBox="1">
            <a:spLocks noGrp="1"/>
          </p:cNvSpPr>
          <p:nvPr>
            <p:ph type="sldNum" idx="12"/>
          </p:nvPr>
        </p:nvSpPr>
        <p:spPr>
          <a:xfrm>
            <a:off x="7086600" y="6400800"/>
            <a:ext cx="1905000" cy="309563"/>
          </a:xfrm>
          <a:prstGeom prst="rect">
            <a:avLst/>
          </a:prstGeom>
          <a:noFill/>
          <a:ln>
            <a:noFill/>
          </a:ln>
        </p:spPr>
        <p:txBody>
          <a:bodyPr spcFirstLastPara="1" wrap="square" lIns="85325" tIns="42650" rIns="85325" bIns="42650" anchor="b" anchorCtr="0">
            <a:noAutofit/>
          </a:bodyPr>
          <a:lstStyle>
            <a:lvl1pPr marL="0" marR="0" lvl="0" indent="0" algn="r" rtl="0">
              <a:spcBef>
                <a:spcPts val="0"/>
              </a:spcBef>
              <a:spcAft>
                <a:spcPts val="0"/>
              </a:spcAft>
              <a:buNone/>
              <a:defRPr sz="1000" b="0" i="0" u="none" strike="noStrike" cap="none">
                <a:solidFill>
                  <a:schemeClr val="dk1"/>
                </a:solidFill>
                <a:latin typeface="Tahoma"/>
                <a:ea typeface="Tahoma"/>
                <a:cs typeface="Tahoma"/>
                <a:sym typeface="Tahoma"/>
              </a:defRPr>
            </a:lvl1pPr>
            <a:lvl2pPr marL="0" marR="0" lvl="1" indent="0" algn="r" rtl="0">
              <a:spcBef>
                <a:spcPts val="0"/>
              </a:spcBef>
              <a:spcAft>
                <a:spcPts val="0"/>
              </a:spcAft>
              <a:buNone/>
              <a:defRPr sz="1000" b="0" i="0" u="none" strike="noStrike" cap="none">
                <a:solidFill>
                  <a:schemeClr val="dk1"/>
                </a:solidFill>
                <a:latin typeface="Tahoma"/>
                <a:ea typeface="Tahoma"/>
                <a:cs typeface="Tahoma"/>
                <a:sym typeface="Tahoma"/>
              </a:defRPr>
            </a:lvl2pPr>
            <a:lvl3pPr marL="0" marR="0" lvl="2" indent="0" algn="r" rtl="0">
              <a:spcBef>
                <a:spcPts val="0"/>
              </a:spcBef>
              <a:spcAft>
                <a:spcPts val="0"/>
              </a:spcAft>
              <a:buNone/>
              <a:defRPr sz="1000" b="0" i="0" u="none" strike="noStrike" cap="none">
                <a:solidFill>
                  <a:schemeClr val="dk1"/>
                </a:solidFill>
                <a:latin typeface="Tahoma"/>
                <a:ea typeface="Tahoma"/>
                <a:cs typeface="Tahoma"/>
                <a:sym typeface="Tahoma"/>
              </a:defRPr>
            </a:lvl3pPr>
            <a:lvl4pPr marL="0" marR="0" lvl="3" indent="0" algn="r" rtl="0">
              <a:spcBef>
                <a:spcPts val="0"/>
              </a:spcBef>
              <a:spcAft>
                <a:spcPts val="0"/>
              </a:spcAft>
              <a:buNone/>
              <a:defRPr sz="1000" b="0" i="0" u="none" strike="noStrike" cap="none">
                <a:solidFill>
                  <a:schemeClr val="dk1"/>
                </a:solidFill>
                <a:latin typeface="Tahoma"/>
                <a:ea typeface="Tahoma"/>
                <a:cs typeface="Tahoma"/>
                <a:sym typeface="Tahoma"/>
              </a:defRPr>
            </a:lvl4pPr>
            <a:lvl5pPr marL="0" marR="0" lvl="4" indent="0" algn="r" rtl="0">
              <a:spcBef>
                <a:spcPts val="0"/>
              </a:spcBef>
              <a:spcAft>
                <a:spcPts val="0"/>
              </a:spcAft>
              <a:buNone/>
              <a:defRPr sz="1000" b="0" i="0" u="none" strike="noStrike" cap="none">
                <a:solidFill>
                  <a:schemeClr val="dk1"/>
                </a:solidFill>
                <a:latin typeface="Tahoma"/>
                <a:ea typeface="Tahoma"/>
                <a:cs typeface="Tahoma"/>
                <a:sym typeface="Tahoma"/>
              </a:defRPr>
            </a:lvl5pPr>
            <a:lvl6pPr marL="0" marR="0" lvl="5" indent="0" algn="r" rtl="0">
              <a:spcBef>
                <a:spcPts val="0"/>
              </a:spcBef>
              <a:spcAft>
                <a:spcPts val="0"/>
              </a:spcAft>
              <a:buNone/>
              <a:defRPr sz="1000" b="0" i="0" u="none" strike="noStrike" cap="none">
                <a:solidFill>
                  <a:schemeClr val="dk1"/>
                </a:solidFill>
                <a:latin typeface="Tahoma"/>
                <a:ea typeface="Tahoma"/>
                <a:cs typeface="Tahoma"/>
                <a:sym typeface="Tahoma"/>
              </a:defRPr>
            </a:lvl6pPr>
            <a:lvl7pPr marL="0" marR="0" lvl="6" indent="0" algn="r" rtl="0">
              <a:spcBef>
                <a:spcPts val="0"/>
              </a:spcBef>
              <a:spcAft>
                <a:spcPts val="0"/>
              </a:spcAft>
              <a:buNone/>
              <a:defRPr sz="1000" b="0" i="0" u="none" strike="noStrike" cap="none">
                <a:solidFill>
                  <a:schemeClr val="dk1"/>
                </a:solidFill>
                <a:latin typeface="Tahoma"/>
                <a:ea typeface="Tahoma"/>
                <a:cs typeface="Tahoma"/>
                <a:sym typeface="Tahoma"/>
              </a:defRPr>
            </a:lvl7pPr>
            <a:lvl8pPr marL="0" marR="0" lvl="7" indent="0" algn="r" rtl="0">
              <a:spcBef>
                <a:spcPts val="0"/>
              </a:spcBef>
              <a:spcAft>
                <a:spcPts val="0"/>
              </a:spcAft>
              <a:buNone/>
              <a:defRPr sz="1000" b="0" i="0" u="none" strike="noStrike" cap="none">
                <a:solidFill>
                  <a:schemeClr val="dk1"/>
                </a:solidFill>
                <a:latin typeface="Tahoma"/>
                <a:ea typeface="Tahoma"/>
                <a:cs typeface="Tahoma"/>
                <a:sym typeface="Tahoma"/>
              </a:defRPr>
            </a:lvl8pPr>
            <a:lvl9pPr marL="0" marR="0" lvl="8" indent="0" algn="r" rtl="0">
              <a:spcBef>
                <a:spcPts val="0"/>
              </a:spcBef>
              <a:spcAft>
                <a:spcPts val="0"/>
              </a:spcAft>
              <a:buNone/>
              <a:defRPr sz="1000" b="0" i="0" u="none" strike="noStrike" cap="none">
                <a:solidFill>
                  <a:schemeClr val="dk1"/>
                </a:solidFill>
                <a:latin typeface="Tahoma"/>
                <a:ea typeface="Tahoma"/>
                <a:cs typeface="Tahoma"/>
                <a:sym typeface="Tahoma"/>
              </a:defRPr>
            </a:lvl9pPr>
          </a:lstStyle>
          <a:p>
            <a:pPr marL="0" lvl="0" indent="0" algn="r" rtl="0">
              <a:spcBef>
                <a:spcPts val="0"/>
              </a:spcBef>
              <a:spcAft>
                <a:spcPts val="0"/>
              </a:spcAft>
              <a:buNone/>
            </a:pPr>
            <a:r>
              <a:rPr lang="en-US"/>
              <a:t>Chap 5-</a:t>
            </a:r>
            <a:fld id="{00000000-1234-1234-1234-123412341234}" type="slidenum">
              <a:rPr lang="en-US"/>
              <a:pPr marL="0" lvl="0" indent="0" algn="r" rtl="0">
                <a:spcBef>
                  <a:spcPts val="0"/>
                </a:spcBef>
                <a:spcAft>
                  <a:spcPts val="0"/>
                </a:spcAft>
                <a:buNone/>
              </a:pPr>
              <a:t>‹#›</a:t>
            </a:fld>
            <a:endParaRPr/>
          </a:p>
        </p:txBody>
      </p:sp>
      <p:pic>
        <p:nvPicPr>
          <p:cNvPr id="32" name="Google Shape;32;p1"/>
          <p:cNvPicPr preferRelativeResize="0"/>
          <p:nvPr/>
        </p:nvPicPr>
        <p:blipFill rotWithShape="1">
          <a:blip r:embed="rId17">
            <a:alphaModFix/>
          </a:blip>
          <a:srcRect/>
          <a:stretch/>
        </p:blipFill>
        <p:spPr>
          <a:xfrm>
            <a:off x="152400" y="609600"/>
            <a:ext cx="8839200" cy="11969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hyperlink" Target="https://www.britannica.com/science/mean" TargetMode="External"/><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hyperlink" Target="https://www.britannica.com/topic/variance"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35.jpeg"/></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4.xml"/><Relationship Id="rId5" Type="http://schemas.openxmlformats.org/officeDocument/2006/relationships/image" Target="../media/image38.png"/><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3.xml"/><Relationship Id="rId5" Type="http://schemas.openxmlformats.org/officeDocument/2006/relationships/image" Target="../media/image41.png"/><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3.xml"/><Relationship Id="rId1" Type="http://schemas.openxmlformats.org/officeDocument/2006/relationships/slideLayout" Target="../slideLayouts/slideLayout3.xml"/><Relationship Id="rId5" Type="http://schemas.openxmlformats.org/officeDocument/2006/relationships/image" Target="../media/image48.png"/><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7"/>
          <p:cNvSpPr txBox="1">
            <a:spLocks noGrp="1"/>
          </p:cNvSpPr>
          <p:nvPr>
            <p:ph type="ctrTitle"/>
          </p:nvPr>
        </p:nvSpPr>
        <p:spPr>
          <a:xfrm>
            <a:off x="914400" y="2971800"/>
            <a:ext cx="7772400" cy="17526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Clr>
                <a:schemeClr val="folHlink"/>
              </a:buClr>
              <a:buSzPts val="2160"/>
              <a:buFont typeface="Noto Sans Symbols"/>
              <a:buNone/>
            </a:pPr>
            <a:r>
              <a:rPr lang="en-US" sz="3600">
                <a:solidFill>
                  <a:schemeClr val="dk1"/>
                </a:solidFill>
              </a:rPr>
              <a:t>Discrete and Continuous </a:t>
            </a:r>
            <a:br>
              <a:rPr lang="en-US" sz="3600">
                <a:solidFill>
                  <a:schemeClr val="dk1"/>
                </a:solidFill>
              </a:rPr>
            </a:br>
            <a:r>
              <a:rPr lang="en-US" sz="3600">
                <a:solidFill>
                  <a:schemeClr val="dk1"/>
                </a:solidFill>
              </a:rPr>
              <a:t>Probability Distributions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8"/>
          <p:cNvSpPr txBox="1">
            <a:spLocks noGrp="1"/>
          </p:cNvSpPr>
          <p:nvPr>
            <p:ph type="title"/>
          </p:nvPr>
        </p:nvSpPr>
        <p:spPr>
          <a:xfrm>
            <a:off x="0" y="76200"/>
            <a:ext cx="9144000" cy="9906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Random Variables</a:t>
            </a:r>
            <a:endParaRPr/>
          </a:p>
        </p:txBody>
      </p:sp>
      <p:sp>
        <p:nvSpPr>
          <p:cNvPr id="124" name="Google Shape;124;p18"/>
          <p:cNvSpPr/>
          <p:nvPr/>
        </p:nvSpPr>
        <p:spPr>
          <a:xfrm>
            <a:off x="206375" y="1420813"/>
            <a:ext cx="8642350" cy="8255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A </a:t>
            </a:r>
            <a:r>
              <a:rPr lang="en-US" sz="2400" b="1" i="0" u="none" strike="noStrike" cap="none">
                <a:solidFill>
                  <a:srgbClr val="000099"/>
                </a:solidFill>
                <a:latin typeface="Arial"/>
                <a:ea typeface="Arial"/>
                <a:cs typeface="Arial"/>
                <a:sym typeface="Arial"/>
              </a:rPr>
              <a:t>random variable </a:t>
            </a:r>
            <a:r>
              <a:rPr lang="en-US" sz="2400" b="1" i="1" u="none" strike="noStrike" cap="none">
                <a:solidFill>
                  <a:srgbClr val="000099"/>
                </a:solidFill>
                <a:latin typeface="Arial"/>
                <a:ea typeface="Arial"/>
                <a:cs typeface="Arial"/>
                <a:sym typeface="Arial"/>
              </a:rPr>
              <a:t>x</a:t>
            </a:r>
            <a:r>
              <a:rPr lang="en-US" sz="2400" b="1" i="0" u="none" strike="noStrike" cap="none">
                <a:solidFill>
                  <a:srgbClr val="000099"/>
                </a:solidFill>
                <a:latin typeface="Arial"/>
                <a:ea typeface="Arial"/>
                <a:cs typeface="Arial"/>
                <a:sym typeface="Arial"/>
              </a:rPr>
              <a:t> </a:t>
            </a:r>
            <a:r>
              <a:rPr lang="en-US" sz="2400" b="0" i="0" u="none" strike="noStrike" cap="none">
                <a:solidFill>
                  <a:schemeClr val="dk1"/>
                </a:solidFill>
                <a:latin typeface="Arial"/>
                <a:ea typeface="Arial"/>
                <a:cs typeface="Arial"/>
                <a:sym typeface="Arial"/>
              </a:rPr>
              <a:t>represents a numerical value associated with each outcome of a probability distribution.</a:t>
            </a:r>
            <a:endParaRPr/>
          </a:p>
        </p:txBody>
      </p:sp>
      <p:sp>
        <p:nvSpPr>
          <p:cNvPr id="125" name="Google Shape;125;p18"/>
          <p:cNvSpPr/>
          <p:nvPr/>
        </p:nvSpPr>
        <p:spPr>
          <a:xfrm>
            <a:off x="228600" y="2222500"/>
            <a:ext cx="8642350" cy="8255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A random variable is </a:t>
            </a:r>
            <a:r>
              <a:rPr lang="en-US" sz="2400" b="1" i="0" u="none" strike="noStrike" cap="none">
                <a:solidFill>
                  <a:srgbClr val="000099"/>
                </a:solidFill>
                <a:latin typeface="Arial"/>
                <a:ea typeface="Arial"/>
                <a:cs typeface="Arial"/>
                <a:sym typeface="Arial"/>
              </a:rPr>
              <a:t>discrete</a:t>
            </a:r>
            <a:r>
              <a:rPr lang="en-US" sz="2400" b="0" i="0" u="none" strike="noStrike" cap="none">
                <a:solidFill>
                  <a:schemeClr val="dk1"/>
                </a:solidFill>
                <a:latin typeface="Arial"/>
                <a:ea typeface="Arial"/>
                <a:cs typeface="Arial"/>
                <a:sym typeface="Arial"/>
              </a:rPr>
              <a:t> if it has a finite or countable number of possible outcomes that can be listed.</a:t>
            </a:r>
            <a:endParaRPr/>
          </a:p>
        </p:txBody>
      </p:sp>
      <p:grpSp>
        <p:nvGrpSpPr>
          <p:cNvPr id="126" name="Google Shape;126;p18"/>
          <p:cNvGrpSpPr/>
          <p:nvPr/>
        </p:nvGrpSpPr>
        <p:grpSpPr>
          <a:xfrm>
            <a:off x="2133600" y="3124200"/>
            <a:ext cx="4114800" cy="842963"/>
            <a:chOff x="1344" y="2182"/>
            <a:chExt cx="2592" cy="531"/>
          </a:xfrm>
        </p:grpSpPr>
        <p:cxnSp>
          <p:nvCxnSpPr>
            <p:cNvPr id="127" name="Google Shape;127;p18"/>
            <p:cNvCxnSpPr/>
            <p:nvPr/>
          </p:nvCxnSpPr>
          <p:spPr>
            <a:xfrm>
              <a:off x="1344" y="2360"/>
              <a:ext cx="2283" cy="0"/>
            </a:xfrm>
            <a:prstGeom prst="straightConnector1">
              <a:avLst/>
            </a:prstGeom>
            <a:noFill/>
            <a:ln w="28575" cap="flat" cmpd="sng">
              <a:solidFill>
                <a:schemeClr val="dk1"/>
              </a:solidFill>
              <a:prstDash val="solid"/>
              <a:round/>
              <a:headEnd type="triangle" w="med" len="med"/>
              <a:tailEnd type="triangle" w="med" len="med"/>
            </a:ln>
          </p:spPr>
        </p:cxnSp>
        <p:cxnSp>
          <p:nvCxnSpPr>
            <p:cNvPr id="128" name="Google Shape;128;p18"/>
            <p:cNvCxnSpPr/>
            <p:nvPr/>
          </p:nvCxnSpPr>
          <p:spPr>
            <a:xfrm>
              <a:off x="2678" y="2264"/>
              <a:ext cx="0" cy="192"/>
            </a:xfrm>
            <a:prstGeom prst="straightConnector1">
              <a:avLst/>
            </a:prstGeom>
            <a:noFill/>
            <a:ln w="28575" cap="flat" cmpd="sng">
              <a:solidFill>
                <a:schemeClr val="dk1"/>
              </a:solidFill>
              <a:prstDash val="solid"/>
              <a:round/>
              <a:headEnd type="none" w="med" len="med"/>
              <a:tailEnd type="none" w="med" len="med"/>
            </a:ln>
          </p:spPr>
        </p:cxnSp>
        <p:sp>
          <p:nvSpPr>
            <p:cNvPr id="129" name="Google Shape;129;p18"/>
            <p:cNvSpPr txBox="1"/>
            <p:nvPr/>
          </p:nvSpPr>
          <p:spPr>
            <a:xfrm>
              <a:off x="3648" y="2182"/>
              <a:ext cx="288" cy="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0" i="1" u="none" strike="noStrike" cap="none">
                  <a:solidFill>
                    <a:schemeClr val="dk1"/>
                  </a:solidFill>
                  <a:latin typeface="Arial"/>
                  <a:ea typeface="Arial"/>
                  <a:cs typeface="Arial"/>
                  <a:sym typeface="Arial"/>
                </a:rPr>
                <a:t>x</a:t>
              </a:r>
              <a:endParaRPr/>
            </a:p>
          </p:txBody>
        </p:sp>
        <p:cxnSp>
          <p:nvCxnSpPr>
            <p:cNvPr id="130" name="Google Shape;130;p18"/>
            <p:cNvCxnSpPr/>
            <p:nvPr/>
          </p:nvCxnSpPr>
          <p:spPr>
            <a:xfrm>
              <a:off x="1948" y="2264"/>
              <a:ext cx="0" cy="192"/>
            </a:xfrm>
            <a:prstGeom prst="straightConnector1">
              <a:avLst/>
            </a:prstGeom>
            <a:noFill/>
            <a:ln w="28575" cap="flat" cmpd="sng">
              <a:solidFill>
                <a:schemeClr val="dk1"/>
              </a:solidFill>
              <a:prstDash val="solid"/>
              <a:round/>
              <a:headEnd type="none" w="med" len="med"/>
              <a:tailEnd type="none" w="med" len="med"/>
            </a:ln>
          </p:spPr>
        </p:cxnSp>
        <p:cxnSp>
          <p:nvCxnSpPr>
            <p:cNvPr id="131" name="Google Shape;131;p18"/>
            <p:cNvCxnSpPr/>
            <p:nvPr/>
          </p:nvCxnSpPr>
          <p:spPr>
            <a:xfrm>
              <a:off x="1584" y="2264"/>
              <a:ext cx="0" cy="192"/>
            </a:xfrm>
            <a:prstGeom prst="straightConnector1">
              <a:avLst/>
            </a:prstGeom>
            <a:noFill/>
            <a:ln w="28575" cap="flat" cmpd="sng">
              <a:solidFill>
                <a:schemeClr val="dk1"/>
              </a:solidFill>
              <a:prstDash val="solid"/>
              <a:round/>
              <a:headEnd type="none" w="med" len="med"/>
              <a:tailEnd type="none" w="med" len="med"/>
            </a:ln>
          </p:spPr>
        </p:cxnSp>
        <p:cxnSp>
          <p:nvCxnSpPr>
            <p:cNvPr id="132" name="Google Shape;132;p18"/>
            <p:cNvCxnSpPr/>
            <p:nvPr/>
          </p:nvCxnSpPr>
          <p:spPr>
            <a:xfrm>
              <a:off x="3043" y="2264"/>
              <a:ext cx="0" cy="192"/>
            </a:xfrm>
            <a:prstGeom prst="straightConnector1">
              <a:avLst/>
            </a:prstGeom>
            <a:noFill/>
            <a:ln w="28575" cap="flat" cmpd="sng">
              <a:solidFill>
                <a:schemeClr val="dk1"/>
              </a:solidFill>
              <a:prstDash val="solid"/>
              <a:round/>
              <a:headEnd type="none" w="med" len="med"/>
              <a:tailEnd type="none" w="med" len="med"/>
            </a:ln>
          </p:spPr>
        </p:cxnSp>
        <p:cxnSp>
          <p:nvCxnSpPr>
            <p:cNvPr id="133" name="Google Shape;133;p18"/>
            <p:cNvCxnSpPr/>
            <p:nvPr/>
          </p:nvCxnSpPr>
          <p:spPr>
            <a:xfrm>
              <a:off x="3408" y="2264"/>
              <a:ext cx="0" cy="192"/>
            </a:xfrm>
            <a:prstGeom prst="straightConnector1">
              <a:avLst/>
            </a:prstGeom>
            <a:noFill/>
            <a:ln w="28575" cap="flat" cmpd="sng">
              <a:solidFill>
                <a:schemeClr val="dk1"/>
              </a:solidFill>
              <a:prstDash val="solid"/>
              <a:round/>
              <a:headEnd type="none" w="med" len="med"/>
              <a:tailEnd type="none" w="med" len="med"/>
            </a:ln>
          </p:spPr>
        </p:cxnSp>
        <p:sp>
          <p:nvSpPr>
            <p:cNvPr id="134" name="Google Shape;134;p18"/>
            <p:cNvSpPr txBox="1"/>
            <p:nvPr/>
          </p:nvSpPr>
          <p:spPr>
            <a:xfrm>
              <a:off x="1810" y="2463"/>
              <a:ext cx="293" cy="2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2</a:t>
              </a:r>
              <a:endParaRPr/>
            </a:p>
          </p:txBody>
        </p:sp>
        <p:sp>
          <p:nvSpPr>
            <p:cNvPr id="135" name="Google Shape;135;p18"/>
            <p:cNvSpPr txBox="1"/>
            <p:nvPr/>
          </p:nvSpPr>
          <p:spPr>
            <a:xfrm>
              <a:off x="3211" y="2463"/>
              <a:ext cx="398" cy="2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10</a:t>
              </a:r>
              <a:endParaRPr/>
            </a:p>
          </p:txBody>
        </p:sp>
        <p:cxnSp>
          <p:nvCxnSpPr>
            <p:cNvPr id="136" name="Google Shape;136;p18"/>
            <p:cNvCxnSpPr/>
            <p:nvPr/>
          </p:nvCxnSpPr>
          <p:spPr>
            <a:xfrm>
              <a:off x="2313" y="2256"/>
              <a:ext cx="0" cy="192"/>
            </a:xfrm>
            <a:prstGeom prst="straightConnector1">
              <a:avLst/>
            </a:prstGeom>
            <a:noFill/>
            <a:ln w="28575" cap="flat" cmpd="sng">
              <a:solidFill>
                <a:schemeClr val="dk1"/>
              </a:solidFill>
              <a:prstDash val="solid"/>
              <a:round/>
              <a:headEnd type="none" w="med" len="med"/>
              <a:tailEnd type="none" w="med" len="med"/>
            </a:ln>
          </p:spPr>
        </p:cxnSp>
        <p:sp>
          <p:nvSpPr>
            <p:cNvPr id="137" name="Google Shape;137;p18"/>
            <p:cNvSpPr txBox="1"/>
            <p:nvPr/>
          </p:nvSpPr>
          <p:spPr>
            <a:xfrm>
              <a:off x="2537" y="2463"/>
              <a:ext cx="293" cy="2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6</a:t>
              </a:r>
              <a:endParaRPr/>
            </a:p>
          </p:txBody>
        </p:sp>
        <p:sp>
          <p:nvSpPr>
            <p:cNvPr id="138" name="Google Shape;138;p18"/>
            <p:cNvSpPr txBox="1"/>
            <p:nvPr/>
          </p:nvSpPr>
          <p:spPr>
            <a:xfrm>
              <a:off x="1438" y="2463"/>
              <a:ext cx="293" cy="2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0</a:t>
              </a:r>
              <a:endParaRPr/>
            </a:p>
          </p:txBody>
        </p:sp>
        <p:sp>
          <p:nvSpPr>
            <p:cNvPr id="139" name="Google Shape;139;p18"/>
            <p:cNvSpPr txBox="1"/>
            <p:nvPr/>
          </p:nvSpPr>
          <p:spPr>
            <a:xfrm>
              <a:off x="2165" y="2463"/>
              <a:ext cx="293" cy="2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4</a:t>
              </a:r>
              <a:endParaRPr/>
            </a:p>
          </p:txBody>
        </p:sp>
        <p:sp>
          <p:nvSpPr>
            <p:cNvPr id="140" name="Google Shape;140;p18"/>
            <p:cNvSpPr txBox="1"/>
            <p:nvPr/>
          </p:nvSpPr>
          <p:spPr>
            <a:xfrm>
              <a:off x="2901" y="2463"/>
              <a:ext cx="293" cy="2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8</a:t>
              </a:r>
              <a:endParaRPr/>
            </a:p>
          </p:txBody>
        </p:sp>
      </p:grpSp>
      <p:sp>
        <p:nvSpPr>
          <p:cNvPr id="141" name="Google Shape;141;p18"/>
          <p:cNvSpPr/>
          <p:nvPr/>
        </p:nvSpPr>
        <p:spPr>
          <a:xfrm>
            <a:off x="3048000" y="3365500"/>
            <a:ext cx="92075" cy="92075"/>
          </a:xfrm>
          <a:prstGeom prst="ellipse">
            <a:avLst/>
          </a:prstGeom>
          <a:solidFill>
            <a:schemeClr val="hlink"/>
          </a:solidFill>
          <a:ln w="9525" cap="flat" cmpd="sng">
            <a:solidFill>
              <a:schemeClr va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Arial"/>
              <a:ea typeface="Arial"/>
              <a:cs typeface="Arial"/>
              <a:sym typeface="Arial"/>
            </a:endParaRPr>
          </a:p>
        </p:txBody>
      </p:sp>
      <p:sp>
        <p:nvSpPr>
          <p:cNvPr id="142" name="Google Shape;142;p18"/>
          <p:cNvSpPr/>
          <p:nvPr/>
        </p:nvSpPr>
        <p:spPr>
          <a:xfrm>
            <a:off x="3627438" y="3365500"/>
            <a:ext cx="92075" cy="92075"/>
          </a:xfrm>
          <a:prstGeom prst="ellipse">
            <a:avLst/>
          </a:prstGeom>
          <a:solidFill>
            <a:schemeClr val="hlink"/>
          </a:solidFill>
          <a:ln w="9525" cap="flat" cmpd="sng">
            <a:solidFill>
              <a:schemeClr va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Arial"/>
              <a:ea typeface="Arial"/>
              <a:cs typeface="Arial"/>
              <a:sym typeface="Arial"/>
            </a:endParaRPr>
          </a:p>
        </p:txBody>
      </p:sp>
      <p:sp>
        <p:nvSpPr>
          <p:cNvPr id="143" name="Google Shape;143;p18"/>
          <p:cNvSpPr/>
          <p:nvPr/>
        </p:nvSpPr>
        <p:spPr>
          <a:xfrm>
            <a:off x="4198938" y="3365500"/>
            <a:ext cx="92075" cy="92075"/>
          </a:xfrm>
          <a:prstGeom prst="ellipse">
            <a:avLst/>
          </a:prstGeom>
          <a:solidFill>
            <a:schemeClr val="hlink"/>
          </a:solidFill>
          <a:ln w="9525" cap="flat" cmpd="sng">
            <a:solidFill>
              <a:schemeClr va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Arial"/>
              <a:ea typeface="Arial"/>
              <a:cs typeface="Arial"/>
              <a:sym typeface="Arial"/>
            </a:endParaRPr>
          </a:p>
        </p:txBody>
      </p:sp>
      <p:sp>
        <p:nvSpPr>
          <p:cNvPr id="144" name="Google Shape;144;p18"/>
          <p:cNvSpPr/>
          <p:nvPr/>
        </p:nvSpPr>
        <p:spPr>
          <a:xfrm>
            <a:off x="4784725" y="3365500"/>
            <a:ext cx="92075" cy="92075"/>
          </a:xfrm>
          <a:prstGeom prst="ellipse">
            <a:avLst/>
          </a:prstGeom>
          <a:solidFill>
            <a:schemeClr val="hlink"/>
          </a:solidFill>
          <a:ln w="9525" cap="flat" cmpd="sng">
            <a:solidFill>
              <a:schemeClr va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Arial"/>
              <a:ea typeface="Arial"/>
              <a:cs typeface="Arial"/>
              <a:sym typeface="Arial"/>
            </a:endParaRPr>
          </a:p>
        </p:txBody>
      </p:sp>
      <p:sp>
        <p:nvSpPr>
          <p:cNvPr id="145" name="Google Shape;145;p18"/>
          <p:cNvSpPr/>
          <p:nvPr/>
        </p:nvSpPr>
        <p:spPr>
          <a:xfrm>
            <a:off x="228600" y="4191000"/>
            <a:ext cx="8642350" cy="8255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A random variable is </a:t>
            </a:r>
            <a:r>
              <a:rPr lang="en-US" sz="2400" b="1" i="0" u="none" strike="noStrike" cap="none">
                <a:solidFill>
                  <a:srgbClr val="000099"/>
                </a:solidFill>
                <a:latin typeface="Arial"/>
                <a:ea typeface="Arial"/>
                <a:cs typeface="Arial"/>
                <a:sym typeface="Arial"/>
              </a:rPr>
              <a:t>continuous</a:t>
            </a:r>
            <a:r>
              <a:rPr lang="en-US" sz="2400" b="0" i="0" u="none" strike="noStrike" cap="none">
                <a:solidFill>
                  <a:schemeClr val="dk1"/>
                </a:solidFill>
                <a:latin typeface="Arial"/>
                <a:ea typeface="Arial"/>
                <a:cs typeface="Arial"/>
                <a:sym typeface="Arial"/>
              </a:rPr>
              <a:t> if it has an uncountable number or possible outcomes, represented by the intervals on a number line.</a:t>
            </a:r>
            <a:endParaRPr/>
          </a:p>
        </p:txBody>
      </p:sp>
      <p:grpSp>
        <p:nvGrpSpPr>
          <p:cNvPr id="146" name="Google Shape;146;p18"/>
          <p:cNvGrpSpPr/>
          <p:nvPr/>
        </p:nvGrpSpPr>
        <p:grpSpPr>
          <a:xfrm>
            <a:off x="2209800" y="5405438"/>
            <a:ext cx="4114800" cy="842962"/>
            <a:chOff x="1344" y="2182"/>
            <a:chExt cx="2592" cy="531"/>
          </a:xfrm>
        </p:grpSpPr>
        <p:cxnSp>
          <p:nvCxnSpPr>
            <p:cNvPr id="147" name="Google Shape;147;p18"/>
            <p:cNvCxnSpPr/>
            <p:nvPr/>
          </p:nvCxnSpPr>
          <p:spPr>
            <a:xfrm>
              <a:off x="1344" y="2360"/>
              <a:ext cx="2283" cy="0"/>
            </a:xfrm>
            <a:prstGeom prst="straightConnector1">
              <a:avLst/>
            </a:prstGeom>
            <a:noFill/>
            <a:ln w="28575" cap="flat" cmpd="sng">
              <a:solidFill>
                <a:schemeClr val="dk1"/>
              </a:solidFill>
              <a:prstDash val="solid"/>
              <a:round/>
              <a:headEnd type="triangle" w="med" len="med"/>
              <a:tailEnd type="triangle" w="med" len="med"/>
            </a:ln>
          </p:spPr>
        </p:cxnSp>
        <p:cxnSp>
          <p:nvCxnSpPr>
            <p:cNvPr id="148" name="Google Shape;148;p18"/>
            <p:cNvCxnSpPr/>
            <p:nvPr/>
          </p:nvCxnSpPr>
          <p:spPr>
            <a:xfrm>
              <a:off x="2678" y="2264"/>
              <a:ext cx="0" cy="192"/>
            </a:xfrm>
            <a:prstGeom prst="straightConnector1">
              <a:avLst/>
            </a:prstGeom>
            <a:noFill/>
            <a:ln w="28575" cap="flat" cmpd="sng">
              <a:solidFill>
                <a:schemeClr val="dk1"/>
              </a:solidFill>
              <a:prstDash val="solid"/>
              <a:round/>
              <a:headEnd type="none" w="med" len="med"/>
              <a:tailEnd type="none" w="med" len="med"/>
            </a:ln>
          </p:spPr>
        </p:cxnSp>
        <p:sp>
          <p:nvSpPr>
            <p:cNvPr id="149" name="Google Shape;149;p18"/>
            <p:cNvSpPr txBox="1"/>
            <p:nvPr/>
          </p:nvSpPr>
          <p:spPr>
            <a:xfrm>
              <a:off x="3648" y="2182"/>
              <a:ext cx="288" cy="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0" i="1" u="none" strike="noStrike" cap="none">
                  <a:solidFill>
                    <a:schemeClr val="dk1"/>
                  </a:solidFill>
                  <a:latin typeface="Arial"/>
                  <a:ea typeface="Arial"/>
                  <a:cs typeface="Arial"/>
                  <a:sym typeface="Arial"/>
                </a:rPr>
                <a:t>x</a:t>
              </a:r>
              <a:endParaRPr/>
            </a:p>
          </p:txBody>
        </p:sp>
        <p:cxnSp>
          <p:nvCxnSpPr>
            <p:cNvPr id="150" name="Google Shape;150;p18"/>
            <p:cNvCxnSpPr/>
            <p:nvPr/>
          </p:nvCxnSpPr>
          <p:spPr>
            <a:xfrm>
              <a:off x="1948" y="2264"/>
              <a:ext cx="0" cy="192"/>
            </a:xfrm>
            <a:prstGeom prst="straightConnector1">
              <a:avLst/>
            </a:prstGeom>
            <a:noFill/>
            <a:ln w="28575" cap="flat" cmpd="sng">
              <a:solidFill>
                <a:schemeClr val="dk1"/>
              </a:solidFill>
              <a:prstDash val="solid"/>
              <a:round/>
              <a:headEnd type="none" w="med" len="med"/>
              <a:tailEnd type="none" w="med" len="med"/>
            </a:ln>
          </p:spPr>
        </p:cxnSp>
        <p:cxnSp>
          <p:nvCxnSpPr>
            <p:cNvPr id="151" name="Google Shape;151;p18"/>
            <p:cNvCxnSpPr/>
            <p:nvPr/>
          </p:nvCxnSpPr>
          <p:spPr>
            <a:xfrm>
              <a:off x="1584" y="2264"/>
              <a:ext cx="0" cy="192"/>
            </a:xfrm>
            <a:prstGeom prst="straightConnector1">
              <a:avLst/>
            </a:prstGeom>
            <a:noFill/>
            <a:ln w="28575" cap="flat" cmpd="sng">
              <a:solidFill>
                <a:schemeClr val="dk1"/>
              </a:solidFill>
              <a:prstDash val="solid"/>
              <a:round/>
              <a:headEnd type="none" w="med" len="med"/>
              <a:tailEnd type="none" w="med" len="med"/>
            </a:ln>
          </p:spPr>
        </p:cxnSp>
        <p:cxnSp>
          <p:nvCxnSpPr>
            <p:cNvPr id="152" name="Google Shape;152;p18"/>
            <p:cNvCxnSpPr/>
            <p:nvPr/>
          </p:nvCxnSpPr>
          <p:spPr>
            <a:xfrm>
              <a:off x="3043" y="2264"/>
              <a:ext cx="0" cy="192"/>
            </a:xfrm>
            <a:prstGeom prst="straightConnector1">
              <a:avLst/>
            </a:prstGeom>
            <a:noFill/>
            <a:ln w="28575" cap="flat" cmpd="sng">
              <a:solidFill>
                <a:schemeClr val="dk1"/>
              </a:solidFill>
              <a:prstDash val="solid"/>
              <a:round/>
              <a:headEnd type="none" w="med" len="med"/>
              <a:tailEnd type="none" w="med" len="med"/>
            </a:ln>
          </p:spPr>
        </p:cxnSp>
        <p:cxnSp>
          <p:nvCxnSpPr>
            <p:cNvPr id="153" name="Google Shape;153;p18"/>
            <p:cNvCxnSpPr/>
            <p:nvPr/>
          </p:nvCxnSpPr>
          <p:spPr>
            <a:xfrm>
              <a:off x="3408" y="2264"/>
              <a:ext cx="0" cy="192"/>
            </a:xfrm>
            <a:prstGeom prst="straightConnector1">
              <a:avLst/>
            </a:prstGeom>
            <a:noFill/>
            <a:ln w="28575" cap="flat" cmpd="sng">
              <a:solidFill>
                <a:schemeClr val="dk1"/>
              </a:solidFill>
              <a:prstDash val="solid"/>
              <a:round/>
              <a:headEnd type="none" w="med" len="med"/>
              <a:tailEnd type="none" w="med" len="med"/>
            </a:ln>
          </p:spPr>
        </p:cxnSp>
        <p:sp>
          <p:nvSpPr>
            <p:cNvPr id="154" name="Google Shape;154;p18"/>
            <p:cNvSpPr txBox="1"/>
            <p:nvPr/>
          </p:nvSpPr>
          <p:spPr>
            <a:xfrm>
              <a:off x="1810" y="2463"/>
              <a:ext cx="293" cy="2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2</a:t>
              </a:r>
              <a:endParaRPr/>
            </a:p>
          </p:txBody>
        </p:sp>
        <p:sp>
          <p:nvSpPr>
            <p:cNvPr id="155" name="Google Shape;155;p18"/>
            <p:cNvSpPr txBox="1"/>
            <p:nvPr/>
          </p:nvSpPr>
          <p:spPr>
            <a:xfrm>
              <a:off x="3211" y="2463"/>
              <a:ext cx="398" cy="2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10</a:t>
              </a:r>
              <a:endParaRPr/>
            </a:p>
          </p:txBody>
        </p:sp>
        <p:cxnSp>
          <p:nvCxnSpPr>
            <p:cNvPr id="156" name="Google Shape;156;p18"/>
            <p:cNvCxnSpPr/>
            <p:nvPr/>
          </p:nvCxnSpPr>
          <p:spPr>
            <a:xfrm>
              <a:off x="2313" y="2256"/>
              <a:ext cx="0" cy="192"/>
            </a:xfrm>
            <a:prstGeom prst="straightConnector1">
              <a:avLst/>
            </a:prstGeom>
            <a:noFill/>
            <a:ln w="28575" cap="flat" cmpd="sng">
              <a:solidFill>
                <a:schemeClr val="dk1"/>
              </a:solidFill>
              <a:prstDash val="solid"/>
              <a:round/>
              <a:headEnd type="none" w="med" len="med"/>
              <a:tailEnd type="none" w="med" len="med"/>
            </a:ln>
          </p:spPr>
        </p:cxnSp>
        <p:sp>
          <p:nvSpPr>
            <p:cNvPr id="157" name="Google Shape;157;p18"/>
            <p:cNvSpPr txBox="1"/>
            <p:nvPr/>
          </p:nvSpPr>
          <p:spPr>
            <a:xfrm>
              <a:off x="2537" y="2463"/>
              <a:ext cx="293" cy="2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6</a:t>
              </a:r>
              <a:endParaRPr/>
            </a:p>
          </p:txBody>
        </p:sp>
        <p:sp>
          <p:nvSpPr>
            <p:cNvPr id="158" name="Google Shape;158;p18"/>
            <p:cNvSpPr txBox="1"/>
            <p:nvPr/>
          </p:nvSpPr>
          <p:spPr>
            <a:xfrm>
              <a:off x="1438" y="2463"/>
              <a:ext cx="293" cy="2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0</a:t>
              </a:r>
              <a:endParaRPr/>
            </a:p>
          </p:txBody>
        </p:sp>
        <p:sp>
          <p:nvSpPr>
            <p:cNvPr id="159" name="Google Shape;159;p18"/>
            <p:cNvSpPr txBox="1"/>
            <p:nvPr/>
          </p:nvSpPr>
          <p:spPr>
            <a:xfrm>
              <a:off x="2165" y="2463"/>
              <a:ext cx="293" cy="2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4</a:t>
              </a:r>
              <a:endParaRPr/>
            </a:p>
          </p:txBody>
        </p:sp>
        <p:sp>
          <p:nvSpPr>
            <p:cNvPr id="160" name="Google Shape;160;p18"/>
            <p:cNvSpPr txBox="1"/>
            <p:nvPr/>
          </p:nvSpPr>
          <p:spPr>
            <a:xfrm>
              <a:off x="2901" y="2463"/>
              <a:ext cx="293" cy="2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8</a:t>
              </a:r>
              <a:endParaRPr/>
            </a:p>
          </p:txBody>
        </p:sp>
      </p:grpSp>
      <p:cxnSp>
        <p:nvCxnSpPr>
          <p:cNvPr id="161" name="Google Shape;161;p18"/>
          <p:cNvCxnSpPr/>
          <p:nvPr/>
        </p:nvCxnSpPr>
        <p:spPr>
          <a:xfrm>
            <a:off x="2200275" y="5681663"/>
            <a:ext cx="3657600" cy="0"/>
          </a:xfrm>
          <a:prstGeom prst="straightConnector1">
            <a:avLst/>
          </a:prstGeom>
          <a:noFill/>
          <a:ln w="38100" cap="flat" cmpd="sng">
            <a:solidFill>
              <a:schemeClr val="hlink"/>
            </a:solidFill>
            <a:prstDash val="solid"/>
            <a:round/>
            <a:headEnd type="triangl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1000"/>
                                        <p:tgtEl>
                                          <p:spTgt spid="12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26"/>
                                        </p:tgtEl>
                                        <p:attrNameLst>
                                          <p:attrName>style.visibility</p:attrName>
                                        </p:attrNameLst>
                                      </p:cBhvr>
                                      <p:to>
                                        <p:strVal val="visible"/>
                                      </p:to>
                                    </p:set>
                                  </p:childTnLst>
                                </p:cTn>
                              </p:par>
                              <p:par>
                                <p:cTn id="12" presetID="1" presetClass="entr" presetSubtype="0" fill="hold" nodeType="withEffect">
                                  <p:stCondLst>
                                    <p:cond delay="500"/>
                                  </p:stCondLst>
                                  <p:childTnLst>
                                    <p:set>
                                      <p:cBhvr>
                                        <p:cTn id="13" dur="1" fill="hold">
                                          <p:stCondLst>
                                            <p:cond delay="0"/>
                                          </p:stCondLst>
                                        </p:cTn>
                                        <p:tgtEl>
                                          <p:spTgt spid="141"/>
                                        </p:tgtEl>
                                        <p:attrNameLst>
                                          <p:attrName>style.visibility</p:attrName>
                                        </p:attrNameLst>
                                      </p:cBhvr>
                                      <p:to>
                                        <p:strVal val="visible"/>
                                      </p:to>
                                    </p:set>
                                  </p:childTnLst>
                                </p:cTn>
                              </p:par>
                            </p:childTnLst>
                          </p:cTn>
                        </p:par>
                        <p:par>
                          <p:cTn id="14" fill="hold">
                            <p:stCondLst>
                              <p:cond delay="1"/>
                            </p:stCondLst>
                            <p:childTnLst>
                              <p:par>
                                <p:cTn id="15" presetID="1" presetClass="entr" presetSubtype="0" fill="hold" nodeType="afterEffect">
                                  <p:stCondLst>
                                    <p:cond delay="500"/>
                                  </p:stCondLst>
                                  <p:childTnLst>
                                    <p:set>
                                      <p:cBhvr>
                                        <p:cTn id="16" dur="1" fill="hold">
                                          <p:stCondLst>
                                            <p:cond delay="0"/>
                                          </p:stCondLst>
                                        </p:cTn>
                                        <p:tgtEl>
                                          <p:spTgt spid="142"/>
                                        </p:tgtEl>
                                        <p:attrNameLst>
                                          <p:attrName>style.visibility</p:attrName>
                                        </p:attrNameLst>
                                      </p:cBhvr>
                                      <p:to>
                                        <p:strVal val="visible"/>
                                      </p:to>
                                    </p:set>
                                  </p:childTnLst>
                                </p:cTn>
                              </p:par>
                            </p:childTnLst>
                          </p:cTn>
                        </p:par>
                        <p:par>
                          <p:cTn id="17" fill="hold">
                            <p:stCondLst>
                              <p:cond delay="2"/>
                            </p:stCondLst>
                            <p:childTnLst>
                              <p:par>
                                <p:cTn id="18" presetID="1" presetClass="entr" presetSubtype="0" fill="hold" nodeType="afterEffect">
                                  <p:stCondLst>
                                    <p:cond delay="500"/>
                                  </p:stCondLst>
                                  <p:childTnLst>
                                    <p:set>
                                      <p:cBhvr>
                                        <p:cTn id="19" dur="1" fill="hold">
                                          <p:stCondLst>
                                            <p:cond delay="0"/>
                                          </p:stCondLst>
                                        </p:cTn>
                                        <p:tgtEl>
                                          <p:spTgt spid="143"/>
                                        </p:tgtEl>
                                        <p:attrNameLst>
                                          <p:attrName>style.visibility</p:attrName>
                                        </p:attrNameLst>
                                      </p:cBhvr>
                                      <p:to>
                                        <p:strVal val="visible"/>
                                      </p:to>
                                    </p:set>
                                  </p:childTnLst>
                                </p:cTn>
                              </p:par>
                            </p:childTnLst>
                          </p:cTn>
                        </p:par>
                        <p:par>
                          <p:cTn id="20" fill="hold">
                            <p:stCondLst>
                              <p:cond delay="3"/>
                            </p:stCondLst>
                            <p:childTnLst>
                              <p:par>
                                <p:cTn id="21" presetID="1" presetClass="entr" presetSubtype="0" fill="hold" nodeType="afterEffect">
                                  <p:stCondLst>
                                    <p:cond delay="500"/>
                                  </p:stCondLst>
                                  <p:childTnLst>
                                    <p:set>
                                      <p:cBhvr>
                                        <p:cTn id="22" dur="1" fill="hold">
                                          <p:stCondLst>
                                            <p:cond delay="0"/>
                                          </p:stCondLst>
                                        </p:cTn>
                                        <p:tgtEl>
                                          <p:spTgt spid="1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5"/>
                                        </p:tgtEl>
                                        <p:attrNameLst>
                                          <p:attrName>style.visibility</p:attrName>
                                        </p:attrNameLst>
                                      </p:cBhvr>
                                      <p:to>
                                        <p:strVal val="visible"/>
                                      </p:to>
                                    </p:set>
                                    <p:animEffect transition="in" filter="fade">
                                      <p:cBhvr>
                                        <p:cTn id="27" dur="1000"/>
                                        <p:tgtEl>
                                          <p:spTgt spid="145"/>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46"/>
                                        </p:tgtEl>
                                        <p:attrNameLst>
                                          <p:attrName>style.visibility</p:attrName>
                                        </p:attrNameLst>
                                      </p:cBhvr>
                                      <p:to>
                                        <p:strVal val="visible"/>
                                      </p:to>
                                    </p:set>
                                  </p:childTnLst>
                                </p:cTn>
                              </p:par>
                              <p:par>
                                <p:cTn id="32" presetID="10" presetClass="entr" presetSubtype="0" fill="hold" nodeType="withEffect">
                                  <p:stCondLst>
                                    <p:cond delay="500"/>
                                  </p:stCondLst>
                                  <p:childTnLst>
                                    <p:set>
                                      <p:cBhvr>
                                        <p:cTn id="33" dur="1" fill="hold">
                                          <p:stCondLst>
                                            <p:cond delay="0"/>
                                          </p:stCondLst>
                                        </p:cTn>
                                        <p:tgtEl>
                                          <p:spTgt spid="161"/>
                                        </p:tgtEl>
                                        <p:attrNameLst>
                                          <p:attrName>style.visibility</p:attrName>
                                        </p:attrNameLst>
                                      </p:cBhvr>
                                      <p:to>
                                        <p:strVal val="visible"/>
                                      </p:to>
                                    </p:set>
                                    <p:animEffect transition="in" filter="fade">
                                      <p:cBhvr>
                                        <p:cTn id="34" dur="1000"/>
                                        <p:tgtEl>
                                          <p:spTgt spid="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9"/>
          <p:cNvSpPr txBox="1">
            <a:spLocks noGrp="1"/>
          </p:cNvSpPr>
          <p:nvPr>
            <p:ph type="body" idx="1"/>
          </p:nvPr>
        </p:nvSpPr>
        <p:spPr>
          <a:xfrm>
            <a:off x="762000" y="1600200"/>
            <a:ext cx="8077200" cy="4572000"/>
          </a:xfrm>
          <a:prstGeom prst="rect">
            <a:avLst/>
          </a:prstGeom>
          <a:noFill/>
          <a:ln>
            <a:noFill/>
          </a:ln>
        </p:spPr>
        <p:txBody>
          <a:bodyPr spcFirstLastPara="1" wrap="square" lIns="85325" tIns="42650" rIns="85325" bIns="42650" anchor="t" anchorCtr="0">
            <a:noAutofit/>
          </a:bodyPr>
          <a:lstStyle/>
          <a:p>
            <a:pPr marL="320675" lvl="0" indent="-320675" algn="l" rtl="0">
              <a:spcBef>
                <a:spcPts val="0"/>
              </a:spcBef>
              <a:spcAft>
                <a:spcPts val="0"/>
              </a:spcAft>
              <a:buSzPts val="1680"/>
              <a:buChar char="■"/>
            </a:pPr>
            <a:r>
              <a:rPr lang="en-US"/>
              <a:t>A </a:t>
            </a:r>
            <a:r>
              <a:rPr lang="en-US">
                <a:solidFill>
                  <a:schemeClr val="folHlink"/>
                </a:solidFill>
              </a:rPr>
              <a:t>discrete random variable</a:t>
            </a:r>
            <a:r>
              <a:rPr lang="en-US"/>
              <a:t> is a variable that can assume only a countable number of values</a:t>
            </a:r>
            <a:endParaRPr sz="1900"/>
          </a:p>
          <a:p>
            <a:pPr marL="693738" lvl="1" indent="-268288" algn="l" rtl="0">
              <a:lnSpc>
                <a:spcPct val="120000"/>
              </a:lnSpc>
              <a:spcBef>
                <a:spcPts val="480"/>
              </a:spcBef>
              <a:spcAft>
                <a:spcPts val="0"/>
              </a:spcAft>
              <a:buSzPts val="1320"/>
              <a:buFont typeface="Noto Sans Symbols"/>
              <a:buNone/>
            </a:pPr>
            <a:r>
              <a:rPr lang="en-US" b="1">
                <a:solidFill>
                  <a:schemeClr val="folHlink"/>
                </a:solidFill>
              </a:rPr>
              <a:t>Many possible outcomes:</a:t>
            </a:r>
            <a:endParaRPr/>
          </a:p>
          <a:p>
            <a:pPr marL="693738" lvl="1" indent="-268288" algn="l" rtl="0">
              <a:lnSpc>
                <a:spcPct val="80000"/>
              </a:lnSpc>
              <a:spcBef>
                <a:spcPts val="480"/>
              </a:spcBef>
              <a:spcAft>
                <a:spcPts val="0"/>
              </a:spcAft>
              <a:buSzPts val="1320"/>
              <a:buChar char="■"/>
            </a:pPr>
            <a:r>
              <a:rPr lang="en-US"/>
              <a:t>    number of complaints per day</a:t>
            </a:r>
            <a:endParaRPr/>
          </a:p>
          <a:p>
            <a:pPr marL="693738" lvl="1" indent="-268288" algn="l" rtl="0">
              <a:lnSpc>
                <a:spcPct val="80000"/>
              </a:lnSpc>
              <a:spcBef>
                <a:spcPts val="480"/>
              </a:spcBef>
              <a:spcAft>
                <a:spcPts val="0"/>
              </a:spcAft>
              <a:buSzPts val="1320"/>
              <a:buChar char="■"/>
            </a:pPr>
            <a:r>
              <a:rPr lang="en-US"/>
              <a:t>    number of TV’s in a household</a:t>
            </a:r>
            <a:endParaRPr/>
          </a:p>
          <a:p>
            <a:pPr marL="693738" lvl="1" indent="-268288" algn="l" rtl="0">
              <a:lnSpc>
                <a:spcPct val="80000"/>
              </a:lnSpc>
              <a:spcBef>
                <a:spcPts val="480"/>
              </a:spcBef>
              <a:spcAft>
                <a:spcPts val="0"/>
              </a:spcAft>
              <a:buSzPts val="1320"/>
              <a:buChar char="■"/>
            </a:pPr>
            <a:r>
              <a:rPr lang="en-US"/>
              <a:t>    number of rings before the phone is answered</a:t>
            </a:r>
            <a:endParaRPr b="1"/>
          </a:p>
          <a:p>
            <a:pPr marL="693738" lvl="1" indent="-268288" algn="l" rtl="0">
              <a:lnSpc>
                <a:spcPct val="130000"/>
              </a:lnSpc>
              <a:spcBef>
                <a:spcPts val="480"/>
              </a:spcBef>
              <a:spcAft>
                <a:spcPts val="0"/>
              </a:spcAft>
              <a:buSzPts val="1320"/>
              <a:buFont typeface="Noto Sans Symbols"/>
              <a:buNone/>
            </a:pPr>
            <a:r>
              <a:rPr lang="en-US" b="1">
                <a:solidFill>
                  <a:schemeClr val="folHlink"/>
                </a:solidFill>
              </a:rPr>
              <a:t>Only two possible outcomes:</a:t>
            </a:r>
            <a:endParaRPr/>
          </a:p>
          <a:p>
            <a:pPr marL="693738" lvl="1" indent="-268288" algn="l" rtl="0">
              <a:lnSpc>
                <a:spcPct val="80000"/>
              </a:lnSpc>
              <a:spcBef>
                <a:spcPts val="480"/>
              </a:spcBef>
              <a:spcAft>
                <a:spcPts val="0"/>
              </a:spcAft>
              <a:buSzPts val="1320"/>
              <a:buChar char="■"/>
            </a:pPr>
            <a:r>
              <a:rPr lang="en-US"/>
              <a:t>    gender: male or female</a:t>
            </a:r>
            <a:endParaRPr/>
          </a:p>
          <a:p>
            <a:pPr marL="693738" lvl="1" indent="-268288" algn="l" rtl="0">
              <a:lnSpc>
                <a:spcPct val="80000"/>
              </a:lnSpc>
              <a:spcBef>
                <a:spcPts val="480"/>
              </a:spcBef>
              <a:spcAft>
                <a:spcPts val="0"/>
              </a:spcAft>
              <a:buSzPts val="1320"/>
              <a:buChar char="■"/>
            </a:pPr>
            <a:r>
              <a:rPr lang="en-US"/>
              <a:t>    defective: yes or no</a:t>
            </a:r>
            <a:endParaRPr/>
          </a:p>
          <a:p>
            <a:pPr marL="693738" lvl="1" indent="-268288" algn="l" rtl="0">
              <a:lnSpc>
                <a:spcPct val="80000"/>
              </a:lnSpc>
              <a:spcBef>
                <a:spcPts val="480"/>
              </a:spcBef>
              <a:spcAft>
                <a:spcPts val="0"/>
              </a:spcAft>
              <a:buSzPts val="1320"/>
              <a:buChar char="■"/>
            </a:pPr>
            <a:r>
              <a:rPr lang="en-US"/>
              <a:t>    spreads peanut butter first vs. spreads jelly first</a:t>
            </a:r>
            <a:endParaRPr/>
          </a:p>
        </p:txBody>
      </p:sp>
      <p:sp>
        <p:nvSpPr>
          <p:cNvPr id="167" name="Google Shape;167;p19"/>
          <p:cNvSpPr txBox="1">
            <a:spLocks noGrp="1"/>
          </p:cNvSpPr>
          <p:nvPr>
            <p:ph type="title"/>
          </p:nvPr>
        </p:nvSpPr>
        <p:spPr>
          <a:xfrm>
            <a:off x="1219200" y="381000"/>
            <a:ext cx="77930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Discrete Probability Distributions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0"/>
          <p:cNvSpPr txBox="1">
            <a:spLocks noGrp="1"/>
          </p:cNvSpPr>
          <p:nvPr>
            <p:ph type="title"/>
          </p:nvPr>
        </p:nvSpPr>
        <p:spPr>
          <a:xfrm>
            <a:off x="1143000" y="381000"/>
            <a:ext cx="77930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sz="3700"/>
              <a:t>Continuous Probability Distributions</a:t>
            </a:r>
            <a:endParaRPr/>
          </a:p>
        </p:txBody>
      </p:sp>
      <p:sp>
        <p:nvSpPr>
          <p:cNvPr id="173" name="Google Shape;173;p20"/>
          <p:cNvSpPr txBox="1">
            <a:spLocks noGrp="1"/>
          </p:cNvSpPr>
          <p:nvPr>
            <p:ph type="body" idx="1"/>
          </p:nvPr>
        </p:nvSpPr>
        <p:spPr>
          <a:xfrm>
            <a:off x="990600" y="1600200"/>
            <a:ext cx="8001000" cy="4648200"/>
          </a:xfrm>
          <a:prstGeom prst="rect">
            <a:avLst/>
          </a:prstGeom>
          <a:noFill/>
          <a:ln>
            <a:noFill/>
          </a:ln>
        </p:spPr>
        <p:txBody>
          <a:bodyPr spcFirstLastPara="1" wrap="square" lIns="85325" tIns="42650" rIns="85325" bIns="42650" anchor="t" anchorCtr="0">
            <a:noAutofit/>
          </a:bodyPr>
          <a:lstStyle/>
          <a:p>
            <a:pPr marL="320675" lvl="0" indent="-320675" algn="l" rtl="0">
              <a:spcBef>
                <a:spcPts val="0"/>
              </a:spcBef>
              <a:spcAft>
                <a:spcPts val="0"/>
              </a:spcAft>
              <a:buSzPts val="1680"/>
              <a:buChar char="■"/>
            </a:pPr>
            <a:r>
              <a:rPr lang="en-US"/>
              <a:t>A </a:t>
            </a:r>
            <a:r>
              <a:rPr lang="en-US">
                <a:solidFill>
                  <a:schemeClr val="folHlink"/>
                </a:solidFill>
              </a:rPr>
              <a:t>continuous random variable</a:t>
            </a:r>
            <a:r>
              <a:rPr lang="en-US"/>
              <a:t> is a variable that can assume any value on a continuum (can assume an uncountable number of values)</a:t>
            </a:r>
            <a:endParaRPr/>
          </a:p>
          <a:p>
            <a:pPr marL="693738" lvl="1" indent="-268288" algn="l" rtl="0">
              <a:spcBef>
                <a:spcPts val="480"/>
              </a:spcBef>
              <a:spcAft>
                <a:spcPts val="0"/>
              </a:spcAft>
              <a:buSzPts val="1320"/>
              <a:buChar char="■"/>
            </a:pPr>
            <a:r>
              <a:rPr lang="en-US"/>
              <a:t>thickness of an item</a:t>
            </a:r>
            <a:endParaRPr/>
          </a:p>
          <a:p>
            <a:pPr marL="693738" lvl="1" indent="-268288" algn="l" rtl="0">
              <a:spcBef>
                <a:spcPts val="480"/>
              </a:spcBef>
              <a:spcAft>
                <a:spcPts val="0"/>
              </a:spcAft>
              <a:buSzPts val="1320"/>
              <a:buChar char="■"/>
            </a:pPr>
            <a:r>
              <a:rPr lang="en-US"/>
              <a:t>time required to complete a task</a:t>
            </a:r>
            <a:endParaRPr/>
          </a:p>
          <a:p>
            <a:pPr marL="693738" lvl="1" indent="-268288" algn="l" rtl="0">
              <a:spcBef>
                <a:spcPts val="480"/>
              </a:spcBef>
              <a:spcAft>
                <a:spcPts val="0"/>
              </a:spcAft>
              <a:buSzPts val="1320"/>
              <a:buChar char="■"/>
            </a:pPr>
            <a:r>
              <a:rPr lang="en-US"/>
              <a:t>temperature of a solution</a:t>
            </a:r>
            <a:endParaRPr/>
          </a:p>
          <a:p>
            <a:pPr marL="693738" lvl="1" indent="-268288" algn="l" rtl="0">
              <a:spcBef>
                <a:spcPts val="480"/>
              </a:spcBef>
              <a:spcAft>
                <a:spcPts val="0"/>
              </a:spcAft>
              <a:buSzPts val="1320"/>
              <a:buChar char="■"/>
            </a:pPr>
            <a:r>
              <a:rPr lang="en-US"/>
              <a:t>height, in inches</a:t>
            </a:r>
            <a:endParaRPr/>
          </a:p>
          <a:p>
            <a:pPr marL="320675" lvl="0" indent="-320675" algn="l" rtl="0">
              <a:lnSpc>
                <a:spcPct val="20000"/>
              </a:lnSpc>
              <a:spcBef>
                <a:spcPts val="560"/>
              </a:spcBef>
              <a:spcAft>
                <a:spcPts val="0"/>
              </a:spcAft>
              <a:buSzPts val="1680"/>
              <a:buFont typeface="Noto Sans Symbols"/>
              <a:buNone/>
            </a:pPr>
            <a:endParaRPr/>
          </a:p>
          <a:p>
            <a:pPr marL="320675" lvl="0" indent="-320675" algn="l" rtl="0">
              <a:spcBef>
                <a:spcPts val="560"/>
              </a:spcBef>
              <a:spcAft>
                <a:spcPts val="0"/>
              </a:spcAft>
              <a:buSzPts val="1680"/>
              <a:buChar char="■"/>
            </a:pPr>
            <a:r>
              <a:rPr lang="en-US"/>
              <a:t>These can potentially take on any value, depending only on the ability to measure accurately.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1"/>
          <p:cNvSpPr txBox="1">
            <a:spLocks noGrp="1"/>
          </p:cNvSpPr>
          <p:nvPr>
            <p:ph type="title"/>
          </p:nvPr>
        </p:nvSpPr>
        <p:spPr>
          <a:xfrm>
            <a:off x="1066800" y="495300"/>
            <a:ext cx="7793038" cy="700088"/>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sz="3200" b="1"/>
              <a:t>Probability functions</a:t>
            </a:r>
            <a:endParaRPr/>
          </a:p>
        </p:txBody>
      </p:sp>
      <p:sp>
        <p:nvSpPr>
          <p:cNvPr id="180" name="Google Shape;180;p21"/>
          <p:cNvSpPr txBox="1">
            <a:spLocks noGrp="1"/>
          </p:cNvSpPr>
          <p:nvPr>
            <p:ph type="body" idx="1"/>
          </p:nvPr>
        </p:nvSpPr>
        <p:spPr>
          <a:xfrm>
            <a:off x="762000" y="1905000"/>
            <a:ext cx="7772400" cy="4114800"/>
          </a:xfrm>
          <a:prstGeom prst="rect">
            <a:avLst/>
          </a:prstGeom>
          <a:noFill/>
          <a:ln>
            <a:noFill/>
          </a:ln>
        </p:spPr>
        <p:txBody>
          <a:bodyPr spcFirstLastPara="1" wrap="square" lIns="85325" tIns="42650" rIns="85325" bIns="42650" anchor="t" anchorCtr="0">
            <a:noAutofit/>
          </a:bodyPr>
          <a:lstStyle/>
          <a:p>
            <a:pPr marL="320675" lvl="0" indent="-320675" algn="l" rtl="0">
              <a:spcBef>
                <a:spcPts val="0"/>
              </a:spcBef>
              <a:spcAft>
                <a:spcPts val="0"/>
              </a:spcAft>
              <a:buSzPts val="1680"/>
              <a:buChar char="■"/>
            </a:pPr>
            <a:r>
              <a:rPr lang="en-US"/>
              <a:t>A probability function maps the possible values of </a:t>
            </a:r>
            <a:r>
              <a:rPr lang="en-US" i="1"/>
              <a:t>x</a:t>
            </a:r>
            <a:r>
              <a:rPr lang="en-US"/>
              <a:t> against their respective probabilities of occurrence, </a:t>
            </a:r>
            <a:r>
              <a:rPr lang="en-US" i="1"/>
              <a:t>p(x)</a:t>
            </a:r>
            <a:r>
              <a:rPr lang="en-US"/>
              <a:t> </a:t>
            </a:r>
            <a:endParaRPr/>
          </a:p>
          <a:p>
            <a:pPr marL="320675" lvl="0" indent="-320675" algn="l" rtl="0">
              <a:spcBef>
                <a:spcPts val="560"/>
              </a:spcBef>
              <a:spcAft>
                <a:spcPts val="0"/>
              </a:spcAft>
              <a:buSzPts val="1680"/>
              <a:buChar char="■"/>
            </a:pPr>
            <a:r>
              <a:rPr lang="en-US" i="1"/>
              <a:t>p(x)</a:t>
            </a:r>
            <a:r>
              <a:rPr lang="en-US"/>
              <a:t> is a number from 0 to 1.0.</a:t>
            </a:r>
            <a:endParaRPr/>
          </a:p>
          <a:p>
            <a:pPr marL="320675" lvl="0" indent="-320675" algn="l" rtl="0">
              <a:spcBef>
                <a:spcPts val="560"/>
              </a:spcBef>
              <a:spcAft>
                <a:spcPts val="0"/>
              </a:spcAft>
              <a:buSzPts val="1680"/>
              <a:buChar char="■"/>
            </a:pPr>
            <a:r>
              <a:rPr lang="en-US"/>
              <a:t>The area under a probability function is always 1.</a:t>
            </a:r>
            <a:endParaRPr/>
          </a:p>
        </p:txBody>
      </p:sp>
      <p:sp>
        <p:nvSpPr>
          <p:cNvPr id="181" name="Google Shape;181;p21"/>
          <p:cNvSpPr/>
          <p:nvPr/>
        </p:nvSpPr>
        <p:spPr>
          <a:xfrm>
            <a:off x="4233863" y="3257550"/>
            <a:ext cx="9144000" cy="0"/>
          </a:xfrm>
          <a:prstGeom prst="rect">
            <a:avLst/>
          </a:prstGeom>
          <a:noFill/>
          <a:ln>
            <a:noFill/>
          </a:ln>
        </p:spPr>
        <p:txBody>
          <a:bodyPr spcFirstLastPara="1" wrap="square" lIns="91425" tIns="45700" rIns="91425" bIns="0" anchor="t" anchorCtr="0">
            <a:noAutofit/>
          </a:bodyPr>
          <a:lstStyle/>
          <a:p>
            <a:pPr marL="0" marR="0" lvl="0" indent="0" algn="ctr" rtl="0">
              <a:spcBef>
                <a:spcPts val="0"/>
              </a:spcBef>
              <a:spcAft>
                <a:spcPts val="0"/>
              </a:spcAft>
              <a:buNone/>
            </a:pPr>
            <a:endParaRPr sz="2400" b="0" i="0" u="none" strike="noStrike" cap="none">
              <a:solidFill>
                <a:schemeClr val="dk1"/>
              </a:solidFill>
              <a:latin typeface="Arial"/>
              <a:ea typeface="Arial"/>
              <a:cs typeface="Arial"/>
              <a:sym typeface="Arial"/>
            </a:endParaRPr>
          </a:p>
        </p:txBody>
      </p:sp>
      <p:sp>
        <p:nvSpPr>
          <p:cNvPr id="182" name="Google Shape;182;p21"/>
          <p:cNvSpPr txBox="1"/>
          <p:nvPr/>
        </p:nvSpPr>
        <p:spPr>
          <a:xfrm>
            <a:off x="3276600" y="3733800"/>
            <a:ext cx="3048000" cy="411163"/>
          </a:xfrm>
          <a:prstGeom prst="rect">
            <a:avLst/>
          </a:prstGeom>
          <a:noFill/>
          <a:ln>
            <a:noFill/>
          </a:ln>
        </p:spPr>
        <p:txBody>
          <a:bodyPr spcFirstLastPara="1" wrap="square" lIns="91425" tIns="45700" rIns="91425" bIns="0" anchor="t" anchorCtr="0">
            <a:spAutoFit/>
          </a:bodyPr>
          <a:lstStyle/>
          <a:p>
            <a:pPr marL="0" marR="0" lvl="0" indent="0" algn="ctr" rtl="0">
              <a:spcBef>
                <a:spcPts val="0"/>
              </a:spcBef>
              <a:spcAft>
                <a:spcPts val="0"/>
              </a:spcAft>
              <a:buNone/>
            </a:pPr>
            <a:endParaRPr sz="2400" b="1" i="0" u="none" strike="noStrike" cap="none">
              <a:solidFill>
                <a:srgbClr val="000000"/>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80">
                                            <p:txEl>
                                              <p:pRg st="0" end="0"/>
                                            </p:txEl>
                                          </p:spTgt>
                                        </p:tgtEl>
                                        <p:attrNameLst>
                                          <p:attrName>style.visibility</p:attrName>
                                        </p:attrNameLst>
                                      </p:cBhvr>
                                      <p:to>
                                        <p:strVal val="visible"/>
                                      </p:to>
                                    </p:set>
                                    <p:anim calcmode="lin" valueType="num">
                                      <p:cBhvr additive="base">
                                        <p:cTn id="7" dur="500"/>
                                        <p:tgtEl>
                                          <p:spTgt spid="180">
                                            <p:txEl>
                                              <p:pRg st="0" end="0"/>
                                            </p:txEl>
                                          </p:spTgt>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80">
                                            <p:txEl>
                                              <p:pRg st="1" end="1"/>
                                            </p:txEl>
                                          </p:spTgt>
                                        </p:tgtEl>
                                        <p:attrNameLst>
                                          <p:attrName>style.visibility</p:attrName>
                                        </p:attrNameLst>
                                      </p:cBhvr>
                                      <p:to>
                                        <p:strVal val="visible"/>
                                      </p:to>
                                    </p:set>
                                    <p:anim calcmode="lin" valueType="num">
                                      <p:cBhvr additive="base">
                                        <p:cTn id="12" dur="500"/>
                                        <p:tgtEl>
                                          <p:spTgt spid="180">
                                            <p:txEl>
                                              <p:pRg st="1" end="1"/>
                                            </p:txEl>
                                          </p:spTgt>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80">
                                            <p:txEl>
                                              <p:pRg st="2" end="2"/>
                                            </p:txEl>
                                          </p:spTgt>
                                        </p:tgtEl>
                                        <p:attrNameLst>
                                          <p:attrName>style.visibility</p:attrName>
                                        </p:attrNameLst>
                                      </p:cBhvr>
                                      <p:to>
                                        <p:strVal val="visible"/>
                                      </p:to>
                                    </p:set>
                                    <p:anim calcmode="lin" valueType="num">
                                      <p:cBhvr additive="base">
                                        <p:cTn id="17" dur="500"/>
                                        <p:tgtEl>
                                          <p:spTgt spid="180">
                                            <p:txEl>
                                              <p:pRg st="2" end="2"/>
                                            </p:txEl>
                                          </p:spTgt>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cxnSp>
        <p:nvCxnSpPr>
          <p:cNvPr id="188" name="Google Shape;188;p22"/>
          <p:cNvCxnSpPr/>
          <p:nvPr/>
        </p:nvCxnSpPr>
        <p:spPr>
          <a:xfrm>
            <a:off x="5257800" y="3810000"/>
            <a:ext cx="0" cy="2133600"/>
          </a:xfrm>
          <a:prstGeom prst="straightConnector1">
            <a:avLst/>
          </a:prstGeom>
          <a:noFill/>
          <a:ln w="19050" cap="flat" cmpd="sng">
            <a:solidFill>
              <a:schemeClr val="dk1"/>
            </a:solidFill>
            <a:prstDash val="solid"/>
            <a:round/>
            <a:headEnd type="none" w="med" len="med"/>
            <a:tailEnd type="none" w="med" len="med"/>
          </a:ln>
        </p:spPr>
      </p:cxnSp>
      <p:cxnSp>
        <p:nvCxnSpPr>
          <p:cNvPr id="189" name="Google Shape;189;p22"/>
          <p:cNvCxnSpPr/>
          <p:nvPr/>
        </p:nvCxnSpPr>
        <p:spPr>
          <a:xfrm rot="10800000">
            <a:off x="5257800" y="5257800"/>
            <a:ext cx="304800" cy="0"/>
          </a:xfrm>
          <a:prstGeom prst="straightConnector1">
            <a:avLst/>
          </a:prstGeom>
          <a:noFill/>
          <a:ln w="19050" cap="flat" cmpd="sng">
            <a:solidFill>
              <a:schemeClr val="dk1"/>
            </a:solidFill>
            <a:prstDash val="solid"/>
            <a:round/>
            <a:headEnd type="none" w="med" len="med"/>
            <a:tailEnd type="none" w="med" len="med"/>
          </a:ln>
        </p:spPr>
      </p:cxnSp>
      <p:cxnSp>
        <p:nvCxnSpPr>
          <p:cNvPr id="190" name="Google Shape;190;p22"/>
          <p:cNvCxnSpPr/>
          <p:nvPr/>
        </p:nvCxnSpPr>
        <p:spPr>
          <a:xfrm rot="10800000">
            <a:off x="5257800" y="5943600"/>
            <a:ext cx="304800" cy="0"/>
          </a:xfrm>
          <a:prstGeom prst="straightConnector1">
            <a:avLst/>
          </a:prstGeom>
          <a:noFill/>
          <a:ln w="19050" cap="flat" cmpd="sng">
            <a:solidFill>
              <a:schemeClr val="dk1"/>
            </a:solidFill>
            <a:prstDash val="solid"/>
            <a:round/>
            <a:headEnd type="none" w="med" len="med"/>
            <a:tailEnd type="none" w="med" len="med"/>
          </a:ln>
        </p:spPr>
      </p:cxnSp>
      <p:cxnSp>
        <p:nvCxnSpPr>
          <p:cNvPr id="191" name="Google Shape;191;p22"/>
          <p:cNvCxnSpPr/>
          <p:nvPr/>
        </p:nvCxnSpPr>
        <p:spPr>
          <a:xfrm rot="10800000">
            <a:off x="1600200" y="5257800"/>
            <a:ext cx="304800" cy="0"/>
          </a:xfrm>
          <a:prstGeom prst="straightConnector1">
            <a:avLst/>
          </a:prstGeom>
          <a:noFill/>
          <a:ln w="19050" cap="flat" cmpd="sng">
            <a:solidFill>
              <a:schemeClr val="dk1"/>
            </a:solidFill>
            <a:prstDash val="solid"/>
            <a:round/>
            <a:headEnd type="none" w="med" len="med"/>
            <a:tailEnd type="none" w="med" len="med"/>
          </a:ln>
        </p:spPr>
      </p:cxnSp>
      <p:cxnSp>
        <p:nvCxnSpPr>
          <p:cNvPr id="192" name="Google Shape;192;p22"/>
          <p:cNvCxnSpPr/>
          <p:nvPr/>
        </p:nvCxnSpPr>
        <p:spPr>
          <a:xfrm rot="10800000">
            <a:off x="1600200" y="5943600"/>
            <a:ext cx="304800" cy="0"/>
          </a:xfrm>
          <a:prstGeom prst="straightConnector1">
            <a:avLst/>
          </a:prstGeom>
          <a:noFill/>
          <a:ln w="19050" cap="flat" cmpd="sng">
            <a:solidFill>
              <a:schemeClr val="dk1"/>
            </a:solidFill>
            <a:prstDash val="solid"/>
            <a:round/>
            <a:headEnd type="none" w="med" len="med"/>
            <a:tailEnd type="none" w="med" len="med"/>
          </a:ln>
        </p:spPr>
      </p:cxnSp>
      <p:cxnSp>
        <p:nvCxnSpPr>
          <p:cNvPr id="193" name="Google Shape;193;p22"/>
          <p:cNvCxnSpPr/>
          <p:nvPr/>
        </p:nvCxnSpPr>
        <p:spPr>
          <a:xfrm rot="10800000">
            <a:off x="1600200" y="4572000"/>
            <a:ext cx="304800" cy="0"/>
          </a:xfrm>
          <a:prstGeom prst="straightConnector1">
            <a:avLst/>
          </a:prstGeom>
          <a:noFill/>
          <a:ln w="19050" cap="flat" cmpd="sng">
            <a:solidFill>
              <a:schemeClr val="dk1"/>
            </a:solidFill>
            <a:prstDash val="solid"/>
            <a:round/>
            <a:headEnd type="none" w="med" len="med"/>
            <a:tailEnd type="none" w="med" len="med"/>
          </a:ln>
        </p:spPr>
      </p:cxnSp>
      <p:cxnSp>
        <p:nvCxnSpPr>
          <p:cNvPr id="194" name="Google Shape;194;p22"/>
          <p:cNvCxnSpPr/>
          <p:nvPr/>
        </p:nvCxnSpPr>
        <p:spPr>
          <a:xfrm>
            <a:off x="2438400" y="2590800"/>
            <a:ext cx="0" cy="228600"/>
          </a:xfrm>
          <a:prstGeom prst="straightConnector1">
            <a:avLst/>
          </a:prstGeom>
          <a:noFill/>
          <a:ln w="19050" cap="flat" cmpd="sng">
            <a:solidFill>
              <a:schemeClr val="dk1"/>
            </a:solidFill>
            <a:prstDash val="solid"/>
            <a:round/>
            <a:headEnd type="none" w="med" len="med"/>
            <a:tailEnd type="none" w="med" len="med"/>
          </a:ln>
        </p:spPr>
      </p:cxnSp>
      <p:cxnSp>
        <p:nvCxnSpPr>
          <p:cNvPr id="195" name="Google Shape;195;p22"/>
          <p:cNvCxnSpPr/>
          <p:nvPr/>
        </p:nvCxnSpPr>
        <p:spPr>
          <a:xfrm>
            <a:off x="6248400" y="2590800"/>
            <a:ext cx="0" cy="228600"/>
          </a:xfrm>
          <a:prstGeom prst="straightConnector1">
            <a:avLst/>
          </a:prstGeom>
          <a:noFill/>
          <a:ln w="19050" cap="flat" cmpd="sng">
            <a:solidFill>
              <a:schemeClr val="dk1"/>
            </a:solidFill>
            <a:prstDash val="solid"/>
            <a:round/>
            <a:headEnd type="none" w="med" len="med"/>
            <a:tailEnd type="none" w="med" len="med"/>
          </a:ln>
        </p:spPr>
      </p:cxnSp>
      <p:sp>
        <p:nvSpPr>
          <p:cNvPr id="196" name="Google Shape;196;p22"/>
          <p:cNvSpPr/>
          <p:nvPr/>
        </p:nvSpPr>
        <p:spPr>
          <a:xfrm>
            <a:off x="457200" y="533400"/>
            <a:ext cx="8248650" cy="762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Arial"/>
              <a:ea typeface="Arial"/>
              <a:cs typeface="Arial"/>
              <a:sym typeface="Arial"/>
            </a:endParaRPr>
          </a:p>
        </p:txBody>
      </p:sp>
      <p:sp>
        <p:nvSpPr>
          <p:cNvPr id="197" name="Google Shape;197;p22"/>
          <p:cNvSpPr/>
          <p:nvPr/>
        </p:nvSpPr>
        <p:spPr>
          <a:xfrm>
            <a:off x="1524000" y="457200"/>
            <a:ext cx="7045325" cy="698500"/>
          </a:xfrm>
          <a:prstGeom prst="rect">
            <a:avLst/>
          </a:prstGeom>
          <a:noFill/>
          <a:ln>
            <a:noFill/>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4000" b="0" i="0" u="none" strike="noStrike" cap="none">
                <a:solidFill>
                  <a:schemeClr val="dk2"/>
                </a:solidFill>
                <a:latin typeface="Arial"/>
                <a:ea typeface="Arial"/>
                <a:cs typeface="Arial"/>
                <a:sym typeface="Arial"/>
              </a:rPr>
              <a:t>Probability Distributions</a:t>
            </a:r>
            <a:endParaRPr/>
          </a:p>
        </p:txBody>
      </p:sp>
      <p:sp>
        <p:nvSpPr>
          <p:cNvPr id="198" name="Google Shape;198;p22"/>
          <p:cNvSpPr/>
          <p:nvPr/>
        </p:nvSpPr>
        <p:spPr>
          <a:xfrm>
            <a:off x="5105400" y="2743200"/>
            <a:ext cx="2209800" cy="1196975"/>
          </a:xfrm>
          <a:prstGeom prst="rect">
            <a:avLst/>
          </a:prstGeom>
          <a:solidFill>
            <a:srgbClr val="FFFF99"/>
          </a:solidFill>
          <a:ln w="12700" cap="flat" cmpd="sng">
            <a:solidFill>
              <a:srgbClr val="000066"/>
            </a:solidFill>
            <a:prstDash val="solid"/>
            <a:miter lim="800000"/>
            <a:headEnd type="none" w="sm" len="sm"/>
            <a:tailEnd type="none" w="sm" len="sm"/>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Continuous</a:t>
            </a:r>
            <a:r>
              <a:rPr lang="en-US" sz="2400" b="0" i="0" u="none" strike="noStrike" cap="none">
                <a:solidFill>
                  <a:schemeClr val="dk1"/>
                </a:solidFill>
                <a:latin typeface="Arial"/>
                <a:ea typeface="Arial"/>
                <a:cs typeface="Arial"/>
                <a:sym typeface="Arial"/>
              </a:rPr>
              <a:t> </a:t>
            </a:r>
            <a:endParaRPr/>
          </a:p>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Probability Distributions</a:t>
            </a:r>
            <a:endParaRPr/>
          </a:p>
        </p:txBody>
      </p:sp>
      <p:cxnSp>
        <p:nvCxnSpPr>
          <p:cNvPr id="199" name="Google Shape;199;p22"/>
          <p:cNvCxnSpPr/>
          <p:nvPr/>
        </p:nvCxnSpPr>
        <p:spPr>
          <a:xfrm>
            <a:off x="2438400" y="2590800"/>
            <a:ext cx="3810000" cy="0"/>
          </a:xfrm>
          <a:prstGeom prst="straightConnector1">
            <a:avLst/>
          </a:prstGeom>
          <a:noFill/>
          <a:ln w="19050" cap="flat" cmpd="sng">
            <a:solidFill>
              <a:schemeClr val="dk1"/>
            </a:solidFill>
            <a:prstDash val="solid"/>
            <a:round/>
            <a:headEnd type="none" w="med" len="med"/>
            <a:tailEnd type="none" w="med" len="med"/>
          </a:ln>
        </p:spPr>
      </p:cxnSp>
      <p:cxnSp>
        <p:nvCxnSpPr>
          <p:cNvPr id="200" name="Google Shape;200;p22"/>
          <p:cNvCxnSpPr/>
          <p:nvPr/>
        </p:nvCxnSpPr>
        <p:spPr>
          <a:xfrm>
            <a:off x="1600200" y="3810000"/>
            <a:ext cx="0" cy="2133600"/>
          </a:xfrm>
          <a:prstGeom prst="straightConnector1">
            <a:avLst/>
          </a:prstGeom>
          <a:noFill/>
          <a:ln w="19050" cap="flat" cmpd="sng">
            <a:solidFill>
              <a:schemeClr val="dk1"/>
            </a:solidFill>
            <a:prstDash val="solid"/>
            <a:round/>
            <a:headEnd type="none" w="med" len="med"/>
            <a:tailEnd type="none" w="med" len="med"/>
          </a:ln>
        </p:spPr>
      </p:cxnSp>
      <p:cxnSp>
        <p:nvCxnSpPr>
          <p:cNvPr id="201" name="Google Shape;201;p22"/>
          <p:cNvCxnSpPr/>
          <p:nvPr/>
        </p:nvCxnSpPr>
        <p:spPr>
          <a:xfrm>
            <a:off x="4343400" y="2438400"/>
            <a:ext cx="0" cy="152400"/>
          </a:xfrm>
          <a:prstGeom prst="straightConnector1">
            <a:avLst/>
          </a:prstGeom>
          <a:noFill/>
          <a:ln w="19050" cap="flat" cmpd="sng">
            <a:solidFill>
              <a:schemeClr val="dk1"/>
            </a:solidFill>
            <a:prstDash val="solid"/>
            <a:round/>
            <a:headEnd type="none" w="med" len="med"/>
            <a:tailEnd type="none" w="med" len="med"/>
          </a:ln>
        </p:spPr>
      </p:cxnSp>
      <p:sp>
        <p:nvSpPr>
          <p:cNvPr id="202" name="Google Shape;202;p22"/>
          <p:cNvSpPr/>
          <p:nvPr/>
        </p:nvSpPr>
        <p:spPr>
          <a:xfrm>
            <a:off x="1828800" y="4343400"/>
            <a:ext cx="1676400" cy="466725"/>
          </a:xfrm>
          <a:prstGeom prst="rect">
            <a:avLst/>
          </a:prstGeom>
          <a:solidFill>
            <a:srgbClr val="BBD7FF"/>
          </a:solidFill>
          <a:ln w="12700" cap="flat" cmpd="sng">
            <a:solidFill>
              <a:srgbClr val="000066"/>
            </a:solidFill>
            <a:prstDash val="solid"/>
            <a:miter lim="800000"/>
            <a:headEnd type="none" w="sm" len="sm"/>
            <a:tailEnd type="none" w="sm" len="sm"/>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0" i="0" u="none" strike="noStrike" cap="none">
                <a:solidFill>
                  <a:srgbClr val="000066"/>
                </a:solidFill>
                <a:latin typeface="Arial"/>
                <a:ea typeface="Arial"/>
                <a:cs typeface="Arial"/>
                <a:sym typeface="Arial"/>
              </a:rPr>
              <a:t>Binomial</a:t>
            </a:r>
            <a:endParaRPr/>
          </a:p>
        </p:txBody>
      </p:sp>
      <p:sp>
        <p:nvSpPr>
          <p:cNvPr id="203" name="Google Shape;203;p22"/>
          <p:cNvSpPr/>
          <p:nvPr/>
        </p:nvSpPr>
        <p:spPr>
          <a:xfrm>
            <a:off x="1828800" y="5715000"/>
            <a:ext cx="2590800" cy="466725"/>
          </a:xfrm>
          <a:prstGeom prst="rect">
            <a:avLst/>
          </a:prstGeom>
          <a:solidFill>
            <a:srgbClr val="BBD7FF"/>
          </a:solidFill>
          <a:ln w="12700" cap="flat" cmpd="sng">
            <a:solidFill>
              <a:srgbClr val="000066"/>
            </a:solidFill>
            <a:prstDash val="solid"/>
            <a:miter lim="800000"/>
            <a:headEnd type="none" w="sm" len="sm"/>
            <a:tailEnd type="none" w="sm" len="sm"/>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0" i="0" u="none" strike="noStrike" cap="none">
                <a:solidFill>
                  <a:schemeClr val="dk1"/>
                </a:solidFill>
                <a:latin typeface="Arial"/>
                <a:ea typeface="Arial"/>
                <a:cs typeface="Arial"/>
                <a:sym typeface="Arial"/>
              </a:rPr>
              <a:t>Hypergeometric</a:t>
            </a:r>
            <a:endParaRPr/>
          </a:p>
        </p:txBody>
      </p:sp>
      <p:sp>
        <p:nvSpPr>
          <p:cNvPr id="204" name="Google Shape;204;p22"/>
          <p:cNvSpPr/>
          <p:nvPr/>
        </p:nvSpPr>
        <p:spPr>
          <a:xfrm>
            <a:off x="1828800" y="5029200"/>
            <a:ext cx="1447800" cy="466725"/>
          </a:xfrm>
          <a:prstGeom prst="rect">
            <a:avLst/>
          </a:prstGeom>
          <a:solidFill>
            <a:srgbClr val="BBD7FF"/>
          </a:solidFill>
          <a:ln w="12700" cap="flat" cmpd="sng">
            <a:solidFill>
              <a:srgbClr val="000066"/>
            </a:solidFill>
            <a:prstDash val="solid"/>
            <a:miter lim="800000"/>
            <a:headEnd type="none" w="sm" len="sm"/>
            <a:tailEnd type="none" w="sm" len="sm"/>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0" i="0" u="none" strike="noStrike" cap="none">
                <a:solidFill>
                  <a:schemeClr val="dk1"/>
                </a:solidFill>
                <a:latin typeface="Arial"/>
                <a:ea typeface="Arial"/>
                <a:cs typeface="Arial"/>
                <a:sym typeface="Arial"/>
              </a:rPr>
              <a:t>Poisson</a:t>
            </a:r>
            <a:endParaRPr/>
          </a:p>
        </p:txBody>
      </p:sp>
      <p:sp>
        <p:nvSpPr>
          <p:cNvPr id="205" name="Google Shape;205;p22"/>
          <p:cNvSpPr/>
          <p:nvPr/>
        </p:nvSpPr>
        <p:spPr>
          <a:xfrm>
            <a:off x="3276600" y="1600200"/>
            <a:ext cx="2286000" cy="831850"/>
          </a:xfrm>
          <a:prstGeom prst="rect">
            <a:avLst/>
          </a:prstGeom>
          <a:solidFill>
            <a:srgbClr val="FDE0BD"/>
          </a:solidFill>
          <a:ln w="12700" cap="flat" cmpd="sng">
            <a:solidFill>
              <a:srgbClr val="000066"/>
            </a:solidFill>
            <a:prstDash val="solid"/>
            <a:miter lim="800000"/>
            <a:headEnd type="none" w="sm" len="sm"/>
            <a:tailEnd type="none" w="sm" len="sm"/>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Probability Distributions</a:t>
            </a:r>
            <a:endParaRPr/>
          </a:p>
        </p:txBody>
      </p:sp>
      <p:sp>
        <p:nvSpPr>
          <p:cNvPr id="206" name="Google Shape;206;p22"/>
          <p:cNvSpPr/>
          <p:nvPr/>
        </p:nvSpPr>
        <p:spPr>
          <a:xfrm>
            <a:off x="1447800" y="2743200"/>
            <a:ext cx="2209800" cy="1196975"/>
          </a:xfrm>
          <a:prstGeom prst="rect">
            <a:avLst/>
          </a:prstGeom>
          <a:solidFill>
            <a:srgbClr val="BBD7FF"/>
          </a:solidFill>
          <a:ln w="12700" cap="flat" cmpd="sng">
            <a:solidFill>
              <a:srgbClr val="000066"/>
            </a:solidFill>
            <a:prstDash val="solid"/>
            <a:miter lim="800000"/>
            <a:headEnd type="none" w="sm" len="sm"/>
            <a:tailEnd type="none" w="sm" len="sm"/>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Discrete</a:t>
            </a:r>
            <a:r>
              <a:rPr lang="en-US" sz="2400" b="0" i="0" u="none" strike="noStrike" cap="none">
                <a:solidFill>
                  <a:schemeClr val="dk1"/>
                </a:solidFill>
                <a:latin typeface="Arial"/>
                <a:ea typeface="Arial"/>
                <a:cs typeface="Arial"/>
                <a:sym typeface="Arial"/>
              </a:rPr>
              <a:t> </a:t>
            </a:r>
            <a:endParaRPr/>
          </a:p>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Probability Distributions</a:t>
            </a:r>
            <a:endParaRPr/>
          </a:p>
        </p:txBody>
      </p:sp>
      <p:cxnSp>
        <p:nvCxnSpPr>
          <p:cNvPr id="207" name="Google Shape;207;p22"/>
          <p:cNvCxnSpPr/>
          <p:nvPr/>
        </p:nvCxnSpPr>
        <p:spPr>
          <a:xfrm rot="10800000">
            <a:off x="5257800" y="4572000"/>
            <a:ext cx="304800" cy="0"/>
          </a:xfrm>
          <a:prstGeom prst="straightConnector1">
            <a:avLst/>
          </a:prstGeom>
          <a:noFill/>
          <a:ln w="19050" cap="flat" cmpd="sng">
            <a:solidFill>
              <a:schemeClr val="dk1"/>
            </a:solidFill>
            <a:prstDash val="solid"/>
            <a:round/>
            <a:headEnd type="none" w="med" len="med"/>
            <a:tailEnd type="none" w="med" len="med"/>
          </a:ln>
        </p:spPr>
      </p:cxnSp>
      <p:sp>
        <p:nvSpPr>
          <p:cNvPr id="208" name="Google Shape;208;p22"/>
          <p:cNvSpPr/>
          <p:nvPr/>
        </p:nvSpPr>
        <p:spPr>
          <a:xfrm>
            <a:off x="5486400" y="4343400"/>
            <a:ext cx="1676400" cy="466725"/>
          </a:xfrm>
          <a:prstGeom prst="rect">
            <a:avLst/>
          </a:prstGeom>
          <a:solidFill>
            <a:srgbClr val="FFFF99"/>
          </a:solidFill>
          <a:ln w="12700" cap="flat" cmpd="sng">
            <a:solidFill>
              <a:srgbClr val="000066"/>
            </a:solidFill>
            <a:prstDash val="solid"/>
            <a:miter lim="800000"/>
            <a:headEnd type="none" w="sm" len="sm"/>
            <a:tailEnd type="none" w="sm" len="sm"/>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Normal</a:t>
            </a:r>
            <a:endParaRPr/>
          </a:p>
        </p:txBody>
      </p:sp>
      <p:sp>
        <p:nvSpPr>
          <p:cNvPr id="209" name="Google Shape;209;p22"/>
          <p:cNvSpPr/>
          <p:nvPr/>
        </p:nvSpPr>
        <p:spPr>
          <a:xfrm>
            <a:off x="5486400" y="5029200"/>
            <a:ext cx="1676400" cy="466725"/>
          </a:xfrm>
          <a:prstGeom prst="rect">
            <a:avLst/>
          </a:prstGeom>
          <a:solidFill>
            <a:srgbClr val="FFFF99"/>
          </a:solidFill>
          <a:ln w="12700" cap="flat" cmpd="sng">
            <a:solidFill>
              <a:srgbClr val="000066"/>
            </a:solidFill>
            <a:prstDash val="solid"/>
            <a:miter lim="800000"/>
            <a:headEnd type="none" w="sm" len="sm"/>
            <a:tailEnd type="none" w="sm" len="sm"/>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Uniform</a:t>
            </a:r>
            <a:endParaRPr/>
          </a:p>
        </p:txBody>
      </p:sp>
      <p:sp>
        <p:nvSpPr>
          <p:cNvPr id="210" name="Google Shape;210;p22"/>
          <p:cNvSpPr/>
          <p:nvPr/>
        </p:nvSpPr>
        <p:spPr>
          <a:xfrm>
            <a:off x="5486400" y="5715000"/>
            <a:ext cx="1981200" cy="466725"/>
          </a:xfrm>
          <a:prstGeom prst="rect">
            <a:avLst/>
          </a:prstGeom>
          <a:solidFill>
            <a:srgbClr val="FFFF99"/>
          </a:solidFill>
          <a:ln w="12700" cap="flat" cmpd="sng">
            <a:solidFill>
              <a:srgbClr val="000066"/>
            </a:solidFill>
            <a:prstDash val="solid"/>
            <a:miter lim="800000"/>
            <a:headEnd type="none" w="sm" len="sm"/>
            <a:tailEnd type="none" w="sm" len="sm"/>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Exponential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cxnSp>
        <p:nvCxnSpPr>
          <p:cNvPr id="216" name="Google Shape;216;p23"/>
          <p:cNvCxnSpPr/>
          <p:nvPr/>
        </p:nvCxnSpPr>
        <p:spPr>
          <a:xfrm rot="10800000">
            <a:off x="1600200" y="5257800"/>
            <a:ext cx="228600" cy="0"/>
          </a:xfrm>
          <a:prstGeom prst="straightConnector1">
            <a:avLst/>
          </a:prstGeom>
          <a:noFill/>
          <a:ln w="19050" cap="flat" cmpd="sng">
            <a:solidFill>
              <a:schemeClr val="dk1"/>
            </a:solidFill>
            <a:prstDash val="solid"/>
            <a:round/>
            <a:headEnd type="none" w="med" len="med"/>
            <a:tailEnd type="none" w="med" len="med"/>
          </a:ln>
        </p:spPr>
      </p:cxnSp>
      <p:cxnSp>
        <p:nvCxnSpPr>
          <p:cNvPr id="217" name="Google Shape;217;p23"/>
          <p:cNvCxnSpPr/>
          <p:nvPr/>
        </p:nvCxnSpPr>
        <p:spPr>
          <a:xfrm rot="10800000">
            <a:off x="1600200" y="5943600"/>
            <a:ext cx="228600" cy="0"/>
          </a:xfrm>
          <a:prstGeom prst="straightConnector1">
            <a:avLst/>
          </a:prstGeom>
          <a:noFill/>
          <a:ln w="19050" cap="flat" cmpd="sng">
            <a:solidFill>
              <a:schemeClr val="dk1"/>
            </a:solidFill>
            <a:prstDash val="solid"/>
            <a:round/>
            <a:headEnd type="none" w="med" len="med"/>
            <a:tailEnd type="none" w="med" len="med"/>
          </a:ln>
        </p:spPr>
      </p:cxnSp>
      <p:cxnSp>
        <p:nvCxnSpPr>
          <p:cNvPr id="218" name="Google Shape;218;p23"/>
          <p:cNvCxnSpPr/>
          <p:nvPr/>
        </p:nvCxnSpPr>
        <p:spPr>
          <a:xfrm rot="10800000">
            <a:off x="1600200" y="4572000"/>
            <a:ext cx="304800" cy="0"/>
          </a:xfrm>
          <a:prstGeom prst="straightConnector1">
            <a:avLst/>
          </a:prstGeom>
          <a:noFill/>
          <a:ln w="19050" cap="flat" cmpd="sng">
            <a:solidFill>
              <a:schemeClr val="dk1"/>
            </a:solidFill>
            <a:prstDash val="solid"/>
            <a:round/>
            <a:headEnd type="none" w="med" len="med"/>
            <a:tailEnd type="none" w="med" len="med"/>
          </a:ln>
        </p:spPr>
      </p:cxnSp>
      <p:cxnSp>
        <p:nvCxnSpPr>
          <p:cNvPr id="219" name="Google Shape;219;p23"/>
          <p:cNvCxnSpPr/>
          <p:nvPr/>
        </p:nvCxnSpPr>
        <p:spPr>
          <a:xfrm>
            <a:off x="2438400" y="2590800"/>
            <a:ext cx="0" cy="152400"/>
          </a:xfrm>
          <a:prstGeom prst="straightConnector1">
            <a:avLst/>
          </a:prstGeom>
          <a:noFill/>
          <a:ln w="19050" cap="flat" cmpd="sng">
            <a:solidFill>
              <a:schemeClr val="dk1"/>
            </a:solidFill>
            <a:prstDash val="solid"/>
            <a:round/>
            <a:headEnd type="none" w="med" len="med"/>
            <a:tailEnd type="none" w="med" len="med"/>
          </a:ln>
        </p:spPr>
      </p:cxnSp>
      <p:sp>
        <p:nvSpPr>
          <p:cNvPr id="220" name="Google Shape;220;p23"/>
          <p:cNvSpPr/>
          <p:nvPr/>
        </p:nvSpPr>
        <p:spPr>
          <a:xfrm>
            <a:off x="457200" y="533400"/>
            <a:ext cx="8248650" cy="762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Arial"/>
              <a:ea typeface="Arial"/>
              <a:cs typeface="Arial"/>
              <a:sym typeface="Arial"/>
            </a:endParaRPr>
          </a:p>
        </p:txBody>
      </p:sp>
      <p:sp>
        <p:nvSpPr>
          <p:cNvPr id="221" name="Google Shape;221;p23"/>
          <p:cNvSpPr/>
          <p:nvPr/>
        </p:nvSpPr>
        <p:spPr>
          <a:xfrm>
            <a:off x="1524000" y="457200"/>
            <a:ext cx="7045325" cy="698500"/>
          </a:xfrm>
          <a:prstGeom prst="rect">
            <a:avLst/>
          </a:prstGeom>
          <a:noFill/>
          <a:ln>
            <a:noFill/>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4000" b="0" i="0" u="none" strike="noStrike" cap="none">
                <a:solidFill>
                  <a:schemeClr val="dk2"/>
                </a:solidFill>
                <a:latin typeface="Arial"/>
                <a:ea typeface="Arial"/>
                <a:cs typeface="Arial"/>
                <a:sym typeface="Arial"/>
              </a:rPr>
              <a:t>The Binomial Distribution</a:t>
            </a:r>
            <a:endParaRPr/>
          </a:p>
        </p:txBody>
      </p:sp>
      <p:cxnSp>
        <p:nvCxnSpPr>
          <p:cNvPr id="222" name="Google Shape;222;p23"/>
          <p:cNvCxnSpPr/>
          <p:nvPr/>
        </p:nvCxnSpPr>
        <p:spPr>
          <a:xfrm>
            <a:off x="2438400" y="2590800"/>
            <a:ext cx="1905000" cy="0"/>
          </a:xfrm>
          <a:prstGeom prst="straightConnector1">
            <a:avLst/>
          </a:prstGeom>
          <a:noFill/>
          <a:ln w="19050" cap="flat" cmpd="sng">
            <a:solidFill>
              <a:schemeClr val="dk1"/>
            </a:solidFill>
            <a:prstDash val="solid"/>
            <a:round/>
            <a:headEnd type="none" w="med" len="med"/>
            <a:tailEnd type="none" w="med" len="med"/>
          </a:ln>
        </p:spPr>
      </p:cxnSp>
      <p:cxnSp>
        <p:nvCxnSpPr>
          <p:cNvPr id="223" name="Google Shape;223;p23"/>
          <p:cNvCxnSpPr/>
          <p:nvPr/>
        </p:nvCxnSpPr>
        <p:spPr>
          <a:xfrm>
            <a:off x="1600200" y="3962400"/>
            <a:ext cx="0" cy="1981200"/>
          </a:xfrm>
          <a:prstGeom prst="straightConnector1">
            <a:avLst/>
          </a:prstGeom>
          <a:noFill/>
          <a:ln w="19050" cap="flat" cmpd="sng">
            <a:solidFill>
              <a:schemeClr val="dk1"/>
            </a:solidFill>
            <a:prstDash val="solid"/>
            <a:round/>
            <a:headEnd type="none" w="med" len="med"/>
            <a:tailEnd type="none" w="med" len="med"/>
          </a:ln>
        </p:spPr>
      </p:cxnSp>
      <p:cxnSp>
        <p:nvCxnSpPr>
          <p:cNvPr id="224" name="Google Shape;224;p23"/>
          <p:cNvCxnSpPr/>
          <p:nvPr/>
        </p:nvCxnSpPr>
        <p:spPr>
          <a:xfrm>
            <a:off x="4343400" y="2438400"/>
            <a:ext cx="0" cy="152400"/>
          </a:xfrm>
          <a:prstGeom prst="straightConnector1">
            <a:avLst/>
          </a:prstGeom>
          <a:noFill/>
          <a:ln w="19050" cap="flat" cmpd="sng">
            <a:solidFill>
              <a:schemeClr val="dk1"/>
            </a:solidFill>
            <a:prstDash val="solid"/>
            <a:round/>
            <a:headEnd type="none" w="med" len="med"/>
            <a:tailEnd type="none" w="med" len="med"/>
          </a:ln>
        </p:spPr>
      </p:cxnSp>
      <p:sp>
        <p:nvSpPr>
          <p:cNvPr id="225" name="Google Shape;225;p23"/>
          <p:cNvSpPr/>
          <p:nvPr/>
        </p:nvSpPr>
        <p:spPr>
          <a:xfrm>
            <a:off x="1828800" y="4343400"/>
            <a:ext cx="1676400" cy="466725"/>
          </a:xfrm>
          <a:prstGeom prst="rect">
            <a:avLst/>
          </a:prstGeom>
          <a:solidFill>
            <a:srgbClr val="BBD7FF"/>
          </a:solidFill>
          <a:ln w="12700" cap="flat" cmpd="sng">
            <a:solidFill>
              <a:srgbClr val="000066"/>
            </a:solidFill>
            <a:prstDash val="solid"/>
            <a:miter lim="800000"/>
            <a:headEnd type="none" w="sm" len="sm"/>
            <a:tailEnd type="none" w="sm" len="sm"/>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0" i="0" u="none" strike="noStrike" cap="none">
                <a:solidFill>
                  <a:schemeClr val="dk1"/>
                </a:solidFill>
                <a:latin typeface="Arial"/>
                <a:ea typeface="Arial"/>
                <a:cs typeface="Arial"/>
                <a:sym typeface="Arial"/>
              </a:rPr>
              <a:t>Binomial</a:t>
            </a:r>
            <a:endParaRPr/>
          </a:p>
        </p:txBody>
      </p:sp>
      <p:sp>
        <p:nvSpPr>
          <p:cNvPr id="226" name="Google Shape;226;p23"/>
          <p:cNvSpPr/>
          <p:nvPr/>
        </p:nvSpPr>
        <p:spPr>
          <a:xfrm>
            <a:off x="1828800" y="5715000"/>
            <a:ext cx="2590800" cy="466725"/>
          </a:xfrm>
          <a:prstGeom prst="rect">
            <a:avLst/>
          </a:prstGeom>
          <a:noFill/>
          <a:ln w="12700" cap="flat" cmpd="sng">
            <a:solidFill>
              <a:schemeClr val="dk1"/>
            </a:solidFill>
            <a:prstDash val="solid"/>
            <a:miter lim="800000"/>
            <a:headEnd type="none" w="sm" len="sm"/>
            <a:tailEnd type="none" w="sm" len="sm"/>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0" i="0" u="none" strike="noStrike" cap="none">
                <a:solidFill>
                  <a:schemeClr val="dk1"/>
                </a:solidFill>
                <a:latin typeface="Arial"/>
                <a:ea typeface="Arial"/>
                <a:cs typeface="Arial"/>
                <a:sym typeface="Arial"/>
              </a:rPr>
              <a:t>Hypergeometric</a:t>
            </a:r>
            <a:endParaRPr/>
          </a:p>
        </p:txBody>
      </p:sp>
      <p:sp>
        <p:nvSpPr>
          <p:cNvPr id="227" name="Google Shape;227;p23"/>
          <p:cNvSpPr/>
          <p:nvPr/>
        </p:nvSpPr>
        <p:spPr>
          <a:xfrm>
            <a:off x="1828800" y="5029200"/>
            <a:ext cx="1447800" cy="466725"/>
          </a:xfrm>
          <a:prstGeom prst="rect">
            <a:avLst/>
          </a:prstGeom>
          <a:noFill/>
          <a:ln w="12700" cap="flat" cmpd="sng">
            <a:solidFill>
              <a:schemeClr val="dk1"/>
            </a:solidFill>
            <a:prstDash val="solid"/>
            <a:miter lim="800000"/>
            <a:headEnd type="none" w="sm" len="sm"/>
            <a:tailEnd type="none" w="sm" len="sm"/>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0" i="0" u="none" strike="noStrike" cap="none">
                <a:solidFill>
                  <a:schemeClr val="dk1"/>
                </a:solidFill>
                <a:latin typeface="Arial"/>
                <a:ea typeface="Arial"/>
                <a:cs typeface="Arial"/>
                <a:sym typeface="Arial"/>
              </a:rPr>
              <a:t>Poisson</a:t>
            </a:r>
            <a:endParaRPr/>
          </a:p>
        </p:txBody>
      </p:sp>
      <p:sp>
        <p:nvSpPr>
          <p:cNvPr id="228" name="Google Shape;228;p23"/>
          <p:cNvSpPr/>
          <p:nvPr/>
        </p:nvSpPr>
        <p:spPr>
          <a:xfrm>
            <a:off x="3276600" y="1600200"/>
            <a:ext cx="2286000" cy="831850"/>
          </a:xfrm>
          <a:prstGeom prst="rect">
            <a:avLst/>
          </a:prstGeom>
          <a:noFill/>
          <a:ln w="12700" cap="flat" cmpd="sng">
            <a:solidFill>
              <a:schemeClr val="dk1"/>
            </a:solidFill>
            <a:prstDash val="solid"/>
            <a:miter lim="800000"/>
            <a:headEnd type="none" w="sm" len="sm"/>
            <a:tailEnd type="none" w="sm" len="sm"/>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Probability Distributions</a:t>
            </a:r>
            <a:endParaRPr/>
          </a:p>
        </p:txBody>
      </p:sp>
      <p:sp>
        <p:nvSpPr>
          <p:cNvPr id="229" name="Google Shape;229;p23"/>
          <p:cNvSpPr/>
          <p:nvPr/>
        </p:nvSpPr>
        <p:spPr>
          <a:xfrm>
            <a:off x="1447800" y="2743200"/>
            <a:ext cx="2209800" cy="1196975"/>
          </a:xfrm>
          <a:prstGeom prst="rect">
            <a:avLst/>
          </a:prstGeom>
          <a:noFill/>
          <a:ln w="12700" cap="flat" cmpd="sng">
            <a:solidFill>
              <a:schemeClr val="dk1"/>
            </a:solidFill>
            <a:prstDash val="solid"/>
            <a:miter lim="800000"/>
            <a:headEnd type="none" w="sm" len="sm"/>
            <a:tailEnd type="none" w="sm" len="sm"/>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Discrete</a:t>
            </a:r>
            <a:r>
              <a:rPr lang="en-US" sz="2400" b="0" i="0" u="none" strike="noStrike" cap="none">
                <a:solidFill>
                  <a:schemeClr val="dk1"/>
                </a:solidFill>
                <a:latin typeface="Arial"/>
                <a:ea typeface="Arial"/>
                <a:cs typeface="Arial"/>
                <a:sym typeface="Arial"/>
              </a:rPr>
              <a:t> </a:t>
            </a:r>
            <a:endParaRPr/>
          </a:p>
          <a:p>
            <a:pPr marL="0" marR="0" lvl="0" indent="0" algn="ctr" rtl="0">
              <a:spcBef>
                <a:spcPts val="0"/>
              </a:spcBef>
              <a:spcAft>
                <a:spcPts val="0"/>
              </a:spcAft>
              <a:buNone/>
            </a:pPr>
            <a:r>
              <a:rPr lang="en-US" sz="2400" b="0" i="0" u="none" strike="noStrike" cap="none">
                <a:solidFill>
                  <a:schemeClr val="dk1"/>
                </a:solidFill>
                <a:latin typeface="Arial"/>
                <a:ea typeface="Arial"/>
                <a:cs typeface="Arial"/>
                <a:sym typeface="Arial"/>
              </a:rPr>
              <a:t>Probability Distributions</a:t>
            </a:r>
            <a:endParaRPr/>
          </a:p>
        </p:txBody>
      </p:sp>
      <p:pic>
        <p:nvPicPr>
          <p:cNvPr id="230" name="Google Shape;230;p23"/>
          <p:cNvPicPr preferRelativeResize="0"/>
          <p:nvPr/>
        </p:nvPicPr>
        <p:blipFill rotWithShape="1">
          <a:blip r:embed="rId3">
            <a:alphaModFix/>
          </a:blip>
          <a:srcRect/>
          <a:stretch/>
        </p:blipFill>
        <p:spPr>
          <a:xfrm>
            <a:off x="4800600" y="3316288"/>
            <a:ext cx="3640138" cy="2876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4"/>
          <p:cNvSpPr txBox="1">
            <a:spLocks noGrp="1"/>
          </p:cNvSpPr>
          <p:nvPr>
            <p:ph type="title"/>
          </p:nvPr>
        </p:nvSpPr>
        <p:spPr>
          <a:xfrm>
            <a:off x="-228600" y="76200"/>
            <a:ext cx="9677400" cy="9906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sz="3100"/>
              <a:t>	Constructing a Discrete Probability Distribution</a:t>
            </a:r>
            <a:endParaRPr/>
          </a:p>
        </p:txBody>
      </p:sp>
      <p:sp>
        <p:nvSpPr>
          <p:cNvPr id="237" name="Google Shape;237;p24"/>
          <p:cNvSpPr/>
          <p:nvPr/>
        </p:nvSpPr>
        <p:spPr>
          <a:xfrm>
            <a:off x="228600" y="1460500"/>
            <a:ext cx="8642350" cy="4835525"/>
          </a:xfrm>
          <a:prstGeom prst="rect">
            <a:avLst/>
          </a:prstGeom>
          <a:solidFill>
            <a:schemeClr val="accent2">
              <a:alpha val="59607"/>
            </a:schemeClr>
          </a:solidFill>
          <a:ln w="9525" cap="flat" cmpd="sng">
            <a:solidFill>
              <a:schemeClr val="dk1"/>
            </a:solidFill>
            <a:prstDash val="solid"/>
            <a:miter lim="800000"/>
            <a:headEnd type="none" w="sm" len="sm"/>
            <a:tailEnd type="none" w="sm" len="sm"/>
          </a:ln>
        </p:spPr>
        <p:txBody>
          <a:bodyPr spcFirstLastPara="1" wrap="square" lIns="274300" tIns="137150" rIns="91425" bIns="137150" anchor="t" anchorCtr="0">
            <a:noAutofit/>
          </a:bodyPr>
          <a:lstStyle/>
          <a:p>
            <a:pPr marL="0" marR="0" lvl="0" indent="0" algn="ctr" rtl="0">
              <a:spcBef>
                <a:spcPts val="0"/>
              </a:spcBef>
              <a:spcAft>
                <a:spcPts val="0"/>
              </a:spcAft>
              <a:buNone/>
            </a:pPr>
            <a:r>
              <a:rPr lang="en-US" sz="2400" b="1" i="0" u="none" strike="noStrike" cap="none">
                <a:solidFill>
                  <a:schemeClr val="dk1"/>
                </a:solidFill>
                <a:latin typeface="Arial"/>
                <a:ea typeface="Arial"/>
                <a:cs typeface="Arial"/>
                <a:sym typeface="Arial"/>
              </a:rPr>
              <a:t>Guidelines</a:t>
            </a:r>
            <a:endParaRPr/>
          </a:p>
          <a:p>
            <a:pPr marL="0" marR="0" lvl="0" indent="0" algn="ctr" rtl="0">
              <a:spcBef>
                <a:spcPts val="480"/>
              </a:spcBef>
              <a:spcAft>
                <a:spcPts val="0"/>
              </a:spcAft>
              <a:buNone/>
            </a:pPr>
            <a:r>
              <a:rPr lang="en-US" sz="2400" b="0" i="0" u="none" strike="noStrike" cap="none">
                <a:solidFill>
                  <a:schemeClr val="dk1"/>
                </a:solidFill>
                <a:latin typeface="Arial"/>
                <a:ea typeface="Arial"/>
                <a:cs typeface="Arial"/>
                <a:sym typeface="Arial"/>
              </a:rPr>
              <a:t>Let </a:t>
            </a:r>
            <a:r>
              <a:rPr lang="en-US" sz="2400" b="0" i="1" u="none" strike="noStrike" cap="none">
                <a:solidFill>
                  <a:schemeClr val="dk1"/>
                </a:solidFill>
                <a:latin typeface="Arial"/>
                <a:ea typeface="Arial"/>
                <a:cs typeface="Arial"/>
                <a:sym typeface="Arial"/>
              </a:rPr>
              <a:t>x</a:t>
            </a:r>
            <a:r>
              <a:rPr lang="en-US" sz="2400" b="0" i="0" u="none" strike="noStrike" cap="none">
                <a:solidFill>
                  <a:schemeClr val="dk1"/>
                </a:solidFill>
                <a:latin typeface="Arial"/>
                <a:ea typeface="Arial"/>
                <a:cs typeface="Arial"/>
                <a:sym typeface="Arial"/>
              </a:rPr>
              <a:t> be a discrete random variable with possible outcomes </a:t>
            </a:r>
            <a:r>
              <a:rPr lang="en-US" sz="2400" b="0" i="1" u="none" strike="noStrike" cap="none">
                <a:solidFill>
                  <a:schemeClr val="dk1"/>
                </a:solidFill>
                <a:latin typeface="Arial"/>
                <a:ea typeface="Arial"/>
                <a:cs typeface="Arial"/>
                <a:sym typeface="Arial"/>
              </a:rPr>
              <a:t>x</a:t>
            </a:r>
            <a:r>
              <a:rPr lang="en-US" sz="2400" b="0" i="0" u="none" strike="noStrike" cap="none" baseline="-25000">
                <a:solidFill>
                  <a:schemeClr val="dk1"/>
                </a:solidFill>
                <a:latin typeface="Arial"/>
                <a:ea typeface="Arial"/>
                <a:cs typeface="Arial"/>
                <a:sym typeface="Arial"/>
              </a:rPr>
              <a:t>1</a:t>
            </a:r>
            <a:r>
              <a:rPr lang="en-US" sz="2400" b="0" i="0" u="none" strike="noStrike" cap="none">
                <a:solidFill>
                  <a:schemeClr val="dk1"/>
                </a:solidFill>
                <a:latin typeface="Arial"/>
                <a:ea typeface="Arial"/>
                <a:cs typeface="Arial"/>
                <a:sym typeface="Arial"/>
              </a:rPr>
              <a:t>, </a:t>
            </a:r>
            <a:r>
              <a:rPr lang="en-US" sz="2400" b="0" i="1" u="none" strike="noStrike" cap="none">
                <a:solidFill>
                  <a:schemeClr val="dk1"/>
                </a:solidFill>
                <a:latin typeface="Arial"/>
                <a:ea typeface="Arial"/>
                <a:cs typeface="Arial"/>
                <a:sym typeface="Arial"/>
              </a:rPr>
              <a:t>x</a:t>
            </a:r>
            <a:r>
              <a:rPr lang="en-US" sz="2400" b="0" i="0" u="none" strike="noStrike" cap="none" baseline="-25000">
                <a:solidFill>
                  <a:schemeClr val="dk1"/>
                </a:solidFill>
                <a:latin typeface="Arial"/>
                <a:ea typeface="Arial"/>
                <a:cs typeface="Arial"/>
                <a:sym typeface="Arial"/>
              </a:rPr>
              <a:t>2</a:t>
            </a:r>
            <a:r>
              <a:rPr lang="en-US" sz="2400" b="0" i="0" u="none" strike="noStrike" cap="none">
                <a:solidFill>
                  <a:schemeClr val="dk1"/>
                </a:solidFill>
                <a:latin typeface="Arial"/>
                <a:ea typeface="Arial"/>
                <a:cs typeface="Arial"/>
                <a:sym typeface="Arial"/>
              </a:rPr>
              <a:t>, … , </a:t>
            </a:r>
            <a:r>
              <a:rPr lang="en-US" sz="2400" b="0" i="1" u="none" strike="noStrike" cap="none">
                <a:solidFill>
                  <a:schemeClr val="dk1"/>
                </a:solidFill>
                <a:latin typeface="Arial"/>
                <a:ea typeface="Arial"/>
                <a:cs typeface="Arial"/>
                <a:sym typeface="Arial"/>
              </a:rPr>
              <a:t>x</a:t>
            </a:r>
            <a:r>
              <a:rPr lang="en-US" sz="2400" b="0" i="1" u="none" strike="noStrike" cap="none" baseline="-25000">
                <a:solidFill>
                  <a:schemeClr val="dk1"/>
                </a:solidFill>
                <a:latin typeface="Arial"/>
                <a:ea typeface="Arial"/>
                <a:cs typeface="Arial"/>
                <a:sym typeface="Arial"/>
              </a:rPr>
              <a:t>n</a:t>
            </a:r>
            <a:r>
              <a:rPr lang="en-US" sz="2400" b="0" i="0" u="none" strike="noStrike" cap="none">
                <a:solidFill>
                  <a:schemeClr val="dk1"/>
                </a:solidFill>
                <a:latin typeface="Arial"/>
                <a:ea typeface="Arial"/>
                <a:cs typeface="Arial"/>
                <a:sym typeface="Arial"/>
              </a:rPr>
              <a:t>.</a:t>
            </a:r>
            <a:endParaRPr/>
          </a:p>
        </p:txBody>
      </p:sp>
      <p:sp>
        <p:nvSpPr>
          <p:cNvPr id="238" name="Google Shape;238;p24"/>
          <p:cNvSpPr txBox="1"/>
          <p:nvPr/>
        </p:nvSpPr>
        <p:spPr>
          <a:xfrm>
            <a:off x="457200" y="2895600"/>
            <a:ext cx="8382000" cy="2308225"/>
          </a:xfrm>
          <a:prstGeom prst="rect">
            <a:avLst/>
          </a:prstGeom>
          <a:noFill/>
          <a:ln>
            <a:noFill/>
          </a:ln>
        </p:spPr>
        <p:txBody>
          <a:bodyPr spcFirstLastPara="1" wrap="square" lIns="91425" tIns="45700" rIns="91425" bIns="45700" anchor="t" anchorCtr="0">
            <a:spAutoFit/>
          </a:bodyPr>
          <a:lstStyle/>
          <a:p>
            <a:pPr marL="465138" marR="0" lvl="0" indent="-465138" algn="ctr" rtl="0">
              <a:spcBef>
                <a:spcPts val="0"/>
              </a:spcBef>
              <a:spcAft>
                <a:spcPts val="0"/>
              </a:spcAft>
              <a:buNone/>
            </a:pPr>
            <a:r>
              <a:rPr lang="en-US" sz="2400" b="0" i="0" u="none" strike="noStrike" cap="none">
                <a:solidFill>
                  <a:schemeClr val="dk1"/>
                </a:solidFill>
                <a:latin typeface="Arial"/>
                <a:ea typeface="Arial"/>
                <a:cs typeface="Arial"/>
                <a:sym typeface="Arial"/>
              </a:rPr>
              <a:t>1.  Make a frequency distribution for the possible outcomes.</a:t>
            </a:r>
            <a:endParaRPr/>
          </a:p>
          <a:p>
            <a:pPr marL="465138" marR="0" lvl="0" indent="-465138" algn="l" rtl="0">
              <a:spcBef>
                <a:spcPts val="0"/>
              </a:spcBef>
              <a:spcAft>
                <a:spcPts val="0"/>
              </a:spcAft>
              <a:buNone/>
            </a:pPr>
            <a:r>
              <a:rPr lang="en-US" sz="2400" b="0" i="0" u="none" strike="noStrike" cap="none">
                <a:solidFill>
                  <a:schemeClr val="dk1"/>
                </a:solidFill>
                <a:latin typeface="Arial"/>
                <a:ea typeface="Arial"/>
                <a:cs typeface="Arial"/>
                <a:sym typeface="Arial"/>
              </a:rPr>
              <a:t>2.  Find the sum of the frequencies.</a:t>
            </a:r>
            <a:endParaRPr/>
          </a:p>
          <a:p>
            <a:pPr marL="465138" marR="0" lvl="0" indent="-465138" algn="l" rtl="0">
              <a:spcBef>
                <a:spcPts val="0"/>
              </a:spcBef>
              <a:spcAft>
                <a:spcPts val="0"/>
              </a:spcAft>
              <a:buNone/>
            </a:pPr>
            <a:r>
              <a:rPr lang="en-US" sz="2400" b="0" i="0" u="none" strike="noStrike" cap="none">
                <a:solidFill>
                  <a:schemeClr val="dk1"/>
                </a:solidFill>
                <a:latin typeface="Arial"/>
                <a:ea typeface="Arial"/>
                <a:cs typeface="Arial"/>
                <a:sym typeface="Arial"/>
              </a:rPr>
              <a:t>3.	Find the probability of each possible outcome by dividing its frequency by the sum of the frequencies.</a:t>
            </a:r>
            <a:endParaRPr/>
          </a:p>
          <a:p>
            <a:pPr marL="465138" marR="0" lvl="0" indent="-465138" algn="l" rtl="0">
              <a:spcBef>
                <a:spcPts val="0"/>
              </a:spcBef>
              <a:spcAft>
                <a:spcPts val="0"/>
              </a:spcAft>
              <a:buNone/>
            </a:pPr>
            <a:r>
              <a:rPr lang="en-US" sz="2400" b="0" i="0" u="none" strike="noStrike" cap="none">
                <a:solidFill>
                  <a:schemeClr val="dk1"/>
                </a:solidFill>
                <a:latin typeface="Arial"/>
                <a:ea typeface="Arial"/>
                <a:cs typeface="Arial"/>
                <a:sym typeface="Arial"/>
              </a:rPr>
              <a:t>4.	Check that each probability is between 0 and 1 and that the sum is 1.</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8">
                                            <p:txEl>
                                              <p:pRg st="0" end="0"/>
                                            </p:txEl>
                                          </p:spTgt>
                                        </p:tgtEl>
                                        <p:attrNameLst>
                                          <p:attrName>style.visibility</p:attrName>
                                        </p:attrNameLst>
                                      </p:cBhvr>
                                      <p:to>
                                        <p:strVal val="visible"/>
                                      </p:to>
                                    </p:set>
                                    <p:animEffect transition="in" filter="fade">
                                      <p:cBhvr>
                                        <p:cTn id="7" dur="1000"/>
                                        <p:tgtEl>
                                          <p:spTgt spid="2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8">
                                            <p:txEl>
                                              <p:pRg st="1" end="1"/>
                                            </p:txEl>
                                          </p:spTgt>
                                        </p:tgtEl>
                                        <p:attrNameLst>
                                          <p:attrName>style.visibility</p:attrName>
                                        </p:attrNameLst>
                                      </p:cBhvr>
                                      <p:to>
                                        <p:strVal val="visible"/>
                                      </p:to>
                                    </p:set>
                                    <p:animEffect transition="in" filter="fade">
                                      <p:cBhvr>
                                        <p:cTn id="12" dur="1000"/>
                                        <p:tgtEl>
                                          <p:spTgt spid="23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8">
                                            <p:txEl>
                                              <p:pRg st="2" end="2"/>
                                            </p:txEl>
                                          </p:spTgt>
                                        </p:tgtEl>
                                        <p:attrNameLst>
                                          <p:attrName>style.visibility</p:attrName>
                                        </p:attrNameLst>
                                      </p:cBhvr>
                                      <p:to>
                                        <p:strVal val="visible"/>
                                      </p:to>
                                    </p:set>
                                    <p:animEffect transition="in" filter="fade">
                                      <p:cBhvr>
                                        <p:cTn id="17" dur="1000"/>
                                        <p:tgtEl>
                                          <p:spTgt spid="23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8">
                                            <p:txEl>
                                              <p:pRg st="3" end="3"/>
                                            </p:txEl>
                                          </p:spTgt>
                                        </p:tgtEl>
                                        <p:attrNameLst>
                                          <p:attrName>style.visibility</p:attrName>
                                        </p:attrNameLst>
                                      </p:cBhvr>
                                      <p:to>
                                        <p:strVal val="visible"/>
                                      </p:to>
                                    </p:set>
                                    <p:animEffect transition="in" filter="fade">
                                      <p:cBhvr>
                                        <p:cTn id="22" dur="1000"/>
                                        <p:tgtEl>
                                          <p:spTgt spid="23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9"/>
          <p:cNvSpPr txBox="1">
            <a:spLocks noGrp="1"/>
          </p:cNvSpPr>
          <p:nvPr>
            <p:ph type="title"/>
          </p:nvPr>
        </p:nvSpPr>
        <p:spPr>
          <a:xfrm>
            <a:off x="0" y="76200"/>
            <a:ext cx="9144000" cy="9906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sz="3200"/>
              <a:t>Graphing a Discrete Probability Distribution</a:t>
            </a:r>
            <a:endParaRPr/>
          </a:p>
        </p:txBody>
      </p:sp>
      <p:graphicFrame>
        <p:nvGraphicFramePr>
          <p:cNvPr id="358" name="Google Shape;358;p29"/>
          <p:cNvGraphicFramePr/>
          <p:nvPr/>
        </p:nvGraphicFramePr>
        <p:xfrm>
          <a:off x="438150" y="2363788"/>
          <a:ext cx="2457450" cy="1676400"/>
        </p:xfrm>
        <a:graphic>
          <a:graphicData uri="http://schemas.openxmlformats.org/drawingml/2006/table">
            <a:tbl>
              <a:tblPr>
                <a:noFill/>
                <a:tableStyleId>{1777CA09-EAB0-4852-9CA1-627062E9AE65}</a:tableStyleId>
              </a:tblPr>
              <a:tblGrid>
                <a:gridCol w="1295400"/>
                <a:gridCol w="1162050"/>
              </a:tblGrid>
              <a:tr h="180975">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1" i="0" u="none" strike="noStrike" cap="none">
                          <a:solidFill>
                            <a:schemeClr val="dk1"/>
                          </a:solidFill>
                          <a:latin typeface="Century"/>
                          <a:ea typeface="Century"/>
                          <a:cs typeface="Century"/>
                          <a:sym typeface="Century"/>
                        </a:rPr>
                        <a:t>Sum of spins,</a:t>
                      </a:r>
                      <a:r>
                        <a:rPr lang="en-US" sz="2200" b="1" i="1" u="none" strike="noStrike" cap="none">
                          <a:solidFill>
                            <a:schemeClr val="dk1"/>
                          </a:solidFill>
                          <a:latin typeface="Century"/>
                          <a:ea typeface="Century"/>
                          <a:cs typeface="Century"/>
                          <a:sym typeface="Century"/>
                        </a:rPr>
                        <a:t> x</a:t>
                      </a:r>
                      <a:endParaRPr/>
                    </a:p>
                  </a:txBody>
                  <a:tcPr marL="91450" marR="91450" marT="0" marB="0">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alpha val="49803"/>
                      </a:schemeClr>
                    </a:solidFill>
                  </a:tcPr>
                </a:tc>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1" i="1" u="none" strike="noStrike" cap="none">
                          <a:solidFill>
                            <a:schemeClr val="dk1"/>
                          </a:solidFill>
                          <a:latin typeface="Century"/>
                          <a:ea typeface="Century"/>
                          <a:cs typeface="Century"/>
                          <a:sym typeface="Century"/>
                        </a:rPr>
                        <a:t>P</a:t>
                      </a:r>
                      <a:r>
                        <a:rPr lang="en-US" sz="2200" b="1" i="0" u="none" strike="noStrike" cap="none">
                          <a:solidFill>
                            <a:schemeClr val="dk1"/>
                          </a:solidFill>
                          <a:latin typeface="Century"/>
                          <a:ea typeface="Century"/>
                          <a:cs typeface="Century"/>
                          <a:sym typeface="Century"/>
                        </a:rPr>
                        <a:t> (</a:t>
                      </a:r>
                      <a:r>
                        <a:rPr lang="en-US" sz="2200" b="1" i="1" u="none" strike="noStrike" cap="none">
                          <a:solidFill>
                            <a:schemeClr val="dk1"/>
                          </a:solidFill>
                          <a:latin typeface="Century"/>
                          <a:ea typeface="Century"/>
                          <a:cs typeface="Century"/>
                          <a:sym typeface="Century"/>
                        </a:rPr>
                        <a:t>x</a:t>
                      </a:r>
                      <a:r>
                        <a:rPr lang="en-US" sz="2200" b="1" i="0" u="none" strike="noStrike" cap="none">
                          <a:solidFill>
                            <a:schemeClr val="dk1"/>
                          </a:solidFill>
                          <a:latin typeface="Century"/>
                          <a:ea typeface="Century"/>
                          <a:cs typeface="Century"/>
                          <a:sym typeface="Century"/>
                        </a:rPr>
                        <a:t>)</a:t>
                      </a:r>
                      <a:endParaRPr sz="2200" b="1" i="1" u="none" strike="noStrike" cap="none">
                        <a:solidFill>
                          <a:schemeClr val="dk1"/>
                        </a:solidFill>
                        <a:latin typeface="Century"/>
                        <a:ea typeface="Century"/>
                        <a:cs typeface="Century"/>
                        <a:sym typeface="Century"/>
                      </a:endParaRPr>
                    </a:p>
                  </a:txBody>
                  <a:tcPr marL="91450" marR="91450" marT="0" marB="0"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alpha val="49803"/>
                      </a:schemeClr>
                    </a:solidFill>
                  </a:tcPr>
                </a:tc>
              </a:tr>
              <a:tr h="150825">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2</a:t>
                      </a:r>
                      <a:endParaRPr/>
                    </a:p>
                  </a:txBody>
                  <a:tcPr marL="91450" marR="91450" marT="0" marB="0">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0.0625</a:t>
                      </a:r>
                      <a:endParaRPr/>
                    </a:p>
                  </a:txBody>
                  <a:tcPr marL="91450" marR="91450" marT="0" marB="0">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50825">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3</a:t>
                      </a:r>
                      <a:endParaRPr/>
                    </a:p>
                  </a:txBody>
                  <a:tcPr marL="91450" marR="91450" marT="0" marB="0">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0.375</a:t>
                      </a:r>
                      <a:endParaRPr/>
                    </a:p>
                  </a:txBody>
                  <a:tcPr marL="91450" marR="91450" marT="0" marB="0">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80975">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4</a:t>
                      </a:r>
                      <a:endParaRPr/>
                    </a:p>
                  </a:txBody>
                  <a:tcPr marL="91450" marR="91450" marT="0" marB="0">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0.5625</a:t>
                      </a:r>
                      <a:endParaRPr/>
                    </a:p>
                  </a:txBody>
                  <a:tcPr marL="91450" marR="91450" marT="0" marB="0">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r>
            </a:tbl>
          </a:graphicData>
        </a:graphic>
      </p:graphicFrame>
      <p:sp>
        <p:nvSpPr>
          <p:cNvPr id="359" name="Google Shape;359;p29"/>
          <p:cNvSpPr/>
          <p:nvPr/>
        </p:nvSpPr>
        <p:spPr>
          <a:xfrm>
            <a:off x="228600" y="1314450"/>
            <a:ext cx="8642350" cy="59055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Example</a:t>
            </a:r>
            <a:r>
              <a:rPr lang="en-US" sz="2400">
                <a:solidFill>
                  <a:schemeClr val="dk1"/>
                </a:solidFill>
                <a:latin typeface="Times New Roman"/>
                <a:ea typeface="Times New Roman"/>
                <a:cs typeface="Times New Roman"/>
                <a:sym typeface="Times New Roman"/>
              </a:rPr>
              <a:t>:</a:t>
            </a:r>
            <a:endParaRPr/>
          </a:p>
          <a:p>
            <a:pPr marL="0" marR="0" lvl="0" indent="0" algn="ctr" rtl="0">
              <a:spcBef>
                <a:spcPts val="480"/>
              </a:spcBef>
              <a:spcAft>
                <a:spcPts val="0"/>
              </a:spcAft>
              <a:buNone/>
            </a:pPr>
            <a:r>
              <a:rPr lang="en-US" sz="2400">
                <a:solidFill>
                  <a:schemeClr val="dk1"/>
                </a:solidFill>
                <a:latin typeface="Times New Roman"/>
                <a:ea typeface="Times New Roman"/>
                <a:cs typeface="Times New Roman"/>
                <a:sym typeface="Times New Roman"/>
              </a:rPr>
              <a:t>Graph the following probability distribution using a histogram.</a:t>
            </a:r>
            <a:endParaRPr/>
          </a:p>
        </p:txBody>
      </p:sp>
      <p:grpSp>
        <p:nvGrpSpPr>
          <p:cNvPr id="360" name="Google Shape;360;p29"/>
          <p:cNvGrpSpPr/>
          <p:nvPr/>
        </p:nvGrpSpPr>
        <p:grpSpPr>
          <a:xfrm>
            <a:off x="3124200" y="2206625"/>
            <a:ext cx="5645150" cy="4194175"/>
            <a:chOff x="1968" y="1390"/>
            <a:chExt cx="3556" cy="2642"/>
          </a:xfrm>
        </p:grpSpPr>
        <p:grpSp>
          <p:nvGrpSpPr>
            <p:cNvPr id="361" name="Google Shape;361;p29"/>
            <p:cNvGrpSpPr/>
            <p:nvPr/>
          </p:nvGrpSpPr>
          <p:grpSpPr>
            <a:xfrm>
              <a:off x="1968" y="1526"/>
              <a:ext cx="3556" cy="2506"/>
              <a:chOff x="1968" y="1440"/>
              <a:chExt cx="3556" cy="2506"/>
            </a:xfrm>
          </p:grpSpPr>
          <p:grpSp>
            <p:nvGrpSpPr>
              <p:cNvPr id="362" name="Google Shape;362;p29"/>
              <p:cNvGrpSpPr/>
              <p:nvPr/>
            </p:nvGrpSpPr>
            <p:grpSpPr>
              <a:xfrm>
                <a:off x="1968" y="1440"/>
                <a:ext cx="3556" cy="2256"/>
                <a:chOff x="1968" y="1440"/>
                <a:chExt cx="3556" cy="2256"/>
              </a:xfrm>
            </p:grpSpPr>
            <p:sp>
              <p:nvSpPr>
                <p:cNvPr id="363" name="Google Shape;363;p29"/>
                <p:cNvSpPr/>
                <p:nvPr/>
              </p:nvSpPr>
              <p:spPr>
                <a:xfrm>
                  <a:off x="4216" y="1881"/>
                  <a:ext cx="686" cy="1557"/>
                </a:xfrm>
                <a:prstGeom prst="rect">
                  <a:avLst/>
                </a:prstGeom>
                <a:solidFill>
                  <a:schemeClr val="folHlink">
                    <a:alpha val="49803"/>
                  </a:schemeClr>
                </a:solidFill>
                <a:ln w="1117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364" name="Google Shape;364;p29"/>
                <p:cNvSpPr/>
                <p:nvPr/>
              </p:nvSpPr>
              <p:spPr>
                <a:xfrm>
                  <a:off x="3542" y="2410"/>
                  <a:ext cx="674" cy="1028"/>
                </a:xfrm>
                <a:prstGeom prst="rect">
                  <a:avLst/>
                </a:prstGeom>
                <a:solidFill>
                  <a:schemeClr val="folHlink">
                    <a:alpha val="49803"/>
                  </a:schemeClr>
                </a:solidFill>
                <a:ln w="1117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365" name="Google Shape;365;p29"/>
                <p:cNvSpPr/>
                <p:nvPr/>
              </p:nvSpPr>
              <p:spPr>
                <a:xfrm>
                  <a:off x="2867" y="3263"/>
                  <a:ext cx="675" cy="175"/>
                </a:xfrm>
                <a:prstGeom prst="rect">
                  <a:avLst/>
                </a:prstGeom>
                <a:solidFill>
                  <a:schemeClr val="folHlink">
                    <a:alpha val="49803"/>
                  </a:schemeClr>
                </a:solidFill>
                <a:ln w="1117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366" name="Google Shape;366;p29"/>
                <p:cNvSpPr txBox="1"/>
                <p:nvPr/>
              </p:nvSpPr>
              <p:spPr>
                <a:xfrm>
                  <a:off x="3456" y="1440"/>
                  <a:ext cx="2005" cy="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rgbClr val="000000"/>
                      </a:solidFill>
                      <a:latin typeface="Arial"/>
                      <a:ea typeface="Arial"/>
                      <a:cs typeface="Arial"/>
                      <a:sym typeface="Arial"/>
                    </a:rPr>
                    <a:t>Sum of Two Spins</a:t>
                  </a:r>
                  <a:endParaRPr/>
                </a:p>
              </p:txBody>
            </p:sp>
            <p:sp>
              <p:nvSpPr>
                <p:cNvPr id="367" name="Google Shape;367;p29"/>
                <p:cNvSpPr/>
                <p:nvPr/>
              </p:nvSpPr>
              <p:spPr>
                <a:xfrm>
                  <a:off x="2357" y="3329"/>
                  <a:ext cx="71" cy="15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600">
                      <a:solidFill>
                        <a:srgbClr val="000000"/>
                      </a:solidFill>
                      <a:latin typeface="Arial"/>
                      <a:ea typeface="Arial"/>
                      <a:cs typeface="Arial"/>
                      <a:sym typeface="Arial"/>
                    </a:rPr>
                    <a:t>0</a:t>
                  </a:r>
                  <a:endParaRPr sz="1600">
                    <a:solidFill>
                      <a:schemeClr val="dk1"/>
                    </a:solidFill>
                    <a:latin typeface="Arial"/>
                    <a:ea typeface="Arial"/>
                    <a:cs typeface="Arial"/>
                    <a:sym typeface="Arial"/>
                  </a:endParaRPr>
                </a:p>
              </p:txBody>
            </p:sp>
            <p:grpSp>
              <p:nvGrpSpPr>
                <p:cNvPr id="368" name="Google Shape;368;p29"/>
                <p:cNvGrpSpPr/>
                <p:nvPr/>
              </p:nvGrpSpPr>
              <p:grpSpPr>
                <a:xfrm>
                  <a:off x="2226" y="2235"/>
                  <a:ext cx="386" cy="154"/>
                  <a:chOff x="2082" y="2682"/>
                  <a:chExt cx="386" cy="154"/>
                </a:xfrm>
              </p:grpSpPr>
              <p:sp>
                <p:nvSpPr>
                  <p:cNvPr id="369" name="Google Shape;369;p29"/>
                  <p:cNvSpPr/>
                  <p:nvPr/>
                </p:nvSpPr>
                <p:spPr>
                  <a:xfrm>
                    <a:off x="2082" y="2682"/>
                    <a:ext cx="202" cy="15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600">
                        <a:solidFill>
                          <a:srgbClr val="000000"/>
                        </a:solidFill>
                        <a:latin typeface="Arial"/>
                        <a:ea typeface="Arial"/>
                        <a:cs typeface="Arial"/>
                        <a:sym typeface="Arial"/>
                      </a:rPr>
                      <a:t>0.4</a:t>
                    </a:r>
                    <a:endParaRPr sz="1600">
                      <a:solidFill>
                        <a:schemeClr val="dk1"/>
                      </a:solidFill>
                      <a:latin typeface="Arial"/>
                      <a:ea typeface="Arial"/>
                      <a:cs typeface="Arial"/>
                      <a:sym typeface="Arial"/>
                    </a:endParaRPr>
                  </a:p>
                </p:txBody>
              </p:sp>
              <p:cxnSp>
                <p:nvCxnSpPr>
                  <p:cNvPr id="370" name="Google Shape;370;p29"/>
                  <p:cNvCxnSpPr/>
                  <p:nvPr/>
                </p:nvCxnSpPr>
                <p:spPr>
                  <a:xfrm>
                    <a:off x="2347" y="2767"/>
                    <a:ext cx="121" cy="1"/>
                  </a:xfrm>
                  <a:prstGeom prst="straightConnector1">
                    <a:avLst/>
                  </a:prstGeom>
                  <a:noFill/>
                  <a:ln w="11100" cap="flat" cmpd="sng">
                    <a:solidFill>
                      <a:srgbClr val="000000"/>
                    </a:solidFill>
                    <a:prstDash val="solid"/>
                    <a:round/>
                    <a:headEnd type="none" w="med" len="med"/>
                    <a:tailEnd type="none" w="med" len="med"/>
                  </a:ln>
                </p:spPr>
              </p:cxnSp>
            </p:grpSp>
            <p:grpSp>
              <p:nvGrpSpPr>
                <p:cNvPr id="371" name="Google Shape;371;p29"/>
                <p:cNvGrpSpPr/>
                <p:nvPr/>
              </p:nvGrpSpPr>
              <p:grpSpPr>
                <a:xfrm>
                  <a:off x="2226" y="2520"/>
                  <a:ext cx="386" cy="154"/>
                  <a:chOff x="2082" y="2915"/>
                  <a:chExt cx="386" cy="154"/>
                </a:xfrm>
              </p:grpSpPr>
              <p:sp>
                <p:nvSpPr>
                  <p:cNvPr id="372" name="Google Shape;372;p29"/>
                  <p:cNvSpPr/>
                  <p:nvPr/>
                </p:nvSpPr>
                <p:spPr>
                  <a:xfrm>
                    <a:off x="2082" y="2915"/>
                    <a:ext cx="202" cy="15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600">
                        <a:solidFill>
                          <a:srgbClr val="000000"/>
                        </a:solidFill>
                        <a:latin typeface="Arial"/>
                        <a:ea typeface="Arial"/>
                        <a:cs typeface="Arial"/>
                        <a:sym typeface="Arial"/>
                      </a:rPr>
                      <a:t>0.3</a:t>
                    </a:r>
                    <a:endParaRPr sz="1600">
                      <a:solidFill>
                        <a:schemeClr val="dk1"/>
                      </a:solidFill>
                      <a:latin typeface="Arial"/>
                      <a:ea typeface="Arial"/>
                      <a:cs typeface="Arial"/>
                      <a:sym typeface="Arial"/>
                    </a:endParaRPr>
                  </a:p>
                </p:txBody>
              </p:sp>
              <p:cxnSp>
                <p:nvCxnSpPr>
                  <p:cNvPr id="373" name="Google Shape;373;p29"/>
                  <p:cNvCxnSpPr/>
                  <p:nvPr/>
                </p:nvCxnSpPr>
                <p:spPr>
                  <a:xfrm>
                    <a:off x="2347" y="3000"/>
                    <a:ext cx="121" cy="1"/>
                  </a:xfrm>
                  <a:prstGeom prst="straightConnector1">
                    <a:avLst/>
                  </a:prstGeom>
                  <a:noFill/>
                  <a:ln w="11100" cap="flat" cmpd="sng">
                    <a:solidFill>
                      <a:srgbClr val="000000"/>
                    </a:solidFill>
                    <a:prstDash val="solid"/>
                    <a:round/>
                    <a:headEnd type="none" w="med" len="med"/>
                    <a:tailEnd type="none" w="med" len="med"/>
                  </a:ln>
                </p:spPr>
              </p:cxnSp>
            </p:grpSp>
            <p:grpSp>
              <p:nvGrpSpPr>
                <p:cNvPr id="374" name="Google Shape;374;p29"/>
                <p:cNvGrpSpPr/>
                <p:nvPr/>
              </p:nvGrpSpPr>
              <p:grpSpPr>
                <a:xfrm>
                  <a:off x="2226" y="2806"/>
                  <a:ext cx="386" cy="154"/>
                  <a:chOff x="2082" y="3149"/>
                  <a:chExt cx="386" cy="154"/>
                </a:xfrm>
              </p:grpSpPr>
              <p:sp>
                <p:nvSpPr>
                  <p:cNvPr id="375" name="Google Shape;375;p29"/>
                  <p:cNvSpPr/>
                  <p:nvPr/>
                </p:nvSpPr>
                <p:spPr>
                  <a:xfrm>
                    <a:off x="2082" y="3149"/>
                    <a:ext cx="202" cy="15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600">
                        <a:solidFill>
                          <a:srgbClr val="000000"/>
                        </a:solidFill>
                        <a:latin typeface="Arial"/>
                        <a:ea typeface="Arial"/>
                        <a:cs typeface="Arial"/>
                        <a:sym typeface="Arial"/>
                      </a:rPr>
                      <a:t>0.2</a:t>
                    </a:r>
                    <a:endParaRPr sz="1600">
                      <a:solidFill>
                        <a:schemeClr val="dk1"/>
                      </a:solidFill>
                      <a:latin typeface="Arial"/>
                      <a:ea typeface="Arial"/>
                      <a:cs typeface="Arial"/>
                      <a:sym typeface="Arial"/>
                    </a:endParaRPr>
                  </a:p>
                </p:txBody>
              </p:sp>
              <p:cxnSp>
                <p:nvCxnSpPr>
                  <p:cNvPr id="376" name="Google Shape;376;p29"/>
                  <p:cNvCxnSpPr/>
                  <p:nvPr/>
                </p:nvCxnSpPr>
                <p:spPr>
                  <a:xfrm>
                    <a:off x="2347" y="3234"/>
                    <a:ext cx="121" cy="1"/>
                  </a:xfrm>
                  <a:prstGeom prst="straightConnector1">
                    <a:avLst/>
                  </a:prstGeom>
                  <a:noFill/>
                  <a:ln w="11100" cap="flat" cmpd="sng">
                    <a:solidFill>
                      <a:srgbClr val="000000"/>
                    </a:solidFill>
                    <a:prstDash val="solid"/>
                    <a:round/>
                    <a:headEnd type="none" w="med" len="med"/>
                    <a:tailEnd type="none" w="med" len="med"/>
                  </a:ln>
                </p:spPr>
              </p:cxnSp>
            </p:grpSp>
            <p:cxnSp>
              <p:nvCxnSpPr>
                <p:cNvPr id="377" name="Google Shape;377;p29"/>
                <p:cNvCxnSpPr/>
                <p:nvPr/>
              </p:nvCxnSpPr>
              <p:spPr>
                <a:xfrm>
                  <a:off x="2491" y="3431"/>
                  <a:ext cx="121" cy="3"/>
                </a:xfrm>
                <a:prstGeom prst="straightConnector1">
                  <a:avLst/>
                </a:prstGeom>
                <a:noFill/>
                <a:ln w="11100" cap="flat" cmpd="sng">
                  <a:solidFill>
                    <a:srgbClr val="000000"/>
                  </a:solidFill>
                  <a:prstDash val="solid"/>
                  <a:round/>
                  <a:headEnd type="none" w="med" len="med"/>
                  <a:tailEnd type="none" w="med" len="med"/>
                </a:ln>
              </p:spPr>
            </p:cxnSp>
            <p:cxnSp>
              <p:nvCxnSpPr>
                <p:cNvPr id="378" name="Google Shape;378;p29"/>
                <p:cNvCxnSpPr/>
                <p:nvPr/>
              </p:nvCxnSpPr>
              <p:spPr>
                <a:xfrm>
                  <a:off x="2612" y="1538"/>
                  <a:ext cx="1" cy="1950"/>
                </a:xfrm>
                <a:prstGeom prst="straightConnector1">
                  <a:avLst/>
                </a:prstGeom>
                <a:noFill/>
                <a:ln w="11100" cap="flat" cmpd="sng">
                  <a:solidFill>
                    <a:srgbClr val="000000"/>
                  </a:solidFill>
                  <a:prstDash val="solid"/>
                  <a:round/>
                  <a:headEnd type="triangle" w="med" len="med"/>
                  <a:tailEnd type="none" w="med" len="med"/>
                </a:ln>
              </p:spPr>
            </p:cxnSp>
            <p:cxnSp>
              <p:nvCxnSpPr>
                <p:cNvPr id="379" name="Google Shape;379;p29"/>
                <p:cNvCxnSpPr/>
                <p:nvPr/>
              </p:nvCxnSpPr>
              <p:spPr>
                <a:xfrm rot="10800000">
                  <a:off x="2573" y="3436"/>
                  <a:ext cx="2737" cy="4"/>
                </a:xfrm>
                <a:prstGeom prst="straightConnector1">
                  <a:avLst/>
                </a:prstGeom>
                <a:noFill/>
                <a:ln w="11100" cap="flat" cmpd="sng">
                  <a:solidFill>
                    <a:srgbClr val="000000"/>
                  </a:solidFill>
                  <a:prstDash val="solid"/>
                  <a:round/>
                  <a:headEnd type="triangle" w="med" len="med"/>
                  <a:tailEnd type="none" w="med" len="med"/>
                </a:ln>
              </p:spPr>
            </p:cxnSp>
            <p:sp>
              <p:nvSpPr>
                <p:cNvPr id="380" name="Google Shape;380;p29"/>
                <p:cNvSpPr txBox="1"/>
                <p:nvPr/>
              </p:nvSpPr>
              <p:spPr>
                <a:xfrm>
                  <a:off x="5313" y="3299"/>
                  <a:ext cx="211" cy="2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i="1">
                      <a:solidFill>
                        <a:srgbClr val="000000"/>
                      </a:solidFill>
                      <a:latin typeface="Arial"/>
                      <a:ea typeface="Arial"/>
                      <a:cs typeface="Arial"/>
                      <a:sym typeface="Arial"/>
                    </a:rPr>
                    <a:t>x</a:t>
                  </a:r>
                  <a:endParaRPr/>
                </a:p>
              </p:txBody>
            </p:sp>
            <p:sp>
              <p:nvSpPr>
                <p:cNvPr id="381" name="Google Shape;381;p29"/>
                <p:cNvSpPr txBox="1"/>
                <p:nvPr/>
              </p:nvSpPr>
              <p:spPr>
                <a:xfrm rot="-5400000">
                  <a:off x="1589" y="2443"/>
                  <a:ext cx="1008" cy="2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Probability</a:t>
                  </a:r>
                  <a:endParaRPr/>
                </a:p>
              </p:txBody>
            </p:sp>
            <p:grpSp>
              <p:nvGrpSpPr>
                <p:cNvPr id="382" name="Google Shape;382;p29"/>
                <p:cNvGrpSpPr/>
                <p:nvPr/>
              </p:nvGrpSpPr>
              <p:grpSpPr>
                <a:xfrm>
                  <a:off x="2024" y="1664"/>
                  <a:ext cx="588" cy="154"/>
                  <a:chOff x="1880" y="2214"/>
                  <a:chExt cx="588" cy="154"/>
                </a:xfrm>
              </p:grpSpPr>
              <p:cxnSp>
                <p:nvCxnSpPr>
                  <p:cNvPr id="383" name="Google Shape;383;p29"/>
                  <p:cNvCxnSpPr/>
                  <p:nvPr/>
                </p:nvCxnSpPr>
                <p:spPr>
                  <a:xfrm>
                    <a:off x="2347" y="2308"/>
                    <a:ext cx="121" cy="2"/>
                  </a:xfrm>
                  <a:prstGeom prst="straightConnector1">
                    <a:avLst/>
                  </a:prstGeom>
                  <a:noFill/>
                  <a:ln w="11100" cap="flat" cmpd="sng">
                    <a:solidFill>
                      <a:srgbClr val="000000"/>
                    </a:solidFill>
                    <a:prstDash val="solid"/>
                    <a:round/>
                    <a:headEnd type="none" w="med" len="med"/>
                    <a:tailEnd type="none" w="med" len="med"/>
                  </a:ln>
                </p:spPr>
              </p:cxnSp>
              <p:sp>
                <p:nvSpPr>
                  <p:cNvPr id="384" name="Google Shape;384;p29"/>
                  <p:cNvSpPr/>
                  <p:nvPr/>
                </p:nvSpPr>
                <p:spPr>
                  <a:xfrm>
                    <a:off x="1880" y="2214"/>
                    <a:ext cx="404" cy="15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600">
                        <a:solidFill>
                          <a:srgbClr val="000000"/>
                        </a:solidFill>
                        <a:latin typeface="Arial"/>
                        <a:ea typeface="Arial"/>
                        <a:cs typeface="Arial"/>
                        <a:sym typeface="Arial"/>
                      </a:rPr>
                      <a:t>0.6</a:t>
                    </a:r>
                    <a:endParaRPr sz="1600">
                      <a:solidFill>
                        <a:schemeClr val="dk1"/>
                      </a:solidFill>
                      <a:latin typeface="Arial"/>
                      <a:ea typeface="Arial"/>
                      <a:cs typeface="Arial"/>
                      <a:sym typeface="Arial"/>
                    </a:endParaRPr>
                  </a:p>
                </p:txBody>
              </p:sp>
            </p:grpSp>
            <p:grpSp>
              <p:nvGrpSpPr>
                <p:cNvPr id="385" name="Google Shape;385;p29"/>
                <p:cNvGrpSpPr/>
                <p:nvPr/>
              </p:nvGrpSpPr>
              <p:grpSpPr>
                <a:xfrm>
                  <a:off x="2226" y="3091"/>
                  <a:ext cx="391" cy="154"/>
                  <a:chOff x="2082" y="3383"/>
                  <a:chExt cx="391" cy="154"/>
                </a:xfrm>
              </p:grpSpPr>
              <p:sp>
                <p:nvSpPr>
                  <p:cNvPr id="386" name="Google Shape;386;p29"/>
                  <p:cNvSpPr/>
                  <p:nvPr/>
                </p:nvSpPr>
                <p:spPr>
                  <a:xfrm>
                    <a:off x="2082" y="3383"/>
                    <a:ext cx="202" cy="15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600">
                        <a:solidFill>
                          <a:srgbClr val="000000"/>
                        </a:solidFill>
                        <a:latin typeface="Arial"/>
                        <a:ea typeface="Arial"/>
                        <a:cs typeface="Arial"/>
                        <a:sym typeface="Arial"/>
                      </a:rPr>
                      <a:t>0.1</a:t>
                    </a:r>
                    <a:endParaRPr sz="1600">
                      <a:solidFill>
                        <a:schemeClr val="dk1"/>
                      </a:solidFill>
                      <a:latin typeface="Arial"/>
                      <a:ea typeface="Arial"/>
                      <a:cs typeface="Arial"/>
                      <a:sym typeface="Arial"/>
                    </a:endParaRPr>
                  </a:p>
                </p:txBody>
              </p:sp>
              <p:cxnSp>
                <p:nvCxnSpPr>
                  <p:cNvPr id="387" name="Google Shape;387;p29"/>
                  <p:cNvCxnSpPr/>
                  <p:nvPr/>
                </p:nvCxnSpPr>
                <p:spPr>
                  <a:xfrm>
                    <a:off x="2352" y="3476"/>
                    <a:ext cx="121" cy="1"/>
                  </a:xfrm>
                  <a:prstGeom prst="straightConnector1">
                    <a:avLst/>
                  </a:prstGeom>
                  <a:noFill/>
                  <a:ln w="11100" cap="flat" cmpd="sng">
                    <a:solidFill>
                      <a:srgbClr val="000000"/>
                    </a:solidFill>
                    <a:prstDash val="solid"/>
                    <a:round/>
                    <a:headEnd type="none" w="med" len="med"/>
                    <a:tailEnd type="none" w="med" len="med"/>
                  </a:ln>
                </p:spPr>
              </p:cxnSp>
            </p:grpSp>
            <p:grpSp>
              <p:nvGrpSpPr>
                <p:cNvPr id="388" name="Google Shape;388;p29"/>
                <p:cNvGrpSpPr/>
                <p:nvPr/>
              </p:nvGrpSpPr>
              <p:grpSpPr>
                <a:xfrm>
                  <a:off x="2024" y="1949"/>
                  <a:ext cx="593" cy="154"/>
                  <a:chOff x="1880" y="2448"/>
                  <a:chExt cx="593" cy="154"/>
                </a:xfrm>
              </p:grpSpPr>
              <p:sp>
                <p:nvSpPr>
                  <p:cNvPr id="389" name="Google Shape;389;p29"/>
                  <p:cNvSpPr/>
                  <p:nvPr/>
                </p:nvSpPr>
                <p:spPr>
                  <a:xfrm>
                    <a:off x="1880" y="2448"/>
                    <a:ext cx="404" cy="154"/>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600">
                        <a:solidFill>
                          <a:srgbClr val="000000"/>
                        </a:solidFill>
                        <a:latin typeface="Arial"/>
                        <a:ea typeface="Arial"/>
                        <a:cs typeface="Arial"/>
                        <a:sym typeface="Arial"/>
                      </a:rPr>
                      <a:t>0.5</a:t>
                    </a:r>
                    <a:endParaRPr sz="1600">
                      <a:solidFill>
                        <a:schemeClr val="dk1"/>
                      </a:solidFill>
                      <a:latin typeface="Arial"/>
                      <a:ea typeface="Arial"/>
                      <a:cs typeface="Arial"/>
                      <a:sym typeface="Arial"/>
                    </a:endParaRPr>
                  </a:p>
                </p:txBody>
              </p:sp>
              <p:cxnSp>
                <p:nvCxnSpPr>
                  <p:cNvPr id="390" name="Google Shape;390;p29"/>
                  <p:cNvCxnSpPr/>
                  <p:nvPr/>
                </p:nvCxnSpPr>
                <p:spPr>
                  <a:xfrm>
                    <a:off x="2352" y="2542"/>
                    <a:ext cx="121" cy="1"/>
                  </a:xfrm>
                  <a:prstGeom prst="straightConnector1">
                    <a:avLst/>
                  </a:prstGeom>
                  <a:noFill/>
                  <a:ln w="11100" cap="flat" cmpd="sng">
                    <a:solidFill>
                      <a:srgbClr val="000000"/>
                    </a:solidFill>
                    <a:prstDash val="solid"/>
                    <a:round/>
                    <a:headEnd type="none" w="med" len="med"/>
                    <a:tailEnd type="none" w="med" len="med"/>
                  </a:ln>
                </p:spPr>
              </p:cxnSp>
            </p:grpSp>
            <p:cxnSp>
              <p:nvCxnSpPr>
                <p:cNvPr id="391" name="Google Shape;391;p29"/>
                <p:cNvCxnSpPr/>
                <p:nvPr/>
              </p:nvCxnSpPr>
              <p:spPr>
                <a:xfrm flipH="1">
                  <a:off x="2640" y="3335"/>
                  <a:ext cx="96" cy="240"/>
                </a:xfrm>
                <a:prstGeom prst="straightConnector1">
                  <a:avLst/>
                </a:prstGeom>
                <a:noFill/>
                <a:ln w="9525" cap="flat" cmpd="sng">
                  <a:solidFill>
                    <a:schemeClr val="dk1"/>
                  </a:solidFill>
                  <a:prstDash val="solid"/>
                  <a:round/>
                  <a:headEnd type="none" w="med" len="med"/>
                  <a:tailEnd type="none" w="med" len="med"/>
                </a:ln>
              </p:spPr>
            </p:cxnSp>
            <p:cxnSp>
              <p:nvCxnSpPr>
                <p:cNvPr id="392" name="Google Shape;392;p29"/>
                <p:cNvCxnSpPr/>
                <p:nvPr/>
              </p:nvCxnSpPr>
              <p:spPr>
                <a:xfrm flipH="1">
                  <a:off x="2688" y="3341"/>
                  <a:ext cx="96" cy="240"/>
                </a:xfrm>
                <a:prstGeom prst="straightConnector1">
                  <a:avLst/>
                </a:prstGeom>
                <a:noFill/>
                <a:ln w="9525" cap="flat" cmpd="sng">
                  <a:solidFill>
                    <a:schemeClr val="dk1"/>
                  </a:solidFill>
                  <a:prstDash val="solid"/>
                  <a:round/>
                  <a:headEnd type="none" w="med" len="med"/>
                  <a:tailEnd type="none" w="med" len="med"/>
                </a:ln>
              </p:spPr>
            </p:cxnSp>
            <p:sp>
              <p:nvSpPr>
                <p:cNvPr id="393" name="Google Shape;393;p29"/>
                <p:cNvSpPr/>
                <p:nvPr/>
              </p:nvSpPr>
              <p:spPr>
                <a:xfrm>
                  <a:off x="3165" y="3532"/>
                  <a:ext cx="71" cy="154"/>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2</a:t>
                  </a:r>
                  <a:endParaRPr sz="1600">
                    <a:solidFill>
                      <a:schemeClr val="dk1"/>
                    </a:solidFill>
                    <a:latin typeface="Arial"/>
                    <a:ea typeface="Arial"/>
                    <a:cs typeface="Arial"/>
                    <a:sym typeface="Arial"/>
                  </a:endParaRPr>
                </a:p>
              </p:txBody>
            </p:sp>
            <p:sp>
              <p:nvSpPr>
                <p:cNvPr id="394" name="Google Shape;394;p29"/>
                <p:cNvSpPr/>
                <p:nvPr/>
              </p:nvSpPr>
              <p:spPr>
                <a:xfrm>
                  <a:off x="3828" y="3542"/>
                  <a:ext cx="71" cy="154"/>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3</a:t>
                  </a:r>
                  <a:endParaRPr sz="1600">
                    <a:solidFill>
                      <a:schemeClr val="dk1"/>
                    </a:solidFill>
                    <a:latin typeface="Arial"/>
                    <a:ea typeface="Arial"/>
                    <a:cs typeface="Arial"/>
                    <a:sym typeface="Arial"/>
                  </a:endParaRPr>
                </a:p>
              </p:txBody>
            </p:sp>
            <p:sp>
              <p:nvSpPr>
                <p:cNvPr id="395" name="Google Shape;395;p29"/>
                <p:cNvSpPr/>
                <p:nvPr/>
              </p:nvSpPr>
              <p:spPr>
                <a:xfrm>
                  <a:off x="4500" y="3542"/>
                  <a:ext cx="71" cy="154"/>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4</a:t>
                  </a:r>
                  <a:endParaRPr sz="1600">
                    <a:solidFill>
                      <a:schemeClr val="dk1"/>
                    </a:solidFill>
                    <a:latin typeface="Arial"/>
                    <a:ea typeface="Arial"/>
                    <a:cs typeface="Arial"/>
                    <a:sym typeface="Arial"/>
                  </a:endParaRPr>
                </a:p>
              </p:txBody>
            </p:sp>
            <p:cxnSp>
              <p:nvCxnSpPr>
                <p:cNvPr id="396" name="Google Shape;396;p29"/>
                <p:cNvCxnSpPr/>
                <p:nvPr/>
              </p:nvCxnSpPr>
              <p:spPr>
                <a:xfrm>
                  <a:off x="3204" y="3357"/>
                  <a:ext cx="0" cy="144"/>
                </a:xfrm>
                <a:prstGeom prst="straightConnector1">
                  <a:avLst/>
                </a:prstGeom>
                <a:noFill/>
                <a:ln w="9525" cap="flat" cmpd="sng">
                  <a:solidFill>
                    <a:schemeClr val="dk1"/>
                  </a:solidFill>
                  <a:prstDash val="solid"/>
                  <a:round/>
                  <a:headEnd type="none" w="med" len="med"/>
                  <a:tailEnd type="none" w="med" len="med"/>
                </a:ln>
              </p:spPr>
            </p:cxnSp>
            <p:cxnSp>
              <p:nvCxnSpPr>
                <p:cNvPr id="397" name="Google Shape;397;p29"/>
                <p:cNvCxnSpPr/>
                <p:nvPr/>
              </p:nvCxnSpPr>
              <p:spPr>
                <a:xfrm>
                  <a:off x="4560" y="3357"/>
                  <a:ext cx="0" cy="144"/>
                </a:xfrm>
                <a:prstGeom prst="straightConnector1">
                  <a:avLst/>
                </a:prstGeom>
                <a:noFill/>
                <a:ln w="9525" cap="flat" cmpd="sng">
                  <a:solidFill>
                    <a:schemeClr val="dk1"/>
                  </a:solidFill>
                  <a:prstDash val="solid"/>
                  <a:round/>
                  <a:headEnd type="none" w="med" len="med"/>
                  <a:tailEnd type="none" w="med" len="med"/>
                </a:ln>
              </p:spPr>
            </p:cxnSp>
            <p:cxnSp>
              <p:nvCxnSpPr>
                <p:cNvPr id="398" name="Google Shape;398;p29"/>
                <p:cNvCxnSpPr/>
                <p:nvPr/>
              </p:nvCxnSpPr>
              <p:spPr>
                <a:xfrm>
                  <a:off x="3870" y="3357"/>
                  <a:ext cx="0" cy="144"/>
                </a:xfrm>
                <a:prstGeom prst="straightConnector1">
                  <a:avLst/>
                </a:prstGeom>
                <a:noFill/>
                <a:ln w="9525" cap="flat" cmpd="sng">
                  <a:solidFill>
                    <a:schemeClr val="dk1"/>
                  </a:solidFill>
                  <a:prstDash val="solid"/>
                  <a:round/>
                  <a:headEnd type="none" w="med" len="med"/>
                  <a:tailEnd type="none" w="med" len="med"/>
                </a:ln>
              </p:spPr>
            </p:cxnSp>
          </p:grpSp>
          <p:sp>
            <p:nvSpPr>
              <p:cNvPr id="399" name="Google Shape;399;p29"/>
              <p:cNvSpPr txBox="1"/>
              <p:nvPr/>
            </p:nvSpPr>
            <p:spPr>
              <a:xfrm>
                <a:off x="3408" y="3696"/>
                <a:ext cx="1008" cy="2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Sum</a:t>
                </a:r>
                <a:endParaRPr/>
              </a:p>
            </p:txBody>
          </p:sp>
        </p:grpSp>
        <p:sp>
          <p:nvSpPr>
            <p:cNvPr id="400" name="Google Shape;400;p29"/>
            <p:cNvSpPr txBox="1"/>
            <p:nvPr/>
          </p:nvSpPr>
          <p:spPr>
            <a:xfrm>
              <a:off x="2410" y="1390"/>
              <a:ext cx="500" cy="2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i="1">
                  <a:solidFill>
                    <a:srgbClr val="000000"/>
                  </a:solidFill>
                  <a:latin typeface="Arial"/>
                  <a:ea typeface="Arial"/>
                  <a:cs typeface="Arial"/>
                  <a:sym typeface="Arial"/>
                </a:rPr>
                <a:t>P</a:t>
              </a:r>
              <a:r>
                <a:rPr lang="en-US" sz="2200">
                  <a:solidFill>
                    <a:srgbClr val="000000"/>
                  </a:solidFill>
                  <a:latin typeface="Arial"/>
                  <a:ea typeface="Arial"/>
                  <a:cs typeface="Arial"/>
                  <a:sym typeface="Arial"/>
                </a:rPr>
                <a:t>(</a:t>
              </a:r>
              <a:r>
                <a:rPr lang="en-US" sz="2200" i="1">
                  <a:solidFill>
                    <a:srgbClr val="000000"/>
                  </a:solidFill>
                  <a:latin typeface="Arial"/>
                  <a:ea typeface="Arial"/>
                  <a:cs typeface="Arial"/>
                  <a:sym typeface="Arial"/>
                </a:rPr>
                <a:t>x</a:t>
              </a:r>
              <a:r>
                <a:rPr lang="en-US" sz="2200">
                  <a:solidFill>
                    <a:srgbClr val="000000"/>
                  </a:solidFill>
                  <a:latin typeface="Arial"/>
                  <a:ea typeface="Arial"/>
                  <a:cs typeface="Arial"/>
                  <a:sym typeface="Arial"/>
                </a:rPr>
                <a:t>)</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500"/>
                                  </p:stCondLst>
                                  <p:childTnLst>
                                    <p:set>
                                      <p:cBhvr>
                                        <p:cTn id="6" dur="1" fill="hold">
                                          <p:stCondLst>
                                            <p:cond delay="0"/>
                                          </p:stCondLst>
                                        </p:cTn>
                                        <p:tgtEl>
                                          <p:spTgt spid="3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30"/>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Mean</a:t>
            </a:r>
            <a:endParaRPr/>
          </a:p>
        </p:txBody>
      </p:sp>
      <p:graphicFrame>
        <p:nvGraphicFramePr>
          <p:cNvPr id="407" name="Google Shape;407;p30"/>
          <p:cNvGraphicFramePr/>
          <p:nvPr/>
        </p:nvGraphicFramePr>
        <p:xfrm>
          <a:off x="762000" y="4649788"/>
          <a:ext cx="1752600" cy="1706920"/>
        </p:xfrm>
        <a:graphic>
          <a:graphicData uri="http://schemas.openxmlformats.org/drawingml/2006/table">
            <a:tbl>
              <a:tblPr>
                <a:noFill/>
                <a:tableStyleId>{1777CA09-EAB0-4852-9CA1-627062E9AE65}</a:tableStyleId>
              </a:tblPr>
              <a:tblGrid>
                <a:gridCol w="609600"/>
                <a:gridCol w="1143000"/>
              </a:tblGrid>
              <a:tr h="180975">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1" i="1" u="none" strike="noStrike" cap="none">
                          <a:solidFill>
                            <a:schemeClr val="dk1"/>
                          </a:solidFill>
                          <a:latin typeface="Century"/>
                          <a:ea typeface="Century"/>
                          <a:cs typeface="Century"/>
                          <a:sym typeface="Century"/>
                        </a:rPr>
                        <a:t>x</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alpha val="49803"/>
                      </a:schemeClr>
                    </a:solidFill>
                  </a:tcPr>
                </a:tc>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1" i="1" u="none" strike="noStrike" cap="none">
                          <a:solidFill>
                            <a:schemeClr val="dk1"/>
                          </a:solidFill>
                          <a:latin typeface="Century"/>
                          <a:ea typeface="Century"/>
                          <a:cs typeface="Century"/>
                          <a:sym typeface="Century"/>
                        </a:rPr>
                        <a:t>P</a:t>
                      </a:r>
                      <a:r>
                        <a:rPr lang="en-US" sz="2200" b="1" i="0" u="none" strike="noStrike" cap="none">
                          <a:solidFill>
                            <a:schemeClr val="dk1"/>
                          </a:solidFill>
                          <a:latin typeface="Century"/>
                          <a:ea typeface="Century"/>
                          <a:cs typeface="Century"/>
                          <a:sym typeface="Century"/>
                        </a:rPr>
                        <a:t> (</a:t>
                      </a:r>
                      <a:r>
                        <a:rPr lang="en-US" sz="2200" b="1" i="1" u="none" strike="noStrike" cap="none">
                          <a:solidFill>
                            <a:schemeClr val="dk1"/>
                          </a:solidFill>
                          <a:latin typeface="Century"/>
                          <a:ea typeface="Century"/>
                          <a:cs typeface="Century"/>
                          <a:sym typeface="Century"/>
                        </a:rPr>
                        <a:t>x</a:t>
                      </a:r>
                      <a:r>
                        <a:rPr lang="en-US" sz="2200" b="1" i="0" u="none" strike="noStrike" cap="none">
                          <a:solidFill>
                            <a:schemeClr val="dk1"/>
                          </a:solidFill>
                          <a:latin typeface="Century"/>
                          <a:ea typeface="Century"/>
                          <a:cs typeface="Century"/>
                          <a:sym typeface="Century"/>
                        </a:rPr>
                        <a:t>)</a:t>
                      </a:r>
                      <a:endParaRPr sz="2200" b="1" i="1" u="none" strike="noStrike" cap="none">
                        <a:solidFill>
                          <a:schemeClr val="dk1"/>
                        </a:solidFill>
                        <a:latin typeface="Century"/>
                        <a:ea typeface="Century"/>
                        <a:cs typeface="Century"/>
                        <a:sym typeface="Century"/>
                      </a:endParaRPr>
                    </a:p>
                  </a:txBody>
                  <a:tcPr marL="91450" marR="91450" marT="45725" marB="4572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alpha val="49803"/>
                      </a:schemeClr>
                    </a:solidFill>
                  </a:tcPr>
                </a:tc>
              </a:tr>
              <a:tr h="279400">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2</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0.0625</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79400">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3</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0.375</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79400">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4</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0.5625</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r>
            </a:tbl>
          </a:graphicData>
        </a:graphic>
      </p:graphicFrame>
      <p:sp>
        <p:nvSpPr>
          <p:cNvPr id="408" name="Google Shape;408;p30"/>
          <p:cNvSpPr/>
          <p:nvPr/>
        </p:nvSpPr>
        <p:spPr>
          <a:xfrm>
            <a:off x="165100" y="1454150"/>
            <a:ext cx="8610600" cy="19685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The </a:t>
            </a:r>
            <a:r>
              <a:rPr lang="en-US" sz="2400" b="1">
                <a:solidFill>
                  <a:srgbClr val="000099"/>
                </a:solidFill>
                <a:latin typeface="Arial"/>
                <a:ea typeface="Arial"/>
                <a:cs typeface="Arial"/>
                <a:sym typeface="Arial"/>
              </a:rPr>
              <a:t>mean </a:t>
            </a:r>
            <a:r>
              <a:rPr lang="en-US" sz="2400">
                <a:solidFill>
                  <a:schemeClr val="dk1"/>
                </a:solidFill>
                <a:latin typeface="Arial"/>
                <a:ea typeface="Arial"/>
                <a:cs typeface="Arial"/>
                <a:sym typeface="Arial"/>
              </a:rPr>
              <a:t>of a discrete random variable is given by</a:t>
            </a:r>
            <a:endParaRPr/>
          </a:p>
          <a:p>
            <a:pPr marL="0" marR="0" lvl="0" indent="0" algn="ctr" rtl="0">
              <a:spcBef>
                <a:spcPts val="120"/>
              </a:spcBef>
              <a:spcAft>
                <a:spcPts val="0"/>
              </a:spcAft>
              <a:buNone/>
            </a:pPr>
            <a:endParaRPr sz="600">
              <a:solidFill>
                <a:schemeClr val="dk1"/>
              </a:solidFill>
              <a:latin typeface="Arial"/>
              <a:ea typeface="Arial"/>
              <a:cs typeface="Arial"/>
              <a:sym typeface="Arial"/>
            </a:endParaRPr>
          </a:p>
          <a:p>
            <a:pPr marL="0" marR="0" lvl="0" indent="0" algn="ctr" rtl="0">
              <a:spcBef>
                <a:spcPts val="480"/>
              </a:spcBef>
              <a:spcAft>
                <a:spcPts val="0"/>
              </a:spcAft>
              <a:buNone/>
            </a:pPr>
            <a:r>
              <a:rPr lang="en-US" sz="2400" i="1">
                <a:solidFill>
                  <a:schemeClr val="dk1"/>
                </a:solidFill>
                <a:latin typeface="Arial"/>
                <a:ea typeface="Arial"/>
                <a:cs typeface="Arial"/>
                <a:sym typeface="Arial"/>
              </a:rPr>
              <a:t>	μ = </a:t>
            </a:r>
            <a:r>
              <a:rPr lang="en-US" sz="2400">
                <a:solidFill>
                  <a:schemeClr val="dk1"/>
                </a:solidFill>
                <a:latin typeface="Arial"/>
                <a:ea typeface="Arial"/>
                <a:cs typeface="Arial"/>
                <a:sym typeface="Arial"/>
              </a:rPr>
              <a:t>Σ</a:t>
            </a:r>
            <a:r>
              <a:rPr lang="en-US" sz="2400" i="1">
                <a:solidFill>
                  <a:schemeClr val="dk1"/>
                </a:solidFill>
                <a:latin typeface="Arial"/>
                <a:ea typeface="Arial"/>
                <a:cs typeface="Arial"/>
                <a:sym typeface="Arial"/>
              </a:rPr>
              <a:t>xP</a:t>
            </a:r>
            <a:r>
              <a:rPr lang="en-US" sz="2400">
                <a:solidFill>
                  <a:schemeClr val="dk1"/>
                </a:solidFill>
                <a:latin typeface="Arial"/>
                <a:ea typeface="Arial"/>
                <a:cs typeface="Arial"/>
                <a:sym typeface="Arial"/>
              </a:rPr>
              <a:t>(</a:t>
            </a:r>
            <a:r>
              <a:rPr lang="en-US" sz="2400" i="1">
                <a:solidFill>
                  <a:schemeClr val="dk1"/>
                </a:solidFill>
                <a:latin typeface="Arial"/>
                <a:ea typeface="Arial"/>
                <a:cs typeface="Arial"/>
                <a:sym typeface="Arial"/>
              </a:rPr>
              <a:t>x</a:t>
            </a:r>
            <a:r>
              <a:rPr lang="en-US" sz="2400">
                <a:solidFill>
                  <a:schemeClr val="dk1"/>
                </a:solidFill>
                <a:latin typeface="Arial"/>
                <a:ea typeface="Arial"/>
                <a:cs typeface="Arial"/>
                <a:sym typeface="Arial"/>
              </a:rPr>
              <a:t>).</a:t>
            </a:r>
            <a:endParaRPr/>
          </a:p>
          <a:p>
            <a:pPr marL="0" marR="0" lvl="0" indent="0" algn="ctr" rtl="0">
              <a:spcBef>
                <a:spcPts val="120"/>
              </a:spcBef>
              <a:spcAft>
                <a:spcPts val="0"/>
              </a:spcAft>
              <a:buNone/>
            </a:pPr>
            <a:endParaRPr sz="600">
              <a:solidFill>
                <a:schemeClr val="dk1"/>
              </a:solidFill>
              <a:latin typeface="Arial"/>
              <a:ea typeface="Arial"/>
              <a:cs typeface="Arial"/>
              <a:sym typeface="Arial"/>
            </a:endParaRPr>
          </a:p>
          <a:p>
            <a:pPr marL="0" marR="0" lvl="0" indent="0" algn="ctr" rtl="0">
              <a:spcBef>
                <a:spcPts val="480"/>
              </a:spcBef>
              <a:spcAft>
                <a:spcPts val="0"/>
              </a:spcAft>
              <a:buNone/>
            </a:pPr>
            <a:r>
              <a:rPr lang="en-US" sz="2400">
                <a:solidFill>
                  <a:schemeClr val="dk1"/>
                </a:solidFill>
                <a:latin typeface="Arial"/>
                <a:ea typeface="Arial"/>
                <a:cs typeface="Arial"/>
                <a:sym typeface="Arial"/>
              </a:rPr>
              <a:t>Each value of </a:t>
            </a:r>
            <a:r>
              <a:rPr lang="en-US" sz="2400" i="1">
                <a:solidFill>
                  <a:schemeClr val="dk1"/>
                </a:solidFill>
                <a:latin typeface="Arial"/>
                <a:ea typeface="Arial"/>
                <a:cs typeface="Arial"/>
                <a:sym typeface="Arial"/>
              </a:rPr>
              <a:t>x</a:t>
            </a:r>
            <a:r>
              <a:rPr lang="en-US" sz="2400">
                <a:solidFill>
                  <a:schemeClr val="dk1"/>
                </a:solidFill>
                <a:latin typeface="Arial"/>
                <a:ea typeface="Arial"/>
                <a:cs typeface="Arial"/>
                <a:sym typeface="Arial"/>
              </a:rPr>
              <a:t> is multiplied by its corresponding probability and the products are added.</a:t>
            </a:r>
            <a:endParaRPr/>
          </a:p>
        </p:txBody>
      </p:sp>
      <p:sp>
        <p:nvSpPr>
          <p:cNvPr id="409" name="Google Shape;409;p30"/>
          <p:cNvSpPr/>
          <p:nvPr/>
        </p:nvSpPr>
        <p:spPr>
          <a:xfrm>
            <a:off x="304800" y="3276600"/>
            <a:ext cx="8642350" cy="9144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Example</a:t>
            </a:r>
            <a:r>
              <a:rPr lang="en-US" sz="2400">
                <a:solidFill>
                  <a:schemeClr val="dk1"/>
                </a:solidFill>
                <a:latin typeface="Times New Roman"/>
                <a:ea typeface="Times New Roman"/>
                <a:cs typeface="Times New Roman"/>
                <a:sym typeface="Times New Roman"/>
              </a:rPr>
              <a:t>:</a:t>
            </a:r>
            <a:endParaRPr/>
          </a:p>
          <a:p>
            <a:pPr marL="0" marR="0" lvl="0" indent="0" algn="ctr" rtl="0">
              <a:spcBef>
                <a:spcPts val="480"/>
              </a:spcBef>
              <a:spcAft>
                <a:spcPts val="0"/>
              </a:spcAft>
              <a:buNone/>
            </a:pPr>
            <a:r>
              <a:rPr lang="en-US" sz="2400">
                <a:solidFill>
                  <a:schemeClr val="dk1"/>
                </a:solidFill>
                <a:latin typeface="Arial"/>
                <a:ea typeface="Arial"/>
                <a:cs typeface="Arial"/>
                <a:sym typeface="Arial"/>
              </a:rPr>
              <a:t>Find the mean of the probability distribution for the sum of the two spins.</a:t>
            </a:r>
            <a:endParaRPr/>
          </a:p>
        </p:txBody>
      </p:sp>
      <p:graphicFrame>
        <p:nvGraphicFramePr>
          <p:cNvPr id="410" name="Google Shape;410;p30"/>
          <p:cNvGraphicFramePr/>
          <p:nvPr/>
        </p:nvGraphicFramePr>
        <p:xfrm>
          <a:off x="2524125" y="4643438"/>
          <a:ext cx="2657475" cy="1706920"/>
        </p:xfrm>
        <a:graphic>
          <a:graphicData uri="http://schemas.openxmlformats.org/drawingml/2006/table">
            <a:tbl>
              <a:tblPr>
                <a:noFill/>
                <a:tableStyleId>{1777CA09-EAB0-4852-9CA1-627062E9AE65}</a:tableStyleId>
              </a:tblPr>
              <a:tblGrid>
                <a:gridCol w="2657475"/>
              </a:tblGrid>
              <a:tr h="180975">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1" i="1" u="none" strike="noStrike" cap="none">
                          <a:solidFill>
                            <a:schemeClr val="dk1"/>
                          </a:solidFill>
                          <a:latin typeface="Century"/>
                          <a:ea typeface="Century"/>
                          <a:cs typeface="Century"/>
                          <a:sym typeface="Century"/>
                        </a:rPr>
                        <a:t>xP</a:t>
                      </a:r>
                      <a:r>
                        <a:rPr lang="en-US" sz="2200" b="1" i="0" u="none" strike="noStrike" cap="none">
                          <a:solidFill>
                            <a:schemeClr val="dk1"/>
                          </a:solidFill>
                          <a:latin typeface="Century"/>
                          <a:ea typeface="Century"/>
                          <a:cs typeface="Century"/>
                          <a:sym typeface="Century"/>
                        </a:rPr>
                        <a:t> (</a:t>
                      </a:r>
                      <a:r>
                        <a:rPr lang="en-US" sz="2200" b="1" i="1" u="none" strike="noStrike" cap="none">
                          <a:solidFill>
                            <a:schemeClr val="dk1"/>
                          </a:solidFill>
                          <a:latin typeface="Century"/>
                          <a:ea typeface="Century"/>
                          <a:cs typeface="Century"/>
                          <a:sym typeface="Century"/>
                        </a:rPr>
                        <a:t>x</a:t>
                      </a:r>
                      <a:r>
                        <a:rPr lang="en-US" sz="2200" b="1" i="0" u="none" strike="noStrike" cap="none">
                          <a:solidFill>
                            <a:schemeClr val="dk1"/>
                          </a:solidFill>
                          <a:latin typeface="Century"/>
                          <a:ea typeface="Century"/>
                          <a:cs typeface="Century"/>
                          <a:sym typeface="Century"/>
                        </a:rPr>
                        <a:t>)</a:t>
                      </a:r>
                      <a:endParaRPr sz="2200" b="1" i="1" u="none" strike="noStrike" cap="none">
                        <a:solidFill>
                          <a:schemeClr val="dk1"/>
                        </a:solidFill>
                        <a:latin typeface="Century"/>
                        <a:ea typeface="Century"/>
                        <a:cs typeface="Century"/>
                        <a:sym typeface="Century"/>
                      </a:endParaRPr>
                    </a:p>
                  </a:txBody>
                  <a:tcPr marL="91450" marR="91450" marT="45725" marB="45725" anchor="ctr">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alpha val="49803"/>
                      </a:schemeClr>
                    </a:solidFill>
                  </a:tcPr>
                </a:tc>
              </a:tr>
              <a:tr h="279400">
                <a:tc>
                  <a:txBody>
                    <a:bodyPr/>
                    <a:lstStyle/>
                    <a:p>
                      <a:pPr marL="0" marR="0" lvl="0" indent="0" algn="l"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2(0.0625) = 0.125</a:t>
                      </a:r>
                      <a:endParaRPr/>
                    </a:p>
                  </a:txBody>
                  <a:tcPr marL="91450" marR="914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79400">
                <a:tc>
                  <a:txBody>
                    <a:bodyPr/>
                    <a:lstStyle/>
                    <a:p>
                      <a:pPr marL="0" marR="0" lvl="0" indent="0" algn="l"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3(0.375)   = 1.125</a:t>
                      </a:r>
                      <a:endParaRPr/>
                    </a:p>
                  </a:txBody>
                  <a:tcPr marL="91450" marR="914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79400">
                <a:tc>
                  <a:txBody>
                    <a:bodyPr/>
                    <a:lstStyle/>
                    <a:p>
                      <a:pPr marL="0" marR="0" lvl="0" indent="0" algn="l"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4(0.5625) = 2.25</a:t>
                      </a:r>
                      <a:endParaRPr/>
                    </a:p>
                  </a:txBody>
                  <a:tcPr marL="91450" marR="914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r>
            </a:tbl>
          </a:graphicData>
        </a:graphic>
      </p:graphicFrame>
      <p:sp>
        <p:nvSpPr>
          <p:cNvPr id="411" name="Google Shape;411;p30"/>
          <p:cNvSpPr/>
          <p:nvPr/>
        </p:nvSpPr>
        <p:spPr>
          <a:xfrm>
            <a:off x="5649913" y="5029200"/>
            <a:ext cx="1879600" cy="457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a:solidFill>
                  <a:schemeClr val="folHlink"/>
                </a:solidFill>
                <a:latin typeface="Arial"/>
                <a:ea typeface="Arial"/>
                <a:cs typeface="Arial"/>
                <a:sym typeface="Arial"/>
              </a:rPr>
              <a:t>Σ</a:t>
            </a:r>
            <a:r>
              <a:rPr lang="en-US" sz="2400" i="1">
                <a:solidFill>
                  <a:schemeClr val="folHlink"/>
                </a:solidFill>
                <a:latin typeface="Arial"/>
                <a:ea typeface="Arial"/>
                <a:cs typeface="Arial"/>
                <a:sym typeface="Arial"/>
              </a:rPr>
              <a:t>xP</a:t>
            </a:r>
            <a:r>
              <a:rPr lang="en-US" sz="2400">
                <a:solidFill>
                  <a:schemeClr val="folHlink"/>
                </a:solidFill>
                <a:latin typeface="Arial"/>
                <a:ea typeface="Arial"/>
                <a:cs typeface="Arial"/>
                <a:sym typeface="Arial"/>
              </a:rPr>
              <a:t>(</a:t>
            </a:r>
            <a:r>
              <a:rPr lang="en-US" sz="2400" i="1">
                <a:solidFill>
                  <a:schemeClr val="folHlink"/>
                </a:solidFill>
                <a:latin typeface="Arial"/>
                <a:ea typeface="Arial"/>
                <a:cs typeface="Arial"/>
                <a:sym typeface="Arial"/>
              </a:rPr>
              <a:t>x</a:t>
            </a:r>
            <a:r>
              <a:rPr lang="en-US" sz="2400">
                <a:solidFill>
                  <a:schemeClr val="folHlink"/>
                </a:solidFill>
                <a:latin typeface="Arial"/>
                <a:ea typeface="Arial"/>
                <a:cs typeface="Arial"/>
                <a:sym typeface="Arial"/>
              </a:rPr>
              <a:t>) = 3.5</a:t>
            </a:r>
            <a:endParaRPr/>
          </a:p>
        </p:txBody>
      </p:sp>
      <p:sp>
        <p:nvSpPr>
          <p:cNvPr id="412" name="Google Shape;412;p30"/>
          <p:cNvSpPr/>
          <p:nvPr/>
        </p:nvSpPr>
        <p:spPr>
          <a:xfrm>
            <a:off x="5257800" y="5105400"/>
            <a:ext cx="228600" cy="1219200"/>
          </a:xfrm>
          <a:prstGeom prst="rightBrace">
            <a:avLst>
              <a:gd name="adj1" fmla="val 44444"/>
              <a:gd name="adj2" fmla="val 50000"/>
            </a:avLst>
          </a:prstGeom>
          <a:noFill/>
          <a:ln w="9525" cap="flat" cmpd="sng">
            <a:solidFill>
              <a:schemeClr va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413" name="Google Shape;413;p30"/>
          <p:cNvSpPr/>
          <p:nvPr/>
        </p:nvSpPr>
        <p:spPr>
          <a:xfrm>
            <a:off x="5715000" y="5562600"/>
            <a:ext cx="2805113" cy="82232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a:solidFill>
                  <a:schemeClr val="folHlink"/>
                </a:solidFill>
                <a:latin typeface="Arial"/>
                <a:ea typeface="Arial"/>
                <a:cs typeface="Arial"/>
                <a:sym typeface="Arial"/>
              </a:rPr>
              <a:t>The mean for the two spins is 3.5.</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
                                        </p:tgtEl>
                                        <p:attrNameLst>
                                          <p:attrName>style.visibility</p:attrName>
                                        </p:attrNameLst>
                                      </p:cBhvr>
                                      <p:to>
                                        <p:strVal val="visible"/>
                                      </p:to>
                                    </p:set>
                                    <p:animEffect transition="in" filter="fade">
                                      <p:cBhvr>
                                        <p:cTn id="7" dur="1000"/>
                                        <p:tgtEl>
                                          <p:spTgt spid="409"/>
                                        </p:tgtEl>
                                      </p:cBhvr>
                                    </p:animEffect>
                                  </p:childTnLst>
                                </p:cTn>
                              </p:par>
                            </p:childTnLst>
                          </p:cTn>
                        </p:par>
                        <p:par>
                          <p:cTn id="8" fill="hold">
                            <p:stCondLst>
                              <p:cond delay="1000"/>
                            </p:stCondLst>
                            <p:childTnLst>
                              <p:par>
                                <p:cTn id="9" presetID="1" presetClass="entr" presetSubtype="0" fill="hold" nodeType="afterEffect">
                                  <p:stCondLst>
                                    <p:cond delay="500"/>
                                  </p:stCondLst>
                                  <p:childTnLst>
                                    <p:set>
                                      <p:cBhvr>
                                        <p:cTn id="10" dur="1" fill="hold">
                                          <p:stCondLst>
                                            <p:cond delay="0"/>
                                          </p:stCondLst>
                                        </p:cTn>
                                        <p:tgtEl>
                                          <p:spTgt spid="4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10"/>
                                        </p:tgtEl>
                                        <p:attrNameLst>
                                          <p:attrName>style.visibility</p:attrName>
                                        </p:attrNameLst>
                                      </p:cBhvr>
                                      <p:to>
                                        <p:strVal val="visible"/>
                                      </p:to>
                                    </p:set>
                                    <p:animEffect transition="in" filter="fade">
                                      <p:cBhvr>
                                        <p:cTn id="15" dur="1000"/>
                                        <p:tgtEl>
                                          <p:spTgt spid="4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12"/>
                                        </p:tgtEl>
                                        <p:attrNameLst>
                                          <p:attrName>style.visibility</p:attrName>
                                        </p:attrNameLst>
                                      </p:cBhvr>
                                      <p:to>
                                        <p:strVal val="visible"/>
                                      </p:to>
                                    </p:set>
                                    <p:animEffect transition="in" filter="fade">
                                      <p:cBhvr>
                                        <p:cTn id="20" dur="500"/>
                                        <p:tgtEl>
                                          <p:spTgt spid="412"/>
                                        </p:tgtEl>
                                      </p:cBhvr>
                                    </p:animEffec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411"/>
                                        </p:tgtEl>
                                        <p:attrNameLst>
                                          <p:attrName>style.visibility</p:attrName>
                                        </p:attrNameLst>
                                      </p:cBhvr>
                                      <p:to>
                                        <p:strVal val="visible"/>
                                      </p:to>
                                    </p:set>
                                    <p:animEffect transition="in" filter="fade">
                                      <p:cBhvr>
                                        <p:cTn id="24" dur="1000"/>
                                        <p:tgtEl>
                                          <p:spTgt spid="411"/>
                                        </p:tgtEl>
                                      </p:cBhvr>
                                    </p:animEffect>
                                  </p:childTnLst>
                                </p:cTn>
                              </p:par>
                            </p:childTnLst>
                          </p:cTn>
                        </p:par>
                        <p:par>
                          <p:cTn id="25" fill="hold">
                            <p:stCondLst>
                              <p:cond delay="1500"/>
                            </p:stCondLst>
                            <p:childTnLst>
                              <p:par>
                                <p:cTn id="26" presetID="10" presetClass="entr" presetSubtype="0" fill="hold" nodeType="afterEffect">
                                  <p:stCondLst>
                                    <p:cond delay="500"/>
                                  </p:stCondLst>
                                  <p:childTnLst>
                                    <p:set>
                                      <p:cBhvr>
                                        <p:cTn id="27" dur="1" fill="hold">
                                          <p:stCondLst>
                                            <p:cond delay="0"/>
                                          </p:stCondLst>
                                        </p:cTn>
                                        <p:tgtEl>
                                          <p:spTgt spid="413"/>
                                        </p:tgtEl>
                                        <p:attrNameLst>
                                          <p:attrName>style.visibility</p:attrName>
                                        </p:attrNameLst>
                                      </p:cBhvr>
                                      <p:to>
                                        <p:strVal val="visible"/>
                                      </p:to>
                                    </p:set>
                                    <p:animEffect transition="in" filter="fade">
                                      <p:cBhvr>
                                        <p:cTn id="28" dur="1000"/>
                                        <p:tgtEl>
                                          <p:spTgt spid="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31"/>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Variance</a:t>
            </a:r>
            <a:endParaRPr/>
          </a:p>
        </p:txBody>
      </p:sp>
      <p:graphicFrame>
        <p:nvGraphicFramePr>
          <p:cNvPr id="420" name="Google Shape;420;p31"/>
          <p:cNvGraphicFramePr/>
          <p:nvPr/>
        </p:nvGraphicFramePr>
        <p:xfrm>
          <a:off x="381000" y="4165600"/>
          <a:ext cx="1752600" cy="1706920"/>
        </p:xfrm>
        <a:graphic>
          <a:graphicData uri="http://schemas.openxmlformats.org/drawingml/2006/table">
            <a:tbl>
              <a:tblPr>
                <a:noFill/>
                <a:tableStyleId>{1777CA09-EAB0-4852-9CA1-627062E9AE65}</a:tableStyleId>
              </a:tblPr>
              <a:tblGrid>
                <a:gridCol w="609600"/>
                <a:gridCol w="1143000"/>
              </a:tblGrid>
              <a:tr h="180975">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1" i="1" u="none" strike="noStrike" cap="none">
                          <a:solidFill>
                            <a:schemeClr val="dk1"/>
                          </a:solidFill>
                          <a:latin typeface="Century"/>
                          <a:ea typeface="Century"/>
                          <a:cs typeface="Century"/>
                          <a:sym typeface="Century"/>
                        </a:rPr>
                        <a:t>x</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alpha val="49803"/>
                      </a:schemeClr>
                    </a:solidFill>
                  </a:tcPr>
                </a:tc>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1" i="1" u="none" strike="noStrike" cap="none">
                          <a:solidFill>
                            <a:schemeClr val="dk1"/>
                          </a:solidFill>
                          <a:latin typeface="Century"/>
                          <a:ea typeface="Century"/>
                          <a:cs typeface="Century"/>
                          <a:sym typeface="Century"/>
                        </a:rPr>
                        <a:t>P</a:t>
                      </a:r>
                      <a:r>
                        <a:rPr lang="en-US" sz="2200" b="1" i="0" u="none" strike="noStrike" cap="none">
                          <a:solidFill>
                            <a:schemeClr val="dk1"/>
                          </a:solidFill>
                          <a:latin typeface="Century"/>
                          <a:ea typeface="Century"/>
                          <a:cs typeface="Century"/>
                          <a:sym typeface="Century"/>
                        </a:rPr>
                        <a:t> (</a:t>
                      </a:r>
                      <a:r>
                        <a:rPr lang="en-US" sz="2200" b="1" i="1" u="none" strike="noStrike" cap="none">
                          <a:solidFill>
                            <a:schemeClr val="dk1"/>
                          </a:solidFill>
                          <a:latin typeface="Century"/>
                          <a:ea typeface="Century"/>
                          <a:cs typeface="Century"/>
                          <a:sym typeface="Century"/>
                        </a:rPr>
                        <a:t>x</a:t>
                      </a:r>
                      <a:r>
                        <a:rPr lang="en-US" sz="2200" b="1" i="0" u="none" strike="noStrike" cap="none">
                          <a:solidFill>
                            <a:schemeClr val="dk1"/>
                          </a:solidFill>
                          <a:latin typeface="Century"/>
                          <a:ea typeface="Century"/>
                          <a:cs typeface="Century"/>
                          <a:sym typeface="Century"/>
                        </a:rPr>
                        <a:t>)</a:t>
                      </a:r>
                      <a:endParaRPr sz="2200" b="1" i="1" u="none" strike="noStrike" cap="none">
                        <a:solidFill>
                          <a:schemeClr val="dk1"/>
                        </a:solidFill>
                        <a:latin typeface="Century"/>
                        <a:ea typeface="Century"/>
                        <a:cs typeface="Century"/>
                        <a:sym typeface="Century"/>
                      </a:endParaRPr>
                    </a:p>
                  </a:txBody>
                  <a:tcPr marL="91450" marR="91450" marT="45725" marB="4572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alpha val="49803"/>
                      </a:schemeClr>
                    </a:solidFill>
                  </a:tcPr>
                </a:tc>
              </a:tr>
              <a:tr h="279400">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2</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0.0625</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79400">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3</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0.375</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79400">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4</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0.5625</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r>
            </a:tbl>
          </a:graphicData>
        </a:graphic>
      </p:graphicFrame>
      <p:sp>
        <p:nvSpPr>
          <p:cNvPr id="421" name="Google Shape;421;p31"/>
          <p:cNvSpPr/>
          <p:nvPr/>
        </p:nvSpPr>
        <p:spPr>
          <a:xfrm>
            <a:off x="158750" y="1482725"/>
            <a:ext cx="8610600" cy="12954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The </a:t>
            </a:r>
            <a:r>
              <a:rPr lang="en-US" sz="2400" b="1">
                <a:solidFill>
                  <a:srgbClr val="000099"/>
                </a:solidFill>
                <a:latin typeface="Arial"/>
                <a:ea typeface="Arial"/>
                <a:cs typeface="Arial"/>
                <a:sym typeface="Arial"/>
              </a:rPr>
              <a:t>variance </a:t>
            </a:r>
            <a:r>
              <a:rPr lang="en-US" sz="2400">
                <a:solidFill>
                  <a:schemeClr val="dk1"/>
                </a:solidFill>
                <a:latin typeface="Arial"/>
                <a:ea typeface="Arial"/>
                <a:cs typeface="Arial"/>
                <a:sym typeface="Arial"/>
              </a:rPr>
              <a:t>of a discrete random variable is given by</a:t>
            </a:r>
            <a:endParaRPr/>
          </a:p>
          <a:p>
            <a:pPr marL="0" marR="0" lvl="0" indent="0" algn="ctr" rtl="0">
              <a:spcBef>
                <a:spcPts val="120"/>
              </a:spcBef>
              <a:spcAft>
                <a:spcPts val="0"/>
              </a:spcAft>
              <a:buNone/>
            </a:pPr>
            <a:endParaRPr sz="600">
              <a:solidFill>
                <a:schemeClr val="dk1"/>
              </a:solidFill>
              <a:latin typeface="Arial"/>
              <a:ea typeface="Arial"/>
              <a:cs typeface="Arial"/>
              <a:sym typeface="Arial"/>
            </a:endParaRPr>
          </a:p>
          <a:p>
            <a:pPr marL="0" marR="0" lvl="0" indent="0" algn="ctr" rtl="0">
              <a:spcBef>
                <a:spcPts val="480"/>
              </a:spcBef>
              <a:spcAft>
                <a:spcPts val="0"/>
              </a:spcAft>
              <a:buNone/>
            </a:pPr>
            <a:r>
              <a:rPr lang="en-US" sz="2400" i="1">
                <a:solidFill>
                  <a:schemeClr val="dk1"/>
                </a:solidFill>
                <a:latin typeface="Arial"/>
                <a:ea typeface="Arial"/>
                <a:cs typeface="Arial"/>
                <a:sym typeface="Arial"/>
              </a:rPr>
              <a:t>		σ</a:t>
            </a:r>
            <a:r>
              <a:rPr lang="en-US" sz="2400" baseline="30000">
                <a:solidFill>
                  <a:schemeClr val="dk1"/>
                </a:solidFill>
                <a:latin typeface="Arial"/>
                <a:ea typeface="Arial"/>
                <a:cs typeface="Arial"/>
                <a:sym typeface="Arial"/>
              </a:rPr>
              <a:t>2 </a:t>
            </a:r>
            <a:r>
              <a:rPr lang="en-US" sz="2400">
                <a:solidFill>
                  <a:schemeClr val="dk1"/>
                </a:solidFill>
                <a:latin typeface="Arial"/>
                <a:ea typeface="Arial"/>
                <a:cs typeface="Arial"/>
                <a:sym typeface="Arial"/>
              </a:rPr>
              <a:t>= Σ(</a:t>
            </a:r>
            <a:r>
              <a:rPr lang="en-US" sz="2400" i="1">
                <a:solidFill>
                  <a:schemeClr val="dk1"/>
                </a:solidFill>
                <a:latin typeface="Arial"/>
                <a:ea typeface="Arial"/>
                <a:cs typeface="Arial"/>
                <a:sym typeface="Arial"/>
              </a:rPr>
              <a:t>x – μ</a:t>
            </a:r>
            <a:r>
              <a:rPr lang="en-US" sz="2400">
                <a:solidFill>
                  <a:schemeClr val="dk1"/>
                </a:solidFill>
                <a:latin typeface="Arial"/>
                <a:ea typeface="Arial"/>
                <a:cs typeface="Arial"/>
                <a:sym typeface="Arial"/>
              </a:rPr>
              <a:t>)</a:t>
            </a:r>
            <a:r>
              <a:rPr lang="en-US" sz="2400" baseline="30000">
                <a:solidFill>
                  <a:schemeClr val="dk1"/>
                </a:solidFill>
                <a:latin typeface="Arial"/>
                <a:ea typeface="Arial"/>
                <a:cs typeface="Arial"/>
                <a:sym typeface="Arial"/>
              </a:rPr>
              <a:t>2</a:t>
            </a:r>
            <a:r>
              <a:rPr lang="en-US" sz="2400" i="1">
                <a:solidFill>
                  <a:schemeClr val="dk1"/>
                </a:solidFill>
                <a:latin typeface="Arial"/>
                <a:ea typeface="Arial"/>
                <a:cs typeface="Arial"/>
                <a:sym typeface="Arial"/>
              </a:rPr>
              <a:t>P </a:t>
            </a:r>
            <a:r>
              <a:rPr lang="en-US" sz="2400">
                <a:solidFill>
                  <a:schemeClr val="dk1"/>
                </a:solidFill>
                <a:latin typeface="Arial"/>
                <a:ea typeface="Arial"/>
                <a:cs typeface="Arial"/>
                <a:sym typeface="Arial"/>
              </a:rPr>
              <a:t>(</a:t>
            </a:r>
            <a:r>
              <a:rPr lang="en-US" sz="2400" i="1">
                <a:solidFill>
                  <a:schemeClr val="dk1"/>
                </a:solidFill>
                <a:latin typeface="Arial"/>
                <a:ea typeface="Arial"/>
                <a:cs typeface="Arial"/>
                <a:sym typeface="Arial"/>
              </a:rPr>
              <a:t>x</a:t>
            </a:r>
            <a:r>
              <a:rPr lang="en-US" sz="2400">
                <a:solidFill>
                  <a:schemeClr val="dk1"/>
                </a:solidFill>
                <a:latin typeface="Arial"/>
                <a:ea typeface="Arial"/>
                <a:cs typeface="Arial"/>
                <a:sym typeface="Arial"/>
              </a:rPr>
              <a:t>).</a:t>
            </a:r>
            <a:endParaRPr/>
          </a:p>
          <a:p>
            <a:pPr marL="0" marR="0" lvl="0" indent="0" algn="ctr" rtl="0">
              <a:spcBef>
                <a:spcPts val="120"/>
              </a:spcBef>
              <a:spcAft>
                <a:spcPts val="0"/>
              </a:spcAft>
              <a:buNone/>
            </a:pPr>
            <a:endParaRPr sz="600">
              <a:solidFill>
                <a:schemeClr val="dk1"/>
              </a:solidFill>
              <a:latin typeface="Arial"/>
              <a:ea typeface="Arial"/>
              <a:cs typeface="Arial"/>
              <a:sym typeface="Arial"/>
            </a:endParaRPr>
          </a:p>
        </p:txBody>
      </p:sp>
      <p:sp>
        <p:nvSpPr>
          <p:cNvPr id="422" name="Google Shape;422;p31"/>
          <p:cNvSpPr/>
          <p:nvPr/>
        </p:nvSpPr>
        <p:spPr>
          <a:xfrm>
            <a:off x="304800" y="2546350"/>
            <a:ext cx="8642350" cy="9144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Example</a:t>
            </a:r>
            <a:r>
              <a:rPr lang="en-US" sz="2400">
                <a:solidFill>
                  <a:schemeClr val="dk1"/>
                </a:solidFill>
                <a:latin typeface="Times New Roman"/>
                <a:ea typeface="Times New Roman"/>
                <a:cs typeface="Times New Roman"/>
                <a:sym typeface="Times New Roman"/>
              </a:rPr>
              <a:t>:</a:t>
            </a:r>
            <a:endParaRPr/>
          </a:p>
          <a:p>
            <a:pPr marL="0" marR="0" lvl="0" indent="0" algn="ctr" rtl="0">
              <a:spcBef>
                <a:spcPts val="480"/>
              </a:spcBef>
              <a:spcAft>
                <a:spcPts val="0"/>
              </a:spcAft>
              <a:buNone/>
            </a:pPr>
            <a:r>
              <a:rPr lang="en-US" sz="2400">
                <a:solidFill>
                  <a:schemeClr val="dk1"/>
                </a:solidFill>
                <a:latin typeface="Arial"/>
                <a:ea typeface="Arial"/>
                <a:cs typeface="Arial"/>
                <a:sym typeface="Arial"/>
              </a:rPr>
              <a:t>Find the variance of the probability distribution for the sum of the two spins.  The mean is 3.5.</a:t>
            </a:r>
            <a:endParaRPr/>
          </a:p>
        </p:txBody>
      </p:sp>
      <p:graphicFrame>
        <p:nvGraphicFramePr>
          <p:cNvPr id="423" name="Google Shape;423;p31"/>
          <p:cNvGraphicFramePr/>
          <p:nvPr/>
        </p:nvGraphicFramePr>
        <p:xfrm>
          <a:off x="2143125" y="4159250"/>
          <a:ext cx="981075" cy="1706920"/>
        </p:xfrm>
        <a:graphic>
          <a:graphicData uri="http://schemas.openxmlformats.org/drawingml/2006/table">
            <a:tbl>
              <a:tblPr>
                <a:noFill/>
                <a:tableStyleId>{1777CA09-EAB0-4852-9CA1-627062E9AE65}</a:tableStyleId>
              </a:tblPr>
              <a:tblGrid>
                <a:gridCol w="981075"/>
              </a:tblGrid>
              <a:tr h="180975">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1" i="1" u="none" strike="noStrike" cap="none">
                          <a:solidFill>
                            <a:schemeClr val="dk1"/>
                          </a:solidFill>
                          <a:latin typeface="Century"/>
                          <a:ea typeface="Century"/>
                          <a:cs typeface="Century"/>
                          <a:sym typeface="Century"/>
                        </a:rPr>
                        <a:t>x – μ </a:t>
                      </a:r>
                      <a:endParaRPr/>
                    </a:p>
                  </a:txBody>
                  <a:tcPr marL="91450" marR="91450" marT="45725" marB="45725" anchor="ctr">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alpha val="49803"/>
                      </a:schemeClr>
                    </a:solidFill>
                  </a:tcPr>
                </a:tc>
              </a:tr>
              <a:tr h="279400">
                <a:tc>
                  <a:txBody>
                    <a:bodyPr/>
                    <a:lstStyle/>
                    <a:p>
                      <a:pPr marL="0" marR="0" lvl="0" indent="0" algn="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–1.5</a:t>
                      </a:r>
                      <a:endParaRPr/>
                    </a:p>
                  </a:txBody>
                  <a:tcPr marL="91450" marR="3200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79400">
                <a:tc>
                  <a:txBody>
                    <a:bodyPr/>
                    <a:lstStyle/>
                    <a:p>
                      <a:pPr marL="0" marR="0" lvl="0" indent="0" algn="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–0.5</a:t>
                      </a:r>
                      <a:endParaRPr/>
                    </a:p>
                  </a:txBody>
                  <a:tcPr marL="91450" marR="3200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79400">
                <a:tc>
                  <a:txBody>
                    <a:bodyPr/>
                    <a:lstStyle/>
                    <a:p>
                      <a:pPr marL="0" marR="0" lvl="0" indent="0" algn="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0.5</a:t>
                      </a:r>
                      <a:endParaRPr/>
                    </a:p>
                  </a:txBody>
                  <a:tcPr marL="91450" marR="3200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r>
            </a:tbl>
          </a:graphicData>
        </a:graphic>
      </p:graphicFrame>
      <p:graphicFrame>
        <p:nvGraphicFramePr>
          <p:cNvPr id="424" name="Google Shape;424;p31"/>
          <p:cNvGraphicFramePr/>
          <p:nvPr/>
        </p:nvGraphicFramePr>
        <p:xfrm>
          <a:off x="3128963" y="4159250"/>
          <a:ext cx="1138225" cy="1706920"/>
        </p:xfrm>
        <a:graphic>
          <a:graphicData uri="http://schemas.openxmlformats.org/drawingml/2006/table">
            <a:tbl>
              <a:tblPr>
                <a:noFill/>
                <a:tableStyleId>{1777CA09-EAB0-4852-9CA1-627062E9AE65}</a:tableStyleId>
              </a:tblPr>
              <a:tblGrid>
                <a:gridCol w="1138225"/>
              </a:tblGrid>
              <a:tr h="180975">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1" i="0" u="none" strike="noStrike" cap="none">
                          <a:solidFill>
                            <a:schemeClr val="dk1"/>
                          </a:solidFill>
                          <a:latin typeface="Century"/>
                          <a:ea typeface="Century"/>
                          <a:cs typeface="Century"/>
                          <a:sym typeface="Century"/>
                        </a:rPr>
                        <a:t>(</a:t>
                      </a:r>
                      <a:r>
                        <a:rPr lang="en-US" sz="2200" b="1" i="1" u="none" strike="noStrike" cap="none">
                          <a:solidFill>
                            <a:schemeClr val="dk1"/>
                          </a:solidFill>
                          <a:latin typeface="Century"/>
                          <a:ea typeface="Century"/>
                          <a:cs typeface="Century"/>
                          <a:sym typeface="Century"/>
                        </a:rPr>
                        <a:t>x – μ</a:t>
                      </a:r>
                      <a:r>
                        <a:rPr lang="en-US" sz="2200" b="1" i="0" u="none" strike="noStrike" cap="none">
                          <a:solidFill>
                            <a:schemeClr val="dk1"/>
                          </a:solidFill>
                          <a:latin typeface="Century"/>
                          <a:ea typeface="Century"/>
                          <a:cs typeface="Century"/>
                          <a:sym typeface="Century"/>
                        </a:rPr>
                        <a:t>)</a:t>
                      </a:r>
                      <a:r>
                        <a:rPr lang="en-US" sz="2200" b="1" i="0" u="none" strike="noStrike" cap="none" baseline="30000">
                          <a:solidFill>
                            <a:schemeClr val="dk1"/>
                          </a:solidFill>
                          <a:latin typeface="Century"/>
                          <a:ea typeface="Century"/>
                          <a:cs typeface="Century"/>
                          <a:sym typeface="Century"/>
                        </a:rPr>
                        <a:t>2</a:t>
                      </a:r>
                      <a:r>
                        <a:rPr lang="en-US" sz="2200" b="1" i="1" u="none" strike="noStrike" cap="none">
                          <a:solidFill>
                            <a:schemeClr val="dk1"/>
                          </a:solidFill>
                          <a:latin typeface="Century"/>
                          <a:ea typeface="Century"/>
                          <a:cs typeface="Century"/>
                          <a:sym typeface="Century"/>
                        </a:rPr>
                        <a:t> </a:t>
                      </a:r>
                      <a:endParaRPr/>
                    </a:p>
                  </a:txBody>
                  <a:tcPr marL="91450" marR="91450" marT="45725" marB="45725" anchor="ctr">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alpha val="49803"/>
                      </a:schemeClr>
                    </a:solidFill>
                  </a:tcPr>
                </a:tc>
              </a:tr>
              <a:tr h="279400">
                <a:tc>
                  <a:txBody>
                    <a:bodyPr/>
                    <a:lstStyle/>
                    <a:p>
                      <a:pPr marL="0" marR="0" lvl="0" indent="0" algn="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2.25</a:t>
                      </a:r>
                      <a:endParaRPr/>
                    </a:p>
                  </a:txBody>
                  <a:tcPr marL="91450" marR="3200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79400">
                <a:tc>
                  <a:txBody>
                    <a:bodyPr/>
                    <a:lstStyle/>
                    <a:p>
                      <a:pPr marL="0" marR="0" lvl="0" indent="0" algn="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0.25</a:t>
                      </a:r>
                      <a:endParaRPr/>
                    </a:p>
                  </a:txBody>
                  <a:tcPr marL="91450" marR="3200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79400">
                <a:tc>
                  <a:txBody>
                    <a:bodyPr/>
                    <a:lstStyle/>
                    <a:p>
                      <a:pPr marL="0" marR="0" lvl="0" indent="0" algn="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0.25</a:t>
                      </a:r>
                      <a:endParaRPr/>
                    </a:p>
                  </a:txBody>
                  <a:tcPr marL="91450" marR="3200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r>
            </a:tbl>
          </a:graphicData>
        </a:graphic>
      </p:graphicFrame>
      <p:graphicFrame>
        <p:nvGraphicFramePr>
          <p:cNvPr id="425" name="Google Shape;425;p31"/>
          <p:cNvGraphicFramePr/>
          <p:nvPr/>
        </p:nvGraphicFramePr>
        <p:xfrm>
          <a:off x="4286250" y="4159250"/>
          <a:ext cx="1809750" cy="1706920"/>
        </p:xfrm>
        <a:graphic>
          <a:graphicData uri="http://schemas.openxmlformats.org/drawingml/2006/table">
            <a:tbl>
              <a:tblPr>
                <a:noFill/>
                <a:tableStyleId>{1777CA09-EAB0-4852-9CA1-627062E9AE65}</a:tableStyleId>
              </a:tblPr>
              <a:tblGrid>
                <a:gridCol w="1809750"/>
              </a:tblGrid>
              <a:tr h="180975">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1" i="1" u="none" strike="noStrike" cap="none">
                          <a:solidFill>
                            <a:schemeClr val="dk1"/>
                          </a:solidFill>
                          <a:latin typeface="Century"/>
                          <a:ea typeface="Century"/>
                          <a:cs typeface="Century"/>
                          <a:sym typeface="Century"/>
                        </a:rPr>
                        <a:t>P </a:t>
                      </a:r>
                      <a:r>
                        <a:rPr lang="en-US" sz="2200" b="1" i="0" u="none" strike="noStrike" cap="none">
                          <a:solidFill>
                            <a:schemeClr val="dk1"/>
                          </a:solidFill>
                          <a:latin typeface="Century"/>
                          <a:ea typeface="Century"/>
                          <a:cs typeface="Century"/>
                          <a:sym typeface="Century"/>
                        </a:rPr>
                        <a:t>(</a:t>
                      </a:r>
                      <a:r>
                        <a:rPr lang="en-US" sz="2200" b="1" i="1" u="none" strike="noStrike" cap="none">
                          <a:solidFill>
                            <a:schemeClr val="dk1"/>
                          </a:solidFill>
                          <a:latin typeface="Century"/>
                          <a:ea typeface="Century"/>
                          <a:cs typeface="Century"/>
                          <a:sym typeface="Century"/>
                        </a:rPr>
                        <a:t>x</a:t>
                      </a:r>
                      <a:r>
                        <a:rPr lang="en-US" sz="2200" b="1" i="0" u="none" strike="noStrike" cap="none">
                          <a:solidFill>
                            <a:schemeClr val="dk1"/>
                          </a:solidFill>
                          <a:latin typeface="Century"/>
                          <a:ea typeface="Century"/>
                          <a:cs typeface="Century"/>
                          <a:sym typeface="Century"/>
                        </a:rPr>
                        <a:t>)(</a:t>
                      </a:r>
                      <a:r>
                        <a:rPr lang="en-US" sz="2200" b="1" i="1" u="none" strike="noStrike" cap="none">
                          <a:solidFill>
                            <a:schemeClr val="dk1"/>
                          </a:solidFill>
                          <a:latin typeface="Century"/>
                          <a:ea typeface="Century"/>
                          <a:cs typeface="Century"/>
                          <a:sym typeface="Century"/>
                        </a:rPr>
                        <a:t>x – μ</a:t>
                      </a:r>
                      <a:r>
                        <a:rPr lang="en-US" sz="2200" b="1" i="0" u="none" strike="noStrike" cap="none">
                          <a:solidFill>
                            <a:schemeClr val="dk1"/>
                          </a:solidFill>
                          <a:latin typeface="Century"/>
                          <a:ea typeface="Century"/>
                          <a:cs typeface="Century"/>
                          <a:sym typeface="Century"/>
                        </a:rPr>
                        <a:t>)</a:t>
                      </a:r>
                      <a:r>
                        <a:rPr lang="en-US" sz="2200" b="1" i="0" u="none" strike="noStrike" cap="none" baseline="30000">
                          <a:solidFill>
                            <a:schemeClr val="dk1"/>
                          </a:solidFill>
                          <a:latin typeface="Century"/>
                          <a:ea typeface="Century"/>
                          <a:cs typeface="Century"/>
                          <a:sym typeface="Century"/>
                        </a:rPr>
                        <a:t>2</a:t>
                      </a:r>
                      <a:r>
                        <a:rPr lang="en-US" sz="2200" b="1" i="1" u="none" strike="noStrike" cap="none">
                          <a:solidFill>
                            <a:schemeClr val="dk1"/>
                          </a:solidFill>
                          <a:latin typeface="Century"/>
                          <a:ea typeface="Century"/>
                          <a:cs typeface="Century"/>
                          <a:sym typeface="Century"/>
                        </a:rPr>
                        <a:t> </a:t>
                      </a:r>
                      <a:endParaRPr/>
                    </a:p>
                  </a:txBody>
                  <a:tcPr marL="91450" marR="91450" marT="45725" marB="45725" anchor="ctr">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alpha val="49803"/>
                      </a:schemeClr>
                    </a:solidFill>
                  </a:tcPr>
                </a:tc>
              </a:tr>
              <a:tr h="279400">
                <a:tc>
                  <a:txBody>
                    <a:bodyPr/>
                    <a:lstStyle/>
                    <a:p>
                      <a:pPr marL="0" marR="0" lvl="0" indent="0" algn="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 0.141</a:t>
                      </a:r>
                      <a:endParaRPr/>
                    </a:p>
                  </a:txBody>
                  <a:tcPr marL="91450" marR="5486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79400">
                <a:tc>
                  <a:txBody>
                    <a:bodyPr/>
                    <a:lstStyle/>
                    <a:p>
                      <a:pPr marL="0" marR="0" lvl="0" indent="0" algn="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 0.094</a:t>
                      </a:r>
                      <a:endParaRPr/>
                    </a:p>
                  </a:txBody>
                  <a:tcPr marL="91450" marR="5486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79400">
                <a:tc>
                  <a:txBody>
                    <a:bodyPr/>
                    <a:lstStyle/>
                    <a:p>
                      <a:pPr marL="0" marR="0" lvl="0" indent="0" algn="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 0.141</a:t>
                      </a:r>
                      <a:endParaRPr/>
                    </a:p>
                  </a:txBody>
                  <a:tcPr marL="91450" marR="5486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r>
            </a:tbl>
          </a:graphicData>
        </a:graphic>
      </p:graphicFrame>
      <p:sp>
        <p:nvSpPr>
          <p:cNvPr id="426" name="Google Shape;426;p31"/>
          <p:cNvSpPr/>
          <p:nvPr/>
        </p:nvSpPr>
        <p:spPr>
          <a:xfrm>
            <a:off x="6219825" y="4070350"/>
            <a:ext cx="1927225" cy="457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a:solidFill>
                  <a:schemeClr val="folHlink"/>
                </a:solidFill>
                <a:latin typeface="Arial"/>
                <a:ea typeface="Arial"/>
                <a:cs typeface="Arial"/>
                <a:sym typeface="Arial"/>
              </a:rPr>
              <a:t>Σ</a:t>
            </a:r>
            <a:r>
              <a:rPr lang="en-US" sz="2400" i="1">
                <a:solidFill>
                  <a:schemeClr val="folHlink"/>
                </a:solidFill>
                <a:latin typeface="Arial"/>
                <a:ea typeface="Arial"/>
                <a:cs typeface="Arial"/>
                <a:sym typeface="Arial"/>
              </a:rPr>
              <a:t>P</a:t>
            </a:r>
            <a:r>
              <a:rPr lang="en-US" sz="2400">
                <a:solidFill>
                  <a:schemeClr val="folHlink"/>
                </a:solidFill>
                <a:latin typeface="Arial"/>
                <a:ea typeface="Arial"/>
                <a:cs typeface="Arial"/>
                <a:sym typeface="Arial"/>
              </a:rPr>
              <a:t>(</a:t>
            </a:r>
            <a:r>
              <a:rPr lang="en-US" sz="2400" i="1">
                <a:solidFill>
                  <a:schemeClr val="folHlink"/>
                </a:solidFill>
                <a:latin typeface="Arial"/>
                <a:ea typeface="Arial"/>
                <a:cs typeface="Arial"/>
                <a:sym typeface="Arial"/>
              </a:rPr>
              <a:t>x</a:t>
            </a:r>
            <a:r>
              <a:rPr lang="en-US" sz="2400">
                <a:solidFill>
                  <a:schemeClr val="folHlink"/>
                </a:solidFill>
                <a:latin typeface="Arial"/>
                <a:ea typeface="Arial"/>
                <a:cs typeface="Arial"/>
                <a:sym typeface="Arial"/>
              </a:rPr>
              <a:t>)(</a:t>
            </a:r>
            <a:r>
              <a:rPr lang="en-US" sz="2400" i="1">
                <a:solidFill>
                  <a:schemeClr val="folHlink"/>
                </a:solidFill>
                <a:latin typeface="Arial"/>
                <a:ea typeface="Arial"/>
                <a:cs typeface="Arial"/>
                <a:sym typeface="Arial"/>
              </a:rPr>
              <a:t>x</a:t>
            </a:r>
            <a:r>
              <a:rPr lang="en-US" sz="2400">
                <a:solidFill>
                  <a:schemeClr val="folHlink"/>
                </a:solidFill>
                <a:latin typeface="Arial"/>
                <a:ea typeface="Arial"/>
                <a:cs typeface="Arial"/>
                <a:sym typeface="Arial"/>
              </a:rPr>
              <a:t> – 2)</a:t>
            </a:r>
            <a:r>
              <a:rPr lang="en-US" sz="2400" baseline="30000">
                <a:solidFill>
                  <a:schemeClr val="folHlink"/>
                </a:solidFill>
                <a:latin typeface="Arial"/>
                <a:ea typeface="Arial"/>
                <a:cs typeface="Arial"/>
                <a:sym typeface="Arial"/>
              </a:rPr>
              <a:t>2</a:t>
            </a:r>
            <a:endParaRPr sz="2400">
              <a:solidFill>
                <a:schemeClr val="folHlink"/>
              </a:solidFill>
              <a:latin typeface="Arial"/>
              <a:ea typeface="Arial"/>
              <a:cs typeface="Arial"/>
              <a:sym typeface="Arial"/>
            </a:endParaRPr>
          </a:p>
        </p:txBody>
      </p:sp>
      <p:sp>
        <p:nvSpPr>
          <p:cNvPr id="427" name="Google Shape;427;p31"/>
          <p:cNvSpPr/>
          <p:nvPr/>
        </p:nvSpPr>
        <p:spPr>
          <a:xfrm>
            <a:off x="6219825" y="5211763"/>
            <a:ext cx="2849563" cy="109696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200">
                <a:solidFill>
                  <a:schemeClr val="folHlink"/>
                </a:solidFill>
                <a:latin typeface="Arial"/>
                <a:ea typeface="Arial"/>
                <a:cs typeface="Arial"/>
                <a:sym typeface="Arial"/>
              </a:rPr>
              <a:t>The variance for the two spins is approximately 0.376</a:t>
            </a:r>
            <a:endParaRPr/>
          </a:p>
        </p:txBody>
      </p:sp>
      <p:sp>
        <p:nvSpPr>
          <p:cNvPr id="428" name="Google Shape;428;p31"/>
          <p:cNvSpPr/>
          <p:nvPr/>
        </p:nvSpPr>
        <p:spPr>
          <a:xfrm>
            <a:off x="7164388" y="4524375"/>
            <a:ext cx="1198562" cy="457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a:solidFill>
                  <a:schemeClr val="folHlink"/>
                </a:solidFill>
                <a:latin typeface="Arial"/>
                <a:ea typeface="Arial"/>
                <a:cs typeface="Arial"/>
                <a:sym typeface="Arial"/>
              </a:rPr>
              <a:t>≈ 0.376</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2"/>
                                        </p:tgtEl>
                                        <p:attrNameLst>
                                          <p:attrName>style.visibility</p:attrName>
                                        </p:attrNameLst>
                                      </p:cBhvr>
                                      <p:to>
                                        <p:strVal val="visible"/>
                                      </p:to>
                                    </p:set>
                                    <p:animEffect transition="in" filter="fade">
                                      <p:cBhvr>
                                        <p:cTn id="7" dur="1000"/>
                                        <p:tgtEl>
                                          <p:spTgt spid="422"/>
                                        </p:tgtEl>
                                      </p:cBhvr>
                                    </p:animEffect>
                                  </p:childTnLst>
                                </p:cTn>
                              </p:par>
                            </p:childTnLst>
                          </p:cTn>
                        </p:par>
                        <p:par>
                          <p:cTn id="8" fill="hold">
                            <p:stCondLst>
                              <p:cond delay="1000"/>
                            </p:stCondLst>
                            <p:childTnLst>
                              <p:par>
                                <p:cTn id="9" presetID="1" presetClass="entr" presetSubtype="0" fill="hold" nodeType="afterEffect">
                                  <p:stCondLst>
                                    <p:cond delay="500"/>
                                  </p:stCondLst>
                                  <p:childTnLst>
                                    <p:set>
                                      <p:cBhvr>
                                        <p:cTn id="10" dur="1" fill="hold">
                                          <p:stCondLst>
                                            <p:cond delay="0"/>
                                          </p:stCondLst>
                                        </p:cTn>
                                        <p:tgtEl>
                                          <p:spTgt spid="4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23"/>
                                        </p:tgtEl>
                                        <p:attrNameLst>
                                          <p:attrName>style.visibility</p:attrName>
                                        </p:attrNameLst>
                                      </p:cBhvr>
                                      <p:to>
                                        <p:strVal val="visible"/>
                                      </p:to>
                                    </p:set>
                                    <p:animEffect transition="in" filter="fade">
                                      <p:cBhvr>
                                        <p:cTn id="15" dur="1000"/>
                                        <p:tgtEl>
                                          <p:spTgt spid="42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24"/>
                                        </p:tgtEl>
                                        <p:attrNameLst>
                                          <p:attrName>style.visibility</p:attrName>
                                        </p:attrNameLst>
                                      </p:cBhvr>
                                      <p:to>
                                        <p:strVal val="visible"/>
                                      </p:to>
                                    </p:set>
                                    <p:animEffect transition="in" filter="fade">
                                      <p:cBhvr>
                                        <p:cTn id="20" dur="1000"/>
                                        <p:tgtEl>
                                          <p:spTgt spid="42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25"/>
                                        </p:tgtEl>
                                        <p:attrNameLst>
                                          <p:attrName>style.visibility</p:attrName>
                                        </p:attrNameLst>
                                      </p:cBhvr>
                                      <p:to>
                                        <p:strVal val="visible"/>
                                      </p:to>
                                    </p:set>
                                    <p:animEffect transition="in" filter="fade">
                                      <p:cBhvr>
                                        <p:cTn id="25" dur="1000"/>
                                        <p:tgtEl>
                                          <p:spTgt spid="425"/>
                                        </p:tgtEl>
                                      </p:cBhvr>
                                    </p:animEffect>
                                  </p:childTnLst>
                                </p:cTn>
                              </p:par>
                            </p:childTnLst>
                          </p:cTn>
                        </p:par>
                        <p:par>
                          <p:cTn id="26" fill="hold">
                            <p:stCondLst>
                              <p:cond delay="1000"/>
                            </p:stCondLst>
                            <p:childTnLst>
                              <p:par>
                                <p:cTn id="27" presetID="10" presetClass="entr" presetSubtype="0" fill="hold" nodeType="afterEffect">
                                  <p:stCondLst>
                                    <p:cond delay="0"/>
                                  </p:stCondLst>
                                  <p:childTnLst>
                                    <p:set>
                                      <p:cBhvr>
                                        <p:cTn id="28" dur="1" fill="hold">
                                          <p:stCondLst>
                                            <p:cond delay="0"/>
                                          </p:stCondLst>
                                        </p:cTn>
                                        <p:tgtEl>
                                          <p:spTgt spid="426"/>
                                        </p:tgtEl>
                                        <p:attrNameLst>
                                          <p:attrName>style.visibility</p:attrName>
                                        </p:attrNameLst>
                                      </p:cBhvr>
                                      <p:to>
                                        <p:strVal val="visible"/>
                                      </p:to>
                                    </p:set>
                                    <p:animEffect transition="in" filter="fade">
                                      <p:cBhvr>
                                        <p:cTn id="29" dur="1000"/>
                                        <p:tgtEl>
                                          <p:spTgt spid="426"/>
                                        </p:tgtEl>
                                      </p:cBhvr>
                                    </p:animEffect>
                                  </p:childTnLst>
                                </p:cTn>
                              </p:par>
                            </p:childTnLst>
                          </p:cTn>
                        </p:par>
                        <p:par>
                          <p:cTn id="30" fill="hold">
                            <p:stCondLst>
                              <p:cond delay="2000"/>
                            </p:stCondLst>
                            <p:childTnLst>
                              <p:par>
                                <p:cTn id="31" presetID="10" presetClass="entr" presetSubtype="0" fill="hold" nodeType="afterEffect">
                                  <p:stCondLst>
                                    <p:cond delay="0"/>
                                  </p:stCondLst>
                                  <p:childTnLst>
                                    <p:set>
                                      <p:cBhvr>
                                        <p:cTn id="32" dur="1" fill="hold">
                                          <p:stCondLst>
                                            <p:cond delay="0"/>
                                          </p:stCondLst>
                                        </p:cTn>
                                        <p:tgtEl>
                                          <p:spTgt spid="428"/>
                                        </p:tgtEl>
                                        <p:attrNameLst>
                                          <p:attrName>style.visibility</p:attrName>
                                        </p:attrNameLst>
                                      </p:cBhvr>
                                      <p:to>
                                        <p:strVal val="visible"/>
                                      </p:to>
                                    </p:set>
                                    <p:animEffect transition="in" filter="fade">
                                      <p:cBhvr>
                                        <p:cTn id="33" dur="1000"/>
                                        <p:tgtEl>
                                          <p:spTgt spid="428"/>
                                        </p:tgtEl>
                                      </p:cBhvr>
                                    </p:animEffect>
                                  </p:childTnLst>
                                </p:cTn>
                              </p:par>
                            </p:childTnLst>
                          </p:cTn>
                        </p:par>
                        <p:par>
                          <p:cTn id="34" fill="hold">
                            <p:stCondLst>
                              <p:cond delay="3000"/>
                            </p:stCondLst>
                            <p:childTnLst>
                              <p:par>
                                <p:cTn id="35" presetID="10" presetClass="entr" presetSubtype="0" fill="hold" nodeType="afterEffect">
                                  <p:stCondLst>
                                    <p:cond delay="500"/>
                                  </p:stCondLst>
                                  <p:childTnLst>
                                    <p:set>
                                      <p:cBhvr>
                                        <p:cTn id="36" dur="1" fill="hold">
                                          <p:stCondLst>
                                            <p:cond delay="0"/>
                                          </p:stCondLst>
                                        </p:cTn>
                                        <p:tgtEl>
                                          <p:spTgt spid="427"/>
                                        </p:tgtEl>
                                        <p:attrNameLst>
                                          <p:attrName>style.visibility</p:attrName>
                                        </p:attrNameLst>
                                      </p:cBhvr>
                                      <p:to>
                                        <p:strVal val="visible"/>
                                      </p:to>
                                    </p:set>
                                    <p:animEffect transition="in" filter="fade">
                                      <p:cBhvr>
                                        <p:cTn id="37" dur="1000"/>
                                        <p:tgtEl>
                                          <p:spTgt spid="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32"/>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Standard Deviation</a:t>
            </a:r>
            <a:endParaRPr/>
          </a:p>
        </p:txBody>
      </p:sp>
      <p:graphicFrame>
        <p:nvGraphicFramePr>
          <p:cNvPr id="435" name="Google Shape;435;p32"/>
          <p:cNvGraphicFramePr/>
          <p:nvPr/>
        </p:nvGraphicFramePr>
        <p:xfrm>
          <a:off x="457200" y="4318000"/>
          <a:ext cx="1752600" cy="1706920"/>
        </p:xfrm>
        <a:graphic>
          <a:graphicData uri="http://schemas.openxmlformats.org/drawingml/2006/table">
            <a:tbl>
              <a:tblPr>
                <a:noFill/>
                <a:tableStyleId>{1777CA09-EAB0-4852-9CA1-627062E9AE65}</a:tableStyleId>
              </a:tblPr>
              <a:tblGrid>
                <a:gridCol w="609600"/>
                <a:gridCol w="1143000"/>
              </a:tblGrid>
              <a:tr h="180975">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1" i="1" u="none" strike="noStrike" cap="none">
                          <a:solidFill>
                            <a:schemeClr val="dk1"/>
                          </a:solidFill>
                          <a:latin typeface="Century"/>
                          <a:ea typeface="Century"/>
                          <a:cs typeface="Century"/>
                          <a:sym typeface="Century"/>
                        </a:rPr>
                        <a:t>x</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alpha val="49803"/>
                      </a:schemeClr>
                    </a:solidFill>
                  </a:tcPr>
                </a:tc>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1" i="1" u="none" strike="noStrike" cap="none">
                          <a:solidFill>
                            <a:schemeClr val="dk1"/>
                          </a:solidFill>
                          <a:latin typeface="Century"/>
                          <a:ea typeface="Century"/>
                          <a:cs typeface="Century"/>
                          <a:sym typeface="Century"/>
                        </a:rPr>
                        <a:t>P</a:t>
                      </a:r>
                      <a:r>
                        <a:rPr lang="en-US" sz="2200" b="1" i="0" u="none" strike="noStrike" cap="none">
                          <a:solidFill>
                            <a:schemeClr val="dk1"/>
                          </a:solidFill>
                          <a:latin typeface="Century"/>
                          <a:ea typeface="Century"/>
                          <a:cs typeface="Century"/>
                          <a:sym typeface="Century"/>
                        </a:rPr>
                        <a:t> (</a:t>
                      </a:r>
                      <a:r>
                        <a:rPr lang="en-US" sz="2200" b="1" i="1" u="none" strike="noStrike" cap="none">
                          <a:solidFill>
                            <a:schemeClr val="dk1"/>
                          </a:solidFill>
                          <a:latin typeface="Century"/>
                          <a:ea typeface="Century"/>
                          <a:cs typeface="Century"/>
                          <a:sym typeface="Century"/>
                        </a:rPr>
                        <a:t>x</a:t>
                      </a:r>
                      <a:r>
                        <a:rPr lang="en-US" sz="2200" b="1" i="0" u="none" strike="noStrike" cap="none">
                          <a:solidFill>
                            <a:schemeClr val="dk1"/>
                          </a:solidFill>
                          <a:latin typeface="Century"/>
                          <a:ea typeface="Century"/>
                          <a:cs typeface="Century"/>
                          <a:sym typeface="Century"/>
                        </a:rPr>
                        <a:t>)</a:t>
                      </a:r>
                      <a:endParaRPr sz="2200" b="1" i="1" u="none" strike="noStrike" cap="none">
                        <a:solidFill>
                          <a:schemeClr val="dk1"/>
                        </a:solidFill>
                        <a:latin typeface="Century"/>
                        <a:ea typeface="Century"/>
                        <a:cs typeface="Century"/>
                        <a:sym typeface="Century"/>
                      </a:endParaRPr>
                    </a:p>
                  </a:txBody>
                  <a:tcPr marL="91450" marR="91450" marT="45725" marB="4572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alpha val="49803"/>
                      </a:schemeClr>
                    </a:solidFill>
                  </a:tcPr>
                </a:tc>
              </a:tr>
              <a:tr h="279400">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2</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0.0625</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79400">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3</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0.375</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79400">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4</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0.5625</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r>
            </a:tbl>
          </a:graphicData>
        </a:graphic>
      </p:graphicFrame>
      <p:sp>
        <p:nvSpPr>
          <p:cNvPr id="436" name="Google Shape;436;p32"/>
          <p:cNvSpPr/>
          <p:nvPr/>
        </p:nvSpPr>
        <p:spPr>
          <a:xfrm>
            <a:off x="304800" y="1219200"/>
            <a:ext cx="8610600" cy="19685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600">
              <a:solidFill>
                <a:schemeClr val="dk1"/>
              </a:solidFill>
              <a:latin typeface="Arial"/>
              <a:ea typeface="Arial"/>
              <a:cs typeface="Arial"/>
              <a:sym typeface="Arial"/>
            </a:endParaRPr>
          </a:p>
          <a:p>
            <a:pPr marL="0" marR="0" lvl="0" indent="0" algn="ctr" rtl="0">
              <a:spcBef>
                <a:spcPts val="480"/>
              </a:spcBef>
              <a:spcAft>
                <a:spcPts val="0"/>
              </a:spcAft>
              <a:buNone/>
            </a:pPr>
            <a:r>
              <a:rPr lang="en-US" sz="2400">
                <a:solidFill>
                  <a:schemeClr val="dk1"/>
                </a:solidFill>
                <a:latin typeface="Arial"/>
                <a:ea typeface="Arial"/>
                <a:cs typeface="Arial"/>
                <a:sym typeface="Arial"/>
              </a:rPr>
              <a:t>The </a:t>
            </a:r>
            <a:r>
              <a:rPr lang="en-US" sz="2400" b="1">
                <a:solidFill>
                  <a:srgbClr val="000099"/>
                </a:solidFill>
                <a:latin typeface="Arial"/>
                <a:ea typeface="Arial"/>
                <a:cs typeface="Arial"/>
                <a:sym typeface="Arial"/>
              </a:rPr>
              <a:t>standard</a:t>
            </a:r>
            <a:r>
              <a:rPr lang="en-US" sz="2400">
                <a:solidFill>
                  <a:schemeClr val="dk1"/>
                </a:solidFill>
                <a:latin typeface="Arial"/>
                <a:ea typeface="Arial"/>
                <a:cs typeface="Arial"/>
                <a:sym typeface="Arial"/>
              </a:rPr>
              <a:t> </a:t>
            </a:r>
            <a:r>
              <a:rPr lang="en-US" sz="2400" b="1">
                <a:solidFill>
                  <a:srgbClr val="000099"/>
                </a:solidFill>
                <a:latin typeface="Arial"/>
                <a:ea typeface="Arial"/>
                <a:cs typeface="Arial"/>
                <a:sym typeface="Arial"/>
              </a:rPr>
              <a:t>deviation</a:t>
            </a:r>
            <a:r>
              <a:rPr lang="en-US" sz="2400">
                <a:solidFill>
                  <a:schemeClr val="dk1"/>
                </a:solidFill>
                <a:latin typeface="Arial"/>
                <a:ea typeface="Arial"/>
                <a:cs typeface="Arial"/>
                <a:sym typeface="Arial"/>
              </a:rPr>
              <a:t> of a discrete random variable is given by</a:t>
            </a:r>
            <a:endParaRPr/>
          </a:p>
          <a:p>
            <a:pPr marL="0" marR="0" lvl="0" indent="0" algn="ctr" rtl="0">
              <a:spcBef>
                <a:spcPts val="120"/>
              </a:spcBef>
              <a:spcAft>
                <a:spcPts val="0"/>
              </a:spcAft>
              <a:buNone/>
            </a:pPr>
            <a:endParaRPr sz="600">
              <a:solidFill>
                <a:schemeClr val="dk1"/>
              </a:solidFill>
              <a:latin typeface="Arial"/>
              <a:ea typeface="Arial"/>
              <a:cs typeface="Arial"/>
              <a:sym typeface="Arial"/>
            </a:endParaRPr>
          </a:p>
        </p:txBody>
      </p:sp>
      <p:sp>
        <p:nvSpPr>
          <p:cNvPr id="437" name="Google Shape;437;p32"/>
          <p:cNvSpPr/>
          <p:nvPr/>
        </p:nvSpPr>
        <p:spPr>
          <a:xfrm>
            <a:off x="304800" y="2743200"/>
            <a:ext cx="8642350" cy="9144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Example</a:t>
            </a:r>
            <a:r>
              <a:rPr lang="en-US" sz="2400">
                <a:solidFill>
                  <a:schemeClr val="dk1"/>
                </a:solidFill>
                <a:latin typeface="Times New Roman"/>
                <a:ea typeface="Times New Roman"/>
                <a:cs typeface="Times New Roman"/>
                <a:sym typeface="Times New Roman"/>
              </a:rPr>
              <a:t>:</a:t>
            </a:r>
            <a:endParaRPr/>
          </a:p>
          <a:p>
            <a:pPr marL="0" marR="0" lvl="0" indent="0" algn="ctr" rtl="0">
              <a:spcBef>
                <a:spcPts val="480"/>
              </a:spcBef>
              <a:spcAft>
                <a:spcPts val="0"/>
              </a:spcAft>
              <a:buNone/>
            </a:pPr>
            <a:r>
              <a:rPr lang="en-US" sz="2400">
                <a:solidFill>
                  <a:schemeClr val="dk1"/>
                </a:solidFill>
                <a:latin typeface="Arial"/>
                <a:ea typeface="Arial"/>
                <a:cs typeface="Arial"/>
                <a:sym typeface="Arial"/>
              </a:rPr>
              <a:t>Find the standard deviation of the probability distribution for the sum of the two spins.  The variance is 0.376.</a:t>
            </a:r>
            <a:endParaRPr/>
          </a:p>
        </p:txBody>
      </p:sp>
      <p:graphicFrame>
        <p:nvGraphicFramePr>
          <p:cNvPr id="438" name="Google Shape;438;p32"/>
          <p:cNvGraphicFramePr/>
          <p:nvPr/>
        </p:nvGraphicFramePr>
        <p:xfrm>
          <a:off x="2219325" y="4311650"/>
          <a:ext cx="981075" cy="1706920"/>
        </p:xfrm>
        <a:graphic>
          <a:graphicData uri="http://schemas.openxmlformats.org/drawingml/2006/table">
            <a:tbl>
              <a:tblPr>
                <a:noFill/>
                <a:tableStyleId>{1777CA09-EAB0-4852-9CA1-627062E9AE65}</a:tableStyleId>
              </a:tblPr>
              <a:tblGrid>
                <a:gridCol w="981075"/>
              </a:tblGrid>
              <a:tr h="180975">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1" i="1" u="none" strike="noStrike" cap="none">
                          <a:solidFill>
                            <a:schemeClr val="dk1"/>
                          </a:solidFill>
                          <a:latin typeface="Century"/>
                          <a:ea typeface="Century"/>
                          <a:cs typeface="Century"/>
                          <a:sym typeface="Century"/>
                        </a:rPr>
                        <a:t>x – μ </a:t>
                      </a:r>
                      <a:endParaRPr/>
                    </a:p>
                  </a:txBody>
                  <a:tcPr marL="91450" marR="91450" marT="45725" marB="45725" anchor="ctr">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alpha val="49803"/>
                      </a:schemeClr>
                    </a:solidFill>
                  </a:tcPr>
                </a:tc>
              </a:tr>
              <a:tr h="279400">
                <a:tc>
                  <a:txBody>
                    <a:bodyPr/>
                    <a:lstStyle/>
                    <a:p>
                      <a:pPr marL="0" marR="0" lvl="0" indent="0" algn="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–1.5</a:t>
                      </a:r>
                      <a:endParaRPr/>
                    </a:p>
                  </a:txBody>
                  <a:tcPr marL="91450" marR="3200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79400">
                <a:tc>
                  <a:txBody>
                    <a:bodyPr/>
                    <a:lstStyle/>
                    <a:p>
                      <a:pPr marL="0" marR="0" lvl="0" indent="0" algn="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–0.5</a:t>
                      </a:r>
                      <a:endParaRPr/>
                    </a:p>
                  </a:txBody>
                  <a:tcPr marL="91450" marR="3200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79400">
                <a:tc>
                  <a:txBody>
                    <a:bodyPr/>
                    <a:lstStyle/>
                    <a:p>
                      <a:pPr marL="0" marR="0" lvl="0" indent="0" algn="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0.5</a:t>
                      </a:r>
                      <a:endParaRPr/>
                    </a:p>
                  </a:txBody>
                  <a:tcPr marL="91450" marR="3200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r>
            </a:tbl>
          </a:graphicData>
        </a:graphic>
      </p:graphicFrame>
      <p:graphicFrame>
        <p:nvGraphicFramePr>
          <p:cNvPr id="439" name="Google Shape;439;p32"/>
          <p:cNvGraphicFramePr/>
          <p:nvPr/>
        </p:nvGraphicFramePr>
        <p:xfrm>
          <a:off x="3205163" y="4311650"/>
          <a:ext cx="1138225" cy="1706920"/>
        </p:xfrm>
        <a:graphic>
          <a:graphicData uri="http://schemas.openxmlformats.org/drawingml/2006/table">
            <a:tbl>
              <a:tblPr>
                <a:noFill/>
                <a:tableStyleId>{1777CA09-EAB0-4852-9CA1-627062E9AE65}</a:tableStyleId>
              </a:tblPr>
              <a:tblGrid>
                <a:gridCol w="1138225"/>
              </a:tblGrid>
              <a:tr h="180975">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1" i="0" u="none" strike="noStrike" cap="none">
                          <a:solidFill>
                            <a:schemeClr val="dk1"/>
                          </a:solidFill>
                          <a:latin typeface="Century"/>
                          <a:ea typeface="Century"/>
                          <a:cs typeface="Century"/>
                          <a:sym typeface="Century"/>
                        </a:rPr>
                        <a:t>(</a:t>
                      </a:r>
                      <a:r>
                        <a:rPr lang="en-US" sz="2200" b="1" i="1" u="none" strike="noStrike" cap="none">
                          <a:solidFill>
                            <a:schemeClr val="dk1"/>
                          </a:solidFill>
                          <a:latin typeface="Century"/>
                          <a:ea typeface="Century"/>
                          <a:cs typeface="Century"/>
                          <a:sym typeface="Century"/>
                        </a:rPr>
                        <a:t>x – μ</a:t>
                      </a:r>
                      <a:r>
                        <a:rPr lang="en-US" sz="2200" b="1" i="0" u="none" strike="noStrike" cap="none">
                          <a:solidFill>
                            <a:schemeClr val="dk1"/>
                          </a:solidFill>
                          <a:latin typeface="Century"/>
                          <a:ea typeface="Century"/>
                          <a:cs typeface="Century"/>
                          <a:sym typeface="Century"/>
                        </a:rPr>
                        <a:t>)</a:t>
                      </a:r>
                      <a:r>
                        <a:rPr lang="en-US" sz="2200" b="1" i="0" u="none" strike="noStrike" cap="none" baseline="30000">
                          <a:solidFill>
                            <a:schemeClr val="dk1"/>
                          </a:solidFill>
                          <a:latin typeface="Century"/>
                          <a:ea typeface="Century"/>
                          <a:cs typeface="Century"/>
                          <a:sym typeface="Century"/>
                        </a:rPr>
                        <a:t>2</a:t>
                      </a:r>
                      <a:r>
                        <a:rPr lang="en-US" sz="2200" b="1" i="1" u="none" strike="noStrike" cap="none">
                          <a:solidFill>
                            <a:schemeClr val="dk1"/>
                          </a:solidFill>
                          <a:latin typeface="Century"/>
                          <a:ea typeface="Century"/>
                          <a:cs typeface="Century"/>
                          <a:sym typeface="Century"/>
                        </a:rPr>
                        <a:t> </a:t>
                      </a:r>
                      <a:endParaRPr/>
                    </a:p>
                  </a:txBody>
                  <a:tcPr marL="91450" marR="91450" marT="45725" marB="45725" anchor="ctr">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alpha val="49803"/>
                      </a:schemeClr>
                    </a:solidFill>
                  </a:tcPr>
                </a:tc>
              </a:tr>
              <a:tr h="279400">
                <a:tc>
                  <a:txBody>
                    <a:bodyPr/>
                    <a:lstStyle/>
                    <a:p>
                      <a:pPr marL="0" marR="0" lvl="0" indent="0" algn="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2.25</a:t>
                      </a:r>
                      <a:endParaRPr/>
                    </a:p>
                  </a:txBody>
                  <a:tcPr marL="91450" marR="3200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79400">
                <a:tc>
                  <a:txBody>
                    <a:bodyPr/>
                    <a:lstStyle/>
                    <a:p>
                      <a:pPr marL="0" marR="0" lvl="0" indent="0" algn="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0.25</a:t>
                      </a:r>
                      <a:endParaRPr/>
                    </a:p>
                  </a:txBody>
                  <a:tcPr marL="91450" marR="3200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79400">
                <a:tc>
                  <a:txBody>
                    <a:bodyPr/>
                    <a:lstStyle/>
                    <a:p>
                      <a:pPr marL="0" marR="0" lvl="0" indent="0" algn="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0.25</a:t>
                      </a:r>
                      <a:endParaRPr/>
                    </a:p>
                  </a:txBody>
                  <a:tcPr marL="91450" marR="3200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r>
            </a:tbl>
          </a:graphicData>
        </a:graphic>
      </p:graphicFrame>
      <p:graphicFrame>
        <p:nvGraphicFramePr>
          <p:cNvPr id="440" name="Google Shape;440;p32"/>
          <p:cNvGraphicFramePr/>
          <p:nvPr/>
        </p:nvGraphicFramePr>
        <p:xfrm>
          <a:off x="4362450" y="4311650"/>
          <a:ext cx="1809750" cy="1706920"/>
        </p:xfrm>
        <a:graphic>
          <a:graphicData uri="http://schemas.openxmlformats.org/drawingml/2006/table">
            <a:tbl>
              <a:tblPr>
                <a:noFill/>
                <a:tableStyleId>{1777CA09-EAB0-4852-9CA1-627062E9AE65}</a:tableStyleId>
              </a:tblPr>
              <a:tblGrid>
                <a:gridCol w="1809750"/>
              </a:tblGrid>
              <a:tr h="180975">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1" i="1" u="none" strike="noStrike" cap="none">
                          <a:solidFill>
                            <a:schemeClr val="dk1"/>
                          </a:solidFill>
                          <a:latin typeface="Century"/>
                          <a:ea typeface="Century"/>
                          <a:cs typeface="Century"/>
                          <a:sym typeface="Century"/>
                        </a:rPr>
                        <a:t>P </a:t>
                      </a:r>
                      <a:r>
                        <a:rPr lang="en-US" sz="2200" b="1" i="0" u="none" strike="noStrike" cap="none">
                          <a:solidFill>
                            <a:schemeClr val="dk1"/>
                          </a:solidFill>
                          <a:latin typeface="Century"/>
                          <a:ea typeface="Century"/>
                          <a:cs typeface="Century"/>
                          <a:sym typeface="Century"/>
                        </a:rPr>
                        <a:t>(</a:t>
                      </a:r>
                      <a:r>
                        <a:rPr lang="en-US" sz="2200" b="1" i="1" u="none" strike="noStrike" cap="none">
                          <a:solidFill>
                            <a:schemeClr val="dk1"/>
                          </a:solidFill>
                          <a:latin typeface="Century"/>
                          <a:ea typeface="Century"/>
                          <a:cs typeface="Century"/>
                          <a:sym typeface="Century"/>
                        </a:rPr>
                        <a:t>x</a:t>
                      </a:r>
                      <a:r>
                        <a:rPr lang="en-US" sz="2200" b="1" i="0" u="none" strike="noStrike" cap="none">
                          <a:solidFill>
                            <a:schemeClr val="dk1"/>
                          </a:solidFill>
                          <a:latin typeface="Century"/>
                          <a:ea typeface="Century"/>
                          <a:cs typeface="Century"/>
                          <a:sym typeface="Century"/>
                        </a:rPr>
                        <a:t>)(</a:t>
                      </a:r>
                      <a:r>
                        <a:rPr lang="en-US" sz="2200" b="1" i="1" u="none" strike="noStrike" cap="none">
                          <a:solidFill>
                            <a:schemeClr val="dk1"/>
                          </a:solidFill>
                          <a:latin typeface="Century"/>
                          <a:ea typeface="Century"/>
                          <a:cs typeface="Century"/>
                          <a:sym typeface="Century"/>
                        </a:rPr>
                        <a:t>x – μ</a:t>
                      </a:r>
                      <a:r>
                        <a:rPr lang="en-US" sz="2200" b="1" i="0" u="none" strike="noStrike" cap="none">
                          <a:solidFill>
                            <a:schemeClr val="dk1"/>
                          </a:solidFill>
                          <a:latin typeface="Century"/>
                          <a:ea typeface="Century"/>
                          <a:cs typeface="Century"/>
                          <a:sym typeface="Century"/>
                        </a:rPr>
                        <a:t>)</a:t>
                      </a:r>
                      <a:r>
                        <a:rPr lang="en-US" sz="2200" b="1" i="0" u="none" strike="noStrike" cap="none" baseline="30000">
                          <a:solidFill>
                            <a:schemeClr val="dk1"/>
                          </a:solidFill>
                          <a:latin typeface="Century"/>
                          <a:ea typeface="Century"/>
                          <a:cs typeface="Century"/>
                          <a:sym typeface="Century"/>
                        </a:rPr>
                        <a:t>2</a:t>
                      </a:r>
                      <a:r>
                        <a:rPr lang="en-US" sz="2200" b="1" i="1" u="none" strike="noStrike" cap="none">
                          <a:solidFill>
                            <a:schemeClr val="dk1"/>
                          </a:solidFill>
                          <a:latin typeface="Century"/>
                          <a:ea typeface="Century"/>
                          <a:cs typeface="Century"/>
                          <a:sym typeface="Century"/>
                        </a:rPr>
                        <a:t> </a:t>
                      </a:r>
                      <a:endParaRPr/>
                    </a:p>
                  </a:txBody>
                  <a:tcPr marL="91450" marR="91450" marT="45725" marB="45725" anchor="ctr">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alpha val="49803"/>
                      </a:schemeClr>
                    </a:solidFill>
                  </a:tcPr>
                </a:tc>
              </a:tr>
              <a:tr h="279400">
                <a:tc>
                  <a:txBody>
                    <a:bodyPr/>
                    <a:lstStyle/>
                    <a:p>
                      <a:pPr marL="0" marR="0" lvl="0" indent="0" algn="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0.141</a:t>
                      </a:r>
                      <a:endParaRPr/>
                    </a:p>
                  </a:txBody>
                  <a:tcPr marL="91450" marR="5486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79400">
                <a:tc>
                  <a:txBody>
                    <a:bodyPr/>
                    <a:lstStyle/>
                    <a:p>
                      <a:pPr marL="0" marR="0" lvl="0" indent="0" algn="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0.094</a:t>
                      </a:r>
                      <a:endParaRPr/>
                    </a:p>
                  </a:txBody>
                  <a:tcPr marL="91450" marR="5486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279400">
                <a:tc>
                  <a:txBody>
                    <a:bodyPr/>
                    <a:lstStyle/>
                    <a:p>
                      <a:pPr marL="0" marR="0" lvl="0" indent="0" algn="r" rtl="0">
                        <a:lnSpc>
                          <a:spcPct val="100000"/>
                        </a:lnSpc>
                        <a:spcBef>
                          <a:spcPts val="0"/>
                        </a:spcBef>
                        <a:spcAft>
                          <a:spcPts val="0"/>
                        </a:spcAft>
                        <a:buClr>
                          <a:schemeClr val="dk2"/>
                        </a:buClr>
                        <a:buSzPts val="1650"/>
                        <a:buFont typeface="Noto Sans Symbols"/>
                        <a:buNone/>
                      </a:pPr>
                      <a:r>
                        <a:rPr lang="en-US" sz="2200" b="0" i="0" u="none" strike="noStrike" cap="none">
                          <a:solidFill>
                            <a:schemeClr val="dk1"/>
                          </a:solidFill>
                          <a:latin typeface="Century"/>
                          <a:ea typeface="Century"/>
                          <a:cs typeface="Century"/>
                          <a:sym typeface="Century"/>
                        </a:rPr>
                        <a:t>0.141</a:t>
                      </a:r>
                      <a:endParaRPr/>
                    </a:p>
                  </a:txBody>
                  <a:tcPr marL="91450" marR="548650" marT="45725" marB="45725">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r>
            </a:tbl>
          </a:graphicData>
        </a:graphic>
      </p:graphicFrame>
      <p:sp>
        <p:nvSpPr>
          <p:cNvPr id="441" name="Google Shape;441;p32"/>
          <p:cNvSpPr/>
          <p:nvPr/>
        </p:nvSpPr>
        <p:spPr>
          <a:xfrm>
            <a:off x="6438900" y="4967288"/>
            <a:ext cx="2805113" cy="143192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200">
                <a:solidFill>
                  <a:schemeClr val="folHlink"/>
                </a:solidFill>
                <a:latin typeface="Arial"/>
                <a:ea typeface="Arial"/>
                <a:cs typeface="Arial"/>
                <a:sym typeface="Arial"/>
              </a:rPr>
              <a:t>Most of the sums differ from the mean by no more than 0.6 points.</a:t>
            </a:r>
            <a:endParaRPr/>
          </a:p>
        </p:txBody>
      </p:sp>
      <p:pic>
        <p:nvPicPr>
          <p:cNvPr id="442" name="Google Shape;442;p32"/>
          <p:cNvPicPr preferRelativeResize="0"/>
          <p:nvPr/>
        </p:nvPicPr>
        <p:blipFill rotWithShape="1">
          <a:blip r:embed="rId3">
            <a:alphaModFix/>
          </a:blip>
          <a:srcRect/>
          <a:stretch/>
        </p:blipFill>
        <p:spPr>
          <a:xfrm>
            <a:off x="2019300" y="3771900"/>
            <a:ext cx="1092200" cy="444500"/>
          </a:xfrm>
          <a:prstGeom prst="rect">
            <a:avLst/>
          </a:prstGeom>
          <a:noFill/>
          <a:ln>
            <a:noFill/>
          </a:ln>
        </p:spPr>
      </p:pic>
      <p:pic>
        <p:nvPicPr>
          <p:cNvPr id="443" name="Google Shape;443;p32"/>
          <p:cNvPicPr preferRelativeResize="0"/>
          <p:nvPr/>
        </p:nvPicPr>
        <p:blipFill rotWithShape="1">
          <a:blip r:embed="rId4">
            <a:alphaModFix/>
          </a:blip>
          <a:srcRect/>
          <a:stretch/>
        </p:blipFill>
        <p:spPr>
          <a:xfrm>
            <a:off x="2057400" y="2082800"/>
            <a:ext cx="1181100" cy="444500"/>
          </a:xfrm>
          <a:prstGeom prst="rect">
            <a:avLst/>
          </a:prstGeom>
          <a:noFill/>
          <a:ln>
            <a:noFill/>
          </a:ln>
        </p:spPr>
      </p:pic>
      <p:pic>
        <p:nvPicPr>
          <p:cNvPr id="444" name="Google Shape;444;p32"/>
          <p:cNvPicPr preferRelativeResize="0"/>
          <p:nvPr/>
        </p:nvPicPr>
        <p:blipFill rotWithShape="1">
          <a:blip r:embed="rId5">
            <a:alphaModFix/>
          </a:blip>
          <a:srcRect/>
          <a:stretch/>
        </p:blipFill>
        <p:spPr>
          <a:xfrm>
            <a:off x="6908800" y="4572000"/>
            <a:ext cx="2120900" cy="355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33"/>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Expected Value</a:t>
            </a:r>
            <a:endParaRPr/>
          </a:p>
        </p:txBody>
      </p:sp>
      <p:sp>
        <p:nvSpPr>
          <p:cNvPr id="451" name="Google Shape;451;p33"/>
          <p:cNvSpPr/>
          <p:nvPr/>
        </p:nvSpPr>
        <p:spPr>
          <a:xfrm>
            <a:off x="282575" y="1535113"/>
            <a:ext cx="8610600" cy="1511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The </a:t>
            </a:r>
            <a:r>
              <a:rPr lang="en-US" sz="2400" b="1">
                <a:solidFill>
                  <a:srgbClr val="000099"/>
                </a:solidFill>
                <a:latin typeface="Arial"/>
                <a:ea typeface="Arial"/>
                <a:cs typeface="Arial"/>
                <a:sym typeface="Arial"/>
              </a:rPr>
              <a:t>expected value </a:t>
            </a:r>
            <a:r>
              <a:rPr lang="en-US" sz="2400">
                <a:solidFill>
                  <a:schemeClr val="dk1"/>
                </a:solidFill>
                <a:latin typeface="Arial"/>
                <a:ea typeface="Arial"/>
                <a:cs typeface="Arial"/>
                <a:sym typeface="Arial"/>
              </a:rPr>
              <a:t>of a discrete random variable is equal to the mean of the random variable.</a:t>
            </a:r>
            <a:endParaRPr/>
          </a:p>
          <a:p>
            <a:pPr marL="0" marR="0" lvl="0" indent="0" algn="ctr" rtl="0">
              <a:spcBef>
                <a:spcPts val="120"/>
              </a:spcBef>
              <a:spcAft>
                <a:spcPts val="0"/>
              </a:spcAft>
              <a:buNone/>
            </a:pPr>
            <a:endParaRPr sz="600">
              <a:solidFill>
                <a:schemeClr val="dk1"/>
              </a:solidFill>
              <a:latin typeface="Arial"/>
              <a:ea typeface="Arial"/>
              <a:cs typeface="Arial"/>
              <a:sym typeface="Arial"/>
            </a:endParaRPr>
          </a:p>
          <a:p>
            <a:pPr marL="0" marR="0" lvl="0" indent="0" algn="ctr" rtl="0">
              <a:spcBef>
                <a:spcPts val="480"/>
              </a:spcBef>
              <a:spcAft>
                <a:spcPts val="0"/>
              </a:spcAft>
              <a:buNone/>
            </a:pPr>
            <a:r>
              <a:rPr lang="en-US" sz="2400" i="1">
                <a:solidFill>
                  <a:schemeClr val="dk1"/>
                </a:solidFill>
                <a:latin typeface="Arial"/>
                <a:ea typeface="Arial"/>
                <a:cs typeface="Arial"/>
                <a:sym typeface="Arial"/>
              </a:rPr>
              <a:t>	</a:t>
            </a:r>
            <a:r>
              <a:rPr lang="en-US" sz="2400">
                <a:solidFill>
                  <a:schemeClr val="dk1"/>
                </a:solidFill>
                <a:latin typeface="Arial"/>
                <a:ea typeface="Arial"/>
                <a:cs typeface="Arial"/>
                <a:sym typeface="Arial"/>
              </a:rPr>
              <a:t>Expected Value = </a:t>
            </a:r>
            <a:r>
              <a:rPr lang="en-US" sz="2400" i="1">
                <a:solidFill>
                  <a:schemeClr val="dk1"/>
                </a:solidFill>
                <a:latin typeface="Arial"/>
                <a:ea typeface="Arial"/>
                <a:cs typeface="Arial"/>
                <a:sym typeface="Arial"/>
              </a:rPr>
              <a:t>E</a:t>
            </a:r>
            <a:r>
              <a:rPr lang="en-US" sz="2400">
                <a:solidFill>
                  <a:schemeClr val="dk1"/>
                </a:solidFill>
                <a:latin typeface="Arial"/>
                <a:ea typeface="Arial"/>
                <a:cs typeface="Arial"/>
                <a:sym typeface="Arial"/>
              </a:rPr>
              <a:t>(</a:t>
            </a:r>
            <a:r>
              <a:rPr lang="en-US" sz="2400" i="1">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a:t>
            </a:r>
            <a:r>
              <a:rPr lang="en-US" sz="2400" i="1">
                <a:solidFill>
                  <a:schemeClr val="dk1"/>
                </a:solidFill>
                <a:latin typeface="Arial"/>
                <a:ea typeface="Arial"/>
                <a:cs typeface="Arial"/>
                <a:sym typeface="Arial"/>
              </a:rPr>
              <a:t>μ </a:t>
            </a:r>
            <a:r>
              <a:rPr lang="en-US" sz="2400">
                <a:solidFill>
                  <a:schemeClr val="dk1"/>
                </a:solidFill>
                <a:latin typeface="Arial"/>
                <a:ea typeface="Arial"/>
                <a:cs typeface="Arial"/>
                <a:sym typeface="Arial"/>
              </a:rPr>
              <a:t>=</a:t>
            </a:r>
            <a:r>
              <a:rPr lang="en-US" sz="2400" i="1">
                <a:solidFill>
                  <a:schemeClr val="dk1"/>
                </a:solidFill>
                <a:latin typeface="Arial"/>
                <a:ea typeface="Arial"/>
                <a:cs typeface="Arial"/>
                <a:sym typeface="Arial"/>
              </a:rPr>
              <a:t> </a:t>
            </a:r>
            <a:r>
              <a:rPr lang="en-US" sz="2400">
                <a:solidFill>
                  <a:schemeClr val="dk1"/>
                </a:solidFill>
                <a:latin typeface="Arial"/>
                <a:ea typeface="Arial"/>
                <a:cs typeface="Arial"/>
                <a:sym typeface="Arial"/>
              </a:rPr>
              <a:t>Σ</a:t>
            </a:r>
            <a:r>
              <a:rPr lang="en-US" sz="2400" i="1">
                <a:solidFill>
                  <a:schemeClr val="dk1"/>
                </a:solidFill>
                <a:latin typeface="Arial"/>
                <a:ea typeface="Arial"/>
                <a:cs typeface="Arial"/>
                <a:sym typeface="Arial"/>
              </a:rPr>
              <a:t>xP</a:t>
            </a:r>
            <a:r>
              <a:rPr lang="en-US" sz="2400">
                <a:solidFill>
                  <a:schemeClr val="dk1"/>
                </a:solidFill>
                <a:latin typeface="Arial"/>
                <a:ea typeface="Arial"/>
                <a:cs typeface="Arial"/>
                <a:sym typeface="Arial"/>
              </a:rPr>
              <a:t>(</a:t>
            </a:r>
            <a:r>
              <a:rPr lang="en-US" sz="2400" i="1">
                <a:solidFill>
                  <a:schemeClr val="dk1"/>
                </a:solidFill>
                <a:latin typeface="Arial"/>
                <a:ea typeface="Arial"/>
                <a:cs typeface="Arial"/>
                <a:sym typeface="Arial"/>
              </a:rPr>
              <a:t>x</a:t>
            </a:r>
            <a:r>
              <a:rPr lang="en-US" sz="2400">
                <a:solidFill>
                  <a:schemeClr val="dk1"/>
                </a:solidFill>
                <a:latin typeface="Arial"/>
                <a:ea typeface="Arial"/>
                <a:cs typeface="Arial"/>
                <a:sym typeface="Arial"/>
              </a:rPr>
              <a:t>).</a:t>
            </a:r>
            <a:endParaRPr/>
          </a:p>
          <a:p>
            <a:pPr marL="0" marR="0" lvl="0" indent="0" algn="ctr" rtl="0">
              <a:spcBef>
                <a:spcPts val="120"/>
              </a:spcBef>
              <a:spcAft>
                <a:spcPts val="0"/>
              </a:spcAft>
              <a:buNone/>
            </a:pPr>
            <a:endParaRPr sz="600">
              <a:solidFill>
                <a:schemeClr val="dk1"/>
              </a:solidFill>
              <a:latin typeface="Arial"/>
              <a:ea typeface="Arial"/>
              <a:cs typeface="Arial"/>
              <a:sym typeface="Arial"/>
            </a:endParaRPr>
          </a:p>
        </p:txBody>
      </p:sp>
      <p:sp>
        <p:nvSpPr>
          <p:cNvPr id="452" name="Google Shape;452;p33"/>
          <p:cNvSpPr/>
          <p:nvPr/>
        </p:nvSpPr>
        <p:spPr>
          <a:xfrm>
            <a:off x="304800" y="2819400"/>
            <a:ext cx="8642350" cy="9144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Example</a:t>
            </a:r>
            <a:r>
              <a:rPr lang="en-US" sz="2400">
                <a:solidFill>
                  <a:schemeClr val="dk1"/>
                </a:solidFill>
                <a:latin typeface="Times New Roman"/>
                <a:ea typeface="Times New Roman"/>
                <a:cs typeface="Times New Roman"/>
                <a:sym typeface="Times New Roman"/>
              </a:rPr>
              <a:t>:</a:t>
            </a:r>
            <a:endParaRPr/>
          </a:p>
          <a:p>
            <a:pPr marL="0" marR="0" lvl="0" indent="0" algn="ctr" rtl="0">
              <a:spcBef>
                <a:spcPts val="480"/>
              </a:spcBef>
              <a:spcAft>
                <a:spcPts val="0"/>
              </a:spcAft>
              <a:buNone/>
            </a:pPr>
            <a:r>
              <a:rPr lang="en-US" sz="2400">
                <a:solidFill>
                  <a:schemeClr val="dk1"/>
                </a:solidFill>
                <a:latin typeface="Arial"/>
                <a:ea typeface="Arial"/>
                <a:cs typeface="Arial"/>
                <a:sym typeface="Arial"/>
              </a:rPr>
              <a:t>At a raffle, 500 tickets are sold for $1 each for two prizes of $100 and $50.  What is the expected value of your gain?</a:t>
            </a:r>
            <a:endParaRPr/>
          </a:p>
        </p:txBody>
      </p:sp>
      <p:sp>
        <p:nvSpPr>
          <p:cNvPr id="453" name="Google Shape;453;p33"/>
          <p:cNvSpPr/>
          <p:nvPr/>
        </p:nvSpPr>
        <p:spPr>
          <a:xfrm>
            <a:off x="762000" y="4267200"/>
            <a:ext cx="7696200" cy="457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a:solidFill>
                  <a:schemeClr val="folHlink"/>
                </a:solidFill>
                <a:latin typeface="Arial"/>
                <a:ea typeface="Arial"/>
                <a:cs typeface="Arial"/>
                <a:sym typeface="Arial"/>
              </a:rPr>
              <a:t>Your gain for the $100 prize is $100 – $1 = $99.</a:t>
            </a:r>
            <a:endParaRPr/>
          </a:p>
        </p:txBody>
      </p:sp>
      <p:sp>
        <p:nvSpPr>
          <p:cNvPr id="454" name="Google Shape;454;p33"/>
          <p:cNvSpPr/>
          <p:nvPr/>
        </p:nvSpPr>
        <p:spPr>
          <a:xfrm>
            <a:off x="762000" y="4838700"/>
            <a:ext cx="7696200" cy="457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a:solidFill>
                  <a:schemeClr val="folHlink"/>
                </a:solidFill>
                <a:latin typeface="Arial"/>
                <a:ea typeface="Arial"/>
                <a:cs typeface="Arial"/>
                <a:sym typeface="Arial"/>
              </a:rPr>
              <a:t>Your gain for the $50 prize is $50 – $1 = $49.</a:t>
            </a:r>
            <a:endParaRPr/>
          </a:p>
        </p:txBody>
      </p:sp>
      <p:sp>
        <p:nvSpPr>
          <p:cNvPr id="455" name="Google Shape;455;p33"/>
          <p:cNvSpPr/>
          <p:nvPr/>
        </p:nvSpPr>
        <p:spPr>
          <a:xfrm>
            <a:off x="762000" y="5410200"/>
            <a:ext cx="7696200" cy="82232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a:solidFill>
                  <a:schemeClr val="folHlink"/>
                </a:solidFill>
                <a:latin typeface="Arial"/>
                <a:ea typeface="Arial"/>
                <a:cs typeface="Arial"/>
                <a:sym typeface="Arial"/>
              </a:rPr>
              <a:t>Write a probability distribution for the possible gains (or outcomes).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2"/>
                                        </p:tgtEl>
                                        <p:attrNameLst>
                                          <p:attrName>style.visibility</p:attrName>
                                        </p:attrNameLst>
                                      </p:cBhvr>
                                      <p:to>
                                        <p:strVal val="visible"/>
                                      </p:to>
                                    </p:set>
                                    <p:animEffect transition="in" filter="fade">
                                      <p:cBhvr>
                                        <p:cTn id="7" dur="1000"/>
                                        <p:tgtEl>
                                          <p:spTgt spid="45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5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5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34"/>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Expected Value</a:t>
            </a:r>
            <a:endParaRPr/>
          </a:p>
        </p:txBody>
      </p:sp>
      <p:graphicFrame>
        <p:nvGraphicFramePr>
          <p:cNvPr id="462" name="Google Shape;462;p34"/>
          <p:cNvGraphicFramePr/>
          <p:nvPr/>
        </p:nvGraphicFramePr>
        <p:xfrm>
          <a:off x="1295400" y="2743200"/>
          <a:ext cx="2286000" cy="2529820"/>
        </p:xfrm>
        <a:graphic>
          <a:graphicData uri="http://schemas.openxmlformats.org/drawingml/2006/table">
            <a:tbl>
              <a:tblPr>
                <a:noFill/>
                <a:tableStyleId>{1777CA09-EAB0-4852-9CA1-627062E9AE65}</a:tableStyleId>
              </a:tblPr>
              <a:tblGrid>
                <a:gridCol w="1143000"/>
                <a:gridCol w="1143000"/>
              </a:tblGrid>
              <a:tr h="180975">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1" i="0" u="none" strike="noStrike" cap="none">
                          <a:solidFill>
                            <a:schemeClr val="dk1"/>
                          </a:solidFill>
                          <a:latin typeface="Century"/>
                          <a:ea typeface="Century"/>
                          <a:cs typeface="Century"/>
                          <a:sym typeface="Century"/>
                        </a:rPr>
                        <a:t>Gain,</a:t>
                      </a:r>
                      <a:r>
                        <a:rPr lang="en-US" sz="2200" b="1" i="1" u="none" strike="noStrike" cap="none">
                          <a:solidFill>
                            <a:schemeClr val="dk1"/>
                          </a:solidFill>
                          <a:latin typeface="Century"/>
                          <a:ea typeface="Century"/>
                          <a:cs typeface="Century"/>
                          <a:sym typeface="Century"/>
                        </a:rPr>
                        <a:t> x</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alpha val="49803"/>
                      </a:schemeClr>
                    </a:solidFill>
                  </a:tcPr>
                </a:tc>
                <a:tc>
                  <a:txBody>
                    <a:bodyPr/>
                    <a:lstStyle/>
                    <a:p>
                      <a:pPr marL="0" marR="0" lvl="0" indent="0" algn="ctr" rtl="0">
                        <a:lnSpc>
                          <a:spcPct val="100000"/>
                        </a:lnSpc>
                        <a:spcBef>
                          <a:spcPts val="0"/>
                        </a:spcBef>
                        <a:spcAft>
                          <a:spcPts val="0"/>
                        </a:spcAft>
                        <a:buClr>
                          <a:schemeClr val="dk2"/>
                        </a:buClr>
                        <a:buSzPts val="1650"/>
                        <a:buFont typeface="Noto Sans Symbols"/>
                        <a:buNone/>
                      </a:pPr>
                      <a:r>
                        <a:rPr lang="en-US" sz="2200" b="1" i="1" u="none" strike="noStrike" cap="none">
                          <a:solidFill>
                            <a:schemeClr val="dk1"/>
                          </a:solidFill>
                          <a:latin typeface="Century"/>
                          <a:ea typeface="Century"/>
                          <a:cs typeface="Century"/>
                          <a:sym typeface="Century"/>
                        </a:rPr>
                        <a:t>P</a:t>
                      </a:r>
                      <a:r>
                        <a:rPr lang="en-US" sz="2200" b="1" i="0" u="none" strike="noStrike" cap="none">
                          <a:solidFill>
                            <a:schemeClr val="dk1"/>
                          </a:solidFill>
                          <a:latin typeface="Century"/>
                          <a:ea typeface="Century"/>
                          <a:cs typeface="Century"/>
                          <a:sym typeface="Century"/>
                        </a:rPr>
                        <a:t> (</a:t>
                      </a:r>
                      <a:r>
                        <a:rPr lang="en-US" sz="2200" b="1" i="1" u="none" strike="noStrike" cap="none">
                          <a:solidFill>
                            <a:schemeClr val="dk1"/>
                          </a:solidFill>
                          <a:latin typeface="Century"/>
                          <a:ea typeface="Century"/>
                          <a:cs typeface="Century"/>
                          <a:sym typeface="Century"/>
                        </a:rPr>
                        <a:t>x</a:t>
                      </a:r>
                      <a:r>
                        <a:rPr lang="en-US" sz="2200" b="1" i="0" u="none" strike="noStrike" cap="none">
                          <a:solidFill>
                            <a:schemeClr val="dk1"/>
                          </a:solidFill>
                          <a:latin typeface="Century"/>
                          <a:ea typeface="Century"/>
                          <a:cs typeface="Century"/>
                          <a:sym typeface="Century"/>
                        </a:rPr>
                        <a:t>)</a:t>
                      </a:r>
                      <a:endParaRPr sz="2200" b="1" i="1" u="none" strike="noStrike" cap="none">
                        <a:solidFill>
                          <a:schemeClr val="dk1"/>
                        </a:solidFill>
                        <a:latin typeface="Century"/>
                        <a:ea typeface="Century"/>
                        <a:cs typeface="Century"/>
                        <a:sym typeface="Century"/>
                      </a:endParaRPr>
                    </a:p>
                  </a:txBody>
                  <a:tcPr marL="91450" marR="91450" marT="45725" marB="45725" anchor="ctr">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2">
                        <a:alpha val="49803"/>
                      </a:schemeClr>
                    </a:solidFill>
                  </a:tcPr>
                </a:tc>
              </a:tr>
              <a:tr h="0">
                <a:tc>
                  <a:txBody>
                    <a:bodyPr/>
                    <a:lstStyle/>
                    <a:p>
                      <a:pPr marL="0" marR="0" lvl="0" indent="0" algn="r" rtl="0">
                        <a:lnSpc>
                          <a:spcPct val="100000"/>
                        </a:lnSpc>
                        <a:spcBef>
                          <a:spcPts val="0"/>
                        </a:spcBef>
                        <a:spcAft>
                          <a:spcPts val="0"/>
                        </a:spcAft>
                        <a:buClr>
                          <a:schemeClr val="dk2"/>
                        </a:buClr>
                        <a:buSzPts val="1650"/>
                        <a:buFont typeface="Noto Sans Symbols"/>
                        <a:buNone/>
                      </a:pPr>
                      <a:endParaRPr sz="2200" b="0" i="0" u="none" strike="noStrike" cap="none">
                        <a:solidFill>
                          <a:schemeClr val="dk1"/>
                        </a:solidFill>
                        <a:latin typeface="Century"/>
                        <a:ea typeface="Century"/>
                        <a:cs typeface="Century"/>
                        <a:sym typeface="Century"/>
                      </a:endParaRPr>
                    </a:p>
                  </a:txBody>
                  <a:tcPr marL="91450" marR="365750" marT="182875" marB="18287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650"/>
                        <a:buFont typeface="Noto Sans Symbols"/>
                        <a:buNone/>
                      </a:pPr>
                      <a:endParaRPr sz="2200" b="0" i="0" u="none" strike="noStrike" cap="none">
                        <a:solidFill>
                          <a:schemeClr val="dk1"/>
                        </a:solidFill>
                        <a:latin typeface="Century"/>
                        <a:ea typeface="Century"/>
                        <a:cs typeface="Century"/>
                        <a:sym typeface="Century"/>
                      </a:endParaRPr>
                    </a:p>
                  </a:txBody>
                  <a:tcPr marL="91450" marR="0" marT="182875" marB="18287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0">
                <a:tc>
                  <a:txBody>
                    <a:bodyPr/>
                    <a:lstStyle/>
                    <a:p>
                      <a:pPr marL="0" marR="0" lvl="0" indent="0" algn="r" rtl="0">
                        <a:lnSpc>
                          <a:spcPct val="100000"/>
                        </a:lnSpc>
                        <a:spcBef>
                          <a:spcPts val="0"/>
                        </a:spcBef>
                        <a:spcAft>
                          <a:spcPts val="0"/>
                        </a:spcAft>
                        <a:buClr>
                          <a:schemeClr val="dk2"/>
                        </a:buClr>
                        <a:buSzPts val="1650"/>
                        <a:buFont typeface="Noto Sans Symbols"/>
                        <a:buNone/>
                      </a:pPr>
                      <a:endParaRPr sz="2200" b="0" i="0" u="none" strike="noStrike" cap="none">
                        <a:solidFill>
                          <a:schemeClr val="dk1"/>
                        </a:solidFill>
                        <a:latin typeface="Century"/>
                        <a:ea typeface="Century"/>
                        <a:cs typeface="Century"/>
                        <a:sym typeface="Century"/>
                      </a:endParaRPr>
                    </a:p>
                  </a:txBody>
                  <a:tcPr marL="91450" marR="365750" marT="182875" marB="18287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650"/>
                        <a:buFont typeface="Noto Sans Symbols"/>
                        <a:buNone/>
                      </a:pPr>
                      <a:endParaRPr sz="2200" b="0" i="0" u="none" strike="noStrike" cap="none">
                        <a:solidFill>
                          <a:schemeClr val="dk1"/>
                        </a:solidFill>
                        <a:latin typeface="Century"/>
                        <a:ea typeface="Century"/>
                        <a:cs typeface="Century"/>
                        <a:sym typeface="Century"/>
                      </a:endParaRPr>
                    </a:p>
                  </a:txBody>
                  <a:tcPr marL="91450" marR="0" marT="182875" marB="18287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0">
                <a:tc>
                  <a:txBody>
                    <a:bodyPr/>
                    <a:lstStyle/>
                    <a:p>
                      <a:pPr marL="0" marR="0" lvl="0" indent="0" algn="r" rtl="0">
                        <a:lnSpc>
                          <a:spcPct val="100000"/>
                        </a:lnSpc>
                        <a:spcBef>
                          <a:spcPts val="0"/>
                        </a:spcBef>
                        <a:spcAft>
                          <a:spcPts val="0"/>
                        </a:spcAft>
                        <a:buClr>
                          <a:schemeClr val="dk2"/>
                        </a:buClr>
                        <a:buSzPts val="1650"/>
                        <a:buFont typeface="Noto Sans Symbols"/>
                        <a:buNone/>
                      </a:pPr>
                      <a:endParaRPr sz="2200" b="0" i="0" u="none" strike="noStrike" cap="none">
                        <a:solidFill>
                          <a:schemeClr val="dk1"/>
                        </a:solidFill>
                        <a:latin typeface="Century"/>
                        <a:ea typeface="Century"/>
                        <a:cs typeface="Century"/>
                        <a:sym typeface="Century"/>
                      </a:endParaRPr>
                    </a:p>
                  </a:txBody>
                  <a:tcPr marL="91450" marR="365750" marT="182875" marB="18287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650"/>
                        <a:buFont typeface="Noto Sans Symbols"/>
                        <a:buNone/>
                      </a:pPr>
                      <a:endParaRPr sz="2200" b="0" i="0" u="none" strike="noStrike" cap="none">
                        <a:solidFill>
                          <a:schemeClr val="dk1"/>
                        </a:solidFill>
                        <a:latin typeface="Century"/>
                        <a:ea typeface="Century"/>
                        <a:cs typeface="Century"/>
                        <a:sym typeface="Century"/>
                      </a:endParaRPr>
                    </a:p>
                  </a:txBody>
                  <a:tcPr marL="91450" marR="0" marT="182875" marB="18287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r>
            </a:tbl>
          </a:graphicData>
        </a:graphic>
      </p:graphicFrame>
      <p:sp>
        <p:nvSpPr>
          <p:cNvPr id="463" name="Google Shape;463;p34"/>
          <p:cNvSpPr/>
          <p:nvPr/>
        </p:nvSpPr>
        <p:spPr>
          <a:xfrm>
            <a:off x="304800" y="1295400"/>
            <a:ext cx="8642350" cy="9144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Example continued</a:t>
            </a:r>
            <a:r>
              <a:rPr lang="en-US" sz="2400">
                <a:solidFill>
                  <a:schemeClr val="dk1"/>
                </a:solidFill>
                <a:latin typeface="Times New Roman"/>
                <a:ea typeface="Times New Roman"/>
                <a:cs typeface="Times New Roman"/>
                <a:sym typeface="Times New Roman"/>
              </a:rPr>
              <a:t>:</a:t>
            </a:r>
            <a:endParaRPr/>
          </a:p>
          <a:p>
            <a:pPr marL="0" marR="0" lvl="0" indent="0" algn="ctr" rtl="0">
              <a:spcBef>
                <a:spcPts val="480"/>
              </a:spcBef>
              <a:spcAft>
                <a:spcPts val="0"/>
              </a:spcAft>
              <a:buNone/>
            </a:pPr>
            <a:r>
              <a:rPr lang="en-US" sz="2400">
                <a:solidFill>
                  <a:schemeClr val="dk1"/>
                </a:solidFill>
                <a:latin typeface="Arial"/>
                <a:ea typeface="Arial"/>
                <a:cs typeface="Arial"/>
                <a:sym typeface="Arial"/>
              </a:rPr>
              <a:t>At a raffle, 500 tickets are sold for $1 each for two prizes of $100 and $50.  What is the expected value of your gain?</a:t>
            </a:r>
            <a:endParaRPr/>
          </a:p>
        </p:txBody>
      </p:sp>
      <p:sp>
        <p:nvSpPr>
          <p:cNvPr id="464" name="Google Shape;464;p34"/>
          <p:cNvSpPr/>
          <p:nvPr/>
        </p:nvSpPr>
        <p:spPr>
          <a:xfrm>
            <a:off x="3962400" y="5105400"/>
            <a:ext cx="4800600" cy="118745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a:solidFill>
                  <a:schemeClr val="folHlink"/>
                </a:solidFill>
                <a:latin typeface="Arial"/>
                <a:ea typeface="Arial"/>
                <a:cs typeface="Arial"/>
                <a:sym typeface="Arial"/>
              </a:rPr>
              <a:t>Because the expected value is negative, you can expect to lose $0.70 for each ticket you buy.</a:t>
            </a:r>
            <a:endParaRPr/>
          </a:p>
        </p:txBody>
      </p:sp>
      <p:grpSp>
        <p:nvGrpSpPr>
          <p:cNvPr id="465" name="Google Shape;465;p34"/>
          <p:cNvGrpSpPr/>
          <p:nvPr/>
        </p:nvGrpSpPr>
        <p:grpSpPr>
          <a:xfrm>
            <a:off x="304800" y="5105400"/>
            <a:ext cx="1666875" cy="1000125"/>
            <a:chOff x="192" y="3216"/>
            <a:chExt cx="1050" cy="630"/>
          </a:xfrm>
        </p:grpSpPr>
        <p:sp>
          <p:nvSpPr>
            <p:cNvPr id="466" name="Google Shape;466;p34"/>
            <p:cNvSpPr txBox="1"/>
            <p:nvPr/>
          </p:nvSpPr>
          <p:spPr>
            <a:xfrm>
              <a:off x="192" y="3404"/>
              <a:ext cx="912" cy="44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hlink"/>
                  </a:solidFill>
                  <a:latin typeface="Arial"/>
                  <a:ea typeface="Arial"/>
                  <a:cs typeface="Arial"/>
                  <a:sym typeface="Arial"/>
                </a:rPr>
                <a:t>Winning no prize</a:t>
              </a:r>
              <a:endParaRPr/>
            </a:p>
          </p:txBody>
        </p:sp>
        <p:sp>
          <p:nvSpPr>
            <p:cNvPr id="467" name="Google Shape;467;p34"/>
            <p:cNvSpPr/>
            <p:nvPr/>
          </p:nvSpPr>
          <p:spPr>
            <a:xfrm rot="10800000" flipH="1">
              <a:off x="960" y="3216"/>
              <a:ext cx="282" cy="440"/>
            </a:xfrm>
            <a:custGeom>
              <a:avLst/>
              <a:gdLst/>
              <a:ahLst/>
              <a:cxnLst/>
              <a:rect l="l" t="t" r="r" b="b"/>
              <a:pathLst>
                <a:path w="21600" h="21600" fill="none" extrusionOk="0">
                  <a:moveTo>
                    <a:pt x="-1" y="0"/>
                  </a:moveTo>
                  <a:cubicBezTo>
                    <a:pt x="11929" y="0"/>
                    <a:pt x="21600" y="9670"/>
                    <a:pt x="21600" y="21600"/>
                  </a:cubicBezTo>
                </a:path>
                <a:path w="21600" h="21600" extrusionOk="0">
                  <a:moveTo>
                    <a:pt x="-1" y="0"/>
                  </a:moveTo>
                  <a:cubicBezTo>
                    <a:pt x="11929" y="0"/>
                    <a:pt x="21600" y="9670"/>
                    <a:pt x="21600" y="21600"/>
                  </a:cubicBezTo>
                  <a:lnTo>
                    <a:pt x="0" y="21600"/>
                  </a:lnTo>
                  <a:lnTo>
                    <a:pt x="-1" y="0"/>
                  </a:lnTo>
                  <a:close/>
                </a:path>
              </a:pathLst>
            </a:custGeom>
            <a:noFill/>
            <a:ln w="9525" cap="flat" cmpd="sng">
              <a:solidFill>
                <a:schemeClr val="hlink"/>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sp>
        <p:nvSpPr>
          <p:cNvPr id="468" name="Google Shape;468;p34"/>
          <p:cNvSpPr/>
          <p:nvPr/>
        </p:nvSpPr>
        <p:spPr>
          <a:xfrm>
            <a:off x="1566863" y="3352800"/>
            <a:ext cx="650875" cy="427038"/>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200">
                <a:solidFill>
                  <a:schemeClr val="dk1"/>
                </a:solidFill>
                <a:latin typeface="Arial"/>
                <a:ea typeface="Arial"/>
                <a:cs typeface="Arial"/>
                <a:sym typeface="Arial"/>
              </a:rPr>
              <a:t>$99</a:t>
            </a:r>
            <a:endParaRPr/>
          </a:p>
        </p:txBody>
      </p:sp>
      <p:sp>
        <p:nvSpPr>
          <p:cNvPr id="469" name="Google Shape;469;p34"/>
          <p:cNvSpPr/>
          <p:nvPr/>
        </p:nvSpPr>
        <p:spPr>
          <a:xfrm>
            <a:off x="1524000" y="3984625"/>
            <a:ext cx="693738" cy="457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$49</a:t>
            </a:r>
            <a:endParaRPr/>
          </a:p>
        </p:txBody>
      </p:sp>
      <p:sp>
        <p:nvSpPr>
          <p:cNvPr id="470" name="Google Shape;470;p34"/>
          <p:cNvSpPr/>
          <p:nvPr/>
        </p:nvSpPr>
        <p:spPr>
          <a:xfrm>
            <a:off x="1524000" y="4648200"/>
            <a:ext cx="693738" cy="457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–$1</a:t>
            </a:r>
            <a:endParaRPr/>
          </a:p>
        </p:txBody>
      </p:sp>
      <p:sp>
        <p:nvSpPr>
          <p:cNvPr id="471" name="Google Shape;471;p34"/>
          <p:cNvSpPr/>
          <p:nvPr/>
        </p:nvSpPr>
        <p:spPr>
          <a:xfrm>
            <a:off x="3810000" y="2895600"/>
            <a:ext cx="2127250" cy="457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i="1">
                <a:solidFill>
                  <a:schemeClr val="folHlink"/>
                </a:solidFill>
                <a:latin typeface="Arial"/>
                <a:ea typeface="Arial"/>
                <a:cs typeface="Arial"/>
                <a:sym typeface="Arial"/>
              </a:rPr>
              <a:t>E</a:t>
            </a:r>
            <a:r>
              <a:rPr lang="en-US" sz="2400">
                <a:solidFill>
                  <a:schemeClr val="folHlink"/>
                </a:solidFill>
                <a:latin typeface="Arial"/>
                <a:ea typeface="Arial"/>
                <a:cs typeface="Arial"/>
                <a:sym typeface="Arial"/>
              </a:rPr>
              <a:t>(</a:t>
            </a:r>
            <a:r>
              <a:rPr lang="en-US" sz="2400" i="1">
                <a:solidFill>
                  <a:schemeClr val="folHlink"/>
                </a:solidFill>
                <a:latin typeface="Arial"/>
                <a:ea typeface="Arial"/>
                <a:cs typeface="Arial"/>
                <a:sym typeface="Arial"/>
              </a:rPr>
              <a:t>x</a:t>
            </a:r>
            <a:r>
              <a:rPr lang="en-US" sz="2400">
                <a:solidFill>
                  <a:schemeClr val="folHlink"/>
                </a:solidFill>
                <a:latin typeface="Arial"/>
                <a:ea typeface="Arial"/>
                <a:cs typeface="Arial"/>
                <a:sym typeface="Arial"/>
              </a:rPr>
              <a:t>) =</a:t>
            </a:r>
            <a:r>
              <a:rPr lang="en-US" sz="2400" i="1">
                <a:solidFill>
                  <a:schemeClr val="folHlink"/>
                </a:solidFill>
                <a:latin typeface="Arial"/>
                <a:ea typeface="Arial"/>
                <a:cs typeface="Arial"/>
                <a:sym typeface="Arial"/>
              </a:rPr>
              <a:t> </a:t>
            </a:r>
            <a:r>
              <a:rPr lang="en-US" sz="2400">
                <a:solidFill>
                  <a:schemeClr val="folHlink"/>
                </a:solidFill>
                <a:latin typeface="Arial"/>
                <a:ea typeface="Arial"/>
                <a:cs typeface="Arial"/>
                <a:sym typeface="Arial"/>
              </a:rPr>
              <a:t>Σ</a:t>
            </a:r>
            <a:r>
              <a:rPr lang="en-US" sz="2400" i="1">
                <a:solidFill>
                  <a:schemeClr val="folHlink"/>
                </a:solidFill>
                <a:latin typeface="Arial"/>
                <a:ea typeface="Arial"/>
                <a:cs typeface="Arial"/>
                <a:sym typeface="Arial"/>
              </a:rPr>
              <a:t>xP</a:t>
            </a:r>
            <a:r>
              <a:rPr lang="en-US" sz="2400">
                <a:solidFill>
                  <a:schemeClr val="folHlink"/>
                </a:solidFill>
                <a:latin typeface="Arial"/>
                <a:ea typeface="Arial"/>
                <a:cs typeface="Arial"/>
                <a:sym typeface="Arial"/>
              </a:rPr>
              <a:t>(</a:t>
            </a:r>
            <a:r>
              <a:rPr lang="en-US" sz="2400" i="1">
                <a:solidFill>
                  <a:schemeClr val="folHlink"/>
                </a:solidFill>
                <a:latin typeface="Arial"/>
                <a:ea typeface="Arial"/>
                <a:cs typeface="Arial"/>
                <a:sym typeface="Arial"/>
              </a:rPr>
              <a:t>x</a:t>
            </a:r>
            <a:r>
              <a:rPr lang="en-US" sz="2400">
                <a:solidFill>
                  <a:schemeClr val="folHlink"/>
                </a:solidFill>
                <a:latin typeface="Arial"/>
                <a:ea typeface="Arial"/>
                <a:cs typeface="Arial"/>
                <a:sym typeface="Arial"/>
              </a:rPr>
              <a:t>).</a:t>
            </a:r>
            <a:endParaRPr/>
          </a:p>
        </p:txBody>
      </p:sp>
      <p:pic>
        <p:nvPicPr>
          <p:cNvPr id="472" name="Google Shape;472;p34"/>
          <p:cNvPicPr preferRelativeResize="0"/>
          <p:nvPr/>
        </p:nvPicPr>
        <p:blipFill rotWithShape="1">
          <a:blip r:embed="rId3">
            <a:alphaModFix/>
          </a:blip>
          <a:srcRect/>
          <a:stretch/>
        </p:blipFill>
        <p:spPr>
          <a:xfrm>
            <a:off x="2743200" y="3251200"/>
            <a:ext cx="419100" cy="495300"/>
          </a:xfrm>
          <a:prstGeom prst="rect">
            <a:avLst/>
          </a:prstGeom>
          <a:noFill/>
          <a:ln>
            <a:noFill/>
          </a:ln>
        </p:spPr>
      </p:pic>
      <p:pic>
        <p:nvPicPr>
          <p:cNvPr id="473" name="Google Shape;473;p34"/>
          <p:cNvPicPr preferRelativeResize="0"/>
          <p:nvPr/>
        </p:nvPicPr>
        <p:blipFill rotWithShape="1">
          <a:blip r:embed="rId3">
            <a:alphaModFix/>
          </a:blip>
          <a:srcRect/>
          <a:stretch/>
        </p:blipFill>
        <p:spPr>
          <a:xfrm>
            <a:off x="2743200" y="3962400"/>
            <a:ext cx="419100" cy="495300"/>
          </a:xfrm>
          <a:prstGeom prst="rect">
            <a:avLst/>
          </a:prstGeom>
          <a:noFill/>
          <a:ln>
            <a:noFill/>
          </a:ln>
        </p:spPr>
      </p:pic>
      <p:pic>
        <p:nvPicPr>
          <p:cNvPr id="474" name="Google Shape;474;p34"/>
          <p:cNvPicPr preferRelativeResize="0"/>
          <p:nvPr/>
        </p:nvPicPr>
        <p:blipFill rotWithShape="1">
          <a:blip r:embed="rId4">
            <a:alphaModFix/>
          </a:blip>
          <a:srcRect/>
          <a:stretch/>
        </p:blipFill>
        <p:spPr>
          <a:xfrm>
            <a:off x="2743200" y="4673600"/>
            <a:ext cx="419100" cy="495300"/>
          </a:xfrm>
          <a:prstGeom prst="rect">
            <a:avLst/>
          </a:prstGeom>
          <a:noFill/>
          <a:ln>
            <a:noFill/>
          </a:ln>
        </p:spPr>
      </p:pic>
      <p:pic>
        <p:nvPicPr>
          <p:cNvPr id="475" name="Google Shape;475;p34"/>
          <p:cNvPicPr preferRelativeResize="0"/>
          <p:nvPr/>
        </p:nvPicPr>
        <p:blipFill rotWithShape="1">
          <a:blip r:embed="rId5">
            <a:alphaModFix/>
          </a:blip>
          <a:srcRect/>
          <a:stretch/>
        </p:blipFill>
        <p:spPr>
          <a:xfrm>
            <a:off x="4610100" y="3505200"/>
            <a:ext cx="4279900" cy="596900"/>
          </a:xfrm>
          <a:prstGeom prst="rect">
            <a:avLst/>
          </a:prstGeom>
          <a:noFill/>
          <a:ln>
            <a:noFill/>
          </a:ln>
        </p:spPr>
      </p:pic>
      <p:pic>
        <p:nvPicPr>
          <p:cNvPr id="476" name="Google Shape;476;p34"/>
          <p:cNvPicPr preferRelativeResize="0"/>
          <p:nvPr/>
        </p:nvPicPr>
        <p:blipFill rotWithShape="1">
          <a:blip r:embed="rId6">
            <a:alphaModFix/>
          </a:blip>
          <a:srcRect/>
          <a:stretch/>
        </p:blipFill>
        <p:spPr>
          <a:xfrm>
            <a:off x="4622800" y="4343400"/>
            <a:ext cx="1117600" cy="304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pic>
        <p:nvPicPr>
          <p:cNvPr id="481" name="Google Shape;481;p35"/>
          <p:cNvPicPr preferRelativeResize="0">
            <a:picLocks noGrp="1"/>
          </p:cNvPicPr>
          <p:nvPr>
            <p:ph type="body" idx="1"/>
          </p:nvPr>
        </p:nvPicPr>
        <p:blipFill rotWithShape="1">
          <a:blip r:embed="rId3">
            <a:alphaModFix/>
          </a:blip>
          <a:srcRect/>
          <a:stretch/>
        </p:blipFill>
        <p:spPr>
          <a:xfrm>
            <a:off x="1785938" y="3467100"/>
            <a:ext cx="1914525" cy="381000"/>
          </a:xfrm>
          <a:prstGeom prst="rect">
            <a:avLst/>
          </a:prstGeom>
          <a:noFill/>
          <a:ln>
            <a:noFill/>
          </a:ln>
        </p:spPr>
      </p:pic>
      <p:pic>
        <p:nvPicPr>
          <p:cNvPr id="482" name="Google Shape;482;p35"/>
          <p:cNvPicPr preferRelativeResize="0">
            <a:picLocks noGrp="1"/>
          </p:cNvPicPr>
          <p:nvPr>
            <p:ph type="body" idx="2"/>
          </p:nvPr>
        </p:nvPicPr>
        <p:blipFill rotWithShape="1">
          <a:blip r:embed="rId4">
            <a:alphaModFix/>
          </a:blip>
          <a:srcRect/>
          <a:stretch/>
        </p:blipFill>
        <p:spPr>
          <a:xfrm>
            <a:off x="1905000" y="5715000"/>
            <a:ext cx="2857500" cy="381000"/>
          </a:xfrm>
          <a:prstGeom prst="rect">
            <a:avLst/>
          </a:prstGeom>
          <a:noFill/>
          <a:ln>
            <a:noFill/>
          </a:ln>
        </p:spPr>
      </p:pic>
      <p:sp>
        <p:nvSpPr>
          <p:cNvPr id="483" name="Google Shape;483;p35"/>
          <p:cNvSpPr/>
          <p:nvPr/>
        </p:nvSpPr>
        <p:spPr>
          <a:xfrm>
            <a:off x="533400" y="1600200"/>
            <a:ext cx="8610600" cy="12001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Probability Mass Functions (PMFs)</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compute the probability that a discrete random variable equals a specific value.</a:t>
            </a:r>
            <a:endParaRPr/>
          </a:p>
        </p:txBody>
      </p:sp>
      <p:sp>
        <p:nvSpPr>
          <p:cNvPr id="484" name="Google Shape;484;p35"/>
          <p:cNvSpPr/>
          <p:nvPr/>
        </p:nvSpPr>
        <p:spPr>
          <a:xfrm>
            <a:off x="381000" y="4572000"/>
            <a:ext cx="8763000" cy="83026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Cumulative Distribution Functions (CDFs)</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we only define for the possible values of the random variable.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36"/>
          <p:cNvSpPr txBox="1">
            <a:spLocks noGrp="1"/>
          </p:cNvSpPr>
          <p:nvPr>
            <p:ph type="title"/>
          </p:nvPr>
        </p:nvSpPr>
        <p:spPr>
          <a:xfrm>
            <a:off x="1066800" y="533400"/>
            <a:ext cx="7772400" cy="6096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sz="4000"/>
              <a:t>The Binomial Distribution</a:t>
            </a:r>
            <a:endParaRPr/>
          </a:p>
        </p:txBody>
      </p:sp>
      <p:sp>
        <p:nvSpPr>
          <p:cNvPr id="490" name="Google Shape;490;p36"/>
          <p:cNvSpPr txBox="1">
            <a:spLocks noGrp="1"/>
          </p:cNvSpPr>
          <p:nvPr>
            <p:ph type="body" idx="1"/>
          </p:nvPr>
        </p:nvSpPr>
        <p:spPr>
          <a:xfrm>
            <a:off x="609600" y="1676400"/>
            <a:ext cx="8077200" cy="4800600"/>
          </a:xfrm>
          <a:prstGeom prst="rect">
            <a:avLst/>
          </a:prstGeom>
          <a:noFill/>
          <a:ln>
            <a:noFill/>
          </a:ln>
        </p:spPr>
        <p:txBody>
          <a:bodyPr spcFirstLastPara="1" wrap="square" lIns="85325" tIns="42650" rIns="85325" bIns="42650" anchor="t" anchorCtr="0">
            <a:noAutofit/>
          </a:bodyPr>
          <a:lstStyle/>
          <a:p>
            <a:pPr marL="342900" lvl="0" indent="-342900" algn="l" rtl="0">
              <a:spcBef>
                <a:spcPts val="0"/>
              </a:spcBef>
              <a:spcAft>
                <a:spcPts val="0"/>
              </a:spcAft>
              <a:buSzPts val="1620"/>
              <a:buChar char="■"/>
            </a:pPr>
            <a:r>
              <a:rPr lang="en-US" sz="2700">
                <a:solidFill>
                  <a:srgbClr val="000000"/>
                </a:solidFill>
              </a:rPr>
              <a:t>Characteristics of the </a:t>
            </a:r>
            <a:r>
              <a:rPr lang="en-US" sz="2700">
                <a:solidFill>
                  <a:schemeClr val="folHlink"/>
                </a:solidFill>
              </a:rPr>
              <a:t>Binomial Distribution</a:t>
            </a:r>
            <a:r>
              <a:rPr lang="en-US" sz="2700">
                <a:solidFill>
                  <a:srgbClr val="000000"/>
                </a:solidFill>
              </a:rPr>
              <a:t>:</a:t>
            </a:r>
            <a:endParaRPr/>
          </a:p>
          <a:p>
            <a:pPr marL="342900" lvl="0" indent="-297180" algn="l" rtl="0">
              <a:spcBef>
                <a:spcPts val="240"/>
              </a:spcBef>
              <a:spcAft>
                <a:spcPts val="0"/>
              </a:spcAft>
              <a:buSzPts val="720"/>
              <a:buNone/>
            </a:pPr>
            <a:endParaRPr sz="1200">
              <a:solidFill>
                <a:srgbClr val="000000"/>
              </a:solidFill>
            </a:endParaRPr>
          </a:p>
          <a:p>
            <a:pPr marL="742950" lvl="1" indent="-285750" algn="l" rtl="0">
              <a:spcBef>
                <a:spcPts val="460"/>
              </a:spcBef>
              <a:spcAft>
                <a:spcPts val="0"/>
              </a:spcAft>
              <a:buSzPts val="1265"/>
              <a:buChar char="■"/>
            </a:pPr>
            <a:r>
              <a:rPr lang="en-US" sz="2300">
                <a:solidFill>
                  <a:schemeClr val="lt2"/>
                </a:solidFill>
              </a:rPr>
              <a:t>A trial has </a:t>
            </a:r>
            <a:r>
              <a:rPr lang="en-US" sz="2300">
                <a:solidFill>
                  <a:schemeClr val="folHlink"/>
                </a:solidFill>
              </a:rPr>
              <a:t>only two possible outcomes</a:t>
            </a:r>
            <a:r>
              <a:rPr lang="en-US" sz="2300">
                <a:solidFill>
                  <a:schemeClr val="lt2"/>
                </a:solidFill>
              </a:rPr>
              <a:t> – “success” or “failure”</a:t>
            </a:r>
            <a:endParaRPr/>
          </a:p>
          <a:p>
            <a:pPr marL="742950" lvl="1" indent="-285750" algn="l" rtl="0">
              <a:spcBef>
                <a:spcPts val="460"/>
              </a:spcBef>
              <a:spcAft>
                <a:spcPts val="0"/>
              </a:spcAft>
              <a:buSzPts val="1265"/>
              <a:buChar char="■"/>
            </a:pPr>
            <a:r>
              <a:rPr lang="en-US" sz="2300">
                <a:solidFill>
                  <a:schemeClr val="lt2"/>
                </a:solidFill>
              </a:rPr>
              <a:t>There is a fixed number, n, of </a:t>
            </a:r>
            <a:r>
              <a:rPr lang="en-US" sz="2300">
                <a:solidFill>
                  <a:schemeClr val="folHlink"/>
                </a:solidFill>
              </a:rPr>
              <a:t>identical trials</a:t>
            </a:r>
            <a:endParaRPr/>
          </a:p>
          <a:p>
            <a:pPr marL="742950" lvl="1" indent="-285750" algn="l" rtl="0">
              <a:spcBef>
                <a:spcPts val="460"/>
              </a:spcBef>
              <a:spcAft>
                <a:spcPts val="0"/>
              </a:spcAft>
              <a:buSzPts val="1265"/>
              <a:buChar char="■"/>
            </a:pPr>
            <a:r>
              <a:rPr lang="en-US" sz="2300">
                <a:solidFill>
                  <a:schemeClr val="lt2"/>
                </a:solidFill>
              </a:rPr>
              <a:t>The trials of the experiment are i</a:t>
            </a:r>
            <a:r>
              <a:rPr lang="en-US" sz="2300">
                <a:solidFill>
                  <a:schemeClr val="folHlink"/>
                </a:solidFill>
              </a:rPr>
              <a:t>ndependent</a:t>
            </a:r>
            <a:r>
              <a:rPr lang="en-US" sz="2300">
                <a:solidFill>
                  <a:schemeClr val="lt2"/>
                </a:solidFill>
              </a:rPr>
              <a:t> of each other</a:t>
            </a:r>
            <a:endParaRPr/>
          </a:p>
          <a:p>
            <a:pPr marL="742950" lvl="1" indent="-285750" algn="l" rtl="0">
              <a:spcBef>
                <a:spcPts val="460"/>
              </a:spcBef>
              <a:spcAft>
                <a:spcPts val="0"/>
              </a:spcAft>
              <a:buSzPts val="1265"/>
              <a:buChar char="■"/>
            </a:pPr>
            <a:r>
              <a:rPr lang="en-US" sz="2300">
                <a:solidFill>
                  <a:schemeClr val="lt2"/>
                </a:solidFill>
              </a:rPr>
              <a:t>The </a:t>
            </a:r>
            <a:r>
              <a:rPr lang="en-US" sz="2300">
                <a:solidFill>
                  <a:schemeClr val="folHlink"/>
                </a:solidFill>
              </a:rPr>
              <a:t>probability of a success, p, remains constant</a:t>
            </a:r>
            <a:r>
              <a:rPr lang="en-US" sz="2300">
                <a:solidFill>
                  <a:schemeClr val="lt2"/>
                </a:solidFill>
              </a:rPr>
              <a:t> from trial to trial</a:t>
            </a:r>
            <a:endParaRPr/>
          </a:p>
          <a:p>
            <a:pPr marL="742950" lvl="1" indent="-285750" algn="l" rtl="0">
              <a:spcBef>
                <a:spcPts val="460"/>
              </a:spcBef>
              <a:spcAft>
                <a:spcPts val="0"/>
              </a:spcAft>
              <a:buSzPts val="1265"/>
              <a:buChar char="■"/>
            </a:pPr>
            <a:r>
              <a:rPr lang="en-US" sz="2300">
                <a:solidFill>
                  <a:schemeClr val="lt2"/>
                </a:solidFill>
              </a:rPr>
              <a:t>If p represents the probability of a success, then     </a:t>
            </a:r>
            <a:endParaRPr/>
          </a:p>
          <a:p>
            <a:pPr marL="742950" lvl="1" indent="-285750" algn="l" rtl="0">
              <a:spcBef>
                <a:spcPts val="460"/>
              </a:spcBef>
              <a:spcAft>
                <a:spcPts val="0"/>
              </a:spcAft>
              <a:buSzPts val="1265"/>
              <a:buFont typeface="Noto Sans Symbols"/>
              <a:buNone/>
            </a:pPr>
            <a:r>
              <a:rPr lang="en-US" sz="2300">
                <a:solidFill>
                  <a:schemeClr val="lt2"/>
                </a:solidFill>
              </a:rPr>
              <a:t>	(1-p) = q  is the probability of a failure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37"/>
          <p:cNvSpPr txBox="1">
            <a:spLocks noGrp="1"/>
          </p:cNvSpPr>
          <p:nvPr>
            <p:ph type="title"/>
          </p:nvPr>
        </p:nvSpPr>
        <p:spPr>
          <a:xfrm>
            <a:off x="1219200" y="381000"/>
            <a:ext cx="7391400"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Binomial Distribution Settings</a:t>
            </a:r>
            <a:endParaRPr/>
          </a:p>
        </p:txBody>
      </p:sp>
      <p:sp>
        <p:nvSpPr>
          <p:cNvPr id="496" name="Google Shape;496;p37"/>
          <p:cNvSpPr txBox="1">
            <a:spLocks noGrp="1"/>
          </p:cNvSpPr>
          <p:nvPr>
            <p:ph type="body" idx="1"/>
          </p:nvPr>
        </p:nvSpPr>
        <p:spPr>
          <a:xfrm>
            <a:off x="914400" y="1828800"/>
            <a:ext cx="7391400" cy="4343400"/>
          </a:xfrm>
          <a:prstGeom prst="rect">
            <a:avLst/>
          </a:prstGeom>
          <a:noFill/>
          <a:ln>
            <a:noFill/>
          </a:ln>
        </p:spPr>
        <p:txBody>
          <a:bodyPr spcFirstLastPara="1" wrap="square" lIns="85325" tIns="42650" rIns="85325" bIns="42650" anchor="t" anchorCtr="0">
            <a:noAutofit/>
          </a:bodyPr>
          <a:lstStyle/>
          <a:p>
            <a:pPr marL="342900" lvl="0" indent="-342900" algn="l" rtl="0">
              <a:spcBef>
                <a:spcPts val="0"/>
              </a:spcBef>
              <a:spcAft>
                <a:spcPts val="0"/>
              </a:spcAft>
              <a:buSzPts val="1680"/>
              <a:buChar char="■"/>
            </a:pPr>
            <a:r>
              <a:rPr lang="en-US">
                <a:solidFill>
                  <a:schemeClr val="lt2"/>
                </a:solidFill>
              </a:rPr>
              <a:t>A manufacturing plant labels items as either defective or acceptable</a:t>
            </a:r>
            <a:endParaRPr/>
          </a:p>
          <a:p>
            <a:pPr marL="342900" lvl="0" indent="-342900" algn="l" rtl="0">
              <a:spcBef>
                <a:spcPts val="1120"/>
              </a:spcBef>
              <a:spcAft>
                <a:spcPts val="0"/>
              </a:spcAft>
              <a:buSzPts val="1680"/>
              <a:buChar char="■"/>
            </a:pPr>
            <a:r>
              <a:rPr lang="en-US">
                <a:solidFill>
                  <a:schemeClr val="lt2"/>
                </a:solidFill>
              </a:rPr>
              <a:t>A firm bidding for a contract will either get the contract or not</a:t>
            </a:r>
            <a:endParaRPr/>
          </a:p>
          <a:p>
            <a:pPr marL="342900" lvl="0" indent="-342900" algn="l" rtl="0">
              <a:spcBef>
                <a:spcPts val="1120"/>
              </a:spcBef>
              <a:spcAft>
                <a:spcPts val="0"/>
              </a:spcAft>
              <a:buSzPts val="1680"/>
              <a:buChar char="■"/>
            </a:pPr>
            <a:r>
              <a:rPr lang="en-US">
                <a:solidFill>
                  <a:schemeClr val="lt2"/>
                </a:solidFill>
              </a:rPr>
              <a:t>A marketing research firm receives survey responses of “yes I will buy” or “no I will not”</a:t>
            </a:r>
            <a:endParaRPr/>
          </a:p>
          <a:p>
            <a:pPr marL="342900" lvl="0" indent="-342900" algn="l" rtl="0">
              <a:spcBef>
                <a:spcPts val="1120"/>
              </a:spcBef>
              <a:spcAft>
                <a:spcPts val="0"/>
              </a:spcAft>
              <a:buSzPts val="1680"/>
              <a:buChar char="■"/>
            </a:pPr>
            <a:r>
              <a:rPr lang="en-US">
                <a:solidFill>
                  <a:schemeClr val="lt2"/>
                </a:solidFill>
              </a:rPr>
              <a:t>New job applicants either accept the offer or reject it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38"/>
          <p:cNvSpPr txBox="1">
            <a:spLocks noGrp="1"/>
          </p:cNvSpPr>
          <p:nvPr>
            <p:ph type="title"/>
          </p:nvPr>
        </p:nvSpPr>
        <p:spPr>
          <a:xfrm>
            <a:off x="1143000" y="381000"/>
            <a:ext cx="77930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Counting Rule for Combinations</a:t>
            </a:r>
            <a:endParaRPr/>
          </a:p>
        </p:txBody>
      </p:sp>
      <p:sp>
        <p:nvSpPr>
          <p:cNvPr id="502" name="Google Shape;502;p38"/>
          <p:cNvSpPr txBox="1">
            <a:spLocks noGrp="1"/>
          </p:cNvSpPr>
          <p:nvPr>
            <p:ph type="body" idx="1"/>
          </p:nvPr>
        </p:nvSpPr>
        <p:spPr>
          <a:xfrm>
            <a:off x="762000" y="1600200"/>
            <a:ext cx="8077200" cy="1371600"/>
          </a:xfrm>
          <a:prstGeom prst="rect">
            <a:avLst/>
          </a:prstGeom>
          <a:noFill/>
          <a:ln>
            <a:noFill/>
          </a:ln>
        </p:spPr>
        <p:txBody>
          <a:bodyPr spcFirstLastPara="1" wrap="square" lIns="85325" tIns="42650" rIns="85325" bIns="42650" anchor="t" anchorCtr="0">
            <a:noAutofit/>
          </a:bodyPr>
          <a:lstStyle/>
          <a:p>
            <a:pPr marL="320675" lvl="0" indent="-320675" algn="l" rtl="0">
              <a:spcBef>
                <a:spcPts val="0"/>
              </a:spcBef>
              <a:spcAft>
                <a:spcPts val="0"/>
              </a:spcAft>
              <a:buSzPts val="1620"/>
              <a:buChar char="■"/>
            </a:pPr>
            <a:r>
              <a:rPr lang="en-US" sz="2700"/>
              <a:t>A </a:t>
            </a:r>
            <a:r>
              <a:rPr lang="en-US" sz="2700">
                <a:solidFill>
                  <a:schemeClr val="folHlink"/>
                </a:solidFill>
              </a:rPr>
              <a:t>combination</a:t>
            </a:r>
            <a:r>
              <a:rPr lang="en-US" sz="2700"/>
              <a:t> is an outcome of an experiment where x objects are selected from a group of n objects</a:t>
            </a:r>
            <a:endParaRPr/>
          </a:p>
        </p:txBody>
      </p:sp>
      <p:pic>
        <p:nvPicPr>
          <p:cNvPr id="503" name="Google Shape;503;p38"/>
          <p:cNvPicPr preferRelativeResize="0"/>
          <p:nvPr/>
        </p:nvPicPr>
        <p:blipFill rotWithShape="1">
          <a:blip r:embed="rId3">
            <a:alphaModFix/>
          </a:blip>
          <a:srcRect/>
          <a:stretch/>
        </p:blipFill>
        <p:spPr>
          <a:xfrm>
            <a:off x="2778125" y="2857500"/>
            <a:ext cx="3130550" cy="1343025"/>
          </a:xfrm>
          <a:prstGeom prst="rect">
            <a:avLst/>
          </a:prstGeom>
          <a:solidFill>
            <a:srgbClr val="FFFFCD"/>
          </a:solidFill>
          <a:ln w="9525" cap="flat" cmpd="sng">
            <a:solidFill>
              <a:schemeClr val="dk1"/>
            </a:solidFill>
            <a:prstDash val="solid"/>
            <a:miter lim="800000"/>
            <a:headEnd type="none" w="sm" len="sm"/>
            <a:tailEnd type="none" w="sm" len="sm"/>
          </a:ln>
        </p:spPr>
      </p:pic>
      <p:sp>
        <p:nvSpPr>
          <p:cNvPr id="504" name="Google Shape;504;p38"/>
          <p:cNvSpPr/>
          <p:nvPr/>
        </p:nvSpPr>
        <p:spPr>
          <a:xfrm>
            <a:off x="1447800" y="4572000"/>
            <a:ext cx="5638800" cy="15255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          where:</a:t>
            </a:r>
            <a:endParaRPr sz="2000" i="1">
              <a:solidFill>
                <a:schemeClr val="dk1"/>
              </a:solidFill>
              <a:latin typeface="Arial"/>
              <a:ea typeface="Arial"/>
              <a:cs typeface="Arial"/>
              <a:sym typeface="Arial"/>
            </a:endParaRPr>
          </a:p>
          <a:p>
            <a:pPr marL="0" marR="0" lvl="0" indent="0" algn="l" rtl="0">
              <a:lnSpc>
                <a:spcPct val="50000"/>
              </a:lnSpc>
              <a:spcBef>
                <a:spcPts val="800"/>
              </a:spcBef>
              <a:spcAft>
                <a:spcPts val="0"/>
              </a:spcAft>
              <a:buNone/>
            </a:pPr>
            <a:r>
              <a:rPr lang="en-US" sz="2000">
                <a:solidFill>
                  <a:schemeClr val="dk1"/>
                </a:solidFill>
                <a:latin typeface="Arial"/>
                <a:ea typeface="Arial"/>
                <a:cs typeface="Arial"/>
                <a:sym typeface="Arial"/>
              </a:rPr>
              <a:t>		n! =n(n - 1)(n - 2) . . . (2)(1)</a:t>
            </a:r>
            <a:endParaRPr/>
          </a:p>
          <a:p>
            <a:pPr marL="0" marR="0" lvl="0" indent="0" algn="l" rtl="0">
              <a:spcBef>
                <a:spcPts val="800"/>
              </a:spcBef>
              <a:spcAft>
                <a:spcPts val="0"/>
              </a:spcAft>
              <a:buNone/>
            </a:pPr>
            <a:r>
              <a:rPr lang="en-US" sz="2000">
                <a:solidFill>
                  <a:schemeClr val="dk1"/>
                </a:solidFill>
                <a:latin typeface="Arial"/>
                <a:ea typeface="Arial"/>
                <a:cs typeface="Arial"/>
                <a:sym typeface="Arial"/>
              </a:rPr>
              <a:t>		x! = x(x - 1)(x - 2) . . . (2)(1)</a:t>
            </a:r>
            <a:endParaRPr/>
          </a:p>
          <a:p>
            <a:pPr marL="0" marR="0" lvl="0" indent="0" algn="l" rtl="0">
              <a:spcBef>
                <a:spcPts val="800"/>
              </a:spcBef>
              <a:spcAft>
                <a:spcPts val="0"/>
              </a:spcAft>
              <a:buNone/>
            </a:pPr>
            <a:r>
              <a:rPr lang="en-US" sz="2000">
                <a:solidFill>
                  <a:schemeClr val="dk1"/>
                </a:solidFill>
                <a:latin typeface="Arial"/>
                <a:ea typeface="Arial"/>
                <a:cs typeface="Arial"/>
                <a:sym typeface="Arial"/>
              </a:rPr>
              <a:t>	 	0! = 1  </a:t>
            </a:r>
            <a:r>
              <a:rPr lang="en-US" sz="1600">
                <a:solidFill>
                  <a:schemeClr val="dk1"/>
                </a:solidFill>
                <a:latin typeface="Arial"/>
                <a:ea typeface="Arial"/>
                <a:cs typeface="Arial"/>
                <a:sym typeface="Arial"/>
              </a:rPr>
              <a:t>(by definition)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39"/>
          <p:cNvSpPr/>
          <p:nvPr/>
        </p:nvSpPr>
        <p:spPr>
          <a:xfrm>
            <a:off x="1524000" y="1676400"/>
            <a:ext cx="5410200" cy="1371600"/>
          </a:xfrm>
          <a:prstGeom prst="rect">
            <a:avLst/>
          </a:prstGeom>
          <a:solidFill>
            <a:srgbClr val="FFFFCD"/>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510" name="Google Shape;510;p39"/>
          <p:cNvSpPr/>
          <p:nvPr/>
        </p:nvSpPr>
        <p:spPr>
          <a:xfrm>
            <a:off x="228600" y="3276600"/>
            <a:ext cx="5638800" cy="2667000"/>
          </a:xfrm>
          <a:prstGeom prst="rect">
            <a:avLst/>
          </a:prstGeom>
          <a:noFill/>
          <a:ln>
            <a:noFill/>
          </a:ln>
        </p:spPr>
        <p:txBody>
          <a:bodyPr spcFirstLastPara="1" wrap="square" lIns="90475" tIns="44450" rIns="90475" bIns="44450" anchor="t" anchorCtr="0">
            <a:noAutofit/>
          </a:bodyPr>
          <a:lstStyle/>
          <a:p>
            <a:pPr marL="0" marR="0" lvl="0" indent="0" algn="l" rtl="0">
              <a:lnSpc>
                <a:spcPct val="90000"/>
              </a:lnSpc>
              <a:spcBef>
                <a:spcPts val="0"/>
              </a:spcBef>
              <a:spcAft>
                <a:spcPts val="0"/>
              </a:spcAft>
              <a:buNone/>
            </a:pPr>
            <a:r>
              <a:rPr lang="en-US" sz="2000">
                <a:solidFill>
                  <a:schemeClr val="dk1"/>
                </a:solidFill>
                <a:latin typeface="Arial"/>
                <a:ea typeface="Arial"/>
                <a:cs typeface="Arial"/>
                <a:sym typeface="Arial"/>
              </a:rPr>
              <a:t>P(x) = probability of </a:t>
            </a:r>
            <a:r>
              <a:rPr lang="en-US" sz="2000" b="1">
                <a:solidFill>
                  <a:schemeClr val="dk1"/>
                </a:solidFill>
                <a:latin typeface="Arial"/>
                <a:ea typeface="Arial"/>
                <a:cs typeface="Arial"/>
                <a:sym typeface="Arial"/>
              </a:rPr>
              <a:t>x</a:t>
            </a:r>
            <a:r>
              <a:rPr lang="en-US" sz="2000">
                <a:solidFill>
                  <a:schemeClr val="dk1"/>
                </a:solidFill>
                <a:latin typeface="Arial"/>
                <a:ea typeface="Arial"/>
                <a:cs typeface="Arial"/>
                <a:sym typeface="Arial"/>
              </a:rPr>
              <a:t> successes in </a:t>
            </a:r>
            <a:r>
              <a:rPr lang="en-US" sz="2000" b="1">
                <a:solidFill>
                  <a:srgbClr val="FF3300"/>
                </a:solidFill>
                <a:latin typeface="Arial"/>
                <a:ea typeface="Arial"/>
                <a:cs typeface="Arial"/>
                <a:sym typeface="Arial"/>
              </a:rPr>
              <a:t>n</a:t>
            </a:r>
            <a:r>
              <a:rPr lang="en-US" sz="2000">
                <a:solidFill>
                  <a:schemeClr val="dk1"/>
                </a:solidFill>
                <a:latin typeface="Arial"/>
                <a:ea typeface="Arial"/>
                <a:cs typeface="Arial"/>
                <a:sym typeface="Arial"/>
              </a:rPr>
              <a:t> trials,</a:t>
            </a:r>
            <a:endParaRPr/>
          </a:p>
          <a:p>
            <a:pPr marL="0" marR="0" lvl="0" indent="0" algn="l" rtl="0">
              <a:lnSpc>
                <a:spcPct val="90000"/>
              </a:lnSpc>
              <a:spcBef>
                <a:spcPts val="400"/>
              </a:spcBef>
              <a:spcAft>
                <a:spcPts val="0"/>
              </a:spcAft>
              <a:buNone/>
            </a:pPr>
            <a:r>
              <a:rPr lang="en-US" sz="2000">
                <a:solidFill>
                  <a:schemeClr val="dk1"/>
                </a:solidFill>
                <a:latin typeface="Arial"/>
                <a:ea typeface="Arial"/>
                <a:cs typeface="Arial"/>
                <a:sym typeface="Arial"/>
              </a:rPr>
              <a:t>	    with probability of success </a:t>
            </a:r>
            <a:r>
              <a:rPr lang="en-US" sz="2000" b="1">
                <a:solidFill>
                  <a:schemeClr val="folHlink"/>
                </a:solidFill>
                <a:latin typeface="Arial"/>
                <a:ea typeface="Arial"/>
                <a:cs typeface="Arial"/>
                <a:sym typeface="Arial"/>
              </a:rPr>
              <a:t>p</a:t>
            </a:r>
            <a:r>
              <a:rPr lang="en-US" sz="2000">
                <a:solidFill>
                  <a:schemeClr val="folHlink"/>
                </a:solidFill>
                <a:latin typeface="Arial"/>
                <a:ea typeface="Arial"/>
                <a:cs typeface="Arial"/>
                <a:sym typeface="Arial"/>
              </a:rPr>
              <a:t> </a:t>
            </a:r>
            <a:r>
              <a:rPr lang="en-US" sz="2000">
                <a:solidFill>
                  <a:schemeClr val="dk1"/>
                </a:solidFill>
                <a:latin typeface="Arial"/>
                <a:ea typeface="Arial"/>
                <a:cs typeface="Arial"/>
                <a:sym typeface="Arial"/>
              </a:rPr>
              <a:t>on each trial</a:t>
            </a:r>
            <a:endParaRPr/>
          </a:p>
          <a:p>
            <a:pPr marL="0" marR="0" lvl="0" indent="0" algn="l" rtl="0">
              <a:lnSpc>
                <a:spcPct val="90000"/>
              </a:lnSpc>
              <a:spcBef>
                <a:spcPts val="400"/>
              </a:spcBef>
              <a:spcAft>
                <a:spcPts val="0"/>
              </a:spcAft>
              <a:buNone/>
            </a:pPr>
            <a:endParaRPr sz="2000">
              <a:solidFill>
                <a:schemeClr val="dk1"/>
              </a:solidFill>
              <a:latin typeface="Arial"/>
              <a:ea typeface="Arial"/>
              <a:cs typeface="Arial"/>
              <a:sym typeface="Arial"/>
            </a:endParaRPr>
          </a:p>
          <a:p>
            <a:pPr marL="0" marR="0" lvl="0" indent="0" algn="l" rtl="0">
              <a:lnSpc>
                <a:spcPct val="80000"/>
              </a:lnSpc>
              <a:spcBef>
                <a:spcPts val="400"/>
              </a:spcBef>
              <a:spcAft>
                <a:spcPts val="0"/>
              </a:spcAft>
              <a:buNone/>
            </a:pPr>
            <a:r>
              <a:rPr lang="en-US" sz="2000">
                <a:solidFill>
                  <a:schemeClr val="dk1"/>
                </a:solidFill>
                <a:latin typeface="Arial"/>
                <a:ea typeface="Arial"/>
                <a:cs typeface="Arial"/>
                <a:sym typeface="Arial"/>
              </a:rPr>
              <a:t>   x   =   number of ‘successes’ in sample, </a:t>
            </a:r>
            <a:endParaRPr/>
          </a:p>
          <a:p>
            <a:pPr marL="0" marR="0" lvl="0" indent="0" algn="l" rtl="0">
              <a:lnSpc>
                <a:spcPct val="80000"/>
              </a:lnSpc>
              <a:spcBef>
                <a:spcPts val="400"/>
              </a:spcBef>
              <a:spcAft>
                <a:spcPts val="0"/>
              </a:spcAft>
              <a:buNone/>
            </a:pPr>
            <a:r>
              <a:rPr lang="en-US" sz="2000">
                <a:solidFill>
                  <a:schemeClr val="dk1"/>
                </a:solidFill>
                <a:latin typeface="Arial"/>
                <a:ea typeface="Arial"/>
                <a:cs typeface="Arial"/>
                <a:sym typeface="Arial"/>
              </a:rPr>
              <a:t>               (x = 0, 1, 2, ..., </a:t>
            </a:r>
            <a:r>
              <a:rPr lang="en-US" sz="2000">
                <a:solidFill>
                  <a:schemeClr val="hlink"/>
                </a:solidFill>
                <a:latin typeface="Arial"/>
                <a:ea typeface="Arial"/>
                <a:cs typeface="Arial"/>
                <a:sym typeface="Arial"/>
              </a:rPr>
              <a:t>n</a:t>
            </a:r>
            <a:r>
              <a:rPr lang="en-US" sz="2000">
                <a:solidFill>
                  <a:schemeClr val="dk1"/>
                </a:solidFill>
                <a:latin typeface="Arial"/>
                <a:ea typeface="Arial"/>
                <a:cs typeface="Arial"/>
                <a:sym typeface="Arial"/>
              </a:rPr>
              <a:t>)</a:t>
            </a:r>
            <a:endParaRPr/>
          </a:p>
          <a:p>
            <a:pPr marL="0" marR="0" lvl="0" indent="0" algn="l" rtl="0">
              <a:spcBef>
                <a:spcPts val="400"/>
              </a:spcBef>
              <a:spcAft>
                <a:spcPts val="0"/>
              </a:spcAft>
              <a:buNone/>
            </a:pPr>
            <a:r>
              <a:rPr lang="en-US" sz="2000">
                <a:solidFill>
                  <a:schemeClr val="dk2"/>
                </a:solidFill>
                <a:latin typeface="Arial"/>
                <a:ea typeface="Arial"/>
                <a:cs typeface="Arial"/>
                <a:sym typeface="Arial"/>
              </a:rPr>
              <a:t>   </a:t>
            </a:r>
            <a:r>
              <a:rPr lang="en-US" sz="2000">
                <a:solidFill>
                  <a:schemeClr val="folHlink"/>
                </a:solidFill>
                <a:latin typeface="Arial"/>
                <a:ea typeface="Arial"/>
                <a:cs typeface="Arial"/>
                <a:sym typeface="Arial"/>
              </a:rPr>
              <a:t>p	 =   probability of “success” per trial</a:t>
            </a:r>
            <a:endParaRPr/>
          </a:p>
          <a:p>
            <a:pPr marL="0" marR="0" lvl="0" indent="0" algn="l" rtl="0">
              <a:spcBef>
                <a:spcPts val="400"/>
              </a:spcBef>
              <a:spcAft>
                <a:spcPts val="0"/>
              </a:spcAft>
              <a:buNone/>
            </a:pPr>
            <a:r>
              <a:rPr lang="en-US" sz="2000">
                <a:solidFill>
                  <a:schemeClr val="folHlink"/>
                </a:solidFill>
                <a:latin typeface="Arial"/>
                <a:ea typeface="Arial"/>
                <a:cs typeface="Arial"/>
                <a:sym typeface="Arial"/>
              </a:rPr>
              <a:t>   </a:t>
            </a:r>
            <a:r>
              <a:rPr lang="en-US" sz="2000">
                <a:solidFill>
                  <a:srgbClr val="33CC33"/>
                </a:solidFill>
                <a:latin typeface="Arial"/>
                <a:ea typeface="Arial"/>
                <a:cs typeface="Arial"/>
                <a:sym typeface="Arial"/>
              </a:rPr>
              <a:t>q	 =   probability of “failure” = (1 – p)</a:t>
            </a:r>
            <a:endParaRPr/>
          </a:p>
          <a:p>
            <a:pPr marL="0" marR="0" lvl="0" indent="0" algn="l" rtl="0">
              <a:spcBef>
                <a:spcPts val="400"/>
              </a:spcBef>
              <a:spcAft>
                <a:spcPts val="0"/>
              </a:spcAft>
              <a:buNone/>
            </a:pPr>
            <a:r>
              <a:rPr lang="en-US" sz="2000">
                <a:solidFill>
                  <a:srgbClr val="FF0066"/>
                </a:solidFill>
                <a:latin typeface="Arial"/>
                <a:ea typeface="Arial"/>
                <a:cs typeface="Arial"/>
                <a:sym typeface="Arial"/>
              </a:rPr>
              <a:t>   </a:t>
            </a:r>
            <a:r>
              <a:rPr lang="en-US" sz="2000">
                <a:solidFill>
                  <a:srgbClr val="FF3300"/>
                </a:solidFill>
                <a:latin typeface="Arial"/>
                <a:ea typeface="Arial"/>
                <a:cs typeface="Arial"/>
                <a:sym typeface="Arial"/>
              </a:rPr>
              <a:t>n	 =   number of trials (sample size)</a:t>
            </a:r>
            <a:endParaRPr/>
          </a:p>
        </p:txBody>
      </p:sp>
      <p:cxnSp>
        <p:nvCxnSpPr>
          <p:cNvPr id="511" name="Google Shape;511;p39"/>
          <p:cNvCxnSpPr/>
          <p:nvPr/>
        </p:nvCxnSpPr>
        <p:spPr>
          <a:xfrm>
            <a:off x="3484563" y="2279650"/>
            <a:ext cx="1530350" cy="0"/>
          </a:xfrm>
          <a:prstGeom prst="straightConnector1">
            <a:avLst/>
          </a:prstGeom>
          <a:noFill/>
          <a:ln w="25400" cap="flat" cmpd="sng">
            <a:solidFill>
              <a:schemeClr val="dk1"/>
            </a:solidFill>
            <a:prstDash val="solid"/>
            <a:round/>
            <a:headEnd type="none" w="med" len="med"/>
            <a:tailEnd type="none" w="med" len="med"/>
          </a:ln>
        </p:spPr>
      </p:cxnSp>
      <p:sp>
        <p:nvSpPr>
          <p:cNvPr id="512" name="Google Shape;512;p39"/>
          <p:cNvSpPr/>
          <p:nvPr/>
        </p:nvSpPr>
        <p:spPr>
          <a:xfrm>
            <a:off x="1676400" y="1981200"/>
            <a:ext cx="925513" cy="576263"/>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3200">
                <a:solidFill>
                  <a:schemeClr val="dk1"/>
                </a:solidFill>
                <a:latin typeface="Arial"/>
                <a:ea typeface="Arial"/>
                <a:cs typeface="Arial"/>
                <a:sym typeface="Arial"/>
              </a:rPr>
              <a:t>P(x)</a:t>
            </a:r>
            <a:endParaRPr/>
          </a:p>
        </p:txBody>
      </p:sp>
      <p:sp>
        <p:nvSpPr>
          <p:cNvPr id="513" name="Google Shape;513;p39"/>
          <p:cNvSpPr/>
          <p:nvPr/>
        </p:nvSpPr>
        <p:spPr>
          <a:xfrm>
            <a:off x="4038600" y="1676400"/>
            <a:ext cx="406400" cy="576263"/>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3200">
                <a:solidFill>
                  <a:srgbClr val="FF3300"/>
                </a:solidFill>
                <a:latin typeface="Arial"/>
                <a:ea typeface="Arial"/>
                <a:cs typeface="Arial"/>
                <a:sym typeface="Arial"/>
              </a:rPr>
              <a:t>n</a:t>
            </a:r>
            <a:endParaRPr/>
          </a:p>
        </p:txBody>
      </p:sp>
      <p:sp>
        <p:nvSpPr>
          <p:cNvPr id="514" name="Google Shape;514;p39"/>
          <p:cNvSpPr/>
          <p:nvPr/>
        </p:nvSpPr>
        <p:spPr>
          <a:xfrm>
            <a:off x="3249613" y="2279650"/>
            <a:ext cx="609600" cy="576263"/>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3200">
                <a:solidFill>
                  <a:schemeClr val="dk1"/>
                </a:solidFill>
                <a:latin typeface="Arial"/>
                <a:ea typeface="Arial"/>
                <a:cs typeface="Arial"/>
                <a:sym typeface="Arial"/>
              </a:rPr>
              <a:t>x !</a:t>
            </a:r>
            <a:endParaRPr/>
          </a:p>
        </p:txBody>
      </p:sp>
      <p:sp>
        <p:nvSpPr>
          <p:cNvPr id="515" name="Google Shape;515;p39"/>
          <p:cNvSpPr/>
          <p:nvPr/>
        </p:nvSpPr>
        <p:spPr>
          <a:xfrm>
            <a:off x="3922713" y="2295525"/>
            <a:ext cx="406400" cy="576263"/>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3200">
                <a:solidFill>
                  <a:srgbClr val="FF3300"/>
                </a:solidFill>
                <a:latin typeface="Arial"/>
                <a:ea typeface="Arial"/>
                <a:cs typeface="Arial"/>
                <a:sym typeface="Arial"/>
              </a:rPr>
              <a:t>n</a:t>
            </a:r>
            <a:endParaRPr/>
          </a:p>
        </p:txBody>
      </p:sp>
      <p:sp>
        <p:nvSpPr>
          <p:cNvPr id="516" name="Google Shape;516;p39"/>
          <p:cNvSpPr/>
          <p:nvPr/>
        </p:nvSpPr>
        <p:spPr>
          <a:xfrm>
            <a:off x="4575175" y="2295525"/>
            <a:ext cx="384175" cy="576263"/>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3200">
                <a:solidFill>
                  <a:schemeClr val="dk1"/>
                </a:solidFill>
                <a:latin typeface="Arial"/>
                <a:ea typeface="Arial"/>
                <a:cs typeface="Arial"/>
                <a:sym typeface="Arial"/>
              </a:rPr>
              <a:t>x</a:t>
            </a:r>
            <a:endParaRPr/>
          </a:p>
        </p:txBody>
      </p:sp>
      <p:sp>
        <p:nvSpPr>
          <p:cNvPr id="517" name="Google Shape;517;p39"/>
          <p:cNvSpPr/>
          <p:nvPr/>
        </p:nvSpPr>
        <p:spPr>
          <a:xfrm>
            <a:off x="5181600" y="1981200"/>
            <a:ext cx="406400" cy="576263"/>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3200">
                <a:solidFill>
                  <a:schemeClr val="folHlink"/>
                </a:solidFill>
                <a:latin typeface="Arial"/>
                <a:ea typeface="Arial"/>
                <a:cs typeface="Arial"/>
                <a:sym typeface="Arial"/>
              </a:rPr>
              <a:t>p</a:t>
            </a:r>
            <a:endParaRPr/>
          </a:p>
        </p:txBody>
      </p:sp>
      <p:sp>
        <p:nvSpPr>
          <p:cNvPr id="518" name="Google Shape;518;p39"/>
          <p:cNvSpPr/>
          <p:nvPr/>
        </p:nvSpPr>
        <p:spPr>
          <a:xfrm>
            <a:off x="5715000" y="1981200"/>
            <a:ext cx="406400" cy="576263"/>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3200">
                <a:solidFill>
                  <a:srgbClr val="33CC33"/>
                </a:solidFill>
                <a:latin typeface="Arial"/>
                <a:ea typeface="Arial"/>
                <a:cs typeface="Arial"/>
                <a:sym typeface="Arial"/>
              </a:rPr>
              <a:t>q</a:t>
            </a:r>
            <a:endParaRPr/>
          </a:p>
        </p:txBody>
      </p:sp>
      <p:sp>
        <p:nvSpPr>
          <p:cNvPr id="519" name="Google Shape;519;p39"/>
          <p:cNvSpPr/>
          <p:nvPr/>
        </p:nvSpPr>
        <p:spPr>
          <a:xfrm>
            <a:off x="5448300" y="1889125"/>
            <a:ext cx="369888" cy="423863"/>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200" b="1">
                <a:solidFill>
                  <a:schemeClr val="dk1"/>
                </a:solidFill>
                <a:latin typeface="Arial"/>
                <a:ea typeface="Arial"/>
                <a:cs typeface="Arial"/>
                <a:sym typeface="Arial"/>
              </a:rPr>
              <a:t>x</a:t>
            </a:r>
            <a:endParaRPr/>
          </a:p>
        </p:txBody>
      </p:sp>
      <p:sp>
        <p:nvSpPr>
          <p:cNvPr id="520" name="Google Shape;520;p39"/>
          <p:cNvSpPr/>
          <p:nvPr/>
        </p:nvSpPr>
        <p:spPr>
          <a:xfrm>
            <a:off x="6019800" y="1905000"/>
            <a:ext cx="352425" cy="423863"/>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200" b="1">
                <a:solidFill>
                  <a:srgbClr val="FF3300"/>
                </a:solidFill>
                <a:latin typeface="Arial"/>
                <a:ea typeface="Arial"/>
                <a:cs typeface="Arial"/>
                <a:sym typeface="Arial"/>
              </a:rPr>
              <a:t>n</a:t>
            </a:r>
            <a:endParaRPr/>
          </a:p>
        </p:txBody>
      </p:sp>
      <p:sp>
        <p:nvSpPr>
          <p:cNvPr id="521" name="Google Shape;521;p39"/>
          <p:cNvSpPr/>
          <p:nvPr/>
        </p:nvSpPr>
        <p:spPr>
          <a:xfrm>
            <a:off x="6478588" y="1882775"/>
            <a:ext cx="336550" cy="423863"/>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200" b="1">
                <a:solidFill>
                  <a:schemeClr val="dk1"/>
                </a:solidFill>
                <a:latin typeface="Arial"/>
                <a:ea typeface="Arial"/>
                <a:cs typeface="Arial"/>
                <a:sym typeface="Arial"/>
              </a:rPr>
              <a:t>x</a:t>
            </a:r>
            <a:endParaRPr/>
          </a:p>
        </p:txBody>
      </p:sp>
      <p:sp>
        <p:nvSpPr>
          <p:cNvPr id="522" name="Google Shape;522;p39"/>
          <p:cNvSpPr/>
          <p:nvPr/>
        </p:nvSpPr>
        <p:spPr>
          <a:xfrm>
            <a:off x="4294188" y="1676400"/>
            <a:ext cx="293687" cy="576263"/>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3200">
                <a:solidFill>
                  <a:srgbClr val="FF9900"/>
                </a:solidFill>
                <a:latin typeface="Arial"/>
                <a:ea typeface="Arial"/>
                <a:cs typeface="Arial"/>
                <a:sym typeface="Arial"/>
              </a:rPr>
              <a:t>!</a:t>
            </a:r>
            <a:endParaRPr/>
          </a:p>
        </p:txBody>
      </p:sp>
      <p:sp>
        <p:nvSpPr>
          <p:cNvPr id="523" name="Google Shape;523;p39"/>
          <p:cNvSpPr/>
          <p:nvPr/>
        </p:nvSpPr>
        <p:spPr>
          <a:xfrm>
            <a:off x="3783013" y="2279650"/>
            <a:ext cx="315912" cy="576263"/>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3200">
                <a:solidFill>
                  <a:schemeClr val="dk1"/>
                </a:solidFill>
                <a:latin typeface="Arial"/>
                <a:ea typeface="Arial"/>
                <a:cs typeface="Arial"/>
                <a:sym typeface="Arial"/>
              </a:rPr>
              <a:t>(</a:t>
            </a:r>
            <a:endParaRPr/>
          </a:p>
        </p:txBody>
      </p:sp>
      <p:sp>
        <p:nvSpPr>
          <p:cNvPr id="524" name="Google Shape;524;p39"/>
          <p:cNvSpPr/>
          <p:nvPr/>
        </p:nvSpPr>
        <p:spPr>
          <a:xfrm>
            <a:off x="4849813" y="2279650"/>
            <a:ext cx="315912" cy="576263"/>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3200">
                <a:solidFill>
                  <a:schemeClr val="dk1"/>
                </a:solidFill>
                <a:latin typeface="Arial"/>
                <a:ea typeface="Arial"/>
                <a:cs typeface="Arial"/>
                <a:sym typeface="Arial"/>
              </a:rPr>
              <a:t>)</a:t>
            </a:r>
            <a:endParaRPr/>
          </a:p>
        </p:txBody>
      </p:sp>
      <p:sp>
        <p:nvSpPr>
          <p:cNvPr id="525" name="Google Shape;525;p39"/>
          <p:cNvSpPr/>
          <p:nvPr/>
        </p:nvSpPr>
        <p:spPr>
          <a:xfrm>
            <a:off x="4926013" y="2279650"/>
            <a:ext cx="293687" cy="576263"/>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3200">
                <a:solidFill>
                  <a:schemeClr val="dk1"/>
                </a:solidFill>
                <a:latin typeface="Arial"/>
                <a:ea typeface="Arial"/>
                <a:cs typeface="Arial"/>
                <a:sym typeface="Arial"/>
              </a:rPr>
              <a:t>!</a:t>
            </a:r>
            <a:endParaRPr/>
          </a:p>
        </p:txBody>
      </p:sp>
      <p:sp>
        <p:nvSpPr>
          <p:cNvPr id="526" name="Google Shape;526;p39"/>
          <p:cNvSpPr/>
          <p:nvPr/>
        </p:nvSpPr>
        <p:spPr>
          <a:xfrm>
            <a:off x="2743200" y="1981200"/>
            <a:ext cx="404813" cy="576263"/>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3200" b="1">
                <a:solidFill>
                  <a:schemeClr val="dk1"/>
                </a:solidFill>
                <a:latin typeface="Noto Sans Symbols"/>
                <a:ea typeface="Noto Sans Symbols"/>
                <a:cs typeface="Noto Sans Symbols"/>
                <a:sym typeface="Noto Sans Symbols"/>
              </a:rPr>
              <a:t>=</a:t>
            </a:r>
            <a:endParaRPr/>
          </a:p>
        </p:txBody>
      </p:sp>
      <p:sp>
        <p:nvSpPr>
          <p:cNvPr id="527" name="Google Shape;527;p39"/>
          <p:cNvSpPr/>
          <p:nvPr/>
        </p:nvSpPr>
        <p:spPr>
          <a:xfrm>
            <a:off x="4240213" y="2279650"/>
            <a:ext cx="404812" cy="576263"/>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3200">
                <a:solidFill>
                  <a:schemeClr val="dk1"/>
                </a:solidFill>
                <a:latin typeface="Noto Sans Symbols"/>
                <a:ea typeface="Noto Sans Symbols"/>
                <a:cs typeface="Noto Sans Symbols"/>
                <a:sym typeface="Noto Sans Symbols"/>
              </a:rPr>
              <a:t>−</a:t>
            </a:r>
            <a:endParaRPr/>
          </a:p>
        </p:txBody>
      </p:sp>
      <p:sp>
        <p:nvSpPr>
          <p:cNvPr id="528" name="Google Shape;528;p39"/>
          <p:cNvSpPr/>
          <p:nvPr/>
        </p:nvSpPr>
        <p:spPr>
          <a:xfrm>
            <a:off x="6249988" y="1882775"/>
            <a:ext cx="381000" cy="423863"/>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200" b="1">
                <a:solidFill>
                  <a:schemeClr val="dk1"/>
                </a:solidFill>
                <a:latin typeface="Noto Sans Symbols"/>
                <a:ea typeface="Noto Sans Symbols"/>
                <a:cs typeface="Noto Sans Symbols"/>
                <a:sym typeface="Noto Sans Symbols"/>
              </a:rPr>
              <a:t>−</a:t>
            </a:r>
            <a:endParaRPr/>
          </a:p>
        </p:txBody>
      </p:sp>
      <p:cxnSp>
        <p:nvCxnSpPr>
          <p:cNvPr id="529" name="Google Shape;529;p39"/>
          <p:cNvCxnSpPr/>
          <p:nvPr/>
        </p:nvCxnSpPr>
        <p:spPr>
          <a:xfrm>
            <a:off x="8610600" y="4651375"/>
            <a:ext cx="0" cy="0"/>
          </a:xfrm>
          <a:prstGeom prst="straightConnector1">
            <a:avLst/>
          </a:prstGeom>
          <a:noFill/>
          <a:ln w="12700" cap="flat" cmpd="sng">
            <a:solidFill>
              <a:schemeClr val="dk1"/>
            </a:solidFill>
            <a:prstDash val="solid"/>
            <a:round/>
            <a:headEnd type="none" w="med" len="med"/>
            <a:tailEnd type="none" w="med" len="med"/>
          </a:ln>
        </p:spPr>
      </p:cxnSp>
      <p:sp>
        <p:nvSpPr>
          <p:cNvPr id="530" name="Google Shape;530;p39"/>
          <p:cNvSpPr/>
          <p:nvPr/>
        </p:nvSpPr>
        <p:spPr>
          <a:xfrm>
            <a:off x="6019800" y="3733800"/>
            <a:ext cx="2971800" cy="2362200"/>
          </a:xfrm>
          <a:prstGeom prst="rect">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531" name="Google Shape;531;p39"/>
          <p:cNvSpPr txBox="1"/>
          <p:nvPr/>
        </p:nvSpPr>
        <p:spPr>
          <a:xfrm>
            <a:off x="6019800" y="3733800"/>
            <a:ext cx="2895600" cy="22923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Example:</a:t>
            </a:r>
            <a:r>
              <a:rPr lang="en-US" sz="1800">
                <a:solidFill>
                  <a:schemeClr val="dk1"/>
                </a:solidFill>
                <a:latin typeface="Arial"/>
                <a:ea typeface="Arial"/>
                <a:cs typeface="Arial"/>
                <a:sym typeface="Arial"/>
              </a:rPr>
              <a:t>  Flip a coin four times, let  x = # heads:</a:t>
            </a:r>
            <a:endParaRPr/>
          </a:p>
          <a:p>
            <a:pPr marL="0" marR="0" lvl="0" indent="0" algn="ctr" rtl="0">
              <a:spcBef>
                <a:spcPts val="900"/>
              </a:spcBef>
              <a:spcAft>
                <a:spcPts val="0"/>
              </a:spcAft>
              <a:buNone/>
            </a:pPr>
            <a:r>
              <a:rPr lang="en-US" sz="1800">
                <a:solidFill>
                  <a:schemeClr val="hlink"/>
                </a:solidFill>
                <a:latin typeface="Arial"/>
                <a:ea typeface="Arial"/>
                <a:cs typeface="Arial"/>
                <a:sym typeface="Arial"/>
              </a:rPr>
              <a:t>n</a:t>
            </a:r>
            <a:r>
              <a:rPr lang="en-US" sz="1800">
                <a:solidFill>
                  <a:schemeClr val="dk1"/>
                </a:solidFill>
                <a:latin typeface="Arial"/>
                <a:ea typeface="Arial"/>
                <a:cs typeface="Arial"/>
                <a:sym typeface="Arial"/>
              </a:rPr>
              <a:t> = 4</a:t>
            </a:r>
            <a:endParaRPr/>
          </a:p>
          <a:p>
            <a:pPr marL="0" marR="0" lvl="0" indent="0" algn="ctr" rtl="0">
              <a:spcBef>
                <a:spcPts val="900"/>
              </a:spcBef>
              <a:spcAft>
                <a:spcPts val="0"/>
              </a:spcAft>
              <a:buNone/>
            </a:pPr>
            <a:r>
              <a:rPr lang="en-US" sz="1800">
                <a:solidFill>
                  <a:schemeClr val="folHlink"/>
                </a:solidFill>
                <a:latin typeface="Arial"/>
                <a:ea typeface="Arial"/>
                <a:cs typeface="Arial"/>
                <a:sym typeface="Arial"/>
              </a:rPr>
              <a:t>p</a:t>
            </a:r>
            <a:r>
              <a:rPr lang="en-US" sz="1800">
                <a:solidFill>
                  <a:schemeClr val="dk1"/>
                </a:solidFill>
                <a:latin typeface="Arial"/>
                <a:ea typeface="Arial"/>
                <a:cs typeface="Arial"/>
                <a:sym typeface="Arial"/>
              </a:rPr>
              <a:t> = 0.5</a:t>
            </a:r>
            <a:endParaRPr/>
          </a:p>
          <a:p>
            <a:pPr marL="0" marR="0" lvl="0" indent="0" algn="ctr" rtl="0">
              <a:spcBef>
                <a:spcPts val="900"/>
              </a:spcBef>
              <a:spcAft>
                <a:spcPts val="0"/>
              </a:spcAft>
              <a:buNone/>
            </a:pPr>
            <a:r>
              <a:rPr lang="en-US" sz="1800">
                <a:solidFill>
                  <a:srgbClr val="33CC33"/>
                </a:solidFill>
                <a:latin typeface="Arial"/>
                <a:ea typeface="Arial"/>
                <a:cs typeface="Arial"/>
                <a:sym typeface="Arial"/>
              </a:rPr>
              <a:t>q</a:t>
            </a:r>
            <a:r>
              <a:rPr lang="en-US" sz="1800">
                <a:solidFill>
                  <a:schemeClr val="dk1"/>
                </a:solidFill>
                <a:latin typeface="Arial"/>
                <a:ea typeface="Arial"/>
                <a:cs typeface="Arial"/>
                <a:sym typeface="Arial"/>
              </a:rPr>
              <a:t> = (1 - .5) = .5</a:t>
            </a:r>
            <a:endParaRPr/>
          </a:p>
          <a:p>
            <a:pPr marL="0" marR="0" lvl="0" indent="0" algn="ctr" rtl="0">
              <a:spcBef>
                <a:spcPts val="900"/>
              </a:spcBef>
              <a:spcAft>
                <a:spcPts val="0"/>
              </a:spcAft>
              <a:buNone/>
            </a:pPr>
            <a:r>
              <a:rPr lang="en-US" sz="1800">
                <a:solidFill>
                  <a:schemeClr val="dk1"/>
                </a:solidFill>
                <a:latin typeface="Arial"/>
                <a:ea typeface="Arial"/>
                <a:cs typeface="Arial"/>
                <a:sym typeface="Arial"/>
              </a:rPr>
              <a:t>x = 0, 1, 2, 3, 4</a:t>
            </a:r>
            <a:endParaRPr/>
          </a:p>
        </p:txBody>
      </p:sp>
      <p:sp>
        <p:nvSpPr>
          <p:cNvPr id="532" name="Google Shape;532;p39"/>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Binomial Distribution Formula</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40"/>
          <p:cNvSpPr/>
          <p:nvPr/>
        </p:nvSpPr>
        <p:spPr>
          <a:xfrm>
            <a:off x="4610100" y="4384675"/>
            <a:ext cx="3841750" cy="1981200"/>
          </a:xfrm>
          <a:prstGeom prst="rect">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538" name="Google Shape;538;p40"/>
          <p:cNvSpPr/>
          <p:nvPr/>
        </p:nvSpPr>
        <p:spPr>
          <a:xfrm>
            <a:off x="4610100" y="2084388"/>
            <a:ext cx="3841750" cy="1981200"/>
          </a:xfrm>
          <a:prstGeom prst="rect">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539" name="Google Shape;539;p40"/>
          <p:cNvSpPr/>
          <p:nvPr/>
        </p:nvSpPr>
        <p:spPr>
          <a:xfrm>
            <a:off x="5411788" y="2135188"/>
            <a:ext cx="2663825" cy="515937"/>
          </a:xfrm>
          <a:prstGeom prst="rect">
            <a:avLst/>
          </a:prstGeom>
          <a:noFill/>
          <a:ln>
            <a:noFill/>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800">
                <a:solidFill>
                  <a:schemeClr val="dk1"/>
                </a:solidFill>
                <a:latin typeface="Arial"/>
                <a:ea typeface="Arial"/>
                <a:cs typeface="Arial"/>
                <a:sym typeface="Arial"/>
              </a:rPr>
              <a:t>n = 5  p = 0.1</a:t>
            </a:r>
            <a:endParaRPr/>
          </a:p>
        </p:txBody>
      </p:sp>
      <p:sp>
        <p:nvSpPr>
          <p:cNvPr id="540" name="Google Shape;540;p40"/>
          <p:cNvSpPr/>
          <p:nvPr/>
        </p:nvSpPr>
        <p:spPr>
          <a:xfrm>
            <a:off x="5411788" y="4421188"/>
            <a:ext cx="2663825" cy="515937"/>
          </a:xfrm>
          <a:prstGeom prst="rect">
            <a:avLst/>
          </a:prstGeom>
          <a:noFill/>
          <a:ln>
            <a:noFill/>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800">
                <a:solidFill>
                  <a:schemeClr val="dk1"/>
                </a:solidFill>
                <a:latin typeface="Arial"/>
                <a:ea typeface="Arial"/>
                <a:cs typeface="Arial"/>
                <a:sym typeface="Arial"/>
              </a:rPr>
              <a:t>n = 5  p = 0.5</a:t>
            </a:r>
            <a:endParaRPr/>
          </a:p>
        </p:txBody>
      </p:sp>
      <p:sp>
        <p:nvSpPr>
          <p:cNvPr id="541" name="Google Shape;541;p40"/>
          <p:cNvSpPr/>
          <p:nvPr/>
        </p:nvSpPr>
        <p:spPr>
          <a:xfrm>
            <a:off x="685800" y="2209800"/>
            <a:ext cx="3041650" cy="5159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800" b="1">
                <a:solidFill>
                  <a:schemeClr val="lt1"/>
                </a:solidFill>
                <a:latin typeface="Arial"/>
                <a:ea typeface="Arial"/>
                <a:cs typeface="Arial"/>
                <a:sym typeface="Arial"/>
              </a:rPr>
              <a:t>Mean</a:t>
            </a:r>
            <a:endParaRPr/>
          </a:p>
        </p:txBody>
      </p:sp>
      <p:cxnSp>
        <p:nvCxnSpPr>
          <p:cNvPr id="542" name="Google Shape;542;p40"/>
          <p:cNvCxnSpPr/>
          <p:nvPr/>
        </p:nvCxnSpPr>
        <p:spPr>
          <a:xfrm>
            <a:off x="5268913" y="3217863"/>
            <a:ext cx="2589212" cy="0"/>
          </a:xfrm>
          <a:prstGeom prst="straightConnector1">
            <a:avLst/>
          </a:prstGeom>
          <a:noFill/>
          <a:ln w="12700" cap="flat" cmpd="sng">
            <a:solidFill>
              <a:schemeClr val="folHlink"/>
            </a:solidFill>
            <a:prstDash val="solid"/>
            <a:round/>
            <a:headEnd type="none" w="med" len="med"/>
            <a:tailEnd type="none" w="med" len="med"/>
          </a:ln>
        </p:spPr>
      </p:cxnSp>
      <p:cxnSp>
        <p:nvCxnSpPr>
          <p:cNvPr id="543" name="Google Shape;543;p40"/>
          <p:cNvCxnSpPr/>
          <p:nvPr/>
        </p:nvCxnSpPr>
        <p:spPr>
          <a:xfrm>
            <a:off x="5268913" y="2913063"/>
            <a:ext cx="2589212" cy="0"/>
          </a:xfrm>
          <a:prstGeom prst="straightConnector1">
            <a:avLst/>
          </a:prstGeom>
          <a:noFill/>
          <a:ln w="12700" cap="flat" cmpd="sng">
            <a:solidFill>
              <a:schemeClr val="folHlink"/>
            </a:solidFill>
            <a:prstDash val="solid"/>
            <a:round/>
            <a:headEnd type="none" w="med" len="med"/>
            <a:tailEnd type="none" w="med" len="med"/>
          </a:ln>
        </p:spPr>
      </p:cxnSp>
      <p:cxnSp>
        <p:nvCxnSpPr>
          <p:cNvPr id="544" name="Google Shape;544;p40"/>
          <p:cNvCxnSpPr/>
          <p:nvPr/>
        </p:nvCxnSpPr>
        <p:spPr>
          <a:xfrm>
            <a:off x="5268913" y="2611438"/>
            <a:ext cx="2589212" cy="0"/>
          </a:xfrm>
          <a:prstGeom prst="straightConnector1">
            <a:avLst/>
          </a:prstGeom>
          <a:noFill/>
          <a:ln w="12700" cap="flat" cmpd="sng">
            <a:solidFill>
              <a:schemeClr val="folHlink"/>
            </a:solidFill>
            <a:prstDash val="solid"/>
            <a:round/>
            <a:headEnd type="none" w="med" len="med"/>
            <a:tailEnd type="none" w="med" len="med"/>
          </a:ln>
        </p:spPr>
      </p:cxnSp>
      <p:sp>
        <p:nvSpPr>
          <p:cNvPr id="545" name="Google Shape;545;p40"/>
          <p:cNvSpPr/>
          <p:nvPr/>
        </p:nvSpPr>
        <p:spPr>
          <a:xfrm>
            <a:off x="5086350" y="2641600"/>
            <a:ext cx="488950" cy="879475"/>
          </a:xfrm>
          <a:custGeom>
            <a:avLst/>
            <a:gdLst/>
            <a:ahLst/>
            <a:cxnLst/>
            <a:rect l="l" t="t" r="r" b="b"/>
            <a:pathLst>
              <a:path w="308" h="554" extrusionOk="0">
                <a:moveTo>
                  <a:pt x="0" y="0"/>
                </a:moveTo>
                <a:lnTo>
                  <a:pt x="307" y="0"/>
                </a:lnTo>
                <a:lnTo>
                  <a:pt x="307" y="553"/>
                </a:lnTo>
                <a:lnTo>
                  <a:pt x="0" y="553"/>
                </a:lnTo>
                <a:lnTo>
                  <a:pt x="0" y="0"/>
                </a:lnTo>
              </a:path>
            </a:pathLst>
          </a:custGeom>
          <a:solidFill>
            <a:srgbClr val="DC0081"/>
          </a:solidFill>
          <a:ln w="127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46" name="Google Shape;546;p40"/>
          <p:cNvSpPr/>
          <p:nvPr/>
        </p:nvSpPr>
        <p:spPr>
          <a:xfrm>
            <a:off x="5573713" y="3035300"/>
            <a:ext cx="485775" cy="485775"/>
          </a:xfrm>
          <a:custGeom>
            <a:avLst/>
            <a:gdLst/>
            <a:ahLst/>
            <a:cxnLst/>
            <a:rect l="l" t="t" r="r" b="b"/>
            <a:pathLst>
              <a:path w="306" h="306" extrusionOk="0">
                <a:moveTo>
                  <a:pt x="0" y="0"/>
                </a:moveTo>
                <a:lnTo>
                  <a:pt x="305" y="0"/>
                </a:lnTo>
                <a:lnTo>
                  <a:pt x="305" y="305"/>
                </a:lnTo>
                <a:lnTo>
                  <a:pt x="0" y="305"/>
                </a:lnTo>
                <a:lnTo>
                  <a:pt x="0" y="0"/>
                </a:lnTo>
              </a:path>
            </a:pathLst>
          </a:custGeom>
          <a:solidFill>
            <a:srgbClr val="DC0081"/>
          </a:solidFill>
          <a:ln w="127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47" name="Google Shape;547;p40"/>
          <p:cNvSpPr/>
          <p:nvPr/>
        </p:nvSpPr>
        <p:spPr>
          <a:xfrm>
            <a:off x="6057900" y="3397250"/>
            <a:ext cx="488950" cy="123825"/>
          </a:xfrm>
          <a:custGeom>
            <a:avLst/>
            <a:gdLst/>
            <a:ahLst/>
            <a:cxnLst/>
            <a:rect l="l" t="t" r="r" b="b"/>
            <a:pathLst>
              <a:path w="308" h="78" extrusionOk="0">
                <a:moveTo>
                  <a:pt x="0" y="0"/>
                </a:moveTo>
                <a:lnTo>
                  <a:pt x="307" y="0"/>
                </a:lnTo>
                <a:lnTo>
                  <a:pt x="307" y="77"/>
                </a:lnTo>
                <a:lnTo>
                  <a:pt x="0" y="77"/>
                </a:lnTo>
                <a:lnTo>
                  <a:pt x="0" y="0"/>
                </a:lnTo>
              </a:path>
            </a:pathLst>
          </a:custGeom>
          <a:solidFill>
            <a:srgbClr val="DC0081"/>
          </a:solidFill>
          <a:ln w="127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48" name="Google Shape;548;p40"/>
          <p:cNvSpPr/>
          <p:nvPr/>
        </p:nvSpPr>
        <p:spPr>
          <a:xfrm>
            <a:off x="6545263" y="3489325"/>
            <a:ext cx="488950" cy="31750"/>
          </a:xfrm>
          <a:custGeom>
            <a:avLst/>
            <a:gdLst/>
            <a:ahLst/>
            <a:cxnLst/>
            <a:rect l="l" t="t" r="r" b="b"/>
            <a:pathLst>
              <a:path w="308" h="20" extrusionOk="0">
                <a:moveTo>
                  <a:pt x="0" y="0"/>
                </a:moveTo>
                <a:lnTo>
                  <a:pt x="307" y="0"/>
                </a:lnTo>
                <a:lnTo>
                  <a:pt x="307" y="19"/>
                </a:lnTo>
                <a:lnTo>
                  <a:pt x="0" y="19"/>
                </a:lnTo>
                <a:lnTo>
                  <a:pt x="0" y="0"/>
                </a:lnTo>
              </a:path>
            </a:pathLst>
          </a:custGeom>
          <a:solidFill>
            <a:srgbClr val="DC0081"/>
          </a:solidFill>
          <a:ln w="127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549" name="Google Shape;549;p40"/>
          <p:cNvCxnSpPr/>
          <p:nvPr/>
        </p:nvCxnSpPr>
        <p:spPr>
          <a:xfrm>
            <a:off x="5086350" y="2794000"/>
            <a:ext cx="0" cy="579438"/>
          </a:xfrm>
          <a:prstGeom prst="straightConnector1">
            <a:avLst/>
          </a:prstGeom>
          <a:noFill/>
          <a:ln w="12700" cap="flat" cmpd="sng">
            <a:solidFill>
              <a:schemeClr val="folHlink"/>
            </a:solidFill>
            <a:prstDash val="solid"/>
            <a:round/>
            <a:headEnd type="none" w="med" len="med"/>
            <a:tailEnd type="none" w="med" len="med"/>
          </a:ln>
        </p:spPr>
      </p:cxnSp>
      <p:cxnSp>
        <p:nvCxnSpPr>
          <p:cNvPr id="550" name="Google Shape;550;p40"/>
          <p:cNvCxnSpPr/>
          <p:nvPr/>
        </p:nvCxnSpPr>
        <p:spPr>
          <a:xfrm>
            <a:off x="5053013" y="3519488"/>
            <a:ext cx="1587" cy="0"/>
          </a:xfrm>
          <a:prstGeom prst="straightConnector1">
            <a:avLst/>
          </a:prstGeom>
          <a:noFill/>
          <a:ln w="12700" cap="flat" cmpd="sng">
            <a:solidFill>
              <a:schemeClr val="folHlink"/>
            </a:solidFill>
            <a:prstDash val="solid"/>
            <a:round/>
            <a:headEnd type="none" w="med" len="med"/>
            <a:tailEnd type="none" w="med" len="med"/>
          </a:ln>
        </p:spPr>
      </p:cxnSp>
      <p:cxnSp>
        <p:nvCxnSpPr>
          <p:cNvPr id="551" name="Google Shape;551;p40"/>
          <p:cNvCxnSpPr/>
          <p:nvPr/>
        </p:nvCxnSpPr>
        <p:spPr>
          <a:xfrm>
            <a:off x="5053013" y="3217863"/>
            <a:ext cx="1587" cy="0"/>
          </a:xfrm>
          <a:prstGeom prst="straightConnector1">
            <a:avLst/>
          </a:prstGeom>
          <a:noFill/>
          <a:ln w="12700" cap="flat" cmpd="sng">
            <a:solidFill>
              <a:schemeClr val="folHlink"/>
            </a:solidFill>
            <a:prstDash val="solid"/>
            <a:round/>
            <a:headEnd type="none" w="med" len="med"/>
            <a:tailEnd type="none" w="med" len="med"/>
          </a:ln>
        </p:spPr>
      </p:cxnSp>
      <p:cxnSp>
        <p:nvCxnSpPr>
          <p:cNvPr id="552" name="Google Shape;552;p40"/>
          <p:cNvCxnSpPr/>
          <p:nvPr/>
        </p:nvCxnSpPr>
        <p:spPr>
          <a:xfrm>
            <a:off x="5053013" y="2913063"/>
            <a:ext cx="1587" cy="0"/>
          </a:xfrm>
          <a:prstGeom prst="straightConnector1">
            <a:avLst/>
          </a:prstGeom>
          <a:noFill/>
          <a:ln w="12700" cap="flat" cmpd="sng">
            <a:solidFill>
              <a:schemeClr val="folHlink"/>
            </a:solidFill>
            <a:prstDash val="solid"/>
            <a:round/>
            <a:headEnd type="none" w="med" len="med"/>
            <a:tailEnd type="none" w="med" len="med"/>
          </a:ln>
        </p:spPr>
      </p:cxnSp>
      <p:cxnSp>
        <p:nvCxnSpPr>
          <p:cNvPr id="553" name="Google Shape;553;p40"/>
          <p:cNvCxnSpPr/>
          <p:nvPr/>
        </p:nvCxnSpPr>
        <p:spPr>
          <a:xfrm>
            <a:off x="5053013" y="2611438"/>
            <a:ext cx="1587" cy="0"/>
          </a:xfrm>
          <a:prstGeom prst="straightConnector1">
            <a:avLst/>
          </a:prstGeom>
          <a:noFill/>
          <a:ln w="12700" cap="flat" cmpd="sng">
            <a:solidFill>
              <a:schemeClr val="folHlink"/>
            </a:solidFill>
            <a:prstDash val="solid"/>
            <a:round/>
            <a:headEnd type="none" w="med" len="med"/>
            <a:tailEnd type="none" w="med" len="med"/>
          </a:ln>
        </p:spPr>
      </p:cxnSp>
      <p:cxnSp>
        <p:nvCxnSpPr>
          <p:cNvPr id="554" name="Google Shape;554;p40"/>
          <p:cNvCxnSpPr/>
          <p:nvPr/>
        </p:nvCxnSpPr>
        <p:spPr>
          <a:xfrm>
            <a:off x="5268913" y="3519488"/>
            <a:ext cx="2589212" cy="0"/>
          </a:xfrm>
          <a:prstGeom prst="straightConnector1">
            <a:avLst/>
          </a:prstGeom>
          <a:noFill/>
          <a:ln w="12700" cap="flat" cmpd="sng">
            <a:solidFill>
              <a:schemeClr val="folHlink"/>
            </a:solidFill>
            <a:prstDash val="solid"/>
            <a:round/>
            <a:headEnd type="none" w="med" len="med"/>
            <a:tailEnd type="none" w="med" len="med"/>
          </a:ln>
        </p:spPr>
      </p:cxnSp>
      <p:cxnSp>
        <p:nvCxnSpPr>
          <p:cNvPr id="555" name="Google Shape;555;p40"/>
          <p:cNvCxnSpPr/>
          <p:nvPr/>
        </p:nvCxnSpPr>
        <p:spPr>
          <a:xfrm rot="10800000">
            <a:off x="5086350" y="3392488"/>
            <a:ext cx="0" cy="328612"/>
          </a:xfrm>
          <a:prstGeom prst="straightConnector1">
            <a:avLst/>
          </a:prstGeom>
          <a:noFill/>
          <a:ln w="12700" cap="flat" cmpd="sng">
            <a:solidFill>
              <a:schemeClr val="folHlink"/>
            </a:solidFill>
            <a:prstDash val="solid"/>
            <a:round/>
            <a:headEnd type="none" w="med" len="med"/>
            <a:tailEnd type="none" w="med" len="med"/>
          </a:ln>
        </p:spPr>
      </p:cxnSp>
      <p:cxnSp>
        <p:nvCxnSpPr>
          <p:cNvPr id="556" name="Google Shape;556;p40"/>
          <p:cNvCxnSpPr/>
          <p:nvPr/>
        </p:nvCxnSpPr>
        <p:spPr>
          <a:xfrm rot="10800000">
            <a:off x="5573713" y="3392488"/>
            <a:ext cx="0" cy="328612"/>
          </a:xfrm>
          <a:prstGeom prst="straightConnector1">
            <a:avLst/>
          </a:prstGeom>
          <a:noFill/>
          <a:ln w="12700" cap="flat" cmpd="sng">
            <a:solidFill>
              <a:schemeClr val="folHlink"/>
            </a:solidFill>
            <a:prstDash val="solid"/>
            <a:round/>
            <a:headEnd type="none" w="med" len="med"/>
            <a:tailEnd type="none" w="med" len="med"/>
          </a:ln>
        </p:spPr>
      </p:cxnSp>
      <p:cxnSp>
        <p:nvCxnSpPr>
          <p:cNvPr id="557" name="Google Shape;557;p40"/>
          <p:cNvCxnSpPr/>
          <p:nvPr/>
        </p:nvCxnSpPr>
        <p:spPr>
          <a:xfrm rot="10800000">
            <a:off x="6057900" y="3392488"/>
            <a:ext cx="0" cy="328612"/>
          </a:xfrm>
          <a:prstGeom prst="straightConnector1">
            <a:avLst/>
          </a:prstGeom>
          <a:noFill/>
          <a:ln w="12700" cap="flat" cmpd="sng">
            <a:solidFill>
              <a:schemeClr val="folHlink"/>
            </a:solidFill>
            <a:prstDash val="solid"/>
            <a:round/>
            <a:headEnd type="none" w="med" len="med"/>
            <a:tailEnd type="none" w="med" len="med"/>
          </a:ln>
        </p:spPr>
      </p:cxnSp>
      <p:cxnSp>
        <p:nvCxnSpPr>
          <p:cNvPr id="558" name="Google Shape;558;p40"/>
          <p:cNvCxnSpPr/>
          <p:nvPr/>
        </p:nvCxnSpPr>
        <p:spPr>
          <a:xfrm rot="10800000">
            <a:off x="6545263" y="3392488"/>
            <a:ext cx="0" cy="328612"/>
          </a:xfrm>
          <a:prstGeom prst="straightConnector1">
            <a:avLst/>
          </a:prstGeom>
          <a:noFill/>
          <a:ln w="12700" cap="flat" cmpd="sng">
            <a:solidFill>
              <a:schemeClr val="folHlink"/>
            </a:solidFill>
            <a:prstDash val="solid"/>
            <a:round/>
            <a:headEnd type="none" w="med" len="med"/>
            <a:tailEnd type="none" w="med" len="med"/>
          </a:ln>
        </p:spPr>
      </p:cxnSp>
      <p:cxnSp>
        <p:nvCxnSpPr>
          <p:cNvPr id="559" name="Google Shape;559;p40"/>
          <p:cNvCxnSpPr/>
          <p:nvPr/>
        </p:nvCxnSpPr>
        <p:spPr>
          <a:xfrm rot="10800000">
            <a:off x="7032625" y="3392488"/>
            <a:ext cx="0" cy="328612"/>
          </a:xfrm>
          <a:prstGeom prst="straightConnector1">
            <a:avLst/>
          </a:prstGeom>
          <a:noFill/>
          <a:ln w="12700" cap="flat" cmpd="sng">
            <a:solidFill>
              <a:schemeClr val="folHlink"/>
            </a:solidFill>
            <a:prstDash val="solid"/>
            <a:round/>
            <a:headEnd type="none" w="med" len="med"/>
            <a:tailEnd type="none" w="med" len="med"/>
          </a:ln>
        </p:spPr>
      </p:cxnSp>
      <p:cxnSp>
        <p:nvCxnSpPr>
          <p:cNvPr id="560" name="Google Shape;560;p40"/>
          <p:cNvCxnSpPr/>
          <p:nvPr/>
        </p:nvCxnSpPr>
        <p:spPr>
          <a:xfrm rot="10800000">
            <a:off x="7516813" y="3392488"/>
            <a:ext cx="0" cy="328612"/>
          </a:xfrm>
          <a:prstGeom prst="straightConnector1">
            <a:avLst/>
          </a:prstGeom>
          <a:noFill/>
          <a:ln w="12700" cap="flat" cmpd="sng">
            <a:solidFill>
              <a:schemeClr val="folHlink"/>
            </a:solidFill>
            <a:prstDash val="solid"/>
            <a:round/>
            <a:headEnd type="none" w="med" len="med"/>
            <a:tailEnd type="none" w="med" len="med"/>
          </a:ln>
        </p:spPr>
      </p:cxnSp>
      <p:cxnSp>
        <p:nvCxnSpPr>
          <p:cNvPr id="561" name="Google Shape;561;p40"/>
          <p:cNvCxnSpPr/>
          <p:nvPr/>
        </p:nvCxnSpPr>
        <p:spPr>
          <a:xfrm rot="10800000">
            <a:off x="8004175" y="3392488"/>
            <a:ext cx="0" cy="328612"/>
          </a:xfrm>
          <a:prstGeom prst="straightConnector1">
            <a:avLst/>
          </a:prstGeom>
          <a:noFill/>
          <a:ln w="12700" cap="flat" cmpd="sng">
            <a:solidFill>
              <a:schemeClr val="folHlink"/>
            </a:solidFill>
            <a:prstDash val="solid"/>
            <a:round/>
            <a:headEnd type="none" w="med" len="med"/>
            <a:tailEnd type="none" w="med" len="med"/>
          </a:ln>
        </p:spPr>
      </p:cxnSp>
      <p:sp>
        <p:nvSpPr>
          <p:cNvPr id="562" name="Google Shape;562;p40"/>
          <p:cNvSpPr/>
          <p:nvPr/>
        </p:nvSpPr>
        <p:spPr>
          <a:xfrm>
            <a:off x="4624388" y="3344863"/>
            <a:ext cx="3714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 0</a:t>
            </a:r>
            <a:endParaRPr/>
          </a:p>
        </p:txBody>
      </p:sp>
      <p:sp>
        <p:nvSpPr>
          <p:cNvPr id="563" name="Google Shape;563;p40"/>
          <p:cNvSpPr/>
          <p:nvPr/>
        </p:nvSpPr>
        <p:spPr>
          <a:xfrm>
            <a:off x="4624388" y="3043238"/>
            <a:ext cx="3714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.2</a:t>
            </a:r>
            <a:endParaRPr/>
          </a:p>
        </p:txBody>
      </p:sp>
      <p:sp>
        <p:nvSpPr>
          <p:cNvPr id="564" name="Google Shape;564;p40"/>
          <p:cNvSpPr/>
          <p:nvPr/>
        </p:nvSpPr>
        <p:spPr>
          <a:xfrm>
            <a:off x="4624388" y="2738438"/>
            <a:ext cx="3714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.4</a:t>
            </a:r>
            <a:endParaRPr/>
          </a:p>
        </p:txBody>
      </p:sp>
      <p:sp>
        <p:nvSpPr>
          <p:cNvPr id="565" name="Google Shape;565;p40"/>
          <p:cNvSpPr/>
          <p:nvPr/>
        </p:nvSpPr>
        <p:spPr>
          <a:xfrm>
            <a:off x="4624388" y="2436813"/>
            <a:ext cx="3714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.6</a:t>
            </a:r>
            <a:endParaRPr/>
          </a:p>
        </p:txBody>
      </p:sp>
      <p:sp>
        <p:nvSpPr>
          <p:cNvPr id="566" name="Google Shape;566;p40"/>
          <p:cNvSpPr/>
          <p:nvPr/>
        </p:nvSpPr>
        <p:spPr>
          <a:xfrm>
            <a:off x="5175250" y="3687763"/>
            <a:ext cx="3079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0</a:t>
            </a:r>
            <a:endParaRPr/>
          </a:p>
        </p:txBody>
      </p:sp>
      <p:sp>
        <p:nvSpPr>
          <p:cNvPr id="567" name="Google Shape;567;p40"/>
          <p:cNvSpPr/>
          <p:nvPr/>
        </p:nvSpPr>
        <p:spPr>
          <a:xfrm>
            <a:off x="5662613" y="3687763"/>
            <a:ext cx="3079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1</a:t>
            </a:r>
            <a:endParaRPr/>
          </a:p>
        </p:txBody>
      </p:sp>
      <p:sp>
        <p:nvSpPr>
          <p:cNvPr id="568" name="Google Shape;568;p40"/>
          <p:cNvSpPr/>
          <p:nvPr/>
        </p:nvSpPr>
        <p:spPr>
          <a:xfrm>
            <a:off x="6146800" y="3687763"/>
            <a:ext cx="3079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2</a:t>
            </a:r>
            <a:endParaRPr/>
          </a:p>
        </p:txBody>
      </p:sp>
      <p:sp>
        <p:nvSpPr>
          <p:cNvPr id="569" name="Google Shape;569;p40"/>
          <p:cNvSpPr/>
          <p:nvPr/>
        </p:nvSpPr>
        <p:spPr>
          <a:xfrm>
            <a:off x="6634163" y="3687763"/>
            <a:ext cx="3079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3</a:t>
            </a:r>
            <a:endParaRPr/>
          </a:p>
        </p:txBody>
      </p:sp>
      <p:sp>
        <p:nvSpPr>
          <p:cNvPr id="570" name="Google Shape;570;p40"/>
          <p:cNvSpPr/>
          <p:nvPr/>
        </p:nvSpPr>
        <p:spPr>
          <a:xfrm>
            <a:off x="7121525" y="3687763"/>
            <a:ext cx="3079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4</a:t>
            </a:r>
            <a:endParaRPr/>
          </a:p>
        </p:txBody>
      </p:sp>
      <p:sp>
        <p:nvSpPr>
          <p:cNvPr id="571" name="Google Shape;571;p40"/>
          <p:cNvSpPr/>
          <p:nvPr/>
        </p:nvSpPr>
        <p:spPr>
          <a:xfrm>
            <a:off x="7607300" y="3687763"/>
            <a:ext cx="3079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5</a:t>
            </a:r>
            <a:endParaRPr/>
          </a:p>
        </p:txBody>
      </p:sp>
      <p:sp>
        <p:nvSpPr>
          <p:cNvPr id="572" name="Google Shape;572;p40"/>
          <p:cNvSpPr/>
          <p:nvPr/>
        </p:nvSpPr>
        <p:spPr>
          <a:xfrm>
            <a:off x="8018463" y="3344863"/>
            <a:ext cx="3333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X</a:t>
            </a:r>
            <a:endParaRPr/>
          </a:p>
        </p:txBody>
      </p:sp>
      <p:sp>
        <p:nvSpPr>
          <p:cNvPr id="573" name="Google Shape;573;p40"/>
          <p:cNvSpPr/>
          <p:nvPr/>
        </p:nvSpPr>
        <p:spPr>
          <a:xfrm>
            <a:off x="4816475" y="2208213"/>
            <a:ext cx="6381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P(X)</a:t>
            </a:r>
            <a:endParaRPr/>
          </a:p>
        </p:txBody>
      </p:sp>
      <p:cxnSp>
        <p:nvCxnSpPr>
          <p:cNvPr id="574" name="Google Shape;574;p40"/>
          <p:cNvCxnSpPr/>
          <p:nvPr/>
        </p:nvCxnSpPr>
        <p:spPr>
          <a:xfrm>
            <a:off x="5267325" y="5505450"/>
            <a:ext cx="2592388" cy="0"/>
          </a:xfrm>
          <a:prstGeom prst="straightConnector1">
            <a:avLst/>
          </a:prstGeom>
          <a:noFill/>
          <a:ln w="12700" cap="flat" cmpd="sng">
            <a:solidFill>
              <a:schemeClr val="folHlink"/>
            </a:solidFill>
            <a:prstDash val="solid"/>
            <a:round/>
            <a:headEnd type="none" w="med" len="med"/>
            <a:tailEnd type="none" w="med" len="med"/>
          </a:ln>
        </p:spPr>
      </p:cxnSp>
      <p:cxnSp>
        <p:nvCxnSpPr>
          <p:cNvPr id="575" name="Google Shape;575;p40"/>
          <p:cNvCxnSpPr/>
          <p:nvPr/>
        </p:nvCxnSpPr>
        <p:spPr>
          <a:xfrm>
            <a:off x="5267325" y="5200650"/>
            <a:ext cx="2592388" cy="0"/>
          </a:xfrm>
          <a:prstGeom prst="straightConnector1">
            <a:avLst/>
          </a:prstGeom>
          <a:noFill/>
          <a:ln w="12700" cap="flat" cmpd="sng">
            <a:solidFill>
              <a:schemeClr val="folHlink"/>
            </a:solidFill>
            <a:prstDash val="solid"/>
            <a:round/>
            <a:headEnd type="none" w="med" len="med"/>
            <a:tailEnd type="none" w="med" len="med"/>
          </a:ln>
        </p:spPr>
      </p:cxnSp>
      <p:cxnSp>
        <p:nvCxnSpPr>
          <p:cNvPr id="576" name="Google Shape;576;p40"/>
          <p:cNvCxnSpPr/>
          <p:nvPr/>
        </p:nvCxnSpPr>
        <p:spPr>
          <a:xfrm>
            <a:off x="5267325" y="4897438"/>
            <a:ext cx="2592388" cy="0"/>
          </a:xfrm>
          <a:prstGeom prst="straightConnector1">
            <a:avLst/>
          </a:prstGeom>
          <a:noFill/>
          <a:ln w="12700" cap="flat" cmpd="sng">
            <a:solidFill>
              <a:schemeClr val="folHlink"/>
            </a:solidFill>
            <a:prstDash val="solid"/>
            <a:round/>
            <a:headEnd type="none" w="med" len="med"/>
            <a:tailEnd type="none" w="med" len="med"/>
          </a:ln>
        </p:spPr>
      </p:cxnSp>
      <p:sp>
        <p:nvSpPr>
          <p:cNvPr id="577" name="Google Shape;577;p40"/>
          <p:cNvSpPr/>
          <p:nvPr/>
        </p:nvSpPr>
        <p:spPr>
          <a:xfrm>
            <a:off x="5084763" y="5761038"/>
            <a:ext cx="488950" cy="47625"/>
          </a:xfrm>
          <a:custGeom>
            <a:avLst/>
            <a:gdLst/>
            <a:ahLst/>
            <a:cxnLst/>
            <a:rect l="l" t="t" r="r" b="b"/>
            <a:pathLst>
              <a:path w="308" h="30" extrusionOk="0">
                <a:moveTo>
                  <a:pt x="0" y="0"/>
                </a:moveTo>
                <a:lnTo>
                  <a:pt x="307" y="0"/>
                </a:lnTo>
                <a:lnTo>
                  <a:pt x="307" y="29"/>
                </a:lnTo>
                <a:lnTo>
                  <a:pt x="0" y="29"/>
                </a:lnTo>
                <a:lnTo>
                  <a:pt x="0" y="0"/>
                </a:lnTo>
              </a:path>
            </a:pathLst>
          </a:custGeom>
          <a:solidFill>
            <a:srgbClr val="DC0081"/>
          </a:solidFill>
          <a:ln w="127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78" name="Google Shape;578;p40"/>
          <p:cNvSpPr/>
          <p:nvPr/>
        </p:nvSpPr>
        <p:spPr>
          <a:xfrm>
            <a:off x="5572125" y="5568950"/>
            <a:ext cx="487363" cy="239713"/>
          </a:xfrm>
          <a:custGeom>
            <a:avLst/>
            <a:gdLst/>
            <a:ahLst/>
            <a:cxnLst/>
            <a:rect l="l" t="t" r="r" b="b"/>
            <a:pathLst>
              <a:path w="307" h="151" extrusionOk="0">
                <a:moveTo>
                  <a:pt x="0" y="0"/>
                </a:moveTo>
                <a:lnTo>
                  <a:pt x="306" y="0"/>
                </a:lnTo>
                <a:lnTo>
                  <a:pt x="306" y="150"/>
                </a:lnTo>
                <a:lnTo>
                  <a:pt x="0" y="150"/>
                </a:lnTo>
                <a:lnTo>
                  <a:pt x="0" y="0"/>
                </a:lnTo>
              </a:path>
            </a:pathLst>
          </a:custGeom>
          <a:solidFill>
            <a:srgbClr val="DC0081"/>
          </a:solidFill>
          <a:ln w="127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79" name="Google Shape;579;p40"/>
          <p:cNvSpPr/>
          <p:nvPr/>
        </p:nvSpPr>
        <p:spPr>
          <a:xfrm>
            <a:off x="6057900" y="5334000"/>
            <a:ext cx="488950" cy="474663"/>
          </a:xfrm>
          <a:custGeom>
            <a:avLst/>
            <a:gdLst/>
            <a:ahLst/>
            <a:cxnLst/>
            <a:rect l="l" t="t" r="r" b="b"/>
            <a:pathLst>
              <a:path w="308" h="299" extrusionOk="0">
                <a:moveTo>
                  <a:pt x="0" y="0"/>
                </a:moveTo>
                <a:lnTo>
                  <a:pt x="307" y="0"/>
                </a:lnTo>
                <a:lnTo>
                  <a:pt x="307" y="298"/>
                </a:lnTo>
                <a:lnTo>
                  <a:pt x="0" y="298"/>
                </a:lnTo>
                <a:lnTo>
                  <a:pt x="0" y="0"/>
                </a:lnTo>
              </a:path>
            </a:pathLst>
          </a:custGeom>
          <a:solidFill>
            <a:srgbClr val="DC0081"/>
          </a:solidFill>
          <a:ln w="127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0" name="Google Shape;580;p40"/>
          <p:cNvSpPr/>
          <p:nvPr/>
        </p:nvSpPr>
        <p:spPr>
          <a:xfrm>
            <a:off x="6545263" y="5334000"/>
            <a:ext cx="490537" cy="474663"/>
          </a:xfrm>
          <a:custGeom>
            <a:avLst/>
            <a:gdLst/>
            <a:ahLst/>
            <a:cxnLst/>
            <a:rect l="l" t="t" r="r" b="b"/>
            <a:pathLst>
              <a:path w="309" h="299" extrusionOk="0">
                <a:moveTo>
                  <a:pt x="0" y="0"/>
                </a:moveTo>
                <a:lnTo>
                  <a:pt x="308" y="0"/>
                </a:lnTo>
                <a:lnTo>
                  <a:pt x="308" y="298"/>
                </a:lnTo>
                <a:lnTo>
                  <a:pt x="0" y="298"/>
                </a:lnTo>
                <a:lnTo>
                  <a:pt x="0" y="0"/>
                </a:lnTo>
              </a:path>
            </a:pathLst>
          </a:custGeom>
          <a:solidFill>
            <a:srgbClr val="DC0081"/>
          </a:solidFill>
          <a:ln w="127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1" name="Google Shape;581;p40"/>
          <p:cNvSpPr/>
          <p:nvPr/>
        </p:nvSpPr>
        <p:spPr>
          <a:xfrm>
            <a:off x="7034213" y="5568950"/>
            <a:ext cx="485775" cy="239713"/>
          </a:xfrm>
          <a:custGeom>
            <a:avLst/>
            <a:gdLst/>
            <a:ahLst/>
            <a:cxnLst/>
            <a:rect l="l" t="t" r="r" b="b"/>
            <a:pathLst>
              <a:path w="306" h="151" extrusionOk="0">
                <a:moveTo>
                  <a:pt x="0" y="0"/>
                </a:moveTo>
                <a:lnTo>
                  <a:pt x="305" y="0"/>
                </a:lnTo>
                <a:lnTo>
                  <a:pt x="305" y="150"/>
                </a:lnTo>
                <a:lnTo>
                  <a:pt x="0" y="150"/>
                </a:lnTo>
                <a:lnTo>
                  <a:pt x="0" y="0"/>
                </a:lnTo>
              </a:path>
            </a:pathLst>
          </a:custGeom>
          <a:solidFill>
            <a:srgbClr val="DC0081"/>
          </a:solidFill>
          <a:ln w="127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2" name="Google Shape;582;p40"/>
          <p:cNvSpPr/>
          <p:nvPr/>
        </p:nvSpPr>
        <p:spPr>
          <a:xfrm>
            <a:off x="7518400" y="5761038"/>
            <a:ext cx="488950" cy="47625"/>
          </a:xfrm>
          <a:custGeom>
            <a:avLst/>
            <a:gdLst/>
            <a:ahLst/>
            <a:cxnLst/>
            <a:rect l="l" t="t" r="r" b="b"/>
            <a:pathLst>
              <a:path w="308" h="30" extrusionOk="0">
                <a:moveTo>
                  <a:pt x="0" y="0"/>
                </a:moveTo>
                <a:lnTo>
                  <a:pt x="307" y="0"/>
                </a:lnTo>
                <a:lnTo>
                  <a:pt x="307" y="29"/>
                </a:lnTo>
                <a:lnTo>
                  <a:pt x="0" y="29"/>
                </a:lnTo>
                <a:lnTo>
                  <a:pt x="0" y="0"/>
                </a:lnTo>
              </a:path>
            </a:pathLst>
          </a:custGeom>
          <a:solidFill>
            <a:srgbClr val="DC0081"/>
          </a:solidFill>
          <a:ln w="127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583" name="Google Shape;583;p40"/>
          <p:cNvCxnSpPr/>
          <p:nvPr/>
        </p:nvCxnSpPr>
        <p:spPr>
          <a:xfrm>
            <a:off x="5084763" y="5080000"/>
            <a:ext cx="0" cy="581025"/>
          </a:xfrm>
          <a:prstGeom prst="straightConnector1">
            <a:avLst/>
          </a:prstGeom>
          <a:noFill/>
          <a:ln w="12700" cap="flat" cmpd="sng">
            <a:solidFill>
              <a:schemeClr val="folHlink"/>
            </a:solidFill>
            <a:prstDash val="solid"/>
            <a:round/>
            <a:headEnd type="none" w="med" len="med"/>
            <a:tailEnd type="none" w="med" len="med"/>
          </a:ln>
        </p:spPr>
      </p:cxnSp>
      <p:cxnSp>
        <p:nvCxnSpPr>
          <p:cNvPr id="584" name="Google Shape;584;p40"/>
          <p:cNvCxnSpPr/>
          <p:nvPr/>
        </p:nvCxnSpPr>
        <p:spPr>
          <a:xfrm>
            <a:off x="5051425" y="5807075"/>
            <a:ext cx="1588" cy="0"/>
          </a:xfrm>
          <a:prstGeom prst="straightConnector1">
            <a:avLst/>
          </a:prstGeom>
          <a:noFill/>
          <a:ln w="12700" cap="flat" cmpd="sng">
            <a:solidFill>
              <a:schemeClr val="folHlink"/>
            </a:solidFill>
            <a:prstDash val="solid"/>
            <a:round/>
            <a:headEnd type="none" w="med" len="med"/>
            <a:tailEnd type="none" w="med" len="med"/>
          </a:ln>
        </p:spPr>
      </p:cxnSp>
      <p:cxnSp>
        <p:nvCxnSpPr>
          <p:cNvPr id="585" name="Google Shape;585;p40"/>
          <p:cNvCxnSpPr/>
          <p:nvPr/>
        </p:nvCxnSpPr>
        <p:spPr>
          <a:xfrm>
            <a:off x="5051425" y="5505450"/>
            <a:ext cx="1588" cy="0"/>
          </a:xfrm>
          <a:prstGeom prst="straightConnector1">
            <a:avLst/>
          </a:prstGeom>
          <a:noFill/>
          <a:ln w="12700" cap="flat" cmpd="sng">
            <a:solidFill>
              <a:schemeClr val="folHlink"/>
            </a:solidFill>
            <a:prstDash val="solid"/>
            <a:round/>
            <a:headEnd type="none" w="med" len="med"/>
            <a:tailEnd type="none" w="med" len="med"/>
          </a:ln>
        </p:spPr>
      </p:cxnSp>
      <p:cxnSp>
        <p:nvCxnSpPr>
          <p:cNvPr id="586" name="Google Shape;586;p40"/>
          <p:cNvCxnSpPr/>
          <p:nvPr/>
        </p:nvCxnSpPr>
        <p:spPr>
          <a:xfrm>
            <a:off x="5051425" y="5200650"/>
            <a:ext cx="1588" cy="0"/>
          </a:xfrm>
          <a:prstGeom prst="straightConnector1">
            <a:avLst/>
          </a:prstGeom>
          <a:noFill/>
          <a:ln w="12700" cap="flat" cmpd="sng">
            <a:solidFill>
              <a:schemeClr val="folHlink"/>
            </a:solidFill>
            <a:prstDash val="solid"/>
            <a:round/>
            <a:headEnd type="none" w="med" len="med"/>
            <a:tailEnd type="none" w="med" len="med"/>
          </a:ln>
        </p:spPr>
      </p:cxnSp>
      <p:cxnSp>
        <p:nvCxnSpPr>
          <p:cNvPr id="587" name="Google Shape;587;p40"/>
          <p:cNvCxnSpPr/>
          <p:nvPr/>
        </p:nvCxnSpPr>
        <p:spPr>
          <a:xfrm>
            <a:off x="5051425" y="4897438"/>
            <a:ext cx="1588" cy="0"/>
          </a:xfrm>
          <a:prstGeom prst="straightConnector1">
            <a:avLst/>
          </a:prstGeom>
          <a:noFill/>
          <a:ln w="12700" cap="flat" cmpd="sng">
            <a:solidFill>
              <a:schemeClr val="folHlink"/>
            </a:solidFill>
            <a:prstDash val="solid"/>
            <a:round/>
            <a:headEnd type="none" w="med" len="med"/>
            <a:tailEnd type="none" w="med" len="med"/>
          </a:ln>
        </p:spPr>
      </p:cxnSp>
      <p:cxnSp>
        <p:nvCxnSpPr>
          <p:cNvPr id="588" name="Google Shape;588;p40"/>
          <p:cNvCxnSpPr/>
          <p:nvPr/>
        </p:nvCxnSpPr>
        <p:spPr>
          <a:xfrm>
            <a:off x="5267325" y="5807075"/>
            <a:ext cx="2592388" cy="0"/>
          </a:xfrm>
          <a:prstGeom prst="straightConnector1">
            <a:avLst/>
          </a:prstGeom>
          <a:noFill/>
          <a:ln w="12700" cap="flat" cmpd="sng">
            <a:solidFill>
              <a:schemeClr val="folHlink"/>
            </a:solidFill>
            <a:prstDash val="solid"/>
            <a:round/>
            <a:headEnd type="none" w="med" len="med"/>
            <a:tailEnd type="none" w="med" len="med"/>
          </a:ln>
        </p:spPr>
      </p:cxnSp>
      <p:cxnSp>
        <p:nvCxnSpPr>
          <p:cNvPr id="589" name="Google Shape;589;p40"/>
          <p:cNvCxnSpPr/>
          <p:nvPr/>
        </p:nvCxnSpPr>
        <p:spPr>
          <a:xfrm rot="10800000">
            <a:off x="5084763" y="5680075"/>
            <a:ext cx="0" cy="328613"/>
          </a:xfrm>
          <a:prstGeom prst="straightConnector1">
            <a:avLst/>
          </a:prstGeom>
          <a:noFill/>
          <a:ln w="12700" cap="flat" cmpd="sng">
            <a:solidFill>
              <a:schemeClr val="folHlink"/>
            </a:solidFill>
            <a:prstDash val="solid"/>
            <a:round/>
            <a:headEnd type="none" w="med" len="med"/>
            <a:tailEnd type="none" w="med" len="med"/>
          </a:ln>
        </p:spPr>
      </p:cxnSp>
      <p:cxnSp>
        <p:nvCxnSpPr>
          <p:cNvPr id="590" name="Google Shape;590;p40"/>
          <p:cNvCxnSpPr/>
          <p:nvPr/>
        </p:nvCxnSpPr>
        <p:spPr>
          <a:xfrm rot="10800000">
            <a:off x="5572125" y="5680075"/>
            <a:ext cx="0" cy="328613"/>
          </a:xfrm>
          <a:prstGeom prst="straightConnector1">
            <a:avLst/>
          </a:prstGeom>
          <a:noFill/>
          <a:ln w="12700" cap="flat" cmpd="sng">
            <a:solidFill>
              <a:schemeClr val="folHlink"/>
            </a:solidFill>
            <a:prstDash val="solid"/>
            <a:round/>
            <a:headEnd type="none" w="med" len="med"/>
            <a:tailEnd type="none" w="med" len="med"/>
          </a:ln>
        </p:spPr>
      </p:cxnSp>
      <p:cxnSp>
        <p:nvCxnSpPr>
          <p:cNvPr id="591" name="Google Shape;591;p40"/>
          <p:cNvCxnSpPr/>
          <p:nvPr/>
        </p:nvCxnSpPr>
        <p:spPr>
          <a:xfrm rot="10800000">
            <a:off x="6057900" y="5680075"/>
            <a:ext cx="0" cy="328613"/>
          </a:xfrm>
          <a:prstGeom prst="straightConnector1">
            <a:avLst/>
          </a:prstGeom>
          <a:noFill/>
          <a:ln w="12700" cap="flat" cmpd="sng">
            <a:solidFill>
              <a:schemeClr val="folHlink"/>
            </a:solidFill>
            <a:prstDash val="solid"/>
            <a:round/>
            <a:headEnd type="none" w="med" len="med"/>
            <a:tailEnd type="none" w="med" len="med"/>
          </a:ln>
        </p:spPr>
      </p:cxnSp>
      <p:cxnSp>
        <p:nvCxnSpPr>
          <p:cNvPr id="592" name="Google Shape;592;p40"/>
          <p:cNvCxnSpPr/>
          <p:nvPr/>
        </p:nvCxnSpPr>
        <p:spPr>
          <a:xfrm rot="10800000">
            <a:off x="6545263" y="5680075"/>
            <a:ext cx="0" cy="328613"/>
          </a:xfrm>
          <a:prstGeom prst="straightConnector1">
            <a:avLst/>
          </a:prstGeom>
          <a:noFill/>
          <a:ln w="12700" cap="flat" cmpd="sng">
            <a:solidFill>
              <a:schemeClr val="folHlink"/>
            </a:solidFill>
            <a:prstDash val="solid"/>
            <a:round/>
            <a:headEnd type="none" w="med" len="med"/>
            <a:tailEnd type="none" w="med" len="med"/>
          </a:ln>
        </p:spPr>
      </p:cxnSp>
      <p:cxnSp>
        <p:nvCxnSpPr>
          <p:cNvPr id="593" name="Google Shape;593;p40"/>
          <p:cNvCxnSpPr/>
          <p:nvPr/>
        </p:nvCxnSpPr>
        <p:spPr>
          <a:xfrm rot="10800000">
            <a:off x="7034213" y="5680075"/>
            <a:ext cx="0" cy="328613"/>
          </a:xfrm>
          <a:prstGeom prst="straightConnector1">
            <a:avLst/>
          </a:prstGeom>
          <a:noFill/>
          <a:ln w="12700" cap="flat" cmpd="sng">
            <a:solidFill>
              <a:schemeClr val="folHlink"/>
            </a:solidFill>
            <a:prstDash val="solid"/>
            <a:round/>
            <a:headEnd type="none" w="med" len="med"/>
            <a:tailEnd type="none" w="med" len="med"/>
          </a:ln>
        </p:spPr>
      </p:cxnSp>
      <p:cxnSp>
        <p:nvCxnSpPr>
          <p:cNvPr id="594" name="Google Shape;594;p40"/>
          <p:cNvCxnSpPr/>
          <p:nvPr/>
        </p:nvCxnSpPr>
        <p:spPr>
          <a:xfrm rot="10800000">
            <a:off x="7518400" y="5680075"/>
            <a:ext cx="0" cy="328613"/>
          </a:xfrm>
          <a:prstGeom prst="straightConnector1">
            <a:avLst/>
          </a:prstGeom>
          <a:noFill/>
          <a:ln w="12700" cap="flat" cmpd="sng">
            <a:solidFill>
              <a:schemeClr val="folHlink"/>
            </a:solidFill>
            <a:prstDash val="solid"/>
            <a:round/>
            <a:headEnd type="none" w="med" len="med"/>
            <a:tailEnd type="none" w="med" len="med"/>
          </a:ln>
        </p:spPr>
      </p:cxnSp>
      <p:cxnSp>
        <p:nvCxnSpPr>
          <p:cNvPr id="595" name="Google Shape;595;p40"/>
          <p:cNvCxnSpPr/>
          <p:nvPr/>
        </p:nvCxnSpPr>
        <p:spPr>
          <a:xfrm rot="10800000">
            <a:off x="8005763" y="5680075"/>
            <a:ext cx="0" cy="328613"/>
          </a:xfrm>
          <a:prstGeom prst="straightConnector1">
            <a:avLst/>
          </a:prstGeom>
          <a:noFill/>
          <a:ln w="12700" cap="flat" cmpd="sng">
            <a:solidFill>
              <a:schemeClr val="folHlink"/>
            </a:solidFill>
            <a:prstDash val="solid"/>
            <a:round/>
            <a:headEnd type="none" w="med" len="med"/>
            <a:tailEnd type="none" w="med" len="med"/>
          </a:ln>
        </p:spPr>
      </p:cxnSp>
      <p:sp>
        <p:nvSpPr>
          <p:cNvPr id="596" name="Google Shape;596;p40"/>
          <p:cNvSpPr/>
          <p:nvPr/>
        </p:nvSpPr>
        <p:spPr>
          <a:xfrm>
            <a:off x="4622800" y="5329238"/>
            <a:ext cx="3714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.2</a:t>
            </a:r>
            <a:endParaRPr/>
          </a:p>
        </p:txBody>
      </p:sp>
      <p:sp>
        <p:nvSpPr>
          <p:cNvPr id="597" name="Google Shape;597;p40"/>
          <p:cNvSpPr/>
          <p:nvPr/>
        </p:nvSpPr>
        <p:spPr>
          <a:xfrm>
            <a:off x="4622800" y="5024438"/>
            <a:ext cx="3714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.4</a:t>
            </a:r>
            <a:endParaRPr/>
          </a:p>
        </p:txBody>
      </p:sp>
      <p:sp>
        <p:nvSpPr>
          <p:cNvPr id="598" name="Google Shape;598;p40"/>
          <p:cNvSpPr/>
          <p:nvPr/>
        </p:nvSpPr>
        <p:spPr>
          <a:xfrm>
            <a:off x="4622800" y="4722813"/>
            <a:ext cx="3714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.6</a:t>
            </a:r>
            <a:endParaRPr/>
          </a:p>
        </p:txBody>
      </p:sp>
      <p:sp>
        <p:nvSpPr>
          <p:cNvPr id="599" name="Google Shape;599;p40"/>
          <p:cNvSpPr/>
          <p:nvPr/>
        </p:nvSpPr>
        <p:spPr>
          <a:xfrm>
            <a:off x="5173663" y="5975350"/>
            <a:ext cx="3079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0</a:t>
            </a:r>
            <a:endParaRPr/>
          </a:p>
        </p:txBody>
      </p:sp>
      <p:sp>
        <p:nvSpPr>
          <p:cNvPr id="600" name="Google Shape;600;p40"/>
          <p:cNvSpPr/>
          <p:nvPr/>
        </p:nvSpPr>
        <p:spPr>
          <a:xfrm>
            <a:off x="5662613" y="5975350"/>
            <a:ext cx="3079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1</a:t>
            </a:r>
            <a:endParaRPr/>
          </a:p>
        </p:txBody>
      </p:sp>
      <p:sp>
        <p:nvSpPr>
          <p:cNvPr id="601" name="Google Shape;601;p40"/>
          <p:cNvSpPr/>
          <p:nvPr/>
        </p:nvSpPr>
        <p:spPr>
          <a:xfrm>
            <a:off x="6146800" y="5975350"/>
            <a:ext cx="3079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2</a:t>
            </a:r>
            <a:endParaRPr/>
          </a:p>
        </p:txBody>
      </p:sp>
      <p:sp>
        <p:nvSpPr>
          <p:cNvPr id="602" name="Google Shape;602;p40"/>
          <p:cNvSpPr/>
          <p:nvPr/>
        </p:nvSpPr>
        <p:spPr>
          <a:xfrm>
            <a:off x="6635750" y="5975350"/>
            <a:ext cx="3079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3</a:t>
            </a:r>
            <a:endParaRPr/>
          </a:p>
        </p:txBody>
      </p:sp>
      <p:sp>
        <p:nvSpPr>
          <p:cNvPr id="603" name="Google Shape;603;p40"/>
          <p:cNvSpPr/>
          <p:nvPr/>
        </p:nvSpPr>
        <p:spPr>
          <a:xfrm>
            <a:off x="7123113" y="5975350"/>
            <a:ext cx="3079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4</a:t>
            </a:r>
            <a:endParaRPr/>
          </a:p>
        </p:txBody>
      </p:sp>
      <p:sp>
        <p:nvSpPr>
          <p:cNvPr id="604" name="Google Shape;604;p40"/>
          <p:cNvSpPr/>
          <p:nvPr/>
        </p:nvSpPr>
        <p:spPr>
          <a:xfrm>
            <a:off x="7607300" y="5975350"/>
            <a:ext cx="3079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5</a:t>
            </a:r>
            <a:endParaRPr/>
          </a:p>
        </p:txBody>
      </p:sp>
      <p:sp>
        <p:nvSpPr>
          <p:cNvPr id="605" name="Google Shape;605;p40"/>
          <p:cNvSpPr/>
          <p:nvPr/>
        </p:nvSpPr>
        <p:spPr>
          <a:xfrm>
            <a:off x="8020050" y="5630863"/>
            <a:ext cx="3333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X</a:t>
            </a:r>
            <a:endParaRPr/>
          </a:p>
        </p:txBody>
      </p:sp>
      <p:sp>
        <p:nvSpPr>
          <p:cNvPr id="606" name="Google Shape;606;p40"/>
          <p:cNvSpPr/>
          <p:nvPr/>
        </p:nvSpPr>
        <p:spPr>
          <a:xfrm>
            <a:off x="4829175" y="4494213"/>
            <a:ext cx="6381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P(X)</a:t>
            </a:r>
            <a:endParaRPr/>
          </a:p>
        </p:txBody>
      </p:sp>
      <p:sp>
        <p:nvSpPr>
          <p:cNvPr id="607" name="Google Shape;607;p40"/>
          <p:cNvSpPr/>
          <p:nvPr/>
        </p:nvSpPr>
        <p:spPr>
          <a:xfrm>
            <a:off x="4676775" y="5648325"/>
            <a:ext cx="3079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0</a:t>
            </a:r>
            <a:endParaRPr/>
          </a:p>
        </p:txBody>
      </p:sp>
      <p:sp>
        <p:nvSpPr>
          <p:cNvPr id="608" name="Google Shape;608;p40"/>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Binomial Distribution</a:t>
            </a:r>
            <a:endParaRPr/>
          </a:p>
        </p:txBody>
      </p:sp>
      <p:sp>
        <p:nvSpPr>
          <p:cNvPr id="609" name="Google Shape;609;p40"/>
          <p:cNvSpPr txBox="1"/>
          <p:nvPr/>
        </p:nvSpPr>
        <p:spPr>
          <a:xfrm>
            <a:off x="1066800" y="1600200"/>
            <a:ext cx="7696200" cy="10048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ctr" rtl="0">
              <a:spcBef>
                <a:spcPts val="1200"/>
              </a:spcBef>
              <a:spcAft>
                <a:spcPts val="0"/>
              </a:spcAft>
              <a:buNone/>
            </a:pPr>
            <a:endParaRPr sz="2400">
              <a:solidFill>
                <a:schemeClr val="dk1"/>
              </a:solidFill>
              <a:latin typeface="Arial"/>
              <a:ea typeface="Arial"/>
              <a:cs typeface="Arial"/>
              <a:sym typeface="Arial"/>
            </a:endParaRPr>
          </a:p>
        </p:txBody>
      </p:sp>
      <p:sp>
        <p:nvSpPr>
          <p:cNvPr id="610" name="Google Shape;610;p40"/>
          <p:cNvSpPr txBox="1">
            <a:spLocks noGrp="1"/>
          </p:cNvSpPr>
          <p:nvPr>
            <p:ph type="body" idx="1"/>
          </p:nvPr>
        </p:nvSpPr>
        <p:spPr>
          <a:xfrm>
            <a:off x="762000" y="1600200"/>
            <a:ext cx="7848600" cy="838200"/>
          </a:xfrm>
          <a:prstGeom prst="rect">
            <a:avLst/>
          </a:prstGeom>
          <a:noFill/>
          <a:ln>
            <a:noFill/>
          </a:ln>
        </p:spPr>
        <p:txBody>
          <a:bodyPr spcFirstLastPara="1" wrap="square" lIns="85325" tIns="42650" rIns="85325" bIns="42650" anchor="t" anchorCtr="0">
            <a:noAutofit/>
          </a:bodyPr>
          <a:lstStyle/>
          <a:p>
            <a:pPr marL="320675" lvl="0" indent="-320675" algn="l" rtl="0">
              <a:spcBef>
                <a:spcPts val="0"/>
              </a:spcBef>
              <a:spcAft>
                <a:spcPts val="0"/>
              </a:spcAft>
              <a:buSzPts val="1440"/>
              <a:buChar char="■"/>
            </a:pPr>
            <a:r>
              <a:rPr lang="en-US" sz="2400"/>
              <a:t>The shape of the binomial distribution depends on the values of p and n</a:t>
            </a:r>
            <a:endParaRPr/>
          </a:p>
        </p:txBody>
      </p:sp>
      <p:sp>
        <p:nvSpPr>
          <p:cNvPr id="611" name="Google Shape;611;p40"/>
          <p:cNvSpPr/>
          <p:nvPr/>
        </p:nvSpPr>
        <p:spPr>
          <a:xfrm>
            <a:off x="457200" y="3124200"/>
            <a:ext cx="3962400" cy="609600"/>
          </a:xfrm>
          <a:prstGeom prst="rect">
            <a:avLst/>
          </a:prstGeom>
          <a:noFill/>
          <a:ln>
            <a:noFill/>
          </a:ln>
        </p:spPr>
        <p:txBody>
          <a:bodyPr spcFirstLastPara="1" wrap="square" lIns="85325" tIns="42650" rIns="85325" bIns="42650" anchor="t" anchorCtr="0">
            <a:noAutofit/>
          </a:bodyPr>
          <a:lstStyle/>
          <a:p>
            <a:pPr marL="693738" marR="0" lvl="1" indent="-268288" algn="l" rtl="0">
              <a:spcBef>
                <a:spcPts val="0"/>
              </a:spcBef>
              <a:spcAft>
                <a:spcPts val="0"/>
              </a:spcAft>
              <a:buClr>
                <a:schemeClr val="hlink"/>
              </a:buClr>
              <a:buSzPts val="1210"/>
              <a:buFont typeface="Noto Sans Symbols"/>
              <a:buChar char="■"/>
            </a:pPr>
            <a:r>
              <a:rPr lang="en-US" sz="2200" b="0" i="0" u="none" strike="noStrike" cap="none">
                <a:solidFill>
                  <a:schemeClr val="dk1"/>
                </a:solidFill>
                <a:latin typeface="Arial"/>
                <a:ea typeface="Arial"/>
                <a:cs typeface="Arial"/>
                <a:sym typeface="Arial"/>
              </a:rPr>
              <a:t>Here, n = 5 and p = .1</a:t>
            </a:r>
            <a:endParaRPr/>
          </a:p>
        </p:txBody>
      </p:sp>
      <p:sp>
        <p:nvSpPr>
          <p:cNvPr id="612" name="Google Shape;612;p40"/>
          <p:cNvSpPr/>
          <p:nvPr/>
        </p:nvSpPr>
        <p:spPr>
          <a:xfrm>
            <a:off x="457200" y="5257800"/>
            <a:ext cx="3962400" cy="609600"/>
          </a:xfrm>
          <a:prstGeom prst="rect">
            <a:avLst/>
          </a:prstGeom>
          <a:noFill/>
          <a:ln>
            <a:noFill/>
          </a:ln>
        </p:spPr>
        <p:txBody>
          <a:bodyPr spcFirstLastPara="1" wrap="square" lIns="85325" tIns="42650" rIns="85325" bIns="42650" anchor="t" anchorCtr="0">
            <a:noAutofit/>
          </a:bodyPr>
          <a:lstStyle/>
          <a:p>
            <a:pPr marL="693738" marR="0" lvl="1" indent="-268288" algn="l" rtl="0">
              <a:spcBef>
                <a:spcPts val="0"/>
              </a:spcBef>
              <a:spcAft>
                <a:spcPts val="0"/>
              </a:spcAft>
              <a:buClr>
                <a:schemeClr val="hlink"/>
              </a:buClr>
              <a:buSzPts val="1210"/>
              <a:buFont typeface="Noto Sans Symbols"/>
              <a:buChar char="■"/>
            </a:pPr>
            <a:r>
              <a:rPr lang="en-US" sz="2200" b="0" i="0" u="none" strike="noStrike" cap="none">
                <a:solidFill>
                  <a:schemeClr val="dk1"/>
                </a:solidFill>
                <a:latin typeface="Arial"/>
                <a:ea typeface="Arial"/>
                <a:cs typeface="Arial"/>
                <a:sym typeface="Arial"/>
              </a:rPr>
              <a:t>Here, n = 5 and p = .5</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41"/>
          <p:cNvSpPr txBox="1">
            <a:spLocks noGrp="1"/>
          </p:cNvSpPr>
          <p:nvPr>
            <p:ph type="title"/>
          </p:nvPr>
        </p:nvSpPr>
        <p:spPr>
          <a:xfrm>
            <a:off x="990600" y="152400"/>
            <a:ext cx="7793038" cy="1143000"/>
          </a:xfrm>
          <a:prstGeom prst="rect">
            <a:avLst/>
          </a:prstGeom>
          <a:noFill/>
          <a:ln>
            <a:noFill/>
          </a:ln>
        </p:spPr>
        <p:txBody>
          <a:bodyPr spcFirstLastPara="1" wrap="square" lIns="85325" tIns="42650" rIns="85325" bIns="42650" anchor="b" anchorCtr="0">
            <a:noAutofit/>
          </a:bodyPr>
          <a:lstStyle/>
          <a:p>
            <a:pPr marL="0" lvl="0" indent="0" algn="ctr" rtl="0">
              <a:lnSpc>
                <a:spcPct val="80000"/>
              </a:lnSpc>
              <a:spcBef>
                <a:spcPts val="0"/>
              </a:spcBef>
              <a:spcAft>
                <a:spcPts val="0"/>
              </a:spcAft>
              <a:buNone/>
            </a:pPr>
            <a:r>
              <a:rPr lang="en-US"/>
              <a:t>Binomial Distribution Characteristics</a:t>
            </a:r>
            <a:endParaRPr/>
          </a:p>
        </p:txBody>
      </p:sp>
      <p:sp>
        <p:nvSpPr>
          <p:cNvPr id="618" name="Google Shape;618;p41"/>
          <p:cNvSpPr txBox="1">
            <a:spLocks noGrp="1"/>
          </p:cNvSpPr>
          <p:nvPr>
            <p:ph type="body" idx="1"/>
          </p:nvPr>
        </p:nvSpPr>
        <p:spPr>
          <a:xfrm>
            <a:off x="1066800" y="1676400"/>
            <a:ext cx="1828800" cy="762000"/>
          </a:xfrm>
          <a:prstGeom prst="rect">
            <a:avLst/>
          </a:prstGeom>
          <a:noFill/>
          <a:ln>
            <a:noFill/>
          </a:ln>
        </p:spPr>
        <p:txBody>
          <a:bodyPr spcFirstLastPara="1" wrap="square" lIns="85325" tIns="42650" rIns="85325" bIns="42650" anchor="t" anchorCtr="0">
            <a:noAutofit/>
          </a:bodyPr>
          <a:lstStyle/>
          <a:p>
            <a:pPr marL="320675" lvl="0" indent="-320675" algn="l" rtl="0">
              <a:spcBef>
                <a:spcPts val="0"/>
              </a:spcBef>
              <a:spcAft>
                <a:spcPts val="0"/>
              </a:spcAft>
              <a:buSzPts val="1680"/>
              <a:buChar char="■"/>
            </a:pPr>
            <a:r>
              <a:rPr lang="en-US"/>
              <a:t>Mean</a:t>
            </a:r>
            <a:endParaRPr/>
          </a:p>
          <a:p>
            <a:pPr marL="693738" lvl="1" indent="-268288" algn="l" rtl="0">
              <a:spcBef>
                <a:spcPts val="480"/>
              </a:spcBef>
              <a:spcAft>
                <a:spcPts val="0"/>
              </a:spcAft>
              <a:buSzPts val="1320"/>
              <a:buFont typeface="Noto Sans Symbols"/>
              <a:buNone/>
            </a:pPr>
            <a:endParaRPr/>
          </a:p>
        </p:txBody>
      </p:sp>
      <p:sp>
        <p:nvSpPr>
          <p:cNvPr id="619" name="Google Shape;619;p41"/>
          <p:cNvSpPr/>
          <p:nvPr/>
        </p:nvSpPr>
        <p:spPr>
          <a:xfrm>
            <a:off x="914400" y="2971800"/>
            <a:ext cx="5943600" cy="685800"/>
          </a:xfrm>
          <a:prstGeom prst="rect">
            <a:avLst/>
          </a:prstGeom>
          <a:noFill/>
          <a:ln>
            <a:noFill/>
          </a:ln>
        </p:spPr>
        <p:txBody>
          <a:bodyPr spcFirstLastPara="1" wrap="square" lIns="85325" tIns="42650" rIns="85325" bIns="42650" anchor="t" anchorCtr="0">
            <a:noAutofit/>
          </a:bodyPr>
          <a:lstStyle/>
          <a:p>
            <a:pPr marL="320675" marR="0" lvl="0" indent="-320675" algn="l" rtl="0">
              <a:spcBef>
                <a:spcPts val="0"/>
              </a:spcBef>
              <a:spcAft>
                <a:spcPts val="0"/>
              </a:spcAft>
              <a:buClr>
                <a:schemeClr val="folHlink"/>
              </a:buClr>
              <a:buSzPts val="1680"/>
              <a:buFont typeface="Noto Sans Symbols"/>
              <a:buChar char="■"/>
            </a:pPr>
            <a:r>
              <a:rPr lang="en-US" sz="2800">
                <a:solidFill>
                  <a:schemeClr val="dk1"/>
                </a:solidFill>
                <a:latin typeface="Arial"/>
                <a:ea typeface="Arial"/>
                <a:cs typeface="Arial"/>
                <a:sym typeface="Arial"/>
              </a:rPr>
              <a:t>Variance and Standard Deviation</a:t>
            </a:r>
            <a:endParaRPr/>
          </a:p>
        </p:txBody>
      </p:sp>
      <p:pic>
        <p:nvPicPr>
          <p:cNvPr id="620" name="Google Shape;620;p41"/>
          <p:cNvPicPr preferRelativeResize="0"/>
          <p:nvPr/>
        </p:nvPicPr>
        <p:blipFill rotWithShape="1">
          <a:blip r:embed="rId3">
            <a:alphaModFix/>
          </a:blip>
          <a:srcRect/>
          <a:stretch/>
        </p:blipFill>
        <p:spPr>
          <a:xfrm>
            <a:off x="3240088" y="2133600"/>
            <a:ext cx="2740025" cy="635000"/>
          </a:xfrm>
          <a:prstGeom prst="rect">
            <a:avLst/>
          </a:prstGeom>
          <a:solidFill>
            <a:srgbClr val="FFFFCD"/>
          </a:solidFill>
          <a:ln w="9525" cap="flat" cmpd="sng">
            <a:solidFill>
              <a:schemeClr val="dk1"/>
            </a:solidFill>
            <a:prstDash val="solid"/>
            <a:miter lim="800000"/>
            <a:headEnd type="none" w="sm" len="sm"/>
            <a:tailEnd type="none" w="sm" len="sm"/>
          </a:ln>
        </p:spPr>
      </p:pic>
      <p:pic>
        <p:nvPicPr>
          <p:cNvPr id="621" name="Google Shape;621;p41"/>
          <p:cNvPicPr preferRelativeResize="0"/>
          <p:nvPr/>
        </p:nvPicPr>
        <p:blipFill rotWithShape="1">
          <a:blip r:embed="rId4">
            <a:alphaModFix/>
          </a:blip>
          <a:srcRect/>
          <a:stretch/>
        </p:blipFill>
        <p:spPr>
          <a:xfrm>
            <a:off x="3792538" y="3657600"/>
            <a:ext cx="1738312" cy="638175"/>
          </a:xfrm>
          <a:prstGeom prst="rect">
            <a:avLst/>
          </a:prstGeom>
          <a:solidFill>
            <a:srgbClr val="FFFFCD"/>
          </a:solidFill>
          <a:ln w="9525" cap="flat" cmpd="sng">
            <a:solidFill>
              <a:schemeClr val="dk1"/>
            </a:solidFill>
            <a:prstDash val="solid"/>
            <a:miter lim="800000"/>
            <a:headEnd type="none" w="sm" len="sm"/>
            <a:tailEnd type="none" w="sm" len="sm"/>
          </a:ln>
        </p:spPr>
      </p:pic>
      <p:pic>
        <p:nvPicPr>
          <p:cNvPr id="622" name="Google Shape;622;p41"/>
          <p:cNvPicPr preferRelativeResize="0"/>
          <p:nvPr/>
        </p:nvPicPr>
        <p:blipFill rotWithShape="1">
          <a:blip r:embed="rId5">
            <a:alphaModFix/>
          </a:blip>
          <a:srcRect/>
          <a:stretch/>
        </p:blipFill>
        <p:spPr>
          <a:xfrm>
            <a:off x="3810000" y="4419600"/>
            <a:ext cx="1844675" cy="708025"/>
          </a:xfrm>
          <a:prstGeom prst="rect">
            <a:avLst/>
          </a:prstGeom>
          <a:solidFill>
            <a:srgbClr val="FFFFCD"/>
          </a:solidFill>
          <a:ln w="9525" cap="flat" cmpd="sng">
            <a:solidFill>
              <a:schemeClr val="dk1"/>
            </a:solidFill>
            <a:prstDash val="solid"/>
            <a:miter lim="800000"/>
            <a:headEnd type="none" w="sm" len="sm"/>
            <a:tailEnd type="none" w="sm" len="sm"/>
          </a:ln>
        </p:spPr>
      </p:pic>
      <p:sp>
        <p:nvSpPr>
          <p:cNvPr id="623" name="Google Shape;623;p41"/>
          <p:cNvSpPr/>
          <p:nvPr/>
        </p:nvSpPr>
        <p:spPr>
          <a:xfrm>
            <a:off x="1066800" y="5334000"/>
            <a:ext cx="5105400" cy="1143000"/>
          </a:xfrm>
          <a:prstGeom prst="rect">
            <a:avLst/>
          </a:prstGeom>
          <a:noFill/>
          <a:ln>
            <a:noFill/>
          </a:ln>
        </p:spPr>
        <p:txBody>
          <a:bodyPr spcFirstLastPara="1" wrap="square" lIns="85325" tIns="42650" rIns="85325" bIns="42650" anchor="t" anchorCtr="0">
            <a:noAutofit/>
          </a:bodyPr>
          <a:lstStyle/>
          <a:p>
            <a:pPr marL="320675" marR="0" lvl="0" indent="-320675" algn="l" rtl="0">
              <a:spcBef>
                <a:spcPts val="0"/>
              </a:spcBef>
              <a:spcAft>
                <a:spcPts val="0"/>
              </a:spcAft>
              <a:buClr>
                <a:schemeClr val="folHlink"/>
              </a:buClr>
              <a:buSzPts val="1020"/>
              <a:buFont typeface="Noto Sans Symbols"/>
              <a:buNone/>
            </a:pPr>
            <a:r>
              <a:rPr lang="en-US" sz="1700">
                <a:solidFill>
                  <a:schemeClr val="dk1"/>
                </a:solidFill>
                <a:latin typeface="Arial"/>
                <a:ea typeface="Arial"/>
                <a:cs typeface="Arial"/>
                <a:sym typeface="Arial"/>
              </a:rPr>
              <a:t>Where	n = sample size</a:t>
            </a:r>
            <a:endParaRPr/>
          </a:p>
          <a:p>
            <a:pPr marL="320675" marR="0" lvl="0" indent="-320675" algn="l" rtl="0">
              <a:spcBef>
                <a:spcPts val="340"/>
              </a:spcBef>
              <a:spcAft>
                <a:spcPts val="0"/>
              </a:spcAft>
              <a:buClr>
                <a:schemeClr val="folHlink"/>
              </a:buClr>
              <a:buSzPts val="1020"/>
              <a:buFont typeface="Noto Sans Symbols"/>
              <a:buNone/>
            </a:pPr>
            <a:r>
              <a:rPr lang="en-US" sz="1700">
                <a:solidFill>
                  <a:schemeClr val="dk1"/>
                </a:solidFill>
                <a:latin typeface="Arial"/>
                <a:ea typeface="Arial"/>
                <a:cs typeface="Arial"/>
                <a:sym typeface="Arial"/>
              </a:rPr>
              <a:t>		p = probability of success</a:t>
            </a:r>
            <a:endParaRPr/>
          </a:p>
          <a:p>
            <a:pPr marL="320675" marR="0" lvl="0" indent="-320675" algn="l" rtl="0">
              <a:spcBef>
                <a:spcPts val="340"/>
              </a:spcBef>
              <a:spcAft>
                <a:spcPts val="0"/>
              </a:spcAft>
              <a:buClr>
                <a:schemeClr val="folHlink"/>
              </a:buClr>
              <a:buSzPts val="1020"/>
              <a:buFont typeface="Noto Sans Symbols"/>
              <a:buNone/>
            </a:pPr>
            <a:r>
              <a:rPr lang="en-US" sz="1700">
                <a:solidFill>
                  <a:schemeClr val="dk1"/>
                </a:solidFill>
                <a:latin typeface="Arial"/>
                <a:ea typeface="Arial"/>
                <a:cs typeface="Arial"/>
                <a:sym typeface="Arial"/>
              </a:rPr>
              <a:t>		q = (1 – p) = probability of failure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42"/>
          <p:cNvSpPr/>
          <p:nvPr/>
        </p:nvSpPr>
        <p:spPr>
          <a:xfrm>
            <a:off x="4610100" y="4384675"/>
            <a:ext cx="3841750" cy="1981200"/>
          </a:xfrm>
          <a:prstGeom prst="rect">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629" name="Google Shape;629;p42"/>
          <p:cNvSpPr/>
          <p:nvPr/>
        </p:nvSpPr>
        <p:spPr>
          <a:xfrm>
            <a:off x="4610100" y="2084388"/>
            <a:ext cx="3841750" cy="1981200"/>
          </a:xfrm>
          <a:prstGeom prst="rect">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630" name="Google Shape;630;p42"/>
          <p:cNvSpPr/>
          <p:nvPr/>
        </p:nvSpPr>
        <p:spPr>
          <a:xfrm>
            <a:off x="5411788" y="2135188"/>
            <a:ext cx="2663825" cy="515937"/>
          </a:xfrm>
          <a:prstGeom prst="rect">
            <a:avLst/>
          </a:prstGeom>
          <a:noFill/>
          <a:ln>
            <a:noFill/>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800">
                <a:solidFill>
                  <a:schemeClr val="dk1"/>
                </a:solidFill>
                <a:latin typeface="Arial"/>
                <a:ea typeface="Arial"/>
                <a:cs typeface="Arial"/>
                <a:sym typeface="Arial"/>
              </a:rPr>
              <a:t>n = 5  p = 0.1</a:t>
            </a:r>
            <a:endParaRPr/>
          </a:p>
        </p:txBody>
      </p:sp>
      <p:sp>
        <p:nvSpPr>
          <p:cNvPr id="631" name="Google Shape;631;p42"/>
          <p:cNvSpPr/>
          <p:nvPr/>
        </p:nvSpPr>
        <p:spPr>
          <a:xfrm>
            <a:off x="5411788" y="4421188"/>
            <a:ext cx="2663825" cy="515937"/>
          </a:xfrm>
          <a:prstGeom prst="rect">
            <a:avLst/>
          </a:prstGeom>
          <a:noFill/>
          <a:ln>
            <a:noFill/>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800">
                <a:solidFill>
                  <a:schemeClr val="dk1"/>
                </a:solidFill>
                <a:latin typeface="Arial"/>
                <a:ea typeface="Arial"/>
                <a:cs typeface="Arial"/>
                <a:sym typeface="Arial"/>
              </a:rPr>
              <a:t>n = 5  p = 0.5</a:t>
            </a:r>
            <a:endParaRPr/>
          </a:p>
        </p:txBody>
      </p:sp>
      <p:sp>
        <p:nvSpPr>
          <p:cNvPr id="632" name="Google Shape;632;p42"/>
          <p:cNvSpPr/>
          <p:nvPr/>
        </p:nvSpPr>
        <p:spPr>
          <a:xfrm>
            <a:off x="685800" y="2209800"/>
            <a:ext cx="3041650" cy="5159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800" b="1">
                <a:solidFill>
                  <a:schemeClr val="lt1"/>
                </a:solidFill>
                <a:latin typeface="Arial"/>
                <a:ea typeface="Arial"/>
                <a:cs typeface="Arial"/>
                <a:sym typeface="Arial"/>
              </a:rPr>
              <a:t>Mean</a:t>
            </a:r>
            <a:endParaRPr/>
          </a:p>
        </p:txBody>
      </p:sp>
      <p:cxnSp>
        <p:nvCxnSpPr>
          <p:cNvPr id="633" name="Google Shape;633;p42"/>
          <p:cNvCxnSpPr/>
          <p:nvPr/>
        </p:nvCxnSpPr>
        <p:spPr>
          <a:xfrm>
            <a:off x="5268913" y="3217863"/>
            <a:ext cx="2589212" cy="0"/>
          </a:xfrm>
          <a:prstGeom prst="straightConnector1">
            <a:avLst/>
          </a:prstGeom>
          <a:noFill/>
          <a:ln w="12700" cap="flat" cmpd="sng">
            <a:solidFill>
              <a:schemeClr val="folHlink"/>
            </a:solidFill>
            <a:prstDash val="solid"/>
            <a:round/>
            <a:headEnd type="none" w="med" len="med"/>
            <a:tailEnd type="none" w="med" len="med"/>
          </a:ln>
        </p:spPr>
      </p:cxnSp>
      <p:cxnSp>
        <p:nvCxnSpPr>
          <p:cNvPr id="634" name="Google Shape;634;p42"/>
          <p:cNvCxnSpPr/>
          <p:nvPr/>
        </p:nvCxnSpPr>
        <p:spPr>
          <a:xfrm>
            <a:off x="5268913" y="2913063"/>
            <a:ext cx="2589212" cy="0"/>
          </a:xfrm>
          <a:prstGeom prst="straightConnector1">
            <a:avLst/>
          </a:prstGeom>
          <a:noFill/>
          <a:ln w="12700" cap="flat" cmpd="sng">
            <a:solidFill>
              <a:schemeClr val="folHlink"/>
            </a:solidFill>
            <a:prstDash val="solid"/>
            <a:round/>
            <a:headEnd type="none" w="med" len="med"/>
            <a:tailEnd type="none" w="med" len="med"/>
          </a:ln>
        </p:spPr>
      </p:cxnSp>
      <p:cxnSp>
        <p:nvCxnSpPr>
          <p:cNvPr id="635" name="Google Shape;635;p42"/>
          <p:cNvCxnSpPr/>
          <p:nvPr/>
        </p:nvCxnSpPr>
        <p:spPr>
          <a:xfrm>
            <a:off x="5268913" y="2611438"/>
            <a:ext cx="2589212" cy="0"/>
          </a:xfrm>
          <a:prstGeom prst="straightConnector1">
            <a:avLst/>
          </a:prstGeom>
          <a:noFill/>
          <a:ln w="12700" cap="flat" cmpd="sng">
            <a:solidFill>
              <a:schemeClr val="folHlink"/>
            </a:solidFill>
            <a:prstDash val="solid"/>
            <a:round/>
            <a:headEnd type="none" w="med" len="med"/>
            <a:tailEnd type="none" w="med" len="med"/>
          </a:ln>
        </p:spPr>
      </p:cxnSp>
      <p:sp>
        <p:nvSpPr>
          <p:cNvPr id="636" name="Google Shape;636;p42"/>
          <p:cNvSpPr/>
          <p:nvPr/>
        </p:nvSpPr>
        <p:spPr>
          <a:xfrm>
            <a:off x="5086350" y="2641600"/>
            <a:ext cx="488950" cy="879475"/>
          </a:xfrm>
          <a:custGeom>
            <a:avLst/>
            <a:gdLst/>
            <a:ahLst/>
            <a:cxnLst/>
            <a:rect l="l" t="t" r="r" b="b"/>
            <a:pathLst>
              <a:path w="308" h="554" extrusionOk="0">
                <a:moveTo>
                  <a:pt x="0" y="0"/>
                </a:moveTo>
                <a:lnTo>
                  <a:pt x="307" y="0"/>
                </a:lnTo>
                <a:lnTo>
                  <a:pt x="307" y="553"/>
                </a:lnTo>
                <a:lnTo>
                  <a:pt x="0" y="553"/>
                </a:lnTo>
                <a:lnTo>
                  <a:pt x="0" y="0"/>
                </a:lnTo>
              </a:path>
            </a:pathLst>
          </a:custGeom>
          <a:solidFill>
            <a:srgbClr val="DC0081"/>
          </a:solidFill>
          <a:ln w="127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37" name="Google Shape;637;p42"/>
          <p:cNvSpPr/>
          <p:nvPr/>
        </p:nvSpPr>
        <p:spPr>
          <a:xfrm>
            <a:off x="5573713" y="3035300"/>
            <a:ext cx="485775" cy="485775"/>
          </a:xfrm>
          <a:custGeom>
            <a:avLst/>
            <a:gdLst/>
            <a:ahLst/>
            <a:cxnLst/>
            <a:rect l="l" t="t" r="r" b="b"/>
            <a:pathLst>
              <a:path w="306" h="306" extrusionOk="0">
                <a:moveTo>
                  <a:pt x="0" y="0"/>
                </a:moveTo>
                <a:lnTo>
                  <a:pt x="305" y="0"/>
                </a:lnTo>
                <a:lnTo>
                  <a:pt x="305" y="305"/>
                </a:lnTo>
                <a:lnTo>
                  <a:pt x="0" y="305"/>
                </a:lnTo>
                <a:lnTo>
                  <a:pt x="0" y="0"/>
                </a:lnTo>
              </a:path>
            </a:pathLst>
          </a:custGeom>
          <a:solidFill>
            <a:srgbClr val="DC0081"/>
          </a:solidFill>
          <a:ln w="127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38" name="Google Shape;638;p42"/>
          <p:cNvSpPr/>
          <p:nvPr/>
        </p:nvSpPr>
        <p:spPr>
          <a:xfrm>
            <a:off x="6057900" y="3397250"/>
            <a:ext cx="488950" cy="123825"/>
          </a:xfrm>
          <a:custGeom>
            <a:avLst/>
            <a:gdLst/>
            <a:ahLst/>
            <a:cxnLst/>
            <a:rect l="l" t="t" r="r" b="b"/>
            <a:pathLst>
              <a:path w="308" h="78" extrusionOk="0">
                <a:moveTo>
                  <a:pt x="0" y="0"/>
                </a:moveTo>
                <a:lnTo>
                  <a:pt x="307" y="0"/>
                </a:lnTo>
                <a:lnTo>
                  <a:pt x="307" y="77"/>
                </a:lnTo>
                <a:lnTo>
                  <a:pt x="0" y="77"/>
                </a:lnTo>
                <a:lnTo>
                  <a:pt x="0" y="0"/>
                </a:lnTo>
              </a:path>
            </a:pathLst>
          </a:custGeom>
          <a:solidFill>
            <a:srgbClr val="DC0081"/>
          </a:solidFill>
          <a:ln w="127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39" name="Google Shape;639;p42"/>
          <p:cNvSpPr/>
          <p:nvPr/>
        </p:nvSpPr>
        <p:spPr>
          <a:xfrm>
            <a:off x="6545263" y="3489325"/>
            <a:ext cx="488950" cy="31750"/>
          </a:xfrm>
          <a:custGeom>
            <a:avLst/>
            <a:gdLst/>
            <a:ahLst/>
            <a:cxnLst/>
            <a:rect l="l" t="t" r="r" b="b"/>
            <a:pathLst>
              <a:path w="308" h="20" extrusionOk="0">
                <a:moveTo>
                  <a:pt x="0" y="0"/>
                </a:moveTo>
                <a:lnTo>
                  <a:pt x="307" y="0"/>
                </a:lnTo>
                <a:lnTo>
                  <a:pt x="307" y="19"/>
                </a:lnTo>
                <a:lnTo>
                  <a:pt x="0" y="19"/>
                </a:lnTo>
                <a:lnTo>
                  <a:pt x="0" y="0"/>
                </a:lnTo>
              </a:path>
            </a:pathLst>
          </a:custGeom>
          <a:solidFill>
            <a:srgbClr val="DC0081"/>
          </a:solidFill>
          <a:ln w="127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640" name="Google Shape;640;p42"/>
          <p:cNvCxnSpPr/>
          <p:nvPr/>
        </p:nvCxnSpPr>
        <p:spPr>
          <a:xfrm>
            <a:off x="5086350" y="2794000"/>
            <a:ext cx="0" cy="579438"/>
          </a:xfrm>
          <a:prstGeom prst="straightConnector1">
            <a:avLst/>
          </a:prstGeom>
          <a:noFill/>
          <a:ln w="12700" cap="flat" cmpd="sng">
            <a:solidFill>
              <a:schemeClr val="folHlink"/>
            </a:solidFill>
            <a:prstDash val="solid"/>
            <a:round/>
            <a:headEnd type="none" w="med" len="med"/>
            <a:tailEnd type="none" w="med" len="med"/>
          </a:ln>
        </p:spPr>
      </p:cxnSp>
      <p:cxnSp>
        <p:nvCxnSpPr>
          <p:cNvPr id="641" name="Google Shape;641;p42"/>
          <p:cNvCxnSpPr/>
          <p:nvPr/>
        </p:nvCxnSpPr>
        <p:spPr>
          <a:xfrm>
            <a:off x="5053013" y="3519488"/>
            <a:ext cx="1587" cy="0"/>
          </a:xfrm>
          <a:prstGeom prst="straightConnector1">
            <a:avLst/>
          </a:prstGeom>
          <a:noFill/>
          <a:ln w="12700" cap="flat" cmpd="sng">
            <a:solidFill>
              <a:schemeClr val="folHlink"/>
            </a:solidFill>
            <a:prstDash val="solid"/>
            <a:round/>
            <a:headEnd type="none" w="med" len="med"/>
            <a:tailEnd type="none" w="med" len="med"/>
          </a:ln>
        </p:spPr>
      </p:cxnSp>
      <p:cxnSp>
        <p:nvCxnSpPr>
          <p:cNvPr id="642" name="Google Shape;642;p42"/>
          <p:cNvCxnSpPr/>
          <p:nvPr/>
        </p:nvCxnSpPr>
        <p:spPr>
          <a:xfrm>
            <a:off x="5053013" y="3217863"/>
            <a:ext cx="1587" cy="0"/>
          </a:xfrm>
          <a:prstGeom prst="straightConnector1">
            <a:avLst/>
          </a:prstGeom>
          <a:noFill/>
          <a:ln w="12700" cap="flat" cmpd="sng">
            <a:solidFill>
              <a:schemeClr val="folHlink"/>
            </a:solidFill>
            <a:prstDash val="solid"/>
            <a:round/>
            <a:headEnd type="none" w="med" len="med"/>
            <a:tailEnd type="none" w="med" len="med"/>
          </a:ln>
        </p:spPr>
      </p:cxnSp>
      <p:cxnSp>
        <p:nvCxnSpPr>
          <p:cNvPr id="643" name="Google Shape;643;p42"/>
          <p:cNvCxnSpPr/>
          <p:nvPr/>
        </p:nvCxnSpPr>
        <p:spPr>
          <a:xfrm>
            <a:off x="5053013" y="2913063"/>
            <a:ext cx="1587" cy="0"/>
          </a:xfrm>
          <a:prstGeom prst="straightConnector1">
            <a:avLst/>
          </a:prstGeom>
          <a:noFill/>
          <a:ln w="12700" cap="flat" cmpd="sng">
            <a:solidFill>
              <a:schemeClr val="folHlink"/>
            </a:solidFill>
            <a:prstDash val="solid"/>
            <a:round/>
            <a:headEnd type="none" w="med" len="med"/>
            <a:tailEnd type="none" w="med" len="med"/>
          </a:ln>
        </p:spPr>
      </p:cxnSp>
      <p:cxnSp>
        <p:nvCxnSpPr>
          <p:cNvPr id="644" name="Google Shape;644;p42"/>
          <p:cNvCxnSpPr/>
          <p:nvPr/>
        </p:nvCxnSpPr>
        <p:spPr>
          <a:xfrm>
            <a:off x="5053013" y="2611438"/>
            <a:ext cx="1587" cy="0"/>
          </a:xfrm>
          <a:prstGeom prst="straightConnector1">
            <a:avLst/>
          </a:prstGeom>
          <a:noFill/>
          <a:ln w="12700" cap="flat" cmpd="sng">
            <a:solidFill>
              <a:schemeClr val="folHlink"/>
            </a:solidFill>
            <a:prstDash val="solid"/>
            <a:round/>
            <a:headEnd type="none" w="med" len="med"/>
            <a:tailEnd type="none" w="med" len="med"/>
          </a:ln>
        </p:spPr>
      </p:cxnSp>
      <p:cxnSp>
        <p:nvCxnSpPr>
          <p:cNvPr id="645" name="Google Shape;645;p42"/>
          <p:cNvCxnSpPr/>
          <p:nvPr/>
        </p:nvCxnSpPr>
        <p:spPr>
          <a:xfrm>
            <a:off x="5268913" y="3519488"/>
            <a:ext cx="2589212" cy="0"/>
          </a:xfrm>
          <a:prstGeom prst="straightConnector1">
            <a:avLst/>
          </a:prstGeom>
          <a:noFill/>
          <a:ln w="12700" cap="flat" cmpd="sng">
            <a:solidFill>
              <a:schemeClr val="folHlink"/>
            </a:solidFill>
            <a:prstDash val="solid"/>
            <a:round/>
            <a:headEnd type="none" w="med" len="med"/>
            <a:tailEnd type="none" w="med" len="med"/>
          </a:ln>
        </p:spPr>
      </p:cxnSp>
      <p:cxnSp>
        <p:nvCxnSpPr>
          <p:cNvPr id="646" name="Google Shape;646;p42"/>
          <p:cNvCxnSpPr/>
          <p:nvPr/>
        </p:nvCxnSpPr>
        <p:spPr>
          <a:xfrm rot="10800000">
            <a:off x="5086350" y="3392488"/>
            <a:ext cx="0" cy="328612"/>
          </a:xfrm>
          <a:prstGeom prst="straightConnector1">
            <a:avLst/>
          </a:prstGeom>
          <a:noFill/>
          <a:ln w="12700" cap="flat" cmpd="sng">
            <a:solidFill>
              <a:schemeClr val="folHlink"/>
            </a:solidFill>
            <a:prstDash val="solid"/>
            <a:round/>
            <a:headEnd type="none" w="med" len="med"/>
            <a:tailEnd type="none" w="med" len="med"/>
          </a:ln>
        </p:spPr>
      </p:cxnSp>
      <p:cxnSp>
        <p:nvCxnSpPr>
          <p:cNvPr id="647" name="Google Shape;647;p42"/>
          <p:cNvCxnSpPr/>
          <p:nvPr/>
        </p:nvCxnSpPr>
        <p:spPr>
          <a:xfrm rot="10800000">
            <a:off x="5573713" y="3392488"/>
            <a:ext cx="0" cy="328612"/>
          </a:xfrm>
          <a:prstGeom prst="straightConnector1">
            <a:avLst/>
          </a:prstGeom>
          <a:noFill/>
          <a:ln w="12700" cap="flat" cmpd="sng">
            <a:solidFill>
              <a:schemeClr val="folHlink"/>
            </a:solidFill>
            <a:prstDash val="solid"/>
            <a:round/>
            <a:headEnd type="none" w="med" len="med"/>
            <a:tailEnd type="none" w="med" len="med"/>
          </a:ln>
        </p:spPr>
      </p:cxnSp>
      <p:cxnSp>
        <p:nvCxnSpPr>
          <p:cNvPr id="648" name="Google Shape;648;p42"/>
          <p:cNvCxnSpPr/>
          <p:nvPr/>
        </p:nvCxnSpPr>
        <p:spPr>
          <a:xfrm rot="10800000">
            <a:off x="6057900" y="3392488"/>
            <a:ext cx="0" cy="328612"/>
          </a:xfrm>
          <a:prstGeom prst="straightConnector1">
            <a:avLst/>
          </a:prstGeom>
          <a:noFill/>
          <a:ln w="12700" cap="flat" cmpd="sng">
            <a:solidFill>
              <a:schemeClr val="folHlink"/>
            </a:solidFill>
            <a:prstDash val="solid"/>
            <a:round/>
            <a:headEnd type="none" w="med" len="med"/>
            <a:tailEnd type="none" w="med" len="med"/>
          </a:ln>
        </p:spPr>
      </p:cxnSp>
      <p:cxnSp>
        <p:nvCxnSpPr>
          <p:cNvPr id="649" name="Google Shape;649;p42"/>
          <p:cNvCxnSpPr/>
          <p:nvPr/>
        </p:nvCxnSpPr>
        <p:spPr>
          <a:xfrm rot="10800000">
            <a:off x="6545263" y="3392488"/>
            <a:ext cx="0" cy="328612"/>
          </a:xfrm>
          <a:prstGeom prst="straightConnector1">
            <a:avLst/>
          </a:prstGeom>
          <a:noFill/>
          <a:ln w="12700" cap="flat" cmpd="sng">
            <a:solidFill>
              <a:schemeClr val="folHlink"/>
            </a:solidFill>
            <a:prstDash val="solid"/>
            <a:round/>
            <a:headEnd type="none" w="med" len="med"/>
            <a:tailEnd type="none" w="med" len="med"/>
          </a:ln>
        </p:spPr>
      </p:cxnSp>
      <p:cxnSp>
        <p:nvCxnSpPr>
          <p:cNvPr id="650" name="Google Shape;650;p42"/>
          <p:cNvCxnSpPr/>
          <p:nvPr/>
        </p:nvCxnSpPr>
        <p:spPr>
          <a:xfrm rot="10800000">
            <a:off x="7032625" y="3392488"/>
            <a:ext cx="0" cy="328612"/>
          </a:xfrm>
          <a:prstGeom prst="straightConnector1">
            <a:avLst/>
          </a:prstGeom>
          <a:noFill/>
          <a:ln w="12700" cap="flat" cmpd="sng">
            <a:solidFill>
              <a:schemeClr val="folHlink"/>
            </a:solidFill>
            <a:prstDash val="solid"/>
            <a:round/>
            <a:headEnd type="none" w="med" len="med"/>
            <a:tailEnd type="none" w="med" len="med"/>
          </a:ln>
        </p:spPr>
      </p:cxnSp>
      <p:cxnSp>
        <p:nvCxnSpPr>
          <p:cNvPr id="651" name="Google Shape;651;p42"/>
          <p:cNvCxnSpPr/>
          <p:nvPr/>
        </p:nvCxnSpPr>
        <p:spPr>
          <a:xfrm rot="10800000">
            <a:off x="7516813" y="3392488"/>
            <a:ext cx="0" cy="328612"/>
          </a:xfrm>
          <a:prstGeom prst="straightConnector1">
            <a:avLst/>
          </a:prstGeom>
          <a:noFill/>
          <a:ln w="12700" cap="flat" cmpd="sng">
            <a:solidFill>
              <a:schemeClr val="folHlink"/>
            </a:solidFill>
            <a:prstDash val="solid"/>
            <a:round/>
            <a:headEnd type="none" w="med" len="med"/>
            <a:tailEnd type="none" w="med" len="med"/>
          </a:ln>
        </p:spPr>
      </p:cxnSp>
      <p:cxnSp>
        <p:nvCxnSpPr>
          <p:cNvPr id="652" name="Google Shape;652;p42"/>
          <p:cNvCxnSpPr/>
          <p:nvPr/>
        </p:nvCxnSpPr>
        <p:spPr>
          <a:xfrm rot="10800000">
            <a:off x="8004175" y="3392488"/>
            <a:ext cx="0" cy="328612"/>
          </a:xfrm>
          <a:prstGeom prst="straightConnector1">
            <a:avLst/>
          </a:prstGeom>
          <a:noFill/>
          <a:ln w="12700" cap="flat" cmpd="sng">
            <a:solidFill>
              <a:schemeClr val="folHlink"/>
            </a:solidFill>
            <a:prstDash val="solid"/>
            <a:round/>
            <a:headEnd type="none" w="med" len="med"/>
            <a:tailEnd type="none" w="med" len="med"/>
          </a:ln>
        </p:spPr>
      </p:cxnSp>
      <p:sp>
        <p:nvSpPr>
          <p:cNvPr id="653" name="Google Shape;653;p42"/>
          <p:cNvSpPr/>
          <p:nvPr/>
        </p:nvSpPr>
        <p:spPr>
          <a:xfrm>
            <a:off x="4624388" y="3344863"/>
            <a:ext cx="3714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 0</a:t>
            </a:r>
            <a:endParaRPr/>
          </a:p>
        </p:txBody>
      </p:sp>
      <p:sp>
        <p:nvSpPr>
          <p:cNvPr id="654" name="Google Shape;654;p42"/>
          <p:cNvSpPr/>
          <p:nvPr/>
        </p:nvSpPr>
        <p:spPr>
          <a:xfrm>
            <a:off x="4624388" y="3043238"/>
            <a:ext cx="3714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.2</a:t>
            </a:r>
            <a:endParaRPr/>
          </a:p>
        </p:txBody>
      </p:sp>
      <p:sp>
        <p:nvSpPr>
          <p:cNvPr id="655" name="Google Shape;655;p42"/>
          <p:cNvSpPr/>
          <p:nvPr/>
        </p:nvSpPr>
        <p:spPr>
          <a:xfrm>
            <a:off x="4624388" y="2738438"/>
            <a:ext cx="3714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.4</a:t>
            </a:r>
            <a:endParaRPr/>
          </a:p>
        </p:txBody>
      </p:sp>
      <p:sp>
        <p:nvSpPr>
          <p:cNvPr id="656" name="Google Shape;656;p42"/>
          <p:cNvSpPr/>
          <p:nvPr/>
        </p:nvSpPr>
        <p:spPr>
          <a:xfrm>
            <a:off x="4624388" y="2436813"/>
            <a:ext cx="3714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.6</a:t>
            </a:r>
            <a:endParaRPr/>
          </a:p>
        </p:txBody>
      </p:sp>
      <p:sp>
        <p:nvSpPr>
          <p:cNvPr id="657" name="Google Shape;657;p42"/>
          <p:cNvSpPr/>
          <p:nvPr/>
        </p:nvSpPr>
        <p:spPr>
          <a:xfrm>
            <a:off x="5175250" y="3687763"/>
            <a:ext cx="3079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0</a:t>
            </a:r>
            <a:endParaRPr/>
          </a:p>
        </p:txBody>
      </p:sp>
      <p:sp>
        <p:nvSpPr>
          <p:cNvPr id="658" name="Google Shape;658;p42"/>
          <p:cNvSpPr/>
          <p:nvPr/>
        </p:nvSpPr>
        <p:spPr>
          <a:xfrm>
            <a:off x="5662613" y="3687763"/>
            <a:ext cx="3079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1</a:t>
            </a:r>
            <a:endParaRPr/>
          </a:p>
        </p:txBody>
      </p:sp>
      <p:sp>
        <p:nvSpPr>
          <p:cNvPr id="659" name="Google Shape;659;p42"/>
          <p:cNvSpPr/>
          <p:nvPr/>
        </p:nvSpPr>
        <p:spPr>
          <a:xfrm>
            <a:off x="6146800" y="3687763"/>
            <a:ext cx="3079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2</a:t>
            </a:r>
            <a:endParaRPr/>
          </a:p>
        </p:txBody>
      </p:sp>
      <p:sp>
        <p:nvSpPr>
          <p:cNvPr id="660" name="Google Shape;660;p42"/>
          <p:cNvSpPr/>
          <p:nvPr/>
        </p:nvSpPr>
        <p:spPr>
          <a:xfrm>
            <a:off x="6634163" y="3687763"/>
            <a:ext cx="3079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3</a:t>
            </a:r>
            <a:endParaRPr/>
          </a:p>
        </p:txBody>
      </p:sp>
      <p:sp>
        <p:nvSpPr>
          <p:cNvPr id="661" name="Google Shape;661;p42"/>
          <p:cNvSpPr/>
          <p:nvPr/>
        </p:nvSpPr>
        <p:spPr>
          <a:xfrm>
            <a:off x="7121525" y="3687763"/>
            <a:ext cx="3079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4</a:t>
            </a:r>
            <a:endParaRPr/>
          </a:p>
        </p:txBody>
      </p:sp>
      <p:sp>
        <p:nvSpPr>
          <p:cNvPr id="662" name="Google Shape;662;p42"/>
          <p:cNvSpPr/>
          <p:nvPr/>
        </p:nvSpPr>
        <p:spPr>
          <a:xfrm>
            <a:off x="7607300" y="3687763"/>
            <a:ext cx="3079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5</a:t>
            </a:r>
            <a:endParaRPr/>
          </a:p>
        </p:txBody>
      </p:sp>
      <p:sp>
        <p:nvSpPr>
          <p:cNvPr id="663" name="Google Shape;663;p42"/>
          <p:cNvSpPr/>
          <p:nvPr/>
        </p:nvSpPr>
        <p:spPr>
          <a:xfrm>
            <a:off x="8018463" y="3344863"/>
            <a:ext cx="3333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X</a:t>
            </a:r>
            <a:endParaRPr/>
          </a:p>
        </p:txBody>
      </p:sp>
      <p:sp>
        <p:nvSpPr>
          <p:cNvPr id="664" name="Google Shape;664;p42"/>
          <p:cNvSpPr/>
          <p:nvPr/>
        </p:nvSpPr>
        <p:spPr>
          <a:xfrm>
            <a:off x="4816475" y="2208213"/>
            <a:ext cx="6381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P(X)</a:t>
            </a:r>
            <a:endParaRPr/>
          </a:p>
        </p:txBody>
      </p:sp>
      <p:cxnSp>
        <p:nvCxnSpPr>
          <p:cNvPr id="665" name="Google Shape;665;p42"/>
          <p:cNvCxnSpPr/>
          <p:nvPr/>
        </p:nvCxnSpPr>
        <p:spPr>
          <a:xfrm>
            <a:off x="5267325" y="5505450"/>
            <a:ext cx="2592388" cy="0"/>
          </a:xfrm>
          <a:prstGeom prst="straightConnector1">
            <a:avLst/>
          </a:prstGeom>
          <a:noFill/>
          <a:ln w="12700" cap="flat" cmpd="sng">
            <a:solidFill>
              <a:schemeClr val="folHlink"/>
            </a:solidFill>
            <a:prstDash val="solid"/>
            <a:round/>
            <a:headEnd type="none" w="med" len="med"/>
            <a:tailEnd type="none" w="med" len="med"/>
          </a:ln>
        </p:spPr>
      </p:cxnSp>
      <p:cxnSp>
        <p:nvCxnSpPr>
          <p:cNvPr id="666" name="Google Shape;666;p42"/>
          <p:cNvCxnSpPr/>
          <p:nvPr/>
        </p:nvCxnSpPr>
        <p:spPr>
          <a:xfrm>
            <a:off x="5267325" y="5200650"/>
            <a:ext cx="2592388" cy="0"/>
          </a:xfrm>
          <a:prstGeom prst="straightConnector1">
            <a:avLst/>
          </a:prstGeom>
          <a:noFill/>
          <a:ln w="12700" cap="flat" cmpd="sng">
            <a:solidFill>
              <a:schemeClr val="folHlink"/>
            </a:solidFill>
            <a:prstDash val="solid"/>
            <a:round/>
            <a:headEnd type="none" w="med" len="med"/>
            <a:tailEnd type="none" w="med" len="med"/>
          </a:ln>
        </p:spPr>
      </p:cxnSp>
      <p:cxnSp>
        <p:nvCxnSpPr>
          <p:cNvPr id="667" name="Google Shape;667;p42"/>
          <p:cNvCxnSpPr/>
          <p:nvPr/>
        </p:nvCxnSpPr>
        <p:spPr>
          <a:xfrm>
            <a:off x="5267325" y="4897438"/>
            <a:ext cx="2592388" cy="0"/>
          </a:xfrm>
          <a:prstGeom prst="straightConnector1">
            <a:avLst/>
          </a:prstGeom>
          <a:noFill/>
          <a:ln w="12700" cap="flat" cmpd="sng">
            <a:solidFill>
              <a:schemeClr val="folHlink"/>
            </a:solidFill>
            <a:prstDash val="solid"/>
            <a:round/>
            <a:headEnd type="none" w="med" len="med"/>
            <a:tailEnd type="none" w="med" len="med"/>
          </a:ln>
        </p:spPr>
      </p:cxnSp>
      <p:sp>
        <p:nvSpPr>
          <p:cNvPr id="668" name="Google Shape;668;p42"/>
          <p:cNvSpPr/>
          <p:nvPr/>
        </p:nvSpPr>
        <p:spPr>
          <a:xfrm>
            <a:off x="5084763" y="5761038"/>
            <a:ext cx="488950" cy="47625"/>
          </a:xfrm>
          <a:custGeom>
            <a:avLst/>
            <a:gdLst/>
            <a:ahLst/>
            <a:cxnLst/>
            <a:rect l="l" t="t" r="r" b="b"/>
            <a:pathLst>
              <a:path w="308" h="30" extrusionOk="0">
                <a:moveTo>
                  <a:pt x="0" y="0"/>
                </a:moveTo>
                <a:lnTo>
                  <a:pt x="307" y="0"/>
                </a:lnTo>
                <a:lnTo>
                  <a:pt x="307" y="29"/>
                </a:lnTo>
                <a:lnTo>
                  <a:pt x="0" y="29"/>
                </a:lnTo>
                <a:lnTo>
                  <a:pt x="0" y="0"/>
                </a:lnTo>
              </a:path>
            </a:pathLst>
          </a:custGeom>
          <a:solidFill>
            <a:srgbClr val="DC0081"/>
          </a:solidFill>
          <a:ln w="127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69" name="Google Shape;669;p42"/>
          <p:cNvSpPr/>
          <p:nvPr/>
        </p:nvSpPr>
        <p:spPr>
          <a:xfrm>
            <a:off x="5572125" y="5568950"/>
            <a:ext cx="487363" cy="239713"/>
          </a:xfrm>
          <a:custGeom>
            <a:avLst/>
            <a:gdLst/>
            <a:ahLst/>
            <a:cxnLst/>
            <a:rect l="l" t="t" r="r" b="b"/>
            <a:pathLst>
              <a:path w="307" h="151" extrusionOk="0">
                <a:moveTo>
                  <a:pt x="0" y="0"/>
                </a:moveTo>
                <a:lnTo>
                  <a:pt x="306" y="0"/>
                </a:lnTo>
                <a:lnTo>
                  <a:pt x="306" y="150"/>
                </a:lnTo>
                <a:lnTo>
                  <a:pt x="0" y="150"/>
                </a:lnTo>
                <a:lnTo>
                  <a:pt x="0" y="0"/>
                </a:lnTo>
              </a:path>
            </a:pathLst>
          </a:custGeom>
          <a:solidFill>
            <a:srgbClr val="DC0081"/>
          </a:solidFill>
          <a:ln w="127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70" name="Google Shape;670;p42"/>
          <p:cNvSpPr/>
          <p:nvPr/>
        </p:nvSpPr>
        <p:spPr>
          <a:xfrm>
            <a:off x="6057900" y="5334000"/>
            <a:ext cx="488950" cy="474663"/>
          </a:xfrm>
          <a:custGeom>
            <a:avLst/>
            <a:gdLst/>
            <a:ahLst/>
            <a:cxnLst/>
            <a:rect l="l" t="t" r="r" b="b"/>
            <a:pathLst>
              <a:path w="308" h="299" extrusionOk="0">
                <a:moveTo>
                  <a:pt x="0" y="0"/>
                </a:moveTo>
                <a:lnTo>
                  <a:pt x="307" y="0"/>
                </a:lnTo>
                <a:lnTo>
                  <a:pt x="307" y="298"/>
                </a:lnTo>
                <a:lnTo>
                  <a:pt x="0" y="298"/>
                </a:lnTo>
                <a:lnTo>
                  <a:pt x="0" y="0"/>
                </a:lnTo>
              </a:path>
            </a:pathLst>
          </a:custGeom>
          <a:solidFill>
            <a:srgbClr val="DC0081"/>
          </a:solidFill>
          <a:ln w="127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71" name="Google Shape;671;p42"/>
          <p:cNvSpPr/>
          <p:nvPr/>
        </p:nvSpPr>
        <p:spPr>
          <a:xfrm>
            <a:off x="6545263" y="5334000"/>
            <a:ext cx="490537" cy="474663"/>
          </a:xfrm>
          <a:custGeom>
            <a:avLst/>
            <a:gdLst/>
            <a:ahLst/>
            <a:cxnLst/>
            <a:rect l="l" t="t" r="r" b="b"/>
            <a:pathLst>
              <a:path w="309" h="299" extrusionOk="0">
                <a:moveTo>
                  <a:pt x="0" y="0"/>
                </a:moveTo>
                <a:lnTo>
                  <a:pt x="308" y="0"/>
                </a:lnTo>
                <a:lnTo>
                  <a:pt x="308" y="298"/>
                </a:lnTo>
                <a:lnTo>
                  <a:pt x="0" y="298"/>
                </a:lnTo>
                <a:lnTo>
                  <a:pt x="0" y="0"/>
                </a:lnTo>
              </a:path>
            </a:pathLst>
          </a:custGeom>
          <a:solidFill>
            <a:srgbClr val="DC0081"/>
          </a:solidFill>
          <a:ln w="127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72" name="Google Shape;672;p42"/>
          <p:cNvSpPr/>
          <p:nvPr/>
        </p:nvSpPr>
        <p:spPr>
          <a:xfrm>
            <a:off x="7034213" y="5568950"/>
            <a:ext cx="485775" cy="239713"/>
          </a:xfrm>
          <a:custGeom>
            <a:avLst/>
            <a:gdLst/>
            <a:ahLst/>
            <a:cxnLst/>
            <a:rect l="l" t="t" r="r" b="b"/>
            <a:pathLst>
              <a:path w="306" h="151" extrusionOk="0">
                <a:moveTo>
                  <a:pt x="0" y="0"/>
                </a:moveTo>
                <a:lnTo>
                  <a:pt x="305" y="0"/>
                </a:lnTo>
                <a:lnTo>
                  <a:pt x="305" y="150"/>
                </a:lnTo>
                <a:lnTo>
                  <a:pt x="0" y="150"/>
                </a:lnTo>
                <a:lnTo>
                  <a:pt x="0" y="0"/>
                </a:lnTo>
              </a:path>
            </a:pathLst>
          </a:custGeom>
          <a:solidFill>
            <a:srgbClr val="DC0081"/>
          </a:solidFill>
          <a:ln w="127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73" name="Google Shape;673;p42"/>
          <p:cNvSpPr/>
          <p:nvPr/>
        </p:nvSpPr>
        <p:spPr>
          <a:xfrm>
            <a:off x="7518400" y="5761038"/>
            <a:ext cx="488950" cy="47625"/>
          </a:xfrm>
          <a:custGeom>
            <a:avLst/>
            <a:gdLst/>
            <a:ahLst/>
            <a:cxnLst/>
            <a:rect l="l" t="t" r="r" b="b"/>
            <a:pathLst>
              <a:path w="308" h="30" extrusionOk="0">
                <a:moveTo>
                  <a:pt x="0" y="0"/>
                </a:moveTo>
                <a:lnTo>
                  <a:pt x="307" y="0"/>
                </a:lnTo>
                <a:lnTo>
                  <a:pt x="307" y="29"/>
                </a:lnTo>
                <a:lnTo>
                  <a:pt x="0" y="29"/>
                </a:lnTo>
                <a:lnTo>
                  <a:pt x="0" y="0"/>
                </a:lnTo>
              </a:path>
            </a:pathLst>
          </a:custGeom>
          <a:solidFill>
            <a:srgbClr val="DC0081"/>
          </a:solidFill>
          <a:ln w="12700" cap="rnd"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674" name="Google Shape;674;p42"/>
          <p:cNvCxnSpPr/>
          <p:nvPr/>
        </p:nvCxnSpPr>
        <p:spPr>
          <a:xfrm>
            <a:off x="5084763" y="5080000"/>
            <a:ext cx="0" cy="581025"/>
          </a:xfrm>
          <a:prstGeom prst="straightConnector1">
            <a:avLst/>
          </a:prstGeom>
          <a:noFill/>
          <a:ln w="12700" cap="flat" cmpd="sng">
            <a:solidFill>
              <a:schemeClr val="folHlink"/>
            </a:solidFill>
            <a:prstDash val="solid"/>
            <a:round/>
            <a:headEnd type="none" w="med" len="med"/>
            <a:tailEnd type="none" w="med" len="med"/>
          </a:ln>
        </p:spPr>
      </p:cxnSp>
      <p:cxnSp>
        <p:nvCxnSpPr>
          <p:cNvPr id="675" name="Google Shape;675;p42"/>
          <p:cNvCxnSpPr/>
          <p:nvPr/>
        </p:nvCxnSpPr>
        <p:spPr>
          <a:xfrm>
            <a:off x="5051425" y="5807075"/>
            <a:ext cx="1588" cy="0"/>
          </a:xfrm>
          <a:prstGeom prst="straightConnector1">
            <a:avLst/>
          </a:prstGeom>
          <a:noFill/>
          <a:ln w="12700" cap="flat" cmpd="sng">
            <a:solidFill>
              <a:schemeClr val="folHlink"/>
            </a:solidFill>
            <a:prstDash val="solid"/>
            <a:round/>
            <a:headEnd type="none" w="med" len="med"/>
            <a:tailEnd type="none" w="med" len="med"/>
          </a:ln>
        </p:spPr>
      </p:cxnSp>
      <p:cxnSp>
        <p:nvCxnSpPr>
          <p:cNvPr id="676" name="Google Shape;676;p42"/>
          <p:cNvCxnSpPr/>
          <p:nvPr/>
        </p:nvCxnSpPr>
        <p:spPr>
          <a:xfrm>
            <a:off x="5051425" y="5505450"/>
            <a:ext cx="1588" cy="0"/>
          </a:xfrm>
          <a:prstGeom prst="straightConnector1">
            <a:avLst/>
          </a:prstGeom>
          <a:noFill/>
          <a:ln w="12700" cap="flat" cmpd="sng">
            <a:solidFill>
              <a:schemeClr val="folHlink"/>
            </a:solidFill>
            <a:prstDash val="solid"/>
            <a:round/>
            <a:headEnd type="none" w="med" len="med"/>
            <a:tailEnd type="none" w="med" len="med"/>
          </a:ln>
        </p:spPr>
      </p:cxnSp>
      <p:cxnSp>
        <p:nvCxnSpPr>
          <p:cNvPr id="677" name="Google Shape;677;p42"/>
          <p:cNvCxnSpPr/>
          <p:nvPr/>
        </p:nvCxnSpPr>
        <p:spPr>
          <a:xfrm>
            <a:off x="5051425" y="5200650"/>
            <a:ext cx="1588" cy="0"/>
          </a:xfrm>
          <a:prstGeom prst="straightConnector1">
            <a:avLst/>
          </a:prstGeom>
          <a:noFill/>
          <a:ln w="12700" cap="flat" cmpd="sng">
            <a:solidFill>
              <a:schemeClr val="folHlink"/>
            </a:solidFill>
            <a:prstDash val="solid"/>
            <a:round/>
            <a:headEnd type="none" w="med" len="med"/>
            <a:tailEnd type="none" w="med" len="med"/>
          </a:ln>
        </p:spPr>
      </p:cxnSp>
      <p:cxnSp>
        <p:nvCxnSpPr>
          <p:cNvPr id="678" name="Google Shape;678;p42"/>
          <p:cNvCxnSpPr/>
          <p:nvPr/>
        </p:nvCxnSpPr>
        <p:spPr>
          <a:xfrm>
            <a:off x="5051425" y="4897438"/>
            <a:ext cx="1588" cy="0"/>
          </a:xfrm>
          <a:prstGeom prst="straightConnector1">
            <a:avLst/>
          </a:prstGeom>
          <a:noFill/>
          <a:ln w="12700" cap="flat" cmpd="sng">
            <a:solidFill>
              <a:schemeClr val="folHlink"/>
            </a:solidFill>
            <a:prstDash val="solid"/>
            <a:round/>
            <a:headEnd type="none" w="med" len="med"/>
            <a:tailEnd type="none" w="med" len="med"/>
          </a:ln>
        </p:spPr>
      </p:cxnSp>
      <p:cxnSp>
        <p:nvCxnSpPr>
          <p:cNvPr id="679" name="Google Shape;679;p42"/>
          <p:cNvCxnSpPr/>
          <p:nvPr/>
        </p:nvCxnSpPr>
        <p:spPr>
          <a:xfrm>
            <a:off x="5267325" y="5807075"/>
            <a:ext cx="2592388" cy="0"/>
          </a:xfrm>
          <a:prstGeom prst="straightConnector1">
            <a:avLst/>
          </a:prstGeom>
          <a:noFill/>
          <a:ln w="12700" cap="flat" cmpd="sng">
            <a:solidFill>
              <a:schemeClr val="folHlink"/>
            </a:solidFill>
            <a:prstDash val="solid"/>
            <a:round/>
            <a:headEnd type="none" w="med" len="med"/>
            <a:tailEnd type="none" w="med" len="med"/>
          </a:ln>
        </p:spPr>
      </p:cxnSp>
      <p:cxnSp>
        <p:nvCxnSpPr>
          <p:cNvPr id="680" name="Google Shape;680;p42"/>
          <p:cNvCxnSpPr/>
          <p:nvPr/>
        </p:nvCxnSpPr>
        <p:spPr>
          <a:xfrm rot="10800000">
            <a:off x="5084763" y="5680075"/>
            <a:ext cx="0" cy="328613"/>
          </a:xfrm>
          <a:prstGeom prst="straightConnector1">
            <a:avLst/>
          </a:prstGeom>
          <a:noFill/>
          <a:ln w="12700" cap="flat" cmpd="sng">
            <a:solidFill>
              <a:schemeClr val="folHlink"/>
            </a:solidFill>
            <a:prstDash val="solid"/>
            <a:round/>
            <a:headEnd type="none" w="med" len="med"/>
            <a:tailEnd type="none" w="med" len="med"/>
          </a:ln>
        </p:spPr>
      </p:cxnSp>
      <p:cxnSp>
        <p:nvCxnSpPr>
          <p:cNvPr id="681" name="Google Shape;681;p42"/>
          <p:cNvCxnSpPr/>
          <p:nvPr/>
        </p:nvCxnSpPr>
        <p:spPr>
          <a:xfrm rot="10800000">
            <a:off x="5572125" y="5680075"/>
            <a:ext cx="0" cy="328613"/>
          </a:xfrm>
          <a:prstGeom prst="straightConnector1">
            <a:avLst/>
          </a:prstGeom>
          <a:noFill/>
          <a:ln w="12700" cap="flat" cmpd="sng">
            <a:solidFill>
              <a:schemeClr val="folHlink"/>
            </a:solidFill>
            <a:prstDash val="solid"/>
            <a:round/>
            <a:headEnd type="none" w="med" len="med"/>
            <a:tailEnd type="none" w="med" len="med"/>
          </a:ln>
        </p:spPr>
      </p:cxnSp>
      <p:cxnSp>
        <p:nvCxnSpPr>
          <p:cNvPr id="682" name="Google Shape;682;p42"/>
          <p:cNvCxnSpPr/>
          <p:nvPr/>
        </p:nvCxnSpPr>
        <p:spPr>
          <a:xfrm rot="10800000">
            <a:off x="6057900" y="5680075"/>
            <a:ext cx="0" cy="328613"/>
          </a:xfrm>
          <a:prstGeom prst="straightConnector1">
            <a:avLst/>
          </a:prstGeom>
          <a:noFill/>
          <a:ln w="12700" cap="flat" cmpd="sng">
            <a:solidFill>
              <a:schemeClr val="folHlink"/>
            </a:solidFill>
            <a:prstDash val="solid"/>
            <a:round/>
            <a:headEnd type="none" w="med" len="med"/>
            <a:tailEnd type="none" w="med" len="med"/>
          </a:ln>
        </p:spPr>
      </p:cxnSp>
      <p:cxnSp>
        <p:nvCxnSpPr>
          <p:cNvPr id="683" name="Google Shape;683;p42"/>
          <p:cNvCxnSpPr/>
          <p:nvPr/>
        </p:nvCxnSpPr>
        <p:spPr>
          <a:xfrm rot="10800000">
            <a:off x="6545263" y="5680075"/>
            <a:ext cx="0" cy="328613"/>
          </a:xfrm>
          <a:prstGeom prst="straightConnector1">
            <a:avLst/>
          </a:prstGeom>
          <a:noFill/>
          <a:ln w="12700" cap="flat" cmpd="sng">
            <a:solidFill>
              <a:schemeClr val="folHlink"/>
            </a:solidFill>
            <a:prstDash val="solid"/>
            <a:round/>
            <a:headEnd type="none" w="med" len="med"/>
            <a:tailEnd type="none" w="med" len="med"/>
          </a:ln>
        </p:spPr>
      </p:cxnSp>
      <p:cxnSp>
        <p:nvCxnSpPr>
          <p:cNvPr id="684" name="Google Shape;684;p42"/>
          <p:cNvCxnSpPr/>
          <p:nvPr/>
        </p:nvCxnSpPr>
        <p:spPr>
          <a:xfrm rot="10800000">
            <a:off x="7034213" y="5680075"/>
            <a:ext cx="0" cy="328613"/>
          </a:xfrm>
          <a:prstGeom prst="straightConnector1">
            <a:avLst/>
          </a:prstGeom>
          <a:noFill/>
          <a:ln w="12700" cap="flat" cmpd="sng">
            <a:solidFill>
              <a:schemeClr val="folHlink"/>
            </a:solidFill>
            <a:prstDash val="solid"/>
            <a:round/>
            <a:headEnd type="none" w="med" len="med"/>
            <a:tailEnd type="none" w="med" len="med"/>
          </a:ln>
        </p:spPr>
      </p:cxnSp>
      <p:cxnSp>
        <p:nvCxnSpPr>
          <p:cNvPr id="685" name="Google Shape;685;p42"/>
          <p:cNvCxnSpPr/>
          <p:nvPr/>
        </p:nvCxnSpPr>
        <p:spPr>
          <a:xfrm rot="10800000">
            <a:off x="7518400" y="5680075"/>
            <a:ext cx="0" cy="328613"/>
          </a:xfrm>
          <a:prstGeom prst="straightConnector1">
            <a:avLst/>
          </a:prstGeom>
          <a:noFill/>
          <a:ln w="12700" cap="flat" cmpd="sng">
            <a:solidFill>
              <a:schemeClr val="folHlink"/>
            </a:solidFill>
            <a:prstDash val="solid"/>
            <a:round/>
            <a:headEnd type="none" w="med" len="med"/>
            <a:tailEnd type="none" w="med" len="med"/>
          </a:ln>
        </p:spPr>
      </p:cxnSp>
      <p:cxnSp>
        <p:nvCxnSpPr>
          <p:cNvPr id="686" name="Google Shape;686;p42"/>
          <p:cNvCxnSpPr/>
          <p:nvPr/>
        </p:nvCxnSpPr>
        <p:spPr>
          <a:xfrm rot="10800000">
            <a:off x="8005763" y="5680075"/>
            <a:ext cx="0" cy="328613"/>
          </a:xfrm>
          <a:prstGeom prst="straightConnector1">
            <a:avLst/>
          </a:prstGeom>
          <a:noFill/>
          <a:ln w="12700" cap="flat" cmpd="sng">
            <a:solidFill>
              <a:schemeClr val="folHlink"/>
            </a:solidFill>
            <a:prstDash val="solid"/>
            <a:round/>
            <a:headEnd type="none" w="med" len="med"/>
            <a:tailEnd type="none" w="med" len="med"/>
          </a:ln>
        </p:spPr>
      </p:cxnSp>
      <p:sp>
        <p:nvSpPr>
          <p:cNvPr id="687" name="Google Shape;687;p42"/>
          <p:cNvSpPr/>
          <p:nvPr/>
        </p:nvSpPr>
        <p:spPr>
          <a:xfrm>
            <a:off x="4622800" y="5329238"/>
            <a:ext cx="3714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.2</a:t>
            </a:r>
            <a:endParaRPr/>
          </a:p>
        </p:txBody>
      </p:sp>
      <p:sp>
        <p:nvSpPr>
          <p:cNvPr id="688" name="Google Shape;688;p42"/>
          <p:cNvSpPr/>
          <p:nvPr/>
        </p:nvSpPr>
        <p:spPr>
          <a:xfrm>
            <a:off x="4622800" y="5024438"/>
            <a:ext cx="3714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.4</a:t>
            </a:r>
            <a:endParaRPr/>
          </a:p>
        </p:txBody>
      </p:sp>
      <p:sp>
        <p:nvSpPr>
          <p:cNvPr id="689" name="Google Shape;689;p42"/>
          <p:cNvSpPr/>
          <p:nvPr/>
        </p:nvSpPr>
        <p:spPr>
          <a:xfrm>
            <a:off x="4622800" y="4722813"/>
            <a:ext cx="3714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.6</a:t>
            </a:r>
            <a:endParaRPr/>
          </a:p>
        </p:txBody>
      </p:sp>
      <p:sp>
        <p:nvSpPr>
          <p:cNvPr id="690" name="Google Shape;690;p42"/>
          <p:cNvSpPr/>
          <p:nvPr/>
        </p:nvSpPr>
        <p:spPr>
          <a:xfrm>
            <a:off x="5173663" y="5975350"/>
            <a:ext cx="3079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0</a:t>
            </a:r>
            <a:endParaRPr/>
          </a:p>
        </p:txBody>
      </p:sp>
      <p:sp>
        <p:nvSpPr>
          <p:cNvPr id="691" name="Google Shape;691;p42"/>
          <p:cNvSpPr/>
          <p:nvPr/>
        </p:nvSpPr>
        <p:spPr>
          <a:xfrm>
            <a:off x="5662613" y="5975350"/>
            <a:ext cx="3079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1</a:t>
            </a:r>
            <a:endParaRPr/>
          </a:p>
        </p:txBody>
      </p:sp>
      <p:sp>
        <p:nvSpPr>
          <p:cNvPr id="692" name="Google Shape;692;p42"/>
          <p:cNvSpPr/>
          <p:nvPr/>
        </p:nvSpPr>
        <p:spPr>
          <a:xfrm>
            <a:off x="6146800" y="5975350"/>
            <a:ext cx="3079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2</a:t>
            </a:r>
            <a:endParaRPr/>
          </a:p>
        </p:txBody>
      </p:sp>
      <p:sp>
        <p:nvSpPr>
          <p:cNvPr id="693" name="Google Shape;693;p42"/>
          <p:cNvSpPr/>
          <p:nvPr/>
        </p:nvSpPr>
        <p:spPr>
          <a:xfrm>
            <a:off x="6635750" y="5975350"/>
            <a:ext cx="3079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3</a:t>
            </a:r>
            <a:endParaRPr/>
          </a:p>
        </p:txBody>
      </p:sp>
      <p:sp>
        <p:nvSpPr>
          <p:cNvPr id="694" name="Google Shape;694;p42"/>
          <p:cNvSpPr/>
          <p:nvPr/>
        </p:nvSpPr>
        <p:spPr>
          <a:xfrm>
            <a:off x="7123113" y="5975350"/>
            <a:ext cx="3079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4</a:t>
            </a:r>
            <a:endParaRPr/>
          </a:p>
        </p:txBody>
      </p:sp>
      <p:sp>
        <p:nvSpPr>
          <p:cNvPr id="695" name="Google Shape;695;p42"/>
          <p:cNvSpPr/>
          <p:nvPr/>
        </p:nvSpPr>
        <p:spPr>
          <a:xfrm>
            <a:off x="7607300" y="5975350"/>
            <a:ext cx="3079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5</a:t>
            </a:r>
            <a:endParaRPr/>
          </a:p>
        </p:txBody>
      </p:sp>
      <p:sp>
        <p:nvSpPr>
          <p:cNvPr id="696" name="Google Shape;696;p42"/>
          <p:cNvSpPr/>
          <p:nvPr/>
        </p:nvSpPr>
        <p:spPr>
          <a:xfrm>
            <a:off x="8020050" y="5630863"/>
            <a:ext cx="3333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X</a:t>
            </a:r>
            <a:endParaRPr/>
          </a:p>
        </p:txBody>
      </p:sp>
      <p:sp>
        <p:nvSpPr>
          <p:cNvPr id="697" name="Google Shape;697;p42"/>
          <p:cNvSpPr/>
          <p:nvPr/>
        </p:nvSpPr>
        <p:spPr>
          <a:xfrm>
            <a:off x="4829175" y="4494213"/>
            <a:ext cx="638175" cy="363537"/>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P(X)</a:t>
            </a:r>
            <a:endParaRPr/>
          </a:p>
        </p:txBody>
      </p:sp>
      <p:sp>
        <p:nvSpPr>
          <p:cNvPr id="698" name="Google Shape;698;p42"/>
          <p:cNvSpPr/>
          <p:nvPr/>
        </p:nvSpPr>
        <p:spPr>
          <a:xfrm>
            <a:off x="4676775" y="5648325"/>
            <a:ext cx="3079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0</a:t>
            </a:r>
            <a:endParaRPr/>
          </a:p>
        </p:txBody>
      </p:sp>
      <p:pic>
        <p:nvPicPr>
          <p:cNvPr id="699" name="Google Shape;699;p42"/>
          <p:cNvPicPr preferRelativeResize="0"/>
          <p:nvPr/>
        </p:nvPicPr>
        <p:blipFill rotWithShape="1">
          <a:blip r:embed="rId3">
            <a:alphaModFix/>
          </a:blip>
          <a:srcRect/>
          <a:stretch/>
        </p:blipFill>
        <p:spPr>
          <a:xfrm>
            <a:off x="949325" y="2133600"/>
            <a:ext cx="3084513" cy="450850"/>
          </a:xfrm>
          <a:prstGeom prst="rect">
            <a:avLst/>
          </a:prstGeom>
          <a:solidFill>
            <a:srgbClr val="FFFFCD"/>
          </a:solidFill>
          <a:ln>
            <a:noFill/>
          </a:ln>
        </p:spPr>
      </p:pic>
      <p:pic>
        <p:nvPicPr>
          <p:cNvPr id="700" name="Google Shape;700;p42"/>
          <p:cNvPicPr preferRelativeResize="0"/>
          <p:nvPr/>
        </p:nvPicPr>
        <p:blipFill rotWithShape="1">
          <a:blip r:embed="rId4">
            <a:alphaModFix/>
          </a:blip>
          <a:srcRect/>
          <a:stretch/>
        </p:blipFill>
        <p:spPr>
          <a:xfrm>
            <a:off x="906463" y="2871788"/>
            <a:ext cx="3398837" cy="965200"/>
          </a:xfrm>
          <a:prstGeom prst="rect">
            <a:avLst/>
          </a:prstGeom>
          <a:solidFill>
            <a:srgbClr val="CCFFFF"/>
          </a:solidFill>
          <a:ln>
            <a:noFill/>
          </a:ln>
        </p:spPr>
      </p:pic>
      <p:pic>
        <p:nvPicPr>
          <p:cNvPr id="701" name="Google Shape;701;p42"/>
          <p:cNvPicPr preferRelativeResize="0"/>
          <p:nvPr/>
        </p:nvPicPr>
        <p:blipFill rotWithShape="1">
          <a:blip r:embed="rId5">
            <a:alphaModFix/>
          </a:blip>
          <a:srcRect/>
          <a:stretch/>
        </p:blipFill>
        <p:spPr>
          <a:xfrm>
            <a:off x="949325" y="4419600"/>
            <a:ext cx="3084513" cy="450850"/>
          </a:xfrm>
          <a:prstGeom prst="rect">
            <a:avLst/>
          </a:prstGeom>
          <a:solidFill>
            <a:srgbClr val="FFFFCD"/>
          </a:solidFill>
          <a:ln>
            <a:noFill/>
          </a:ln>
        </p:spPr>
      </p:pic>
      <p:pic>
        <p:nvPicPr>
          <p:cNvPr id="702" name="Google Shape;702;p42"/>
          <p:cNvPicPr preferRelativeResize="0"/>
          <p:nvPr/>
        </p:nvPicPr>
        <p:blipFill rotWithShape="1">
          <a:blip r:embed="rId6">
            <a:alphaModFix/>
          </a:blip>
          <a:srcRect/>
          <a:stretch/>
        </p:blipFill>
        <p:spPr>
          <a:xfrm>
            <a:off x="906463" y="5157788"/>
            <a:ext cx="3398837" cy="965200"/>
          </a:xfrm>
          <a:prstGeom prst="rect">
            <a:avLst/>
          </a:prstGeom>
          <a:solidFill>
            <a:srgbClr val="CCFFFF"/>
          </a:solidFill>
          <a:ln>
            <a:noFill/>
          </a:ln>
        </p:spPr>
      </p:pic>
      <p:cxnSp>
        <p:nvCxnSpPr>
          <p:cNvPr id="703" name="Google Shape;703;p42"/>
          <p:cNvCxnSpPr/>
          <p:nvPr/>
        </p:nvCxnSpPr>
        <p:spPr>
          <a:xfrm>
            <a:off x="685800" y="4191000"/>
            <a:ext cx="7848600" cy="0"/>
          </a:xfrm>
          <a:prstGeom prst="straightConnector1">
            <a:avLst/>
          </a:prstGeom>
          <a:noFill/>
          <a:ln w="28575" cap="flat" cmpd="sng">
            <a:solidFill>
              <a:schemeClr val="accent1"/>
            </a:solidFill>
            <a:prstDash val="solid"/>
            <a:round/>
            <a:headEnd type="none" w="med" len="med"/>
            <a:tailEnd type="none" w="med" len="med"/>
          </a:ln>
        </p:spPr>
      </p:cxnSp>
      <p:sp>
        <p:nvSpPr>
          <p:cNvPr id="704" name="Google Shape;704;p42"/>
          <p:cNvSpPr txBox="1">
            <a:spLocks noGrp="1"/>
          </p:cNvSpPr>
          <p:nvPr>
            <p:ph type="title"/>
          </p:nvPr>
        </p:nvSpPr>
        <p:spPr>
          <a:xfrm>
            <a:off x="1447800" y="381000"/>
            <a:ext cx="7315200" cy="762000"/>
          </a:xfrm>
          <a:prstGeom prst="rect">
            <a:avLst/>
          </a:prstGeom>
          <a:noFill/>
          <a:ln>
            <a:noFill/>
          </a:ln>
        </p:spPr>
        <p:txBody>
          <a:bodyPr spcFirstLastPara="1" wrap="square" lIns="85325" tIns="42650" rIns="85325" bIns="42650" anchor="b" anchorCtr="0">
            <a:noAutofit/>
          </a:bodyPr>
          <a:lstStyle/>
          <a:p>
            <a:pPr marL="0" lvl="0" indent="0" algn="ctr" rtl="0">
              <a:lnSpc>
                <a:spcPct val="80000"/>
              </a:lnSpc>
              <a:spcBef>
                <a:spcPts val="0"/>
              </a:spcBef>
              <a:spcAft>
                <a:spcPts val="0"/>
              </a:spcAft>
              <a:buNone/>
            </a:pPr>
            <a:r>
              <a:rPr lang="en-US"/>
              <a:t>Binomial Characteristics</a:t>
            </a:r>
            <a:endParaRPr/>
          </a:p>
        </p:txBody>
      </p:sp>
      <p:sp>
        <p:nvSpPr>
          <p:cNvPr id="705" name="Google Shape;705;p42"/>
          <p:cNvSpPr txBox="1"/>
          <p:nvPr/>
        </p:nvSpPr>
        <p:spPr>
          <a:xfrm>
            <a:off x="1371600" y="1524000"/>
            <a:ext cx="1981200" cy="45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folHlink"/>
                </a:solidFill>
                <a:latin typeface="Arial"/>
                <a:ea typeface="Arial"/>
                <a:cs typeface="Arial"/>
                <a:sym typeface="Arial"/>
              </a:rPr>
              <a:t>Examples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43"/>
          <p:cNvSpPr/>
          <p:nvPr/>
        </p:nvSpPr>
        <p:spPr>
          <a:xfrm>
            <a:off x="1447800" y="2819400"/>
            <a:ext cx="4114800" cy="228600"/>
          </a:xfrm>
          <a:prstGeom prst="rect">
            <a:avLst/>
          </a:prstGeom>
          <a:solidFill>
            <a:srgbClr val="FFFF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711" name="Google Shape;711;p43"/>
          <p:cNvSpPr/>
          <p:nvPr/>
        </p:nvSpPr>
        <p:spPr>
          <a:xfrm>
            <a:off x="4953000" y="1905000"/>
            <a:ext cx="609600" cy="1143000"/>
          </a:xfrm>
          <a:prstGeom prst="rect">
            <a:avLst/>
          </a:prstGeom>
          <a:solidFill>
            <a:srgbClr val="FFFFC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712" name="Google Shape;712;p43"/>
          <p:cNvSpPr/>
          <p:nvPr/>
        </p:nvSpPr>
        <p:spPr>
          <a:xfrm>
            <a:off x="4953000" y="2819400"/>
            <a:ext cx="609600" cy="228600"/>
          </a:xfrm>
          <a:prstGeom prst="rect">
            <a:avLst/>
          </a:prstGeom>
          <a:solidFill>
            <a:srgbClr val="FFFFCD"/>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713" name="Google Shape;713;p43"/>
          <p:cNvSpPr/>
          <p:nvPr/>
        </p:nvSpPr>
        <p:spPr>
          <a:xfrm>
            <a:off x="3505200" y="3886200"/>
            <a:ext cx="4800600" cy="304800"/>
          </a:xfrm>
          <a:prstGeom prst="rect">
            <a:avLst/>
          </a:prstGeom>
          <a:solidFill>
            <a:srgbClr val="CC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714" name="Google Shape;714;p43"/>
          <p:cNvSpPr/>
          <p:nvPr/>
        </p:nvSpPr>
        <p:spPr>
          <a:xfrm rot="10800000" flipH="1">
            <a:off x="3505200" y="3962400"/>
            <a:ext cx="609600" cy="914400"/>
          </a:xfrm>
          <a:prstGeom prst="rect">
            <a:avLst/>
          </a:prstGeom>
          <a:solidFill>
            <a:srgbClr val="CC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715" name="Google Shape;715;p43"/>
          <p:cNvSpPr/>
          <p:nvPr/>
        </p:nvSpPr>
        <p:spPr>
          <a:xfrm rot="10800000" flipH="1">
            <a:off x="3505200" y="3886200"/>
            <a:ext cx="609600" cy="258763"/>
          </a:xfrm>
          <a:prstGeom prst="rect">
            <a:avLst/>
          </a:prstGeom>
          <a:solidFill>
            <a:srgbClr val="CCFFFF"/>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716" name="Google Shape;716;p43"/>
          <p:cNvSpPr/>
          <p:nvPr/>
        </p:nvSpPr>
        <p:spPr>
          <a:xfrm>
            <a:off x="990600" y="5943600"/>
            <a:ext cx="6553200" cy="381000"/>
          </a:xfrm>
          <a:prstGeom prst="rect">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717" name="Google Shape;717;p43"/>
          <p:cNvSpPr/>
          <p:nvPr/>
        </p:nvSpPr>
        <p:spPr>
          <a:xfrm>
            <a:off x="990600" y="5486400"/>
            <a:ext cx="6553200" cy="381000"/>
          </a:xfrm>
          <a:prstGeom prst="rect">
            <a:avLst/>
          </a:prstGeom>
          <a:solidFill>
            <a:srgbClr val="FFFFCD"/>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718" name="Google Shape;718;p43"/>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Using Binomial Tables</a:t>
            </a:r>
            <a:endParaRPr/>
          </a:p>
        </p:txBody>
      </p:sp>
      <p:graphicFrame>
        <p:nvGraphicFramePr>
          <p:cNvPr id="719" name="Google Shape;719;p43"/>
          <p:cNvGraphicFramePr/>
          <p:nvPr/>
        </p:nvGraphicFramePr>
        <p:xfrm>
          <a:off x="1295400" y="1600200"/>
          <a:ext cx="7162800" cy="3266165"/>
        </p:xfrm>
        <a:graphic>
          <a:graphicData uri="http://schemas.openxmlformats.org/drawingml/2006/table">
            <a:tbl>
              <a:tblPr>
                <a:noFill/>
                <a:tableStyleId>{1777CA09-EAB0-4852-9CA1-627062E9AE65}</a:tableStyleId>
              </a:tblPr>
              <a:tblGrid>
                <a:gridCol w="715975"/>
                <a:gridCol w="715950"/>
                <a:gridCol w="717550"/>
                <a:gridCol w="715975"/>
                <a:gridCol w="715950"/>
                <a:gridCol w="715975"/>
                <a:gridCol w="715950"/>
                <a:gridCol w="717550"/>
                <a:gridCol w="669925"/>
                <a:gridCol w="762000"/>
              </a:tblGrid>
              <a:tr h="127000">
                <a:tc gridSpan="10">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1" i="0" u="none" strike="noStrike" cap="none">
                          <a:solidFill>
                            <a:schemeClr val="dk1"/>
                          </a:solidFill>
                          <a:latin typeface="Arial"/>
                          <a:ea typeface="Arial"/>
                          <a:cs typeface="Arial"/>
                          <a:sym typeface="Arial"/>
                        </a:rPr>
                        <a:t>n = 10</a:t>
                      </a:r>
                      <a:endParaRPr/>
                    </a:p>
                  </a:txBody>
                  <a:tcPr marL="91450" marR="91450"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57175">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1" i="0" u="none" strike="noStrike" cap="none">
                          <a:solidFill>
                            <a:schemeClr val="dk1"/>
                          </a:solidFill>
                          <a:latin typeface="Arial"/>
                          <a:ea typeface="Arial"/>
                          <a:cs typeface="Arial"/>
                          <a:sym typeface="Arial"/>
                        </a:rPr>
                        <a:t>x</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p=.15</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p=.20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p=.25</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p=.30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1" i="0" u="none" strike="noStrike" cap="none">
                          <a:solidFill>
                            <a:schemeClr val="dk1"/>
                          </a:solidFill>
                          <a:latin typeface="Arial"/>
                          <a:ea typeface="Arial"/>
                          <a:cs typeface="Arial"/>
                          <a:sym typeface="Arial"/>
                        </a:rPr>
                        <a:t>p=.35</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p=.40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p=.45</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p=.50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endParaRPr sz="12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390650">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1</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2</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1" i="0" u="none" strike="noStrike" cap="none">
                          <a:solidFill>
                            <a:schemeClr val="dk1"/>
                          </a:solidFill>
                          <a:latin typeface="Arial"/>
                          <a:ea typeface="Arial"/>
                          <a:cs typeface="Arial"/>
                          <a:sym typeface="Arial"/>
                        </a:rPr>
                        <a:t>3</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4</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5</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6</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7</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8</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9</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10</a:t>
                      </a:r>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0.1969</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0.3474</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0.2759</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0.1298</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0.0401</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0.0085</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0.0012</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0.0001</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0.0000</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0.0000</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0.0000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0.1074</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0.2684</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0.3020</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0.2013</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0.0881</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0.0264</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0.0055</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0.0008</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0.0001</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0.0000</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0.0000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0.0563</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0.1877</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0.2816</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0.2503</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0.1460</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0.0584</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0.0162</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0.0031</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1" i="0" u="none" strike="noStrike" cap="none">
                          <a:solidFill>
                            <a:schemeClr val="dk1"/>
                          </a:solidFill>
                          <a:latin typeface="Arial"/>
                          <a:ea typeface="Arial"/>
                          <a:cs typeface="Arial"/>
                          <a:sym typeface="Arial"/>
                        </a:rPr>
                        <a:t>0.0004</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0.0000</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0.0000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0.0282</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0.1211</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0.2335</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0.2668</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0.2001</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0.1029</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0.0368</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0.0090</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0.0014</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0.0001</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0.0000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0.0135</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0.0725</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0.1757</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1" i="0" u="none" strike="noStrike" cap="none">
                          <a:solidFill>
                            <a:schemeClr val="dk1"/>
                          </a:solidFill>
                          <a:latin typeface="Arial"/>
                          <a:ea typeface="Arial"/>
                          <a:cs typeface="Arial"/>
                          <a:sym typeface="Arial"/>
                        </a:rPr>
                        <a:t>0.2522</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0.2377</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0.1536</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0.0689</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0.0212</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0.0043</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0.0005</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0.0000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0.0060</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0.0403</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0.1209</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0.2150</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0.2508</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0.2007</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0.1115</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0.0425</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0.0106</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0.0016</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0.0001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0.0025</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0.0207</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0.0763</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0.1665</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0.2384</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0.2340</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0.1596</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0.0746</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0.0229</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0.0042</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0.0003</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0.0010</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0.0098</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0.0439</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0.1172</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0.2051</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0.2461</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0.2051</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0.1172</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0.0439</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0.0098</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0.0010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10</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9</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8</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7</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6</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5</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4</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3</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1" i="0" u="none" strike="noStrike" cap="none">
                          <a:solidFill>
                            <a:schemeClr val="dk1"/>
                          </a:solidFill>
                          <a:latin typeface="Arial"/>
                          <a:ea typeface="Arial"/>
                          <a:cs typeface="Arial"/>
                          <a:sym typeface="Arial"/>
                        </a:rPr>
                        <a:t>2</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1</a:t>
                      </a:r>
                      <a:endParaRPr/>
                    </a:p>
                    <a:p>
                      <a:pPr marL="0" marR="0" lvl="0" indent="0" algn="ctr" rtl="0">
                        <a:lnSpc>
                          <a:spcPct val="100000"/>
                        </a:lnSpc>
                        <a:spcBef>
                          <a:spcPts val="24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0</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360375">
                <a:tc>
                  <a:txBody>
                    <a:bodyPr/>
                    <a:lstStyle/>
                    <a:p>
                      <a:pPr marL="0" marR="0" lvl="0" indent="0" algn="ctr" rtl="0">
                        <a:lnSpc>
                          <a:spcPct val="100000"/>
                        </a:lnSpc>
                        <a:spcBef>
                          <a:spcPts val="0"/>
                        </a:spcBef>
                        <a:spcAft>
                          <a:spcPts val="0"/>
                        </a:spcAft>
                        <a:buClr>
                          <a:schemeClr val="folHlink"/>
                        </a:buClr>
                        <a:buSzPts val="720"/>
                        <a:buFont typeface="Noto Sans Symbols"/>
                        <a:buNone/>
                      </a:pPr>
                      <a:endParaRPr sz="1200" b="0" i="0" u="none" strike="noStrike" cap="none">
                        <a:solidFill>
                          <a:schemeClr val="dk1"/>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p=.85</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p=.80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1" i="0" u="none" strike="noStrike" cap="none">
                          <a:solidFill>
                            <a:schemeClr val="dk1"/>
                          </a:solidFill>
                          <a:latin typeface="Arial"/>
                          <a:ea typeface="Arial"/>
                          <a:cs typeface="Arial"/>
                          <a:sym typeface="Arial"/>
                        </a:rPr>
                        <a:t>p=.75</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p=.70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p=.65</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p=.60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p=.55</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0" i="0" u="none" strike="noStrike" cap="none">
                          <a:solidFill>
                            <a:schemeClr val="dk1"/>
                          </a:solidFill>
                          <a:latin typeface="Arial"/>
                          <a:ea typeface="Arial"/>
                          <a:cs typeface="Arial"/>
                          <a:sym typeface="Arial"/>
                        </a:rPr>
                        <a:t>p=.50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folHlink"/>
                        </a:buClr>
                        <a:buSzPts val="720"/>
                        <a:buFont typeface="Noto Sans Symbols"/>
                        <a:buNone/>
                      </a:pPr>
                      <a:r>
                        <a:rPr lang="en-US" sz="1200" b="1" i="0" u="none" strike="noStrike" cap="none">
                          <a:solidFill>
                            <a:schemeClr val="dk1"/>
                          </a:solidFill>
                          <a:latin typeface="Arial"/>
                          <a:ea typeface="Arial"/>
                          <a:cs typeface="Arial"/>
                          <a:sym typeface="Arial"/>
                        </a:rPr>
                        <a:t>x</a:t>
                      </a:r>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r>
            </a:tbl>
          </a:graphicData>
        </a:graphic>
      </p:graphicFrame>
      <p:sp>
        <p:nvSpPr>
          <p:cNvPr id="720" name="Google Shape;720;p43"/>
          <p:cNvSpPr txBox="1"/>
          <p:nvPr/>
        </p:nvSpPr>
        <p:spPr>
          <a:xfrm>
            <a:off x="990600" y="5029200"/>
            <a:ext cx="7086600" cy="13112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Examples:  </a:t>
            </a:r>
            <a:endParaRPr/>
          </a:p>
          <a:p>
            <a:pPr marL="0" marR="0" lvl="0" indent="0" algn="l" rtl="0">
              <a:lnSpc>
                <a:spcPct val="80000"/>
              </a:lnSpc>
              <a:spcBef>
                <a:spcPts val="1000"/>
              </a:spcBef>
              <a:spcAft>
                <a:spcPts val="0"/>
              </a:spcAft>
              <a:buNone/>
            </a:pPr>
            <a:r>
              <a:rPr lang="en-US" sz="2000">
                <a:solidFill>
                  <a:schemeClr val="dk1"/>
                </a:solidFill>
                <a:latin typeface="Arial"/>
                <a:ea typeface="Arial"/>
                <a:cs typeface="Arial"/>
                <a:sym typeface="Arial"/>
              </a:rPr>
              <a:t>n = 10, p = .35, x = 3:       P(x = 3|n =10, p = .35) = .2522</a:t>
            </a:r>
            <a:endParaRPr/>
          </a:p>
          <a:p>
            <a:pPr marL="0" marR="0" lvl="0" indent="0" algn="l" rtl="0">
              <a:spcBef>
                <a:spcPts val="1000"/>
              </a:spcBef>
              <a:spcAft>
                <a:spcPts val="0"/>
              </a:spcAft>
              <a:buNone/>
            </a:pPr>
            <a:r>
              <a:rPr lang="en-US" sz="2000">
                <a:solidFill>
                  <a:schemeClr val="dk1"/>
                </a:solidFill>
                <a:latin typeface="Arial"/>
                <a:ea typeface="Arial"/>
                <a:cs typeface="Arial"/>
                <a:sym typeface="Arial"/>
              </a:rPr>
              <a:t>n = 10, p = .75, x = 2:       P(x = 2|n =10, p = .75) = .0004</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p44"/>
          <p:cNvSpPr txBox="1">
            <a:spLocks noGrp="1"/>
          </p:cNvSpPr>
          <p:nvPr>
            <p:ph type="title"/>
          </p:nvPr>
        </p:nvSpPr>
        <p:spPr>
          <a:xfrm>
            <a:off x="395288" y="334963"/>
            <a:ext cx="8229600" cy="1025525"/>
          </a:xfrm>
          <a:prstGeom prst="rect">
            <a:avLst/>
          </a:prstGeom>
          <a:noFill/>
          <a:ln>
            <a:noFill/>
          </a:ln>
        </p:spPr>
        <p:txBody>
          <a:bodyPr spcFirstLastPara="1" wrap="square" lIns="85325" tIns="42650" rIns="85325" bIns="42650" anchor="b" anchorCtr="0">
            <a:normAutofit/>
          </a:bodyPr>
          <a:lstStyle/>
          <a:p>
            <a:pPr marL="0" lvl="0" indent="0" algn="l" rtl="0">
              <a:spcBef>
                <a:spcPts val="0"/>
              </a:spcBef>
              <a:spcAft>
                <a:spcPts val="0"/>
              </a:spcAft>
              <a:buNone/>
            </a:pPr>
            <a:r>
              <a:rPr lang="en-US" sz="3907">
                <a:solidFill>
                  <a:srgbClr val="A50021"/>
                </a:solidFill>
                <a:latin typeface="Times New Roman"/>
                <a:ea typeface="Times New Roman"/>
                <a:cs typeface="Times New Roman"/>
                <a:sym typeface="Times New Roman"/>
              </a:rPr>
              <a:t>The Poisson Distribution</a:t>
            </a:r>
            <a:endParaRPr sz="3907">
              <a:solidFill>
                <a:srgbClr val="A50021"/>
              </a:solidFill>
              <a:latin typeface="Times New Roman"/>
              <a:ea typeface="Times New Roman"/>
              <a:cs typeface="Times New Roman"/>
              <a:sym typeface="Times New Roman"/>
            </a:endParaRPr>
          </a:p>
        </p:txBody>
      </p:sp>
      <p:sp>
        <p:nvSpPr>
          <p:cNvPr id="726" name="Google Shape;726;p44"/>
          <p:cNvSpPr txBox="1">
            <a:spLocks noGrp="1"/>
          </p:cNvSpPr>
          <p:nvPr>
            <p:ph type="body" idx="1"/>
          </p:nvPr>
        </p:nvSpPr>
        <p:spPr>
          <a:xfrm>
            <a:off x="463550" y="1612900"/>
            <a:ext cx="8229600" cy="2422525"/>
          </a:xfrm>
          <a:prstGeom prst="rect">
            <a:avLst/>
          </a:prstGeom>
          <a:noFill/>
          <a:ln>
            <a:noFill/>
          </a:ln>
        </p:spPr>
        <p:txBody>
          <a:bodyPr spcFirstLastPara="1" wrap="square" lIns="85325" tIns="42650" rIns="85325" bIns="42650" anchor="t" anchorCtr="0">
            <a:noAutofit/>
          </a:bodyPr>
          <a:lstStyle/>
          <a:p>
            <a:pPr marL="0" lvl="1" indent="0" algn="just" rtl="0">
              <a:spcBef>
                <a:spcPts val="0"/>
              </a:spcBef>
              <a:spcAft>
                <a:spcPts val="0"/>
              </a:spcAft>
              <a:buClr>
                <a:schemeClr val="accent3"/>
              </a:buClr>
              <a:buSzPts val="1900"/>
              <a:buFont typeface="Noto Sans Symbols"/>
              <a:buNone/>
            </a:pPr>
            <a:r>
              <a:rPr lang="en-US" sz="2000">
                <a:latin typeface="Times New Roman"/>
                <a:ea typeface="Times New Roman"/>
                <a:cs typeface="Times New Roman"/>
                <a:sym typeface="Times New Roman"/>
              </a:rPr>
              <a:t>There are some experiments, which involve the occurring of the number of outcomes during a given time interval (or in a region of space).</a:t>
            </a:r>
            <a:endParaRPr/>
          </a:p>
          <a:p>
            <a:pPr marL="0" lvl="1" indent="0" algn="just" rtl="0">
              <a:spcBef>
                <a:spcPts val="400"/>
              </a:spcBef>
              <a:spcAft>
                <a:spcPts val="0"/>
              </a:spcAft>
              <a:buClr>
                <a:schemeClr val="accent3"/>
              </a:buClr>
              <a:buSzPts val="1900"/>
              <a:buFont typeface="Noto Sans Symbols"/>
              <a:buNone/>
            </a:pPr>
            <a:r>
              <a:rPr lang="en-US" sz="2000">
                <a:latin typeface="Times New Roman"/>
                <a:ea typeface="Times New Roman"/>
                <a:cs typeface="Times New Roman"/>
                <a:sym typeface="Times New Roman"/>
              </a:rPr>
              <a:t> Such a process is called </a:t>
            </a:r>
            <a:r>
              <a:rPr lang="en-US" sz="2000">
                <a:solidFill>
                  <a:srgbClr val="0B5ED7"/>
                </a:solidFill>
                <a:latin typeface="Times New Roman"/>
                <a:ea typeface="Times New Roman"/>
                <a:cs typeface="Times New Roman"/>
                <a:sym typeface="Times New Roman"/>
              </a:rPr>
              <a:t>Poisson process</a:t>
            </a:r>
            <a:r>
              <a:rPr lang="en-US" sz="2000">
                <a:latin typeface="Times New Roman"/>
                <a:ea typeface="Times New Roman"/>
                <a:cs typeface="Times New Roman"/>
                <a:sym typeface="Times New Roman"/>
              </a:rPr>
              <a:t>.</a:t>
            </a:r>
            <a:endParaRPr/>
          </a:p>
          <a:p>
            <a:pPr marL="0" lvl="1" indent="0" algn="just" rtl="0">
              <a:spcBef>
                <a:spcPts val="400"/>
              </a:spcBef>
              <a:spcAft>
                <a:spcPts val="0"/>
              </a:spcAft>
              <a:buClr>
                <a:schemeClr val="accent3"/>
              </a:buClr>
              <a:buSzPts val="1900"/>
              <a:buFont typeface="Noto Sans Symbols"/>
              <a:buNone/>
            </a:pPr>
            <a:endParaRPr sz="2000">
              <a:latin typeface="Times New Roman"/>
              <a:ea typeface="Times New Roman"/>
              <a:cs typeface="Times New Roman"/>
              <a:sym typeface="Times New Roman"/>
            </a:endParaRPr>
          </a:p>
          <a:p>
            <a:pPr marL="1060658" lvl="1" indent="-1060658" algn="just" rtl="0">
              <a:spcBef>
                <a:spcPts val="400"/>
              </a:spcBef>
              <a:spcAft>
                <a:spcPts val="0"/>
              </a:spcAft>
              <a:buClr>
                <a:schemeClr val="accent3"/>
              </a:buClr>
              <a:buSzPts val="1900"/>
              <a:buFont typeface="Noto Sans Symbols"/>
              <a:buNone/>
            </a:pPr>
            <a:r>
              <a:rPr lang="en-US" sz="2000" b="1">
                <a:latin typeface="Times New Roman"/>
                <a:ea typeface="Times New Roman"/>
                <a:cs typeface="Times New Roman"/>
                <a:sym typeface="Times New Roman"/>
              </a:rPr>
              <a:t>	</a:t>
            </a:r>
            <a:r>
              <a:rPr lang="en-US" sz="2000">
                <a:latin typeface="Times New Roman"/>
                <a:ea typeface="Times New Roman"/>
                <a:cs typeface="Times New Roman"/>
                <a:sym typeface="Times New Roman"/>
              </a:rPr>
              <a:t>Number of clients visiting a ticket selling counter in a metro station.</a:t>
            </a:r>
            <a:endParaRPr/>
          </a:p>
          <a:p>
            <a:pPr marL="1060658" lvl="1" indent="-1060658" algn="just" rtl="0">
              <a:spcBef>
                <a:spcPts val="400"/>
              </a:spcBef>
              <a:spcAft>
                <a:spcPts val="0"/>
              </a:spcAft>
              <a:buClr>
                <a:schemeClr val="accent3"/>
              </a:buClr>
              <a:buSzPts val="1900"/>
              <a:buFont typeface="Noto Sans Symbols"/>
              <a:buNone/>
            </a:pPr>
            <a:r>
              <a:rPr lang="en-US"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727" name="Google Shape;727;p44"/>
          <p:cNvSpPr txBox="1">
            <a:spLocks noGrp="1"/>
          </p:cNvSpPr>
          <p:nvPr>
            <p:ph type="sldNum" idx="12"/>
          </p:nvPr>
        </p:nvSpPr>
        <p:spPr>
          <a:xfrm>
            <a:off x="7086600" y="6400800"/>
            <a:ext cx="1905000" cy="309563"/>
          </a:xfrm>
          <a:prstGeom prst="rect">
            <a:avLst/>
          </a:prstGeom>
          <a:noFill/>
          <a:ln>
            <a:noFill/>
          </a:ln>
        </p:spPr>
        <p:txBody>
          <a:bodyPr spcFirstLastPara="1" wrap="square" lIns="85325" tIns="42650" rIns="85325" bIns="42650" anchor="b" anchorCtr="0">
            <a:noAutofit/>
          </a:bodyPr>
          <a:lstStyle/>
          <a:p>
            <a:pPr marL="0" lvl="0" indent="0" algn="r" rtl="0">
              <a:spcBef>
                <a:spcPts val="0"/>
              </a:spcBef>
              <a:spcAft>
                <a:spcPts val="0"/>
              </a:spcAft>
              <a:buNone/>
            </a:pPr>
            <a:endParaRPr>
              <a:solidFill>
                <a:srgbClr val="035C75"/>
              </a:solidFill>
              <a:latin typeface="Tahoma"/>
              <a:ea typeface="Tahoma"/>
              <a:cs typeface="Tahoma"/>
              <a:sym typeface="Tahoma"/>
            </a:endParaRPr>
          </a:p>
        </p:txBody>
      </p:sp>
      <p:pic>
        <p:nvPicPr>
          <p:cNvPr id="728" name="Google Shape;728;p44"/>
          <p:cNvPicPr preferRelativeResize="0"/>
          <p:nvPr/>
        </p:nvPicPr>
        <p:blipFill rotWithShape="1">
          <a:blip r:embed="rId3">
            <a:alphaModFix/>
          </a:blip>
          <a:srcRect/>
          <a:stretch/>
        </p:blipFill>
        <p:spPr>
          <a:xfrm>
            <a:off x="1219200" y="3733800"/>
            <a:ext cx="5373688" cy="296068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45"/>
          <p:cNvSpPr txBox="1">
            <a:spLocks noGrp="1"/>
          </p:cNvSpPr>
          <p:nvPr>
            <p:ph type="title"/>
          </p:nvPr>
        </p:nvSpPr>
        <p:spPr>
          <a:xfrm>
            <a:off x="395288" y="7938"/>
            <a:ext cx="8229600" cy="1025525"/>
          </a:xfrm>
          <a:prstGeom prst="rect">
            <a:avLst/>
          </a:prstGeom>
          <a:noFill/>
          <a:ln>
            <a:noFill/>
          </a:ln>
        </p:spPr>
        <p:txBody>
          <a:bodyPr spcFirstLastPara="1" wrap="square" lIns="85325" tIns="42650" rIns="85325" bIns="42650" anchor="b" anchorCtr="0">
            <a:normAutofit/>
          </a:bodyPr>
          <a:lstStyle/>
          <a:p>
            <a:pPr marL="0" lvl="0" indent="0" algn="l" rtl="0">
              <a:spcBef>
                <a:spcPts val="0"/>
              </a:spcBef>
              <a:spcAft>
                <a:spcPts val="0"/>
              </a:spcAft>
              <a:buNone/>
            </a:pPr>
            <a:r>
              <a:rPr lang="en-US" sz="3907">
                <a:solidFill>
                  <a:srgbClr val="A50021"/>
                </a:solidFill>
                <a:latin typeface="Times New Roman"/>
                <a:ea typeface="Times New Roman"/>
                <a:cs typeface="Times New Roman"/>
                <a:sym typeface="Times New Roman"/>
              </a:rPr>
              <a:t>The Poisson Distribution</a:t>
            </a:r>
            <a:endParaRPr sz="3907">
              <a:solidFill>
                <a:srgbClr val="A50021"/>
              </a:solidFill>
              <a:latin typeface="Times New Roman"/>
              <a:ea typeface="Times New Roman"/>
              <a:cs typeface="Times New Roman"/>
              <a:sym typeface="Times New Roman"/>
            </a:endParaRPr>
          </a:p>
        </p:txBody>
      </p:sp>
      <p:sp>
        <p:nvSpPr>
          <p:cNvPr id="734" name="Google Shape;734;p45"/>
          <p:cNvSpPr txBox="1">
            <a:spLocks noGrp="1"/>
          </p:cNvSpPr>
          <p:nvPr>
            <p:ph type="body" idx="1"/>
          </p:nvPr>
        </p:nvSpPr>
        <p:spPr>
          <a:xfrm>
            <a:off x="471488" y="1028700"/>
            <a:ext cx="8229600" cy="2763838"/>
          </a:xfrm>
          <a:prstGeom prst="rect">
            <a:avLst/>
          </a:prstGeom>
          <a:noFill/>
          <a:ln>
            <a:noFill/>
          </a:ln>
        </p:spPr>
        <p:txBody>
          <a:bodyPr spcFirstLastPara="1" wrap="square" lIns="85325" tIns="42650" rIns="85325" bIns="42650" anchor="t" anchorCtr="0">
            <a:noAutofit/>
          </a:bodyPr>
          <a:lstStyle/>
          <a:p>
            <a:pPr marL="0" lvl="1" indent="0" algn="just" rtl="0">
              <a:spcBef>
                <a:spcPts val="0"/>
              </a:spcBef>
              <a:spcAft>
                <a:spcPts val="0"/>
              </a:spcAft>
              <a:buClr>
                <a:schemeClr val="accent3"/>
              </a:buClr>
              <a:buSzPts val="1856"/>
              <a:buFont typeface="Noto Sans Symbols"/>
              <a:buNone/>
            </a:pPr>
            <a:endParaRPr sz="1954" b="1">
              <a:latin typeface="Times New Roman"/>
              <a:ea typeface="Times New Roman"/>
              <a:cs typeface="Times New Roman"/>
              <a:sym typeface="Times New Roman"/>
            </a:endParaRPr>
          </a:p>
          <a:p>
            <a:pPr marL="0" lvl="1" indent="0" algn="just" rtl="0">
              <a:spcBef>
                <a:spcPts val="391"/>
              </a:spcBef>
              <a:spcAft>
                <a:spcPts val="0"/>
              </a:spcAft>
              <a:buClr>
                <a:schemeClr val="accent3"/>
              </a:buClr>
              <a:buSzPts val="1856"/>
              <a:buFont typeface="Noto Sans Symbols"/>
              <a:buNone/>
            </a:pPr>
            <a:endParaRPr sz="1954" b="1">
              <a:latin typeface="Times New Roman"/>
              <a:ea typeface="Times New Roman"/>
              <a:cs typeface="Times New Roman"/>
              <a:sym typeface="Times New Roman"/>
            </a:endParaRPr>
          </a:p>
          <a:p>
            <a:pPr marL="0" lvl="1" indent="0" algn="just" rtl="0">
              <a:spcBef>
                <a:spcPts val="391"/>
              </a:spcBef>
              <a:spcAft>
                <a:spcPts val="0"/>
              </a:spcAft>
              <a:buClr>
                <a:schemeClr val="accent3"/>
              </a:buClr>
              <a:buSzPts val="1856"/>
              <a:buFont typeface="Noto Sans Symbols"/>
              <a:buNone/>
            </a:pPr>
            <a:r>
              <a:rPr lang="en-US" sz="1954" b="1">
                <a:latin typeface="Times New Roman"/>
                <a:ea typeface="Times New Roman"/>
                <a:cs typeface="Times New Roman"/>
                <a:sym typeface="Times New Roman"/>
              </a:rPr>
              <a:t>Properties of Poisson process</a:t>
            </a:r>
            <a:endParaRPr/>
          </a:p>
          <a:p>
            <a:pPr marL="267956" lvl="1" indent="-267956" algn="just" rtl="0">
              <a:spcBef>
                <a:spcPts val="480"/>
              </a:spcBef>
              <a:spcAft>
                <a:spcPts val="0"/>
              </a:spcAft>
              <a:buClr>
                <a:schemeClr val="accent3"/>
              </a:buClr>
              <a:buSzPts val="2280"/>
              <a:buChar char="■"/>
            </a:pPr>
            <a:r>
              <a:rPr lang="en-US">
                <a:latin typeface="Times New Roman"/>
                <a:ea typeface="Times New Roman"/>
                <a:cs typeface="Times New Roman"/>
                <a:sym typeface="Times New Roman"/>
              </a:rPr>
              <a:t>The number of outcomes in one time interval is independent of the number that occurs in any other disjoint interval [</a:t>
            </a:r>
            <a:r>
              <a:rPr lang="en-US">
                <a:solidFill>
                  <a:srgbClr val="0B5ED7"/>
                </a:solidFill>
                <a:latin typeface="Times New Roman"/>
                <a:ea typeface="Times New Roman"/>
                <a:cs typeface="Times New Roman"/>
                <a:sym typeface="Times New Roman"/>
              </a:rPr>
              <a:t>Poisson process has no memory</a:t>
            </a:r>
            <a:r>
              <a:rPr lang="en-US">
                <a:latin typeface="Times New Roman"/>
                <a:ea typeface="Times New Roman"/>
                <a:cs typeface="Times New Roman"/>
                <a:sym typeface="Times New Roman"/>
              </a:rPr>
              <a:t>]</a:t>
            </a:r>
            <a:endParaRPr/>
          </a:p>
          <a:p>
            <a:pPr marL="267956" lvl="1" indent="-267956" algn="just" rtl="0">
              <a:spcBef>
                <a:spcPts val="480"/>
              </a:spcBef>
              <a:spcAft>
                <a:spcPts val="0"/>
              </a:spcAft>
              <a:buClr>
                <a:schemeClr val="accent3"/>
              </a:buClr>
              <a:buSzPts val="2280"/>
              <a:buChar char="■"/>
            </a:pPr>
            <a:r>
              <a:rPr lang="en-US">
                <a:latin typeface="Times New Roman"/>
                <a:ea typeface="Times New Roman"/>
                <a:cs typeface="Times New Roman"/>
                <a:sym typeface="Times New Roman"/>
              </a:rPr>
              <a:t>The probability that a single outcome will occur during a very short interval is proportional to the length of the time interval and does not depend on the number of outcomes occurring outside this time interval.</a:t>
            </a:r>
            <a:endParaRPr/>
          </a:p>
          <a:p>
            <a:pPr marL="267956" lvl="1" indent="-267956" algn="just" rtl="0">
              <a:spcBef>
                <a:spcPts val="480"/>
              </a:spcBef>
              <a:spcAft>
                <a:spcPts val="0"/>
              </a:spcAft>
              <a:buClr>
                <a:schemeClr val="accent3"/>
              </a:buClr>
              <a:buSzPts val="2280"/>
              <a:buChar char="■"/>
            </a:pPr>
            <a:r>
              <a:rPr lang="en-US">
                <a:latin typeface="Times New Roman"/>
                <a:ea typeface="Times New Roman"/>
                <a:cs typeface="Times New Roman"/>
                <a:sym typeface="Times New Roman"/>
              </a:rPr>
              <a:t>The probability that more than one outcome will occur in such a short time interval is negligible.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46"/>
          <p:cNvSpPr/>
          <p:nvPr/>
        </p:nvSpPr>
        <p:spPr>
          <a:xfrm>
            <a:off x="609600" y="2819400"/>
            <a:ext cx="7848600" cy="3276600"/>
          </a:xfrm>
          <a:prstGeom prst="rect">
            <a:avLst/>
          </a:prstGeom>
          <a:blipFill rotWithShape="1">
            <a:blip r:embed="rId3">
              <a:alphaModFix/>
            </a:blip>
            <a:stretch>
              <a:fillRect l="-75" r="-75" b="-123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latin typeface="Arial"/>
                <a:ea typeface="Arial"/>
                <a:cs typeface="Arial"/>
                <a:sym typeface="Arial"/>
              </a:rPr>
              <a:t> </a:t>
            </a:r>
            <a:endParaRPr/>
          </a:p>
        </p:txBody>
      </p:sp>
      <p:sp>
        <p:nvSpPr>
          <p:cNvPr id="740" name="Google Shape;740;p46"/>
          <p:cNvSpPr txBox="1"/>
          <p:nvPr/>
        </p:nvSpPr>
        <p:spPr>
          <a:xfrm>
            <a:off x="395288" y="7938"/>
            <a:ext cx="8229600" cy="1025525"/>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None/>
            </a:pPr>
            <a:r>
              <a:rPr lang="en-US" sz="3907">
                <a:solidFill>
                  <a:srgbClr val="A50021"/>
                </a:solidFill>
                <a:latin typeface="Times New Roman"/>
                <a:ea typeface="Times New Roman"/>
                <a:cs typeface="Times New Roman"/>
                <a:sym typeface="Times New Roman"/>
              </a:rPr>
              <a:t>The Poisson Distribution</a:t>
            </a:r>
            <a:endParaRPr sz="3907">
              <a:solidFill>
                <a:srgbClr val="A5002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47"/>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Poisson Distribution</a:t>
            </a:r>
            <a:endParaRPr/>
          </a:p>
        </p:txBody>
      </p:sp>
      <p:sp>
        <p:nvSpPr>
          <p:cNvPr id="747" name="Google Shape;747;p47"/>
          <p:cNvSpPr/>
          <p:nvPr/>
        </p:nvSpPr>
        <p:spPr>
          <a:xfrm>
            <a:off x="304800" y="1185863"/>
            <a:ext cx="8610600" cy="201453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2400" b="1">
              <a:solidFill>
                <a:schemeClr val="dk1"/>
              </a:solidFill>
              <a:latin typeface="Arial"/>
              <a:ea typeface="Arial"/>
              <a:cs typeface="Arial"/>
              <a:sym typeface="Arial"/>
            </a:endParaRPr>
          </a:p>
          <a:p>
            <a:pPr marL="0" marR="0" lvl="0" indent="0" algn="ctr" rtl="0">
              <a:spcBef>
                <a:spcPts val="480"/>
              </a:spcBef>
              <a:spcAft>
                <a:spcPts val="0"/>
              </a:spcAft>
              <a:buNone/>
            </a:pPr>
            <a:r>
              <a:rPr lang="en-US" sz="2400" b="1">
                <a:solidFill>
                  <a:schemeClr val="dk1"/>
                </a:solidFill>
                <a:latin typeface="Arial"/>
                <a:ea typeface="Arial"/>
                <a:cs typeface="Arial"/>
                <a:sym typeface="Arial"/>
              </a:rPr>
              <a:t>Example</a:t>
            </a:r>
            <a:r>
              <a:rPr lang="en-US" sz="2400">
                <a:solidFill>
                  <a:schemeClr val="dk1"/>
                </a:solidFill>
                <a:latin typeface="Times New Roman"/>
                <a:ea typeface="Times New Roman"/>
                <a:cs typeface="Times New Roman"/>
                <a:sym typeface="Times New Roman"/>
              </a:rPr>
              <a:t>:</a:t>
            </a:r>
            <a:endParaRPr/>
          </a:p>
          <a:p>
            <a:pPr marL="0" marR="0" lvl="0" indent="0" algn="l" rtl="0">
              <a:spcBef>
                <a:spcPts val="480"/>
              </a:spcBef>
              <a:spcAft>
                <a:spcPts val="0"/>
              </a:spcAft>
              <a:buNone/>
            </a:pPr>
            <a:r>
              <a:rPr lang="en-US" sz="2400">
                <a:solidFill>
                  <a:schemeClr val="dk1"/>
                </a:solidFill>
                <a:latin typeface="Times New Roman"/>
                <a:ea typeface="Times New Roman"/>
                <a:cs typeface="Times New Roman"/>
                <a:sym typeface="Times New Roman"/>
              </a:rPr>
              <a:t>The mean number of power outages in the city of Brunswick is 4 per year.  Find the probability that in a given year, </a:t>
            </a:r>
            <a:endParaRPr/>
          </a:p>
          <a:p>
            <a:pPr marL="0" marR="0" lvl="0" indent="0" algn="l" rtl="0">
              <a:spcBef>
                <a:spcPts val="480"/>
              </a:spcBef>
              <a:spcAft>
                <a:spcPts val="0"/>
              </a:spcAft>
              <a:buNone/>
            </a:pPr>
            <a:r>
              <a:rPr lang="en-US" sz="2400">
                <a:solidFill>
                  <a:schemeClr val="dk1"/>
                </a:solidFill>
                <a:latin typeface="Times New Roman"/>
                <a:ea typeface="Times New Roman"/>
                <a:cs typeface="Times New Roman"/>
                <a:sym typeface="Times New Roman"/>
              </a:rPr>
              <a:t>a.)  there are exactly 3 outages,b.)  there are more than 3 outages.</a:t>
            </a:r>
            <a:endParaRPr/>
          </a:p>
        </p:txBody>
      </p:sp>
      <p:pic>
        <p:nvPicPr>
          <p:cNvPr id="748" name="Google Shape;748;p47"/>
          <p:cNvPicPr preferRelativeResize="0"/>
          <p:nvPr/>
        </p:nvPicPr>
        <p:blipFill rotWithShape="1">
          <a:blip r:embed="rId3">
            <a:alphaModFix/>
          </a:blip>
          <a:srcRect/>
          <a:stretch/>
        </p:blipFill>
        <p:spPr>
          <a:xfrm>
            <a:off x="685800" y="4343400"/>
            <a:ext cx="2590800" cy="660400"/>
          </a:xfrm>
          <a:prstGeom prst="rect">
            <a:avLst/>
          </a:prstGeom>
          <a:noFill/>
          <a:ln>
            <a:noFill/>
          </a:ln>
        </p:spPr>
      </p:pic>
      <p:pic>
        <p:nvPicPr>
          <p:cNvPr id="749" name="Google Shape;749;p47"/>
          <p:cNvPicPr preferRelativeResize="0"/>
          <p:nvPr/>
        </p:nvPicPr>
        <p:blipFill rotWithShape="1">
          <a:blip r:embed="rId4">
            <a:alphaModFix/>
          </a:blip>
          <a:srcRect/>
          <a:stretch/>
        </p:blipFill>
        <p:spPr>
          <a:xfrm>
            <a:off x="762000" y="3543300"/>
            <a:ext cx="2082800" cy="368300"/>
          </a:xfrm>
          <a:prstGeom prst="rect">
            <a:avLst/>
          </a:prstGeom>
          <a:noFill/>
          <a:ln>
            <a:noFill/>
          </a:ln>
        </p:spPr>
      </p:pic>
      <p:pic>
        <p:nvPicPr>
          <p:cNvPr id="750" name="Google Shape;750;p47"/>
          <p:cNvPicPr preferRelativeResize="0"/>
          <p:nvPr/>
        </p:nvPicPr>
        <p:blipFill rotWithShape="1">
          <a:blip r:embed="rId5">
            <a:alphaModFix/>
          </a:blip>
          <a:srcRect/>
          <a:stretch/>
        </p:blipFill>
        <p:spPr>
          <a:xfrm>
            <a:off x="1295400" y="5334000"/>
            <a:ext cx="977900" cy="266700"/>
          </a:xfrm>
          <a:prstGeom prst="rect">
            <a:avLst/>
          </a:prstGeom>
          <a:noFill/>
          <a:ln>
            <a:noFill/>
          </a:ln>
        </p:spPr>
      </p:pic>
      <p:pic>
        <p:nvPicPr>
          <p:cNvPr id="751" name="Google Shape;751;p47"/>
          <p:cNvPicPr preferRelativeResize="0"/>
          <p:nvPr/>
        </p:nvPicPr>
        <p:blipFill rotWithShape="1">
          <a:blip r:embed="rId6">
            <a:alphaModFix/>
          </a:blip>
          <a:srcRect/>
          <a:stretch/>
        </p:blipFill>
        <p:spPr>
          <a:xfrm>
            <a:off x="4038600" y="3543300"/>
            <a:ext cx="2552700" cy="330200"/>
          </a:xfrm>
          <a:prstGeom prst="rect">
            <a:avLst/>
          </a:prstGeom>
          <a:noFill/>
          <a:ln>
            <a:noFill/>
          </a:ln>
        </p:spPr>
      </p:pic>
      <p:pic>
        <p:nvPicPr>
          <p:cNvPr id="752" name="Google Shape;752;p47"/>
          <p:cNvPicPr preferRelativeResize="0"/>
          <p:nvPr/>
        </p:nvPicPr>
        <p:blipFill rotWithShape="1">
          <a:blip r:embed="rId7">
            <a:alphaModFix/>
          </a:blip>
          <a:srcRect/>
          <a:stretch/>
        </p:blipFill>
        <p:spPr>
          <a:xfrm>
            <a:off x="4495800" y="4584700"/>
            <a:ext cx="3962400" cy="330200"/>
          </a:xfrm>
          <a:prstGeom prst="rect">
            <a:avLst/>
          </a:prstGeom>
          <a:noFill/>
          <a:ln>
            <a:noFill/>
          </a:ln>
        </p:spPr>
      </p:pic>
      <p:pic>
        <p:nvPicPr>
          <p:cNvPr id="753" name="Google Shape;753;p47"/>
          <p:cNvPicPr preferRelativeResize="0"/>
          <p:nvPr/>
        </p:nvPicPr>
        <p:blipFill rotWithShape="1">
          <a:blip r:embed="rId8">
            <a:alphaModFix/>
          </a:blip>
          <a:srcRect/>
          <a:stretch/>
        </p:blipFill>
        <p:spPr>
          <a:xfrm>
            <a:off x="4495800" y="4000500"/>
            <a:ext cx="1739900" cy="330200"/>
          </a:xfrm>
          <a:prstGeom prst="rect">
            <a:avLst/>
          </a:prstGeom>
          <a:noFill/>
          <a:ln>
            <a:noFill/>
          </a:ln>
        </p:spPr>
      </p:pic>
      <p:pic>
        <p:nvPicPr>
          <p:cNvPr id="754" name="Google Shape;754;p47"/>
          <p:cNvPicPr preferRelativeResize="0"/>
          <p:nvPr/>
        </p:nvPicPr>
        <p:blipFill rotWithShape="1">
          <a:blip r:embed="rId9">
            <a:alphaModFix/>
          </a:blip>
          <a:srcRect/>
          <a:stretch/>
        </p:blipFill>
        <p:spPr>
          <a:xfrm>
            <a:off x="4495800" y="5168900"/>
            <a:ext cx="4546600" cy="330200"/>
          </a:xfrm>
          <a:prstGeom prst="rect">
            <a:avLst/>
          </a:prstGeom>
          <a:noFill/>
          <a:ln>
            <a:noFill/>
          </a:ln>
        </p:spPr>
      </p:pic>
      <p:pic>
        <p:nvPicPr>
          <p:cNvPr id="755" name="Google Shape;755;p47"/>
          <p:cNvPicPr preferRelativeResize="0"/>
          <p:nvPr/>
        </p:nvPicPr>
        <p:blipFill rotWithShape="1">
          <a:blip r:embed="rId10">
            <a:alphaModFix/>
          </a:blip>
          <a:srcRect/>
          <a:stretch/>
        </p:blipFill>
        <p:spPr>
          <a:xfrm>
            <a:off x="4495800" y="5753100"/>
            <a:ext cx="990600" cy="254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p48"/>
          <p:cNvSpPr/>
          <p:nvPr/>
        </p:nvSpPr>
        <p:spPr>
          <a:xfrm>
            <a:off x="228600" y="2514600"/>
            <a:ext cx="8229600" cy="23082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Binomial problems with large sample sizes and small values of p, which then  generate rare events, are potential candidates for use of the Poisson distribution.</a:t>
            </a:r>
            <a:endParaRPr/>
          </a:p>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As a rule of thumb, if n &gt;20 and n p &lt;7, the approximation is close enough to use the Poisson distribution for binomial problems.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p49"/>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rmAutofit/>
          </a:bodyPr>
          <a:lstStyle/>
          <a:p>
            <a:pPr marL="0" lvl="0" indent="0" algn="l" rtl="0">
              <a:spcBef>
                <a:spcPts val="0"/>
              </a:spcBef>
              <a:spcAft>
                <a:spcPts val="0"/>
              </a:spcAft>
              <a:buNone/>
            </a:pPr>
            <a:r>
              <a:rPr lang="en-US" sz="3907">
                <a:solidFill>
                  <a:srgbClr val="A50021"/>
                </a:solidFill>
                <a:latin typeface="Times New Roman"/>
                <a:ea typeface="Times New Roman"/>
                <a:cs typeface="Times New Roman"/>
                <a:sym typeface="Times New Roman"/>
              </a:rPr>
              <a:t>The Hypergeometric Distribution</a:t>
            </a:r>
            <a:endParaRPr sz="3907">
              <a:solidFill>
                <a:srgbClr val="A50021"/>
              </a:solidFill>
              <a:latin typeface="Times New Roman"/>
              <a:ea typeface="Times New Roman"/>
              <a:cs typeface="Times New Roman"/>
              <a:sym typeface="Times New Roman"/>
            </a:endParaRPr>
          </a:p>
        </p:txBody>
      </p:sp>
      <p:sp>
        <p:nvSpPr>
          <p:cNvPr id="766" name="Google Shape;766;p49"/>
          <p:cNvSpPr txBox="1">
            <a:spLocks noGrp="1"/>
          </p:cNvSpPr>
          <p:nvPr>
            <p:ph type="body" idx="1"/>
          </p:nvPr>
        </p:nvSpPr>
        <p:spPr>
          <a:xfrm>
            <a:off x="0" y="1447800"/>
            <a:ext cx="9601200" cy="4114800"/>
          </a:xfrm>
          <a:prstGeom prst="rect">
            <a:avLst/>
          </a:prstGeom>
          <a:noFill/>
          <a:ln>
            <a:noFill/>
          </a:ln>
        </p:spPr>
        <p:txBody>
          <a:bodyPr spcFirstLastPara="1" wrap="square" lIns="85325" tIns="42650" rIns="85325" bIns="42650" anchor="t" anchorCtr="0">
            <a:noAutofit/>
          </a:bodyPr>
          <a:lstStyle/>
          <a:p>
            <a:pPr marL="320675" lvl="0" indent="-320675" algn="l" rtl="0">
              <a:spcBef>
                <a:spcPts val="0"/>
              </a:spcBef>
              <a:spcAft>
                <a:spcPts val="0"/>
              </a:spcAft>
              <a:buSzPts val="1680"/>
              <a:buChar char="■"/>
            </a:pPr>
            <a:r>
              <a:rPr lang="en-US"/>
              <a:t>The hypergeometric distribution has the following characteristics:</a:t>
            </a:r>
            <a:endParaRPr/>
          </a:p>
          <a:p>
            <a:pPr marL="320675" lvl="0" indent="-320675" algn="l" rtl="0">
              <a:spcBef>
                <a:spcPts val="560"/>
              </a:spcBef>
              <a:spcAft>
                <a:spcPts val="0"/>
              </a:spcAft>
              <a:buSzPts val="1680"/>
              <a:buChar char="■"/>
            </a:pPr>
            <a:r>
              <a:rPr lang="en-US"/>
              <a:t>It is discrete distribution.</a:t>
            </a:r>
            <a:endParaRPr/>
          </a:p>
          <a:p>
            <a:pPr marL="320675" lvl="0" indent="-320675" algn="l" rtl="0">
              <a:spcBef>
                <a:spcPts val="560"/>
              </a:spcBef>
              <a:spcAft>
                <a:spcPts val="0"/>
              </a:spcAft>
              <a:buSzPts val="1680"/>
              <a:buChar char="■"/>
            </a:pPr>
            <a:r>
              <a:rPr lang="en-US"/>
              <a:t>Each outcome consists of either a success or a failure.</a:t>
            </a:r>
            <a:endParaRPr/>
          </a:p>
          <a:p>
            <a:pPr marL="320675" lvl="0" indent="-320675" algn="l" rtl="0">
              <a:spcBef>
                <a:spcPts val="560"/>
              </a:spcBef>
              <a:spcAft>
                <a:spcPts val="0"/>
              </a:spcAft>
              <a:buSzPts val="1680"/>
              <a:buChar char="■"/>
            </a:pPr>
            <a:r>
              <a:rPr lang="en-US"/>
              <a:t>Sampling is done without replacement.</a:t>
            </a:r>
            <a:endParaRPr/>
          </a:p>
          <a:p>
            <a:pPr marL="320675" lvl="0" indent="-320675" algn="l" rtl="0">
              <a:spcBef>
                <a:spcPts val="560"/>
              </a:spcBef>
              <a:spcAft>
                <a:spcPts val="0"/>
              </a:spcAft>
              <a:buSzPts val="1680"/>
              <a:buChar char="■"/>
            </a:pPr>
            <a:r>
              <a:rPr lang="en-US"/>
              <a:t>The population, </a:t>
            </a:r>
            <a:r>
              <a:rPr lang="en-US" i="1"/>
              <a:t>N, is finite and known.</a:t>
            </a:r>
            <a:endParaRPr/>
          </a:p>
          <a:p>
            <a:pPr marL="320675" lvl="0" indent="-320675" algn="l" rtl="0">
              <a:spcBef>
                <a:spcPts val="560"/>
              </a:spcBef>
              <a:spcAft>
                <a:spcPts val="0"/>
              </a:spcAft>
              <a:buSzPts val="1680"/>
              <a:buChar char="■"/>
            </a:pPr>
            <a:r>
              <a:rPr lang="en-US"/>
              <a:t>The number of successes in the population, </a:t>
            </a:r>
            <a:r>
              <a:rPr lang="en-US" i="1"/>
              <a:t>A, is known.</a:t>
            </a:r>
            <a:endParaRPr/>
          </a:p>
        </p:txBody>
      </p:sp>
      <p:pic>
        <p:nvPicPr>
          <p:cNvPr id="767" name="Google Shape;767;p49"/>
          <p:cNvPicPr preferRelativeResize="0"/>
          <p:nvPr/>
        </p:nvPicPr>
        <p:blipFill rotWithShape="1">
          <a:blip r:embed="rId3">
            <a:alphaModFix/>
          </a:blip>
          <a:srcRect/>
          <a:stretch/>
        </p:blipFill>
        <p:spPr>
          <a:xfrm>
            <a:off x="914400" y="5124450"/>
            <a:ext cx="7696200" cy="17335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50"/>
          <p:cNvSpPr/>
          <p:nvPr/>
        </p:nvSpPr>
        <p:spPr>
          <a:xfrm>
            <a:off x="0" y="1536700"/>
            <a:ext cx="9144000" cy="19383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As an application of the hypergeometric distribution, consider the following problem.Twenty-four people, of whom eight are women, apply for a job. If five of the applicants are sampled randomly, what is the probability that exactly three of those sampled are women?</a:t>
            </a:r>
            <a:endParaRPr/>
          </a:p>
        </p:txBody>
      </p:sp>
      <p:sp>
        <p:nvSpPr>
          <p:cNvPr id="773" name="Google Shape;773;p50"/>
          <p:cNvSpPr/>
          <p:nvPr/>
        </p:nvSpPr>
        <p:spPr>
          <a:xfrm>
            <a:off x="0" y="3429000"/>
            <a:ext cx="9144000" cy="19383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In summary, the hypergeometric distribution should be used instead of the binomial distribution when the following conditions are present:</a:t>
            </a:r>
            <a:endParaRPr/>
          </a:p>
          <a:p>
            <a:pPr marL="0" marR="0" lvl="0" indent="0" algn="l" rtl="0">
              <a:spcBef>
                <a:spcPts val="0"/>
              </a:spcBef>
              <a:spcAft>
                <a:spcPts val="0"/>
              </a:spcAft>
              <a:buNone/>
            </a:pPr>
            <a:r>
              <a:rPr lang="en-US" sz="2400" b="1">
                <a:solidFill>
                  <a:schemeClr val="dk1"/>
                </a:solidFill>
                <a:latin typeface="Arial"/>
                <a:ea typeface="Arial"/>
                <a:cs typeface="Arial"/>
                <a:sym typeface="Arial"/>
              </a:rPr>
              <a:t>1. Sampling is being done without replacement.</a:t>
            </a:r>
            <a:endParaRPr/>
          </a:p>
          <a:p>
            <a:pPr marL="0" marR="0" lvl="0" indent="0" algn="l" rtl="0">
              <a:spcBef>
                <a:spcPts val="0"/>
              </a:spcBef>
              <a:spcAft>
                <a:spcPts val="0"/>
              </a:spcAft>
              <a:buNone/>
            </a:pPr>
            <a:r>
              <a:rPr lang="en-US" sz="2400" b="1">
                <a:solidFill>
                  <a:schemeClr val="dk1"/>
                </a:solidFill>
                <a:latin typeface="Arial"/>
                <a:ea typeface="Arial"/>
                <a:cs typeface="Arial"/>
                <a:sym typeface="Arial"/>
              </a:rPr>
              <a:t>2. </a:t>
            </a:r>
            <a:r>
              <a:rPr lang="en-US" sz="2400" b="1" i="1">
                <a:solidFill>
                  <a:schemeClr val="dk1"/>
                </a:solidFill>
                <a:latin typeface="Arial"/>
                <a:ea typeface="Arial"/>
                <a:cs typeface="Arial"/>
                <a:sym typeface="Arial"/>
              </a:rPr>
              <a:t>n &gt;5% N.</a:t>
            </a:r>
            <a:endParaRPr sz="2400">
              <a:solidFill>
                <a:schemeClr val="dk1"/>
              </a:solidFill>
              <a:latin typeface="Arial"/>
              <a:ea typeface="Arial"/>
              <a:cs typeface="Arial"/>
              <a:sym typeface="Arial"/>
            </a:endParaRPr>
          </a:p>
        </p:txBody>
      </p:sp>
      <p:sp>
        <p:nvSpPr>
          <p:cNvPr id="774" name="Google Shape;774;p50"/>
          <p:cNvSpPr/>
          <p:nvPr/>
        </p:nvSpPr>
        <p:spPr>
          <a:xfrm>
            <a:off x="609600" y="5334000"/>
            <a:ext cx="7924800" cy="83026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The </a:t>
            </a:r>
            <a:r>
              <a:rPr lang="en-US" sz="2400" u="sng">
                <a:solidFill>
                  <a:schemeClr val="hlink"/>
                </a:solidFill>
                <a:latin typeface="Arial"/>
                <a:ea typeface="Arial"/>
                <a:cs typeface="Arial"/>
                <a:sym typeface="Arial"/>
                <a:hlinkClick r:id="rId3"/>
              </a:rPr>
              <a:t>mean</a:t>
            </a:r>
            <a:r>
              <a:rPr lang="en-US" sz="2400">
                <a:solidFill>
                  <a:schemeClr val="dk1"/>
                </a:solidFill>
                <a:latin typeface="Arial"/>
                <a:ea typeface="Arial"/>
                <a:cs typeface="Arial"/>
                <a:sym typeface="Arial"/>
              </a:rPr>
              <a:t> =is </a:t>
            </a:r>
            <a:r>
              <a:rPr lang="en-US" sz="2400" i="1">
                <a:solidFill>
                  <a:schemeClr val="dk1"/>
                </a:solidFill>
                <a:latin typeface="Arial"/>
                <a:ea typeface="Arial"/>
                <a:cs typeface="Arial"/>
                <a:sym typeface="Arial"/>
              </a:rPr>
              <a:t>nk</a:t>
            </a:r>
            <a:r>
              <a:rPr lang="en-US" sz="2400">
                <a:solidFill>
                  <a:schemeClr val="dk1"/>
                </a:solidFill>
                <a:latin typeface="Arial"/>
                <a:ea typeface="Arial"/>
                <a:cs typeface="Arial"/>
                <a:sym typeface="Arial"/>
              </a:rPr>
              <a:t>/</a:t>
            </a:r>
            <a:r>
              <a:rPr lang="en-US" sz="2400" i="1">
                <a:solidFill>
                  <a:schemeClr val="dk1"/>
                </a:solidFill>
                <a:latin typeface="Arial"/>
                <a:ea typeface="Arial"/>
                <a:cs typeface="Arial"/>
                <a:sym typeface="Arial"/>
              </a:rPr>
              <a:t>N</a:t>
            </a:r>
            <a:endParaRPr sz="2400">
              <a:solidFill>
                <a:schemeClr val="dk1"/>
              </a:solidFill>
              <a:latin typeface="Arial"/>
              <a:ea typeface="Arial"/>
              <a:cs typeface="Arial"/>
              <a:sym typeface="Arial"/>
            </a:endParaRPr>
          </a:p>
          <a:p>
            <a:pPr marL="0" marR="0" lvl="0" indent="0" algn="l" rtl="0">
              <a:spcBef>
                <a:spcPts val="0"/>
              </a:spcBef>
              <a:spcAft>
                <a:spcPts val="0"/>
              </a:spcAft>
              <a:buNone/>
            </a:pPr>
            <a:r>
              <a:rPr lang="en-US" sz="2400">
                <a:solidFill>
                  <a:schemeClr val="dk1"/>
                </a:solidFill>
                <a:latin typeface="Arial"/>
                <a:ea typeface="Arial"/>
                <a:cs typeface="Arial"/>
                <a:sym typeface="Arial"/>
              </a:rPr>
              <a:t> </a:t>
            </a:r>
            <a:r>
              <a:rPr lang="en-US" sz="2400" u="sng">
                <a:solidFill>
                  <a:schemeClr val="hlink"/>
                </a:solidFill>
                <a:latin typeface="Arial"/>
                <a:ea typeface="Arial"/>
                <a:cs typeface="Arial"/>
                <a:sym typeface="Arial"/>
                <a:hlinkClick r:id="rId4"/>
              </a:rPr>
              <a:t>variance</a:t>
            </a:r>
            <a:r>
              <a:rPr lang="en-US" sz="2400">
                <a:solidFill>
                  <a:schemeClr val="dk1"/>
                </a:solidFill>
                <a:latin typeface="Arial"/>
                <a:ea typeface="Arial"/>
                <a:cs typeface="Arial"/>
                <a:sym typeface="Arial"/>
              </a:rPr>
              <a:t> =is </a:t>
            </a:r>
            <a:r>
              <a:rPr lang="en-US" sz="2400" i="1">
                <a:solidFill>
                  <a:schemeClr val="dk1"/>
                </a:solidFill>
                <a:latin typeface="Arial"/>
                <a:ea typeface="Arial"/>
                <a:cs typeface="Arial"/>
                <a:sym typeface="Arial"/>
              </a:rPr>
              <a:t>nk</a:t>
            </a:r>
            <a:r>
              <a:rPr lang="en-US" sz="2400">
                <a:solidFill>
                  <a:schemeClr val="dk1"/>
                </a:solidFill>
                <a:latin typeface="Arial"/>
                <a:ea typeface="Arial"/>
                <a:cs typeface="Arial"/>
                <a:sym typeface="Arial"/>
              </a:rPr>
              <a:t>(</a:t>
            </a:r>
            <a:r>
              <a:rPr lang="en-US" sz="2400" i="1">
                <a:solidFill>
                  <a:schemeClr val="dk1"/>
                </a:solidFill>
                <a:latin typeface="Arial"/>
                <a:ea typeface="Arial"/>
                <a:cs typeface="Arial"/>
                <a:sym typeface="Arial"/>
              </a:rPr>
              <a:t>N</a:t>
            </a:r>
            <a:r>
              <a:rPr lang="en-US" sz="2400">
                <a:solidFill>
                  <a:schemeClr val="dk1"/>
                </a:solidFill>
                <a:latin typeface="Arial"/>
                <a:ea typeface="Arial"/>
                <a:cs typeface="Arial"/>
                <a:sym typeface="Arial"/>
              </a:rPr>
              <a:t> − </a:t>
            </a:r>
            <a:r>
              <a:rPr lang="en-US" sz="2400" i="1">
                <a:solidFill>
                  <a:schemeClr val="dk1"/>
                </a:solidFill>
                <a:latin typeface="Arial"/>
                <a:ea typeface="Arial"/>
                <a:cs typeface="Arial"/>
                <a:sym typeface="Arial"/>
              </a:rPr>
              <a:t>k</a:t>
            </a:r>
            <a:r>
              <a:rPr lang="en-US" sz="2400">
                <a:solidFill>
                  <a:schemeClr val="dk1"/>
                </a:solidFill>
                <a:latin typeface="Arial"/>
                <a:ea typeface="Arial"/>
                <a:cs typeface="Arial"/>
                <a:sym typeface="Arial"/>
              </a:rPr>
              <a:t>)(</a:t>
            </a:r>
            <a:r>
              <a:rPr lang="en-US" sz="2400" i="1">
                <a:solidFill>
                  <a:schemeClr val="dk1"/>
                </a:solidFill>
                <a:latin typeface="Arial"/>
                <a:ea typeface="Arial"/>
                <a:cs typeface="Arial"/>
                <a:sym typeface="Arial"/>
              </a:rPr>
              <a:t>N</a:t>
            </a:r>
            <a:r>
              <a:rPr lang="en-US" sz="2400">
                <a:solidFill>
                  <a:schemeClr val="dk1"/>
                </a:solidFill>
                <a:latin typeface="Arial"/>
                <a:ea typeface="Arial"/>
                <a:cs typeface="Arial"/>
                <a:sym typeface="Arial"/>
              </a:rPr>
              <a:t> − </a:t>
            </a:r>
            <a:r>
              <a:rPr lang="en-US" sz="2400" i="1">
                <a:solidFill>
                  <a:schemeClr val="dk1"/>
                </a:solidFill>
                <a:latin typeface="Arial"/>
                <a:ea typeface="Arial"/>
                <a:cs typeface="Arial"/>
                <a:sym typeface="Arial"/>
              </a:rPr>
              <a:t>n</a:t>
            </a:r>
            <a:r>
              <a:rPr lang="en-US" sz="2400">
                <a:solidFill>
                  <a:schemeClr val="dk1"/>
                </a:solidFill>
                <a:latin typeface="Arial"/>
                <a:ea typeface="Arial"/>
                <a:cs typeface="Arial"/>
                <a:sym typeface="Arial"/>
              </a:rPr>
              <a:t>)/</a:t>
            </a:r>
            <a:r>
              <a:rPr lang="en-US" sz="2400" i="1">
                <a:solidFill>
                  <a:schemeClr val="dk1"/>
                </a:solidFill>
                <a:latin typeface="Arial"/>
                <a:ea typeface="Arial"/>
                <a:cs typeface="Arial"/>
                <a:sym typeface="Arial"/>
              </a:rPr>
              <a:t>N</a:t>
            </a:r>
            <a:r>
              <a:rPr lang="en-US" sz="2400" baseline="300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a:t>
            </a:r>
            <a:r>
              <a:rPr lang="en-US" sz="2400" i="1">
                <a:solidFill>
                  <a:schemeClr val="dk1"/>
                </a:solidFill>
                <a:latin typeface="Arial"/>
                <a:ea typeface="Arial"/>
                <a:cs typeface="Arial"/>
                <a:sym typeface="Arial"/>
              </a:rPr>
              <a:t>N</a:t>
            </a:r>
            <a:r>
              <a:rPr lang="en-US" sz="2400">
                <a:solidFill>
                  <a:schemeClr val="dk1"/>
                </a:solidFill>
                <a:latin typeface="Arial"/>
                <a:ea typeface="Arial"/>
                <a:cs typeface="Arial"/>
                <a:sym typeface="Arial"/>
              </a:rPr>
              <a:t> − 1).</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cxnSp>
        <p:nvCxnSpPr>
          <p:cNvPr id="780" name="Google Shape;780;p51"/>
          <p:cNvCxnSpPr/>
          <p:nvPr/>
        </p:nvCxnSpPr>
        <p:spPr>
          <a:xfrm>
            <a:off x="5257800" y="3962400"/>
            <a:ext cx="0" cy="1981200"/>
          </a:xfrm>
          <a:prstGeom prst="straightConnector1">
            <a:avLst/>
          </a:prstGeom>
          <a:noFill/>
          <a:ln w="19050" cap="flat" cmpd="sng">
            <a:solidFill>
              <a:schemeClr val="dk1"/>
            </a:solidFill>
            <a:prstDash val="solid"/>
            <a:round/>
            <a:headEnd type="none" w="med" len="med"/>
            <a:tailEnd type="none" w="med" len="med"/>
          </a:ln>
        </p:spPr>
      </p:cxnSp>
      <p:cxnSp>
        <p:nvCxnSpPr>
          <p:cNvPr id="781" name="Google Shape;781;p51"/>
          <p:cNvCxnSpPr/>
          <p:nvPr/>
        </p:nvCxnSpPr>
        <p:spPr>
          <a:xfrm rot="10800000">
            <a:off x="5257800" y="5257800"/>
            <a:ext cx="228600" cy="0"/>
          </a:xfrm>
          <a:prstGeom prst="straightConnector1">
            <a:avLst/>
          </a:prstGeom>
          <a:noFill/>
          <a:ln w="19050" cap="flat" cmpd="sng">
            <a:solidFill>
              <a:schemeClr val="dk1"/>
            </a:solidFill>
            <a:prstDash val="solid"/>
            <a:round/>
            <a:headEnd type="none" w="med" len="med"/>
            <a:tailEnd type="none" w="med" len="med"/>
          </a:ln>
        </p:spPr>
      </p:cxnSp>
      <p:cxnSp>
        <p:nvCxnSpPr>
          <p:cNvPr id="782" name="Google Shape;782;p51"/>
          <p:cNvCxnSpPr/>
          <p:nvPr/>
        </p:nvCxnSpPr>
        <p:spPr>
          <a:xfrm rot="10800000">
            <a:off x="5257800" y="5943600"/>
            <a:ext cx="228600" cy="0"/>
          </a:xfrm>
          <a:prstGeom prst="straightConnector1">
            <a:avLst/>
          </a:prstGeom>
          <a:noFill/>
          <a:ln w="19050" cap="flat" cmpd="sng">
            <a:solidFill>
              <a:schemeClr val="dk1"/>
            </a:solidFill>
            <a:prstDash val="solid"/>
            <a:round/>
            <a:headEnd type="none" w="med" len="med"/>
            <a:tailEnd type="none" w="med" len="med"/>
          </a:ln>
        </p:spPr>
      </p:cxnSp>
      <p:cxnSp>
        <p:nvCxnSpPr>
          <p:cNvPr id="783" name="Google Shape;783;p51"/>
          <p:cNvCxnSpPr/>
          <p:nvPr/>
        </p:nvCxnSpPr>
        <p:spPr>
          <a:xfrm>
            <a:off x="6248400" y="2590800"/>
            <a:ext cx="0" cy="152400"/>
          </a:xfrm>
          <a:prstGeom prst="straightConnector1">
            <a:avLst/>
          </a:prstGeom>
          <a:noFill/>
          <a:ln w="19050" cap="flat" cmpd="sng">
            <a:solidFill>
              <a:schemeClr val="dk1"/>
            </a:solidFill>
            <a:prstDash val="solid"/>
            <a:round/>
            <a:headEnd type="none" w="med" len="med"/>
            <a:tailEnd type="none" w="med" len="med"/>
          </a:ln>
        </p:spPr>
      </p:cxnSp>
      <p:sp>
        <p:nvSpPr>
          <p:cNvPr id="784" name="Google Shape;784;p51"/>
          <p:cNvSpPr/>
          <p:nvPr/>
        </p:nvSpPr>
        <p:spPr>
          <a:xfrm>
            <a:off x="457200" y="533400"/>
            <a:ext cx="8248650" cy="762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785" name="Google Shape;785;p51"/>
          <p:cNvSpPr/>
          <p:nvPr/>
        </p:nvSpPr>
        <p:spPr>
          <a:xfrm>
            <a:off x="1295400" y="92075"/>
            <a:ext cx="7045325" cy="1320800"/>
          </a:xfrm>
          <a:prstGeom prst="rect">
            <a:avLst/>
          </a:prstGeom>
          <a:noFill/>
          <a:ln>
            <a:noFill/>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4000" b="1">
                <a:solidFill>
                  <a:schemeClr val="dk1"/>
                </a:solidFill>
                <a:latin typeface="Arial"/>
                <a:ea typeface="Arial"/>
                <a:cs typeface="Arial"/>
                <a:sym typeface="Arial"/>
              </a:rPr>
              <a:t>Continuous</a:t>
            </a:r>
            <a:r>
              <a:rPr lang="en-US" sz="4000">
                <a:solidFill>
                  <a:schemeClr val="dk1"/>
                </a:solidFill>
                <a:latin typeface="Arial"/>
                <a:ea typeface="Arial"/>
                <a:cs typeface="Arial"/>
                <a:sym typeface="Arial"/>
              </a:rPr>
              <a:t> </a:t>
            </a:r>
            <a:endParaRPr/>
          </a:p>
          <a:p>
            <a:pPr marL="0" marR="0" lvl="0" indent="0" algn="ctr" rtl="0">
              <a:spcBef>
                <a:spcPts val="0"/>
              </a:spcBef>
              <a:spcAft>
                <a:spcPts val="0"/>
              </a:spcAft>
              <a:buNone/>
            </a:pPr>
            <a:r>
              <a:rPr lang="en-US" sz="4000">
                <a:solidFill>
                  <a:schemeClr val="dk1"/>
                </a:solidFill>
                <a:latin typeface="Arial"/>
                <a:ea typeface="Arial"/>
                <a:cs typeface="Arial"/>
                <a:sym typeface="Arial"/>
              </a:rPr>
              <a:t>Probability Distributions</a:t>
            </a:r>
            <a:endParaRPr/>
          </a:p>
        </p:txBody>
      </p:sp>
      <p:sp>
        <p:nvSpPr>
          <p:cNvPr id="786" name="Google Shape;786;p51"/>
          <p:cNvSpPr/>
          <p:nvPr/>
        </p:nvSpPr>
        <p:spPr>
          <a:xfrm>
            <a:off x="5105400" y="2743200"/>
            <a:ext cx="2209800" cy="1196975"/>
          </a:xfrm>
          <a:prstGeom prst="rect">
            <a:avLst/>
          </a:prstGeom>
          <a:noFill/>
          <a:ln w="12700" cap="flat" cmpd="sng">
            <a:solidFill>
              <a:schemeClr val="dk1"/>
            </a:solidFill>
            <a:prstDash val="solid"/>
            <a:miter lim="800000"/>
            <a:headEnd type="none" w="sm" len="sm"/>
            <a:tailEnd type="none" w="sm" len="sm"/>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Continuous</a:t>
            </a:r>
            <a:r>
              <a:rPr lang="en-US" sz="2400">
                <a:solidFill>
                  <a:schemeClr val="dk1"/>
                </a:solidFill>
                <a:latin typeface="Arial"/>
                <a:ea typeface="Arial"/>
                <a:cs typeface="Arial"/>
                <a:sym typeface="Arial"/>
              </a:rPr>
              <a:t> </a:t>
            </a:r>
            <a:endParaRPr/>
          </a:p>
          <a:p>
            <a:pPr marL="0" marR="0" lvl="0" indent="0" algn="ctr" rtl="0">
              <a:spcBef>
                <a:spcPts val="0"/>
              </a:spcBef>
              <a:spcAft>
                <a:spcPts val="0"/>
              </a:spcAft>
              <a:buNone/>
            </a:pPr>
            <a:r>
              <a:rPr lang="en-US" sz="2400">
                <a:solidFill>
                  <a:schemeClr val="dk1"/>
                </a:solidFill>
                <a:latin typeface="Arial"/>
                <a:ea typeface="Arial"/>
                <a:cs typeface="Arial"/>
                <a:sym typeface="Arial"/>
              </a:rPr>
              <a:t>Probability Distributions</a:t>
            </a:r>
            <a:endParaRPr/>
          </a:p>
        </p:txBody>
      </p:sp>
      <p:cxnSp>
        <p:nvCxnSpPr>
          <p:cNvPr id="787" name="Google Shape;787;p51"/>
          <p:cNvCxnSpPr/>
          <p:nvPr/>
        </p:nvCxnSpPr>
        <p:spPr>
          <a:xfrm>
            <a:off x="4343400" y="2590800"/>
            <a:ext cx="1905000" cy="0"/>
          </a:xfrm>
          <a:prstGeom prst="straightConnector1">
            <a:avLst/>
          </a:prstGeom>
          <a:noFill/>
          <a:ln w="19050" cap="flat" cmpd="sng">
            <a:solidFill>
              <a:schemeClr val="dk1"/>
            </a:solidFill>
            <a:prstDash val="solid"/>
            <a:round/>
            <a:headEnd type="none" w="med" len="med"/>
            <a:tailEnd type="none" w="med" len="med"/>
          </a:ln>
        </p:spPr>
      </p:cxnSp>
      <p:cxnSp>
        <p:nvCxnSpPr>
          <p:cNvPr id="788" name="Google Shape;788;p51"/>
          <p:cNvCxnSpPr/>
          <p:nvPr/>
        </p:nvCxnSpPr>
        <p:spPr>
          <a:xfrm>
            <a:off x="4343400" y="2438400"/>
            <a:ext cx="0" cy="152400"/>
          </a:xfrm>
          <a:prstGeom prst="straightConnector1">
            <a:avLst/>
          </a:prstGeom>
          <a:noFill/>
          <a:ln w="19050" cap="flat" cmpd="sng">
            <a:solidFill>
              <a:schemeClr val="dk1"/>
            </a:solidFill>
            <a:prstDash val="solid"/>
            <a:round/>
            <a:headEnd type="none" w="med" len="med"/>
            <a:tailEnd type="none" w="med" len="med"/>
          </a:ln>
        </p:spPr>
      </p:cxnSp>
      <p:sp>
        <p:nvSpPr>
          <p:cNvPr id="789" name="Google Shape;789;p51"/>
          <p:cNvSpPr/>
          <p:nvPr/>
        </p:nvSpPr>
        <p:spPr>
          <a:xfrm>
            <a:off x="3276600" y="1600200"/>
            <a:ext cx="2286000" cy="831850"/>
          </a:xfrm>
          <a:prstGeom prst="rect">
            <a:avLst/>
          </a:prstGeom>
          <a:noFill/>
          <a:ln w="12700" cap="flat" cmpd="sng">
            <a:solidFill>
              <a:schemeClr val="dk1"/>
            </a:solidFill>
            <a:prstDash val="solid"/>
            <a:miter lim="800000"/>
            <a:headEnd type="none" w="sm" len="sm"/>
            <a:tailEnd type="none" w="sm" len="sm"/>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Probability Distributions</a:t>
            </a:r>
            <a:endParaRPr/>
          </a:p>
        </p:txBody>
      </p:sp>
      <p:cxnSp>
        <p:nvCxnSpPr>
          <p:cNvPr id="790" name="Google Shape;790;p51"/>
          <p:cNvCxnSpPr/>
          <p:nvPr/>
        </p:nvCxnSpPr>
        <p:spPr>
          <a:xfrm rot="10800000">
            <a:off x="5257800" y="4572000"/>
            <a:ext cx="228600" cy="0"/>
          </a:xfrm>
          <a:prstGeom prst="straightConnector1">
            <a:avLst/>
          </a:prstGeom>
          <a:noFill/>
          <a:ln w="19050" cap="flat" cmpd="sng">
            <a:solidFill>
              <a:schemeClr val="dk1"/>
            </a:solidFill>
            <a:prstDash val="solid"/>
            <a:round/>
            <a:headEnd type="none" w="med" len="med"/>
            <a:tailEnd type="none" w="med" len="med"/>
          </a:ln>
        </p:spPr>
      </p:cxnSp>
      <p:sp>
        <p:nvSpPr>
          <p:cNvPr id="791" name="Google Shape;791;p51"/>
          <p:cNvSpPr/>
          <p:nvPr/>
        </p:nvSpPr>
        <p:spPr>
          <a:xfrm>
            <a:off x="5486400" y="4343400"/>
            <a:ext cx="1676400" cy="466725"/>
          </a:xfrm>
          <a:prstGeom prst="rect">
            <a:avLst/>
          </a:prstGeom>
          <a:solidFill>
            <a:srgbClr val="FFFF99"/>
          </a:solidFill>
          <a:ln w="12700" cap="flat" cmpd="sng">
            <a:solidFill>
              <a:schemeClr val="dk1"/>
            </a:solidFill>
            <a:prstDash val="solid"/>
            <a:miter lim="800000"/>
            <a:headEnd type="none" w="sm" len="sm"/>
            <a:tailEnd type="none" w="sm" len="sm"/>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Normal</a:t>
            </a:r>
            <a:endParaRPr/>
          </a:p>
        </p:txBody>
      </p:sp>
      <p:sp>
        <p:nvSpPr>
          <p:cNvPr id="792" name="Google Shape;792;p51"/>
          <p:cNvSpPr/>
          <p:nvPr/>
        </p:nvSpPr>
        <p:spPr>
          <a:xfrm>
            <a:off x="5486400" y="5029200"/>
            <a:ext cx="1676400" cy="466725"/>
          </a:xfrm>
          <a:prstGeom prst="rect">
            <a:avLst/>
          </a:prstGeom>
          <a:noFill/>
          <a:ln w="12700" cap="flat" cmpd="sng">
            <a:solidFill>
              <a:schemeClr val="dk1"/>
            </a:solidFill>
            <a:prstDash val="solid"/>
            <a:miter lim="800000"/>
            <a:headEnd type="none" w="sm" len="sm"/>
            <a:tailEnd type="none" w="sm" len="sm"/>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Uniform</a:t>
            </a:r>
            <a:endParaRPr/>
          </a:p>
        </p:txBody>
      </p:sp>
      <p:sp>
        <p:nvSpPr>
          <p:cNvPr id="793" name="Google Shape;793;p51"/>
          <p:cNvSpPr/>
          <p:nvPr/>
        </p:nvSpPr>
        <p:spPr>
          <a:xfrm>
            <a:off x="5486400" y="5715000"/>
            <a:ext cx="1981200" cy="466725"/>
          </a:xfrm>
          <a:prstGeom prst="rect">
            <a:avLst/>
          </a:prstGeom>
          <a:noFill/>
          <a:ln w="12700" cap="flat" cmpd="sng">
            <a:solidFill>
              <a:schemeClr val="dk1"/>
            </a:solidFill>
            <a:prstDash val="solid"/>
            <a:miter lim="800000"/>
            <a:headEnd type="none" w="sm" len="sm"/>
            <a:tailEnd type="none" w="sm" len="sm"/>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Exponential</a:t>
            </a:r>
            <a:endParaRPr/>
          </a:p>
        </p:txBody>
      </p:sp>
      <p:pic>
        <p:nvPicPr>
          <p:cNvPr id="794" name="Google Shape;794;p51"/>
          <p:cNvPicPr preferRelativeResize="0"/>
          <p:nvPr/>
        </p:nvPicPr>
        <p:blipFill rotWithShape="1">
          <a:blip r:embed="rId3">
            <a:alphaModFix/>
          </a:blip>
          <a:srcRect/>
          <a:stretch/>
        </p:blipFill>
        <p:spPr>
          <a:xfrm>
            <a:off x="350838" y="3071813"/>
            <a:ext cx="4640262" cy="284956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52"/>
          <p:cNvSpPr txBox="1">
            <a:spLocks noGrp="1"/>
          </p:cNvSpPr>
          <p:nvPr>
            <p:ph type="title"/>
          </p:nvPr>
        </p:nvSpPr>
        <p:spPr>
          <a:xfrm>
            <a:off x="395288" y="334963"/>
            <a:ext cx="8569325" cy="1116012"/>
          </a:xfrm>
          <a:prstGeom prst="rect">
            <a:avLst/>
          </a:prstGeom>
          <a:noFill/>
          <a:ln>
            <a:noFill/>
          </a:ln>
        </p:spPr>
        <p:txBody>
          <a:bodyPr spcFirstLastPara="1" wrap="square" lIns="85325" tIns="42650" rIns="85325" bIns="42650" anchor="b" anchorCtr="0">
            <a:normAutofit fontScale="90000"/>
          </a:bodyPr>
          <a:lstStyle/>
          <a:p>
            <a:pPr marL="0" lvl="0" indent="0" algn="l" rtl="0">
              <a:spcBef>
                <a:spcPts val="0"/>
              </a:spcBef>
              <a:spcAft>
                <a:spcPts val="0"/>
              </a:spcAft>
              <a:buNone/>
            </a:pPr>
            <a:r>
              <a:rPr lang="en-US" sz="3907">
                <a:solidFill>
                  <a:srgbClr val="A50021"/>
                </a:solidFill>
                <a:latin typeface="Times New Roman"/>
                <a:ea typeface="Times New Roman"/>
                <a:cs typeface="Times New Roman"/>
                <a:sym typeface="Times New Roman"/>
              </a:rPr>
              <a:t>Properties of Probability Density Function</a:t>
            </a:r>
            <a:endParaRPr sz="3907">
              <a:solidFill>
                <a:srgbClr val="A50021"/>
              </a:solidFill>
              <a:latin typeface="Times New Roman"/>
              <a:ea typeface="Times New Roman"/>
              <a:cs typeface="Times New Roman"/>
              <a:sym typeface="Times New Roman"/>
            </a:endParaRPr>
          </a:p>
        </p:txBody>
      </p:sp>
      <p:sp>
        <p:nvSpPr>
          <p:cNvPr id="800" name="Google Shape;800;p52"/>
          <p:cNvSpPr txBox="1">
            <a:spLocks noGrp="1"/>
          </p:cNvSpPr>
          <p:nvPr>
            <p:ph type="body" idx="1"/>
          </p:nvPr>
        </p:nvSpPr>
        <p:spPr>
          <a:xfrm>
            <a:off x="457204" y="1589759"/>
            <a:ext cx="8229600" cy="4287151"/>
          </a:xfrm>
          <a:prstGeom prst="rect">
            <a:avLst/>
          </a:prstGeom>
          <a:blipFill rotWithShape="1">
            <a:blip r:embed="rId3">
              <a:alphaModFix/>
            </a:blip>
            <a:stretch>
              <a:fillRect l="-814" t="-851" r="-814" b="-14650"/>
            </a:stretch>
          </a:blipFill>
          <a:ln>
            <a:noFill/>
          </a:ln>
        </p:spPr>
        <p:txBody>
          <a:bodyPr spcFirstLastPara="1" wrap="square" lIns="85325" tIns="42650" rIns="85325" bIns="42650" anchor="t" anchorCtr="0">
            <a:noAutofit/>
          </a:bodyPr>
          <a:lstStyle/>
          <a:p>
            <a:pPr marL="320675" lvl="0" indent="-320675" algn="l" rtl="0">
              <a:spcBef>
                <a:spcPts val="0"/>
              </a:spcBef>
              <a:spcAft>
                <a:spcPts val="0"/>
              </a:spcAft>
              <a:buSzPts val="1680"/>
              <a:buChar char="■"/>
            </a:pPr>
            <a:r>
              <a:rPr lang="en-US"/>
              <a:t> </a:t>
            </a:r>
            <a:endParaRPr/>
          </a:p>
        </p:txBody>
      </p:sp>
      <p:pic>
        <p:nvPicPr>
          <p:cNvPr id="801" name="Google Shape;801;p52"/>
          <p:cNvPicPr preferRelativeResize="0"/>
          <p:nvPr/>
        </p:nvPicPr>
        <p:blipFill rotWithShape="1">
          <a:blip r:embed="rId4">
            <a:alphaModFix/>
          </a:blip>
          <a:srcRect/>
          <a:stretch/>
        </p:blipFill>
        <p:spPr>
          <a:xfrm>
            <a:off x="4130675" y="2565400"/>
            <a:ext cx="5013325" cy="29114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53"/>
          <p:cNvSpPr txBox="1"/>
          <p:nvPr/>
        </p:nvSpPr>
        <p:spPr>
          <a:xfrm>
            <a:off x="95250" y="1503363"/>
            <a:ext cx="5362575" cy="358775"/>
          </a:xfrm>
          <a:prstGeom prst="rect">
            <a:avLst/>
          </a:prstGeom>
          <a:noFill/>
          <a:ln>
            <a:noFill/>
          </a:ln>
        </p:spPr>
        <p:txBody>
          <a:bodyPr spcFirstLastPara="1" wrap="square" lIns="0" tIns="22650" rIns="0" bIns="0" anchor="t" anchorCtr="0">
            <a:spAutoFit/>
          </a:bodyPr>
          <a:lstStyle/>
          <a:p>
            <a:pPr marL="25168" marR="0" lvl="0" indent="0" algn="ctr" rtl="0">
              <a:spcBef>
                <a:spcPts val="0"/>
              </a:spcBef>
              <a:spcAft>
                <a:spcPts val="0"/>
              </a:spcAft>
              <a:buNone/>
            </a:pPr>
            <a:r>
              <a:rPr lang="en-US" sz="2180" b="1">
                <a:solidFill>
                  <a:schemeClr val="dk1"/>
                </a:solidFill>
                <a:latin typeface="Arial"/>
                <a:ea typeface="Arial"/>
                <a:cs typeface="Arial"/>
                <a:sym typeface="Arial"/>
              </a:rPr>
              <a:t>Uniform distribution pdf and cdf examples</a:t>
            </a:r>
            <a:endParaRPr sz="2180">
              <a:solidFill>
                <a:schemeClr val="dk1"/>
              </a:solidFill>
              <a:latin typeface="Arial"/>
              <a:ea typeface="Arial"/>
              <a:cs typeface="Arial"/>
              <a:sym typeface="Arial"/>
            </a:endParaRPr>
          </a:p>
        </p:txBody>
      </p:sp>
      <p:sp>
        <p:nvSpPr>
          <p:cNvPr id="808" name="Google Shape;808;p53"/>
          <p:cNvSpPr/>
          <p:nvPr/>
        </p:nvSpPr>
        <p:spPr>
          <a:xfrm>
            <a:off x="1012825" y="2274888"/>
            <a:ext cx="3292475" cy="240665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ctr" rtl="0">
              <a:spcBef>
                <a:spcPts val="0"/>
              </a:spcBef>
              <a:spcAft>
                <a:spcPts val="0"/>
              </a:spcAft>
              <a:buNone/>
            </a:pPr>
            <a:endParaRPr sz="4756">
              <a:solidFill>
                <a:schemeClr val="dk1"/>
              </a:solidFill>
              <a:latin typeface="Arial"/>
              <a:ea typeface="Arial"/>
              <a:cs typeface="Arial"/>
              <a:sym typeface="Arial"/>
            </a:endParaRPr>
          </a:p>
        </p:txBody>
      </p:sp>
      <p:sp>
        <p:nvSpPr>
          <p:cNvPr id="809" name="Google Shape;809;p53"/>
          <p:cNvSpPr/>
          <p:nvPr/>
        </p:nvSpPr>
        <p:spPr>
          <a:xfrm>
            <a:off x="4892675" y="2235200"/>
            <a:ext cx="3181350" cy="2397125"/>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ctr" rtl="0">
              <a:spcBef>
                <a:spcPts val="0"/>
              </a:spcBef>
              <a:spcAft>
                <a:spcPts val="0"/>
              </a:spcAft>
              <a:buNone/>
            </a:pPr>
            <a:endParaRPr sz="4756">
              <a:solidFill>
                <a:schemeClr val="dk1"/>
              </a:solidFill>
              <a:latin typeface="Arial"/>
              <a:ea typeface="Arial"/>
              <a:cs typeface="Arial"/>
              <a:sym typeface="Arial"/>
            </a:endParaRPr>
          </a:p>
        </p:txBody>
      </p:sp>
      <p:sp>
        <p:nvSpPr>
          <p:cNvPr id="810" name="Google Shape;810;p53"/>
          <p:cNvSpPr txBox="1"/>
          <p:nvPr/>
        </p:nvSpPr>
        <p:spPr>
          <a:xfrm>
            <a:off x="282575" y="4752975"/>
            <a:ext cx="8861425" cy="1884363"/>
          </a:xfrm>
          <a:prstGeom prst="rect">
            <a:avLst/>
          </a:prstGeom>
          <a:noFill/>
          <a:ln>
            <a:noFill/>
          </a:ln>
        </p:spPr>
        <p:txBody>
          <a:bodyPr spcFirstLastPara="1" wrap="square" lIns="0" tIns="13825" rIns="0" bIns="0" anchor="t" anchorCtr="0">
            <a:spAutoFit/>
          </a:bodyPr>
          <a:lstStyle/>
          <a:p>
            <a:pPr marL="23813" marR="0" lvl="0" indent="0" algn="l" rtl="0">
              <a:lnSpc>
                <a:spcPct val="103000"/>
              </a:lnSpc>
              <a:spcBef>
                <a:spcPts val="0"/>
              </a:spcBef>
              <a:spcAft>
                <a:spcPts val="0"/>
              </a:spcAft>
              <a:buNone/>
            </a:pPr>
            <a:r>
              <a:rPr lang="en-US" sz="2400">
                <a:solidFill>
                  <a:schemeClr val="dk1"/>
                </a:solidFill>
                <a:latin typeface="Times New Roman"/>
                <a:ea typeface="Times New Roman"/>
                <a:cs typeface="Times New Roman"/>
                <a:sym typeface="Times New Roman"/>
              </a:rPr>
              <a:t>The uniform distribution is used to model situations in which the  probability is equal for all possible outcomes. There are two parameters for  the uniform distribution, the lower bound and upper bound of possibilities,  often denoted as </a:t>
            </a:r>
            <a:r>
              <a:rPr lang="en-US" sz="2400" i="1">
                <a:solidFill>
                  <a:schemeClr val="dk1"/>
                </a:solidFill>
                <a:latin typeface="Times New Roman"/>
                <a:ea typeface="Times New Roman"/>
                <a:cs typeface="Times New Roman"/>
                <a:sym typeface="Times New Roman"/>
              </a:rPr>
              <a:t>a </a:t>
            </a:r>
            <a:r>
              <a:rPr lang="en-US" sz="2400">
                <a:solidFill>
                  <a:schemeClr val="dk1"/>
                </a:solidFill>
                <a:latin typeface="Times New Roman"/>
                <a:ea typeface="Times New Roman"/>
                <a:cs typeface="Times New Roman"/>
                <a:sym typeface="Times New Roman"/>
              </a:rPr>
              <a:t>and </a:t>
            </a:r>
            <a:r>
              <a:rPr lang="en-US" sz="2400" i="1">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a:p>
            <a:pPr marL="23813" marR="0" lvl="0" indent="0" algn="ctr" rtl="0">
              <a:spcBef>
                <a:spcPts val="75"/>
              </a:spcBef>
              <a:spcAft>
                <a:spcPts val="0"/>
              </a:spcAft>
              <a:buNone/>
            </a:pPr>
            <a:endParaRPr sz="2100">
              <a:solidFill>
                <a:schemeClr val="dk1"/>
              </a:solidFill>
              <a:latin typeface="Arial"/>
              <a:ea typeface="Arial"/>
              <a:cs typeface="Arial"/>
              <a:sym typeface="Arial"/>
            </a:endParaRPr>
          </a:p>
        </p:txBody>
      </p:sp>
      <p:sp>
        <p:nvSpPr>
          <p:cNvPr id="811" name="Google Shape;811;p53"/>
          <p:cNvSpPr/>
          <p:nvPr/>
        </p:nvSpPr>
        <p:spPr>
          <a:xfrm>
            <a:off x="1408113" y="252413"/>
            <a:ext cx="6029325" cy="82391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756" b="1">
                <a:solidFill>
                  <a:schemeClr val="dk1"/>
                </a:solidFill>
                <a:latin typeface="Arial"/>
                <a:ea typeface="Arial"/>
                <a:cs typeface="Arial"/>
                <a:sym typeface="Arial"/>
              </a:rPr>
              <a:t>Uniform distribution </a:t>
            </a:r>
            <a:endParaRPr sz="4756">
              <a:solidFill>
                <a:schemeClr val="dk1"/>
              </a:solidFill>
              <a:latin typeface="Arial"/>
              <a:ea typeface="Arial"/>
              <a:cs typeface="Arial"/>
              <a:sym typeface="Arial"/>
            </a:endParaRPr>
          </a:p>
        </p:txBody>
      </p:sp>
    </p:spTree>
  </p:cSld>
  <p:clrMapOvr>
    <a:masterClrMapping/>
  </p:clrMapOvr>
  <p:transition>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p54"/>
          <p:cNvSpPr/>
          <p:nvPr/>
        </p:nvSpPr>
        <p:spPr>
          <a:xfrm>
            <a:off x="561975" y="2428875"/>
            <a:ext cx="128588" cy="130175"/>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ctr" rtl="0">
              <a:spcBef>
                <a:spcPts val="0"/>
              </a:spcBef>
              <a:spcAft>
                <a:spcPts val="0"/>
              </a:spcAft>
              <a:buNone/>
            </a:pPr>
            <a:endParaRPr sz="4756">
              <a:solidFill>
                <a:schemeClr val="dk1"/>
              </a:solidFill>
              <a:latin typeface="Arial"/>
              <a:ea typeface="Arial"/>
              <a:cs typeface="Arial"/>
              <a:sym typeface="Arial"/>
            </a:endParaRPr>
          </a:p>
        </p:txBody>
      </p:sp>
      <p:sp>
        <p:nvSpPr>
          <p:cNvPr id="817" name="Google Shape;817;p54"/>
          <p:cNvSpPr txBox="1"/>
          <p:nvPr/>
        </p:nvSpPr>
        <p:spPr>
          <a:xfrm>
            <a:off x="803275" y="2263775"/>
            <a:ext cx="7016750" cy="358775"/>
          </a:xfrm>
          <a:prstGeom prst="rect">
            <a:avLst/>
          </a:prstGeom>
          <a:noFill/>
          <a:ln>
            <a:noFill/>
          </a:ln>
        </p:spPr>
        <p:txBody>
          <a:bodyPr spcFirstLastPara="1" wrap="square" lIns="0" tIns="22650" rIns="0" bIns="0" anchor="t" anchorCtr="0">
            <a:spAutoFit/>
          </a:bodyPr>
          <a:lstStyle/>
          <a:p>
            <a:pPr marL="25168" marR="0" lvl="0" indent="0" algn="ctr" rtl="0">
              <a:spcBef>
                <a:spcPts val="0"/>
              </a:spcBef>
              <a:spcAft>
                <a:spcPts val="0"/>
              </a:spcAft>
              <a:buNone/>
            </a:pPr>
            <a:r>
              <a:rPr lang="en-US" sz="2180">
                <a:solidFill>
                  <a:schemeClr val="dk1"/>
                </a:solidFill>
                <a:latin typeface="Arial"/>
                <a:ea typeface="Arial"/>
                <a:cs typeface="Arial"/>
                <a:sym typeface="Arial"/>
              </a:rPr>
              <a:t>The probability density function for a uniform distribution is:</a:t>
            </a:r>
            <a:endParaRPr sz="2180">
              <a:solidFill>
                <a:schemeClr val="dk1"/>
              </a:solidFill>
              <a:latin typeface="Arial"/>
              <a:ea typeface="Arial"/>
              <a:cs typeface="Arial"/>
              <a:sym typeface="Arial"/>
            </a:endParaRPr>
          </a:p>
        </p:txBody>
      </p:sp>
      <p:sp>
        <p:nvSpPr>
          <p:cNvPr id="818" name="Google Shape;818;p54"/>
          <p:cNvSpPr/>
          <p:nvPr/>
        </p:nvSpPr>
        <p:spPr>
          <a:xfrm>
            <a:off x="2373313" y="3014663"/>
            <a:ext cx="385762" cy="0"/>
          </a:xfrm>
          <a:custGeom>
            <a:avLst/>
            <a:gdLst/>
            <a:ahLst/>
            <a:cxnLst/>
            <a:rect l="l" t="t" r="r" b="b"/>
            <a:pathLst>
              <a:path w="194944" h="120000" extrusionOk="0">
                <a:moveTo>
                  <a:pt x="0" y="0"/>
                </a:moveTo>
                <a:lnTo>
                  <a:pt x="19491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ctr" rtl="0">
              <a:spcBef>
                <a:spcPts val="0"/>
              </a:spcBef>
              <a:spcAft>
                <a:spcPts val="0"/>
              </a:spcAft>
              <a:buNone/>
            </a:pPr>
            <a:endParaRPr sz="4756">
              <a:solidFill>
                <a:schemeClr val="dk1"/>
              </a:solidFill>
              <a:latin typeface="Arial"/>
              <a:ea typeface="Arial"/>
              <a:cs typeface="Arial"/>
              <a:sym typeface="Arial"/>
            </a:endParaRPr>
          </a:p>
        </p:txBody>
      </p:sp>
      <p:sp>
        <p:nvSpPr>
          <p:cNvPr id="819" name="Google Shape;819;p54"/>
          <p:cNvSpPr txBox="1"/>
          <p:nvPr/>
        </p:nvSpPr>
        <p:spPr>
          <a:xfrm>
            <a:off x="752475" y="2782888"/>
            <a:ext cx="3425825" cy="358775"/>
          </a:xfrm>
          <a:prstGeom prst="rect">
            <a:avLst/>
          </a:prstGeom>
          <a:noFill/>
          <a:ln>
            <a:noFill/>
          </a:ln>
        </p:spPr>
        <p:txBody>
          <a:bodyPr spcFirstLastPara="1" wrap="square" lIns="0" tIns="22650" rIns="0" bIns="0" anchor="t" anchorCtr="0">
            <a:spAutoFit/>
          </a:bodyPr>
          <a:lstStyle/>
          <a:p>
            <a:pPr marL="75503" marR="0" lvl="0" indent="0" algn="ctr" rtl="0">
              <a:spcBef>
                <a:spcPts val="0"/>
              </a:spcBef>
              <a:spcAft>
                <a:spcPts val="0"/>
              </a:spcAft>
              <a:buNone/>
            </a:pPr>
            <a:r>
              <a:rPr lang="en-US" sz="2180" i="1">
                <a:solidFill>
                  <a:schemeClr val="dk1"/>
                </a:solidFill>
                <a:latin typeface="Trebuchet MS"/>
                <a:ea typeface="Trebuchet MS"/>
                <a:cs typeface="Trebuchet MS"/>
                <a:sym typeface="Trebuchet MS"/>
              </a:rPr>
              <a:t>P</a:t>
            </a:r>
            <a:r>
              <a:rPr lang="en-US" sz="2180">
                <a:solidFill>
                  <a:schemeClr val="dk1"/>
                </a:solidFill>
                <a:latin typeface="Arial"/>
                <a:ea typeface="Arial"/>
                <a:cs typeface="Arial"/>
                <a:sym typeface="Arial"/>
              </a:rPr>
              <a:t>(</a:t>
            </a:r>
            <a:r>
              <a:rPr lang="en-US" sz="2180" i="1">
                <a:solidFill>
                  <a:schemeClr val="dk1"/>
                </a:solidFill>
                <a:latin typeface="Trebuchet MS"/>
                <a:ea typeface="Trebuchet MS"/>
                <a:cs typeface="Trebuchet MS"/>
                <a:sym typeface="Trebuchet MS"/>
              </a:rPr>
              <a:t>X </a:t>
            </a:r>
            <a:r>
              <a:rPr lang="en-US" sz="2180">
                <a:solidFill>
                  <a:schemeClr val="dk1"/>
                </a:solidFill>
                <a:latin typeface="Arial"/>
                <a:ea typeface="Arial"/>
                <a:cs typeface="Arial"/>
                <a:sym typeface="Arial"/>
              </a:rPr>
              <a:t>= </a:t>
            </a:r>
            <a:r>
              <a:rPr lang="en-US" sz="2180" i="1">
                <a:solidFill>
                  <a:schemeClr val="dk1"/>
                </a:solidFill>
                <a:latin typeface="Trebuchet MS"/>
                <a:ea typeface="Trebuchet MS"/>
                <a:cs typeface="Trebuchet MS"/>
                <a:sym typeface="Trebuchet MS"/>
              </a:rPr>
              <a:t>x </a:t>
            </a:r>
            <a:r>
              <a:rPr lang="en-US" sz="2180">
                <a:solidFill>
                  <a:schemeClr val="dk1"/>
                </a:solidFill>
                <a:latin typeface="Arial"/>
                <a:ea typeface="Arial"/>
                <a:cs typeface="Arial"/>
                <a:sym typeface="Arial"/>
              </a:rPr>
              <a:t>) = </a:t>
            </a:r>
            <a:r>
              <a:rPr lang="en-US" sz="2378" i="1" baseline="-25000">
                <a:solidFill>
                  <a:schemeClr val="dk1"/>
                </a:solidFill>
                <a:latin typeface="Arial"/>
                <a:ea typeface="Arial"/>
                <a:cs typeface="Arial"/>
                <a:sym typeface="Arial"/>
              </a:rPr>
              <a:t>b </a:t>
            </a:r>
            <a:r>
              <a:rPr lang="en-US" sz="2378" baseline="30000">
                <a:solidFill>
                  <a:schemeClr val="dk1"/>
                </a:solidFill>
                <a:latin typeface="Arial"/>
                <a:ea typeface="Arial"/>
                <a:cs typeface="Arial"/>
                <a:sym typeface="Arial"/>
              </a:rPr>
              <a:t>1 </a:t>
            </a:r>
            <a:r>
              <a:rPr lang="en-US" sz="2180">
                <a:solidFill>
                  <a:schemeClr val="dk1"/>
                </a:solidFill>
                <a:latin typeface="Arial"/>
                <a:ea typeface="Arial"/>
                <a:cs typeface="Arial"/>
                <a:sym typeface="Arial"/>
              </a:rPr>
              <a:t>;  </a:t>
            </a:r>
            <a:r>
              <a:rPr lang="en-US" sz="2180" i="1">
                <a:solidFill>
                  <a:schemeClr val="dk1"/>
                </a:solidFill>
                <a:latin typeface="Trebuchet MS"/>
                <a:ea typeface="Trebuchet MS"/>
                <a:cs typeface="Trebuchet MS"/>
                <a:sym typeface="Trebuchet MS"/>
              </a:rPr>
              <a:t>x </a:t>
            </a:r>
            <a:r>
              <a:rPr lang="en-US" sz="2180">
                <a:solidFill>
                  <a:schemeClr val="dk1"/>
                </a:solidFill>
                <a:latin typeface="Arial"/>
                <a:ea typeface="Arial"/>
                <a:cs typeface="Arial"/>
                <a:sym typeface="Arial"/>
              </a:rPr>
              <a:t>= [</a:t>
            </a:r>
            <a:r>
              <a:rPr lang="en-US" sz="2180" i="1">
                <a:solidFill>
                  <a:schemeClr val="dk1"/>
                </a:solidFill>
                <a:latin typeface="Trebuchet MS"/>
                <a:ea typeface="Trebuchet MS"/>
                <a:cs typeface="Trebuchet MS"/>
                <a:sym typeface="Trebuchet MS"/>
              </a:rPr>
              <a:t>a</a:t>
            </a:r>
            <a:r>
              <a:rPr lang="en-US" sz="2180" i="1">
                <a:solidFill>
                  <a:schemeClr val="dk1"/>
                </a:solidFill>
                <a:latin typeface="Arial Narrow"/>
                <a:ea typeface="Arial Narrow"/>
                <a:cs typeface="Arial Narrow"/>
                <a:sym typeface="Arial Narrow"/>
              </a:rPr>
              <a:t>, </a:t>
            </a:r>
            <a:r>
              <a:rPr lang="en-US" sz="2180" i="1">
                <a:solidFill>
                  <a:schemeClr val="dk1"/>
                </a:solidFill>
                <a:latin typeface="Trebuchet MS"/>
                <a:ea typeface="Trebuchet MS"/>
                <a:cs typeface="Trebuchet MS"/>
                <a:sym typeface="Trebuchet MS"/>
              </a:rPr>
              <a:t>b</a:t>
            </a:r>
            <a:r>
              <a:rPr lang="en-US" sz="2180">
                <a:solidFill>
                  <a:schemeClr val="dk1"/>
                </a:solidFill>
                <a:latin typeface="Arial"/>
                <a:ea typeface="Arial"/>
                <a:cs typeface="Arial"/>
                <a:sym typeface="Arial"/>
              </a:rPr>
              <a:t>]</a:t>
            </a:r>
            <a:endParaRPr sz="2180">
              <a:solidFill>
                <a:schemeClr val="dk1"/>
              </a:solidFill>
              <a:latin typeface="Arial"/>
              <a:ea typeface="Arial"/>
              <a:cs typeface="Arial"/>
              <a:sym typeface="Arial"/>
            </a:endParaRPr>
          </a:p>
        </p:txBody>
      </p:sp>
      <p:sp>
        <p:nvSpPr>
          <p:cNvPr id="820" name="Google Shape;820;p54"/>
          <p:cNvSpPr txBox="1"/>
          <p:nvPr/>
        </p:nvSpPr>
        <p:spPr>
          <a:xfrm>
            <a:off x="803275" y="2871788"/>
            <a:ext cx="6283325" cy="820737"/>
          </a:xfrm>
          <a:prstGeom prst="rect">
            <a:avLst/>
          </a:prstGeom>
          <a:noFill/>
          <a:ln>
            <a:noFill/>
          </a:ln>
        </p:spPr>
        <p:txBody>
          <a:bodyPr spcFirstLastPara="1" wrap="square" lIns="0" tIns="104425" rIns="0" bIns="0" anchor="t" anchorCtr="0">
            <a:spAutoFit/>
          </a:bodyPr>
          <a:lstStyle/>
          <a:p>
            <a:pPr marL="1685925" marR="0" lvl="0" indent="0" algn="l" rtl="0">
              <a:spcBef>
                <a:spcPts val="0"/>
              </a:spcBef>
              <a:spcAft>
                <a:spcPts val="0"/>
              </a:spcAft>
              <a:buNone/>
            </a:pPr>
            <a:r>
              <a:rPr lang="en-US" sz="1800">
                <a:solidFill>
                  <a:schemeClr val="dk1"/>
                </a:solidFill>
                <a:latin typeface="Lucida Sans"/>
                <a:ea typeface="Lucida Sans"/>
                <a:cs typeface="Lucida Sans"/>
                <a:sym typeface="Lucida Sans"/>
              </a:rPr>
              <a:t>−</a:t>
            </a:r>
            <a:r>
              <a:rPr lang="en-US" sz="1800" i="1">
                <a:solidFill>
                  <a:schemeClr val="dk1"/>
                </a:solidFill>
                <a:latin typeface="Arial"/>
                <a:ea typeface="Arial"/>
                <a:cs typeface="Arial"/>
                <a:sym typeface="Arial"/>
              </a:rPr>
              <a:t>a</a:t>
            </a:r>
            <a:endParaRPr sz="1800">
              <a:solidFill>
                <a:schemeClr val="dk1"/>
              </a:solidFill>
              <a:latin typeface="Arial"/>
              <a:ea typeface="Arial"/>
              <a:cs typeface="Arial"/>
              <a:sym typeface="Arial"/>
            </a:endParaRPr>
          </a:p>
          <a:p>
            <a:pPr marL="1685925" marR="0" lvl="0" indent="0" algn="ctr" rtl="0">
              <a:spcBef>
                <a:spcPts val="838"/>
              </a:spcBef>
              <a:spcAft>
                <a:spcPts val="0"/>
              </a:spcAft>
              <a:buNone/>
            </a:pPr>
            <a:r>
              <a:rPr lang="en-US" sz="2100">
                <a:solidFill>
                  <a:schemeClr val="dk1"/>
                </a:solidFill>
                <a:latin typeface="Arial"/>
                <a:ea typeface="Arial"/>
                <a:cs typeface="Arial"/>
                <a:sym typeface="Arial"/>
              </a:rPr>
              <a:t>The expected value for a uniform distribution is:</a:t>
            </a:r>
            <a:endParaRPr/>
          </a:p>
        </p:txBody>
      </p:sp>
      <p:sp>
        <p:nvSpPr>
          <p:cNvPr id="821" name="Google Shape;821;p54"/>
          <p:cNvSpPr/>
          <p:nvPr/>
        </p:nvSpPr>
        <p:spPr>
          <a:xfrm>
            <a:off x="561975" y="3468688"/>
            <a:ext cx="128588" cy="128587"/>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ctr" rtl="0">
              <a:spcBef>
                <a:spcPts val="0"/>
              </a:spcBef>
              <a:spcAft>
                <a:spcPts val="0"/>
              </a:spcAft>
              <a:buNone/>
            </a:pPr>
            <a:endParaRPr sz="4756">
              <a:solidFill>
                <a:schemeClr val="dk1"/>
              </a:solidFill>
              <a:latin typeface="Arial"/>
              <a:ea typeface="Arial"/>
              <a:cs typeface="Arial"/>
              <a:sym typeface="Arial"/>
            </a:endParaRPr>
          </a:p>
        </p:txBody>
      </p:sp>
      <p:sp>
        <p:nvSpPr>
          <p:cNvPr id="822" name="Google Shape;822;p54"/>
          <p:cNvSpPr txBox="1"/>
          <p:nvPr/>
        </p:nvSpPr>
        <p:spPr>
          <a:xfrm>
            <a:off x="752475" y="3822700"/>
            <a:ext cx="2093913" cy="357188"/>
          </a:xfrm>
          <a:prstGeom prst="rect">
            <a:avLst/>
          </a:prstGeom>
          <a:noFill/>
          <a:ln>
            <a:noFill/>
          </a:ln>
        </p:spPr>
        <p:txBody>
          <a:bodyPr spcFirstLastPara="1" wrap="square" lIns="0" tIns="22650" rIns="0" bIns="0" anchor="t" anchorCtr="0">
            <a:spAutoFit/>
          </a:bodyPr>
          <a:lstStyle/>
          <a:p>
            <a:pPr marL="75503" marR="0" lvl="0" indent="0" algn="ctr" rtl="0">
              <a:spcBef>
                <a:spcPts val="0"/>
              </a:spcBef>
              <a:spcAft>
                <a:spcPts val="0"/>
              </a:spcAft>
              <a:buNone/>
            </a:pPr>
            <a:r>
              <a:rPr lang="en-US" sz="2180" i="1">
                <a:solidFill>
                  <a:schemeClr val="dk1"/>
                </a:solidFill>
                <a:latin typeface="Trebuchet MS"/>
                <a:ea typeface="Trebuchet MS"/>
                <a:cs typeface="Trebuchet MS"/>
                <a:sym typeface="Trebuchet MS"/>
              </a:rPr>
              <a:t>E </a:t>
            </a:r>
            <a:r>
              <a:rPr lang="en-US" sz="2180">
                <a:solidFill>
                  <a:schemeClr val="dk1"/>
                </a:solidFill>
                <a:latin typeface="Arial"/>
                <a:ea typeface="Arial"/>
                <a:cs typeface="Arial"/>
                <a:sym typeface="Arial"/>
              </a:rPr>
              <a:t>[</a:t>
            </a:r>
            <a:r>
              <a:rPr lang="en-US" sz="2180" i="1">
                <a:solidFill>
                  <a:schemeClr val="dk1"/>
                </a:solidFill>
                <a:latin typeface="Trebuchet MS"/>
                <a:ea typeface="Trebuchet MS"/>
                <a:cs typeface="Trebuchet MS"/>
                <a:sym typeface="Trebuchet MS"/>
              </a:rPr>
              <a:t>X </a:t>
            </a:r>
            <a:r>
              <a:rPr lang="en-US" sz="2180">
                <a:solidFill>
                  <a:schemeClr val="dk1"/>
                </a:solidFill>
                <a:latin typeface="Arial"/>
                <a:ea typeface="Arial"/>
                <a:cs typeface="Arial"/>
                <a:sym typeface="Arial"/>
              </a:rPr>
              <a:t>] = </a:t>
            </a:r>
            <a:r>
              <a:rPr lang="en-US" sz="2378" u="sng" baseline="30000">
                <a:solidFill>
                  <a:schemeClr val="dk1"/>
                </a:solidFill>
                <a:latin typeface="Arial"/>
                <a:ea typeface="Arial"/>
                <a:cs typeface="Arial"/>
                <a:sym typeface="Arial"/>
              </a:rPr>
              <a:t>1</a:t>
            </a:r>
            <a:r>
              <a:rPr lang="en-US" sz="2378" baseline="30000">
                <a:solidFill>
                  <a:schemeClr val="dk1"/>
                </a:solidFill>
                <a:latin typeface="Arial"/>
                <a:ea typeface="Arial"/>
                <a:cs typeface="Arial"/>
                <a:sym typeface="Arial"/>
              </a:rPr>
              <a:t> </a:t>
            </a:r>
            <a:r>
              <a:rPr lang="en-US" sz="2180">
                <a:solidFill>
                  <a:schemeClr val="dk1"/>
                </a:solidFill>
                <a:latin typeface="Arial"/>
                <a:ea typeface="Arial"/>
                <a:cs typeface="Arial"/>
                <a:sym typeface="Arial"/>
              </a:rPr>
              <a:t>(</a:t>
            </a:r>
            <a:r>
              <a:rPr lang="en-US" sz="2180" i="1">
                <a:solidFill>
                  <a:schemeClr val="dk1"/>
                </a:solidFill>
                <a:latin typeface="Trebuchet MS"/>
                <a:ea typeface="Trebuchet MS"/>
                <a:cs typeface="Trebuchet MS"/>
                <a:sym typeface="Trebuchet MS"/>
              </a:rPr>
              <a:t>a </a:t>
            </a:r>
            <a:r>
              <a:rPr lang="en-US" sz="2180">
                <a:solidFill>
                  <a:schemeClr val="dk1"/>
                </a:solidFill>
                <a:latin typeface="Arial"/>
                <a:ea typeface="Arial"/>
                <a:cs typeface="Arial"/>
                <a:sym typeface="Arial"/>
              </a:rPr>
              <a:t>+ </a:t>
            </a:r>
            <a:r>
              <a:rPr lang="en-US" sz="2180" i="1">
                <a:solidFill>
                  <a:schemeClr val="dk1"/>
                </a:solidFill>
                <a:latin typeface="Trebuchet MS"/>
                <a:ea typeface="Trebuchet MS"/>
                <a:cs typeface="Trebuchet MS"/>
                <a:sym typeface="Trebuchet MS"/>
              </a:rPr>
              <a:t>b</a:t>
            </a:r>
            <a:r>
              <a:rPr lang="en-US" sz="2180">
                <a:solidFill>
                  <a:schemeClr val="dk1"/>
                </a:solidFill>
                <a:latin typeface="Arial"/>
                <a:ea typeface="Arial"/>
                <a:cs typeface="Arial"/>
                <a:sym typeface="Arial"/>
              </a:rPr>
              <a:t>)</a:t>
            </a:r>
            <a:endParaRPr sz="2180">
              <a:solidFill>
                <a:schemeClr val="dk1"/>
              </a:solidFill>
              <a:latin typeface="Arial"/>
              <a:ea typeface="Arial"/>
              <a:cs typeface="Arial"/>
              <a:sym typeface="Arial"/>
            </a:endParaRPr>
          </a:p>
        </p:txBody>
      </p:sp>
      <p:sp>
        <p:nvSpPr>
          <p:cNvPr id="823" name="Google Shape;823;p54"/>
          <p:cNvSpPr txBox="1"/>
          <p:nvPr/>
        </p:nvSpPr>
        <p:spPr>
          <a:xfrm>
            <a:off x="803275" y="3910013"/>
            <a:ext cx="4838700" cy="787400"/>
          </a:xfrm>
          <a:prstGeom prst="rect">
            <a:avLst/>
          </a:prstGeom>
          <a:noFill/>
          <a:ln>
            <a:noFill/>
          </a:ln>
        </p:spPr>
        <p:txBody>
          <a:bodyPr spcFirstLastPara="1" wrap="square" lIns="0" tIns="104425" rIns="0" bIns="0" anchor="t" anchorCtr="0">
            <a:spAutoFit/>
          </a:bodyPr>
          <a:lstStyle/>
          <a:p>
            <a:pPr marL="995375" marR="0" lvl="0" indent="0" algn="l" rtl="0">
              <a:spcBef>
                <a:spcPts val="0"/>
              </a:spcBef>
              <a:spcAft>
                <a:spcPts val="0"/>
              </a:spcAft>
              <a:buNone/>
            </a:pPr>
            <a:r>
              <a:rPr lang="en-US" sz="1585">
                <a:solidFill>
                  <a:schemeClr val="dk1"/>
                </a:solidFill>
                <a:latin typeface="Arial"/>
                <a:ea typeface="Arial"/>
                <a:cs typeface="Arial"/>
                <a:sym typeface="Arial"/>
              </a:rPr>
              <a:t>2</a:t>
            </a:r>
            <a:endParaRPr sz="1585">
              <a:solidFill>
                <a:schemeClr val="dk1"/>
              </a:solidFill>
              <a:latin typeface="Arial"/>
              <a:ea typeface="Arial"/>
              <a:cs typeface="Arial"/>
              <a:sym typeface="Arial"/>
            </a:endParaRPr>
          </a:p>
          <a:p>
            <a:pPr marL="25168" marR="0" lvl="0" indent="0" algn="ctr" rtl="0">
              <a:spcBef>
                <a:spcPts val="842"/>
              </a:spcBef>
              <a:spcAft>
                <a:spcPts val="0"/>
              </a:spcAft>
              <a:buNone/>
            </a:pPr>
            <a:r>
              <a:rPr lang="en-US" sz="2180">
                <a:solidFill>
                  <a:schemeClr val="dk1"/>
                </a:solidFill>
                <a:latin typeface="Arial"/>
                <a:ea typeface="Arial"/>
                <a:cs typeface="Arial"/>
                <a:sym typeface="Arial"/>
              </a:rPr>
              <a:t>The variance for a uniform distribution is:</a:t>
            </a:r>
            <a:endParaRPr sz="2180">
              <a:solidFill>
                <a:schemeClr val="dk1"/>
              </a:solidFill>
              <a:latin typeface="Arial"/>
              <a:ea typeface="Arial"/>
              <a:cs typeface="Arial"/>
              <a:sym typeface="Arial"/>
            </a:endParaRPr>
          </a:p>
        </p:txBody>
      </p:sp>
      <p:sp>
        <p:nvSpPr>
          <p:cNvPr id="824" name="Google Shape;824;p54"/>
          <p:cNvSpPr/>
          <p:nvPr/>
        </p:nvSpPr>
        <p:spPr>
          <a:xfrm>
            <a:off x="561975" y="4506913"/>
            <a:ext cx="128588" cy="128587"/>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ctr" rtl="0">
              <a:spcBef>
                <a:spcPts val="0"/>
              </a:spcBef>
              <a:spcAft>
                <a:spcPts val="0"/>
              </a:spcAft>
              <a:buNone/>
            </a:pPr>
            <a:endParaRPr sz="4756">
              <a:solidFill>
                <a:schemeClr val="dk1"/>
              </a:solidFill>
              <a:latin typeface="Arial"/>
              <a:ea typeface="Arial"/>
              <a:cs typeface="Arial"/>
              <a:sym typeface="Arial"/>
            </a:endParaRPr>
          </a:p>
        </p:txBody>
      </p:sp>
      <p:sp>
        <p:nvSpPr>
          <p:cNvPr id="825" name="Google Shape;825;p54"/>
          <p:cNvSpPr txBox="1"/>
          <p:nvPr/>
        </p:nvSpPr>
        <p:spPr>
          <a:xfrm>
            <a:off x="2000250" y="5029200"/>
            <a:ext cx="265113" cy="268288"/>
          </a:xfrm>
          <a:prstGeom prst="rect">
            <a:avLst/>
          </a:prstGeom>
          <a:noFill/>
          <a:ln>
            <a:noFill/>
          </a:ln>
        </p:spPr>
        <p:txBody>
          <a:bodyPr spcFirstLastPara="1" wrap="square" lIns="0" tIns="23900" rIns="0" bIns="0" anchor="t" anchorCtr="0">
            <a:spAutoFit/>
          </a:bodyPr>
          <a:lstStyle/>
          <a:p>
            <a:pPr marL="25168" marR="0" lvl="0" indent="0" algn="ctr" rtl="0">
              <a:spcBef>
                <a:spcPts val="0"/>
              </a:spcBef>
              <a:spcAft>
                <a:spcPts val="0"/>
              </a:spcAft>
              <a:buNone/>
            </a:pPr>
            <a:r>
              <a:rPr lang="en-US" sz="1585">
                <a:solidFill>
                  <a:schemeClr val="dk1"/>
                </a:solidFill>
                <a:latin typeface="Arial"/>
                <a:ea typeface="Arial"/>
                <a:cs typeface="Arial"/>
                <a:sym typeface="Arial"/>
              </a:rPr>
              <a:t>12</a:t>
            </a:r>
            <a:endParaRPr sz="1585">
              <a:solidFill>
                <a:schemeClr val="dk1"/>
              </a:solidFill>
              <a:latin typeface="Arial"/>
              <a:ea typeface="Arial"/>
              <a:cs typeface="Arial"/>
              <a:sym typeface="Arial"/>
            </a:endParaRPr>
          </a:p>
        </p:txBody>
      </p:sp>
      <p:sp>
        <p:nvSpPr>
          <p:cNvPr id="826" name="Google Shape;826;p54"/>
          <p:cNvSpPr txBox="1"/>
          <p:nvPr/>
        </p:nvSpPr>
        <p:spPr>
          <a:xfrm>
            <a:off x="803275" y="4860925"/>
            <a:ext cx="2324100" cy="358775"/>
          </a:xfrm>
          <a:prstGeom prst="rect">
            <a:avLst/>
          </a:prstGeom>
          <a:noFill/>
          <a:ln>
            <a:noFill/>
          </a:ln>
        </p:spPr>
        <p:txBody>
          <a:bodyPr spcFirstLastPara="1" wrap="square" lIns="0" tIns="22650" rIns="0" bIns="0" anchor="t" anchorCtr="0">
            <a:spAutoFit/>
          </a:bodyPr>
          <a:lstStyle/>
          <a:p>
            <a:pPr marL="23813" marR="0" lvl="0" indent="0" algn="ctr" rtl="0">
              <a:spcBef>
                <a:spcPts val="0"/>
              </a:spcBef>
              <a:spcAft>
                <a:spcPts val="0"/>
              </a:spcAft>
              <a:buNone/>
            </a:pPr>
            <a:r>
              <a:rPr lang="en-US" sz="2100" i="1">
                <a:solidFill>
                  <a:schemeClr val="dk1"/>
                </a:solidFill>
                <a:latin typeface="Trebuchet MS"/>
                <a:ea typeface="Trebuchet MS"/>
                <a:cs typeface="Trebuchet MS"/>
                <a:sym typeface="Trebuchet MS"/>
              </a:rPr>
              <a:t>Var </a:t>
            </a:r>
            <a:r>
              <a:rPr lang="en-US" sz="2100">
                <a:solidFill>
                  <a:schemeClr val="dk1"/>
                </a:solidFill>
                <a:latin typeface="Arial"/>
                <a:ea typeface="Arial"/>
                <a:cs typeface="Arial"/>
                <a:sym typeface="Arial"/>
              </a:rPr>
              <a:t>[</a:t>
            </a:r>
            <a:r>
              <a:rPr lang="en-US" sz="2100" i="1">
                <a:solidFill>
                  <a:schemeClr val="dk1"/>
                </a:solidFill>
                <a:latin typeface="Trebuchet MS"/>
                <a:ea typeface="Trebuchet MS"/>
                <a:cs typeface="Trebuchet MS"/>
                <a:sym typeface="Trebuchet MS"/>
              </a:rPr>
              <a:t>X </a:t>
            </a:r>
            <a:r>
              <a:rPr lang="en-US" sz="2100">
                <a:solidFill>
                  <a:schemeClr val="dk1"/>
                </a:solidFill>
                <a:latin typeface="Arial"/>
                <a:ea typeface="Arial"/>
                <a:cs typeface="Arial"/>
                <a:sym typeface="Arial"/>
              </a:rPr>
              <a:t>] =	(</a:t>
            </a:r>
            <a:r>
              <a:rPr lang="en-US" sz="2100" i="1">
                <a:solidFill>
                  <a:schemeClr val="dk1"/>
                </a:solidFill>
                <a:latin typeface="Trebuchet MS"/>
                <a:ea typeface="Trebuchet MS"/>
                <a:cs typeface="Trebuchet MS"/>
                <a:sym typeface="Trebuchet MS"/>
              </a:rPr>
              <a:t>b </a:t>
            </a:r>
            <a:r>
              <a:rPr lang="en-US" sz="2100">
                <a:solidFill>
                  <a:schemeClr val="dk1"/>
                </a:solidFill>
                <a:latin typeface="Lucida Sans"/>
                <a:ea typeface="Lucida Sans"/>
                <a:cs typeface="Lucida Sans"/>
                <a:sym typeface="Lucida Sans"/>
              </a:rPr>
              <a:t>− </a:t>
            </a:r>
            <a:r>
              <a:rPr lang="en-US" sz="2100" i="1">
                <a:solidFill>
                  <a:schemeClr val="dk1"/>
                </a:solidFill>
                <a:latin typeface="Trebuchet MS"/>
                <a:ea typeface="Trebuchet MS"/>
                <a:cs typeface="Trebuchet MS"/>
                <a:sym typeface="Trebuchet MS"/>
              </a:rPr>
              <a:t>a</a:t>
            </a:r>
            <a:r>
              <a:rPr lang="en-US" sz="2100">
                <a:solidFill>
                  <a:schemeClr val="dk1"/>
                </a:solidFill>
                <a:latin typeface="Arial"/>
                <a:ea typeface="Arial"/>
                <a:cs typeface="Arial"/>
                <a:sym typeface="Arial"/>
              </a:rPr>
              <a:t>)</a:t>
            </a:r>
            <a:endParaRPr/>
          </a:p>
        </p:txBody>
      </p:sp>
      <p:sp>
        <p:nvSpPr>
          <p:cNvPr id="827" name="Google Shape;827;p54"/>
          <p:cNvSpPr txBox="1"/>
          <p:nvPr/>
        </p:nvSpPr>
        <p:spPr>
          <a:xfrm>
            <a:off x="2000250" y="4835525"/>
            <a:ext cx="1235075" cy="268288"/>
          </a:xfrm>
          <a:prstGeom prst="rect">
            <a:avLst/>
          </a:prstGeom>
          <a:noFill/>
          <a:ln>
            <a:noFill/>
          </a:ln>
        </p:spPr>
        <p:txBody>
          <a:bodyPr spcFirstLastPara="1" wrap="square" lIns="0" tIns="23900" rIns="0" bIns="0" anchor="t" anchorCtr="0">
            <a:spAutoFit/>
          </a:bodyPr>
          <a:lstStyle/>
          <a:p>
            <a:pPr marL="25168" marR="0" lvl="0" indent="0" algn="ctr" rtl="0">
              <a:spcBef>
                <a:spcPts val="0"/>
              </a:spcBef>
              <a:spcAft>
                <a:spcPts val="0"/>
              </a:spcAft>
              <a:buNone/>
            </a:pPr>
            <a:r>
              <a:rPr lang="en-US" sz="2378" u="sng" baseline="30000">
                <a:solidFill>
                  <a:schemeClr val="dk1"/>
                </a:solidFill>
                <a:latin typeface="Times New Roman"/>
                <a:ea typeface="Times New Roman"/>
                <a:cs typeface="Times New Roman"/>
                <a:sym typeface="Times New Roman"/>
              </a:rPr>
              <a:t> </a:t>
            </a:r>
            <a:r>
              <a:rPr lang="en-US" sz="2378" u="sng" baseline="30000">
                <a:solidFill>
                  <a:schemeClr val="dk1"/>
                </a:solidFill>
                <a:latin typeface="Arial"/>
                <a:ea typeface="Arial"/>
                <a:cs typeface="Arial"/>
                <a:sym typeface="Arial"/>
              </a:rPr>
              <a:t>1 </a:t>
            </a:r>
            <a:r>
              <a:rPr lang="en-US" sz="2378" baseline="30000">
                <a:solidFill>
                  <a:schemeClr val="dk1"/>
                </a:solidFill>
                <a:latin typeface="Arial"/>
                <a:ea typeface="Arial"/>
                <a:cs typeface="Arial"/>
                <a:sym typeface="Arial"/>
              </a:rPr>
              <a:t>	</a:t>
            </a:r>
            <a:r>
              <a:rPr lang="en-US" sz="1585">
                <a:solidFill>
                  <a:schemeClr val="dk1"/>
                </a:solidFill>
                <a:latin typeface="Arial"/>
                <a:ea typeface="Arial"/>
                <a:cs typeface="Arial"/>
                <a:sym typeface="Arial"/>
              </a:rPr>
              <a:t>2</a:t>
            </a:r>
            <a:endParaRPr sz="1585">
              <a:solidFill>
                <a:schemeClr val="dk1"/>
              </a:solidFill>
              <a:latin typeface="Arial"/>
              <a:ea typeface="Arial"/>
              <a:cs typeface="Arial"/>
              <a:sym typeface="Arial"/>
            </a:endParaRPr>
          </a:p>
        </p:txBody>
      </p:sp>
      <p:sp>
        <p:nvSpPr>
          <p:cNvPr id="828" name="Google Shape;828;p54"/>
          <p:cNvSpPr/>
          <p:nvPr/>
        </p:nvSpPr>
        <p:spPr>
          <a:xfrm>
            <a:off x="0" y="0"/>
            <a:ext cx="9145588" cy="1349375"/>
          </a:xfrm>
          <a:prstGeom prst="rect">
            <a:avLst/>
          </a:prstGeom>
          <a:noFill/>
          <a:ln>
            <a:noFill/>
          </a:ln>
        </p:spPr>
        <p:txBody>
          <a:bodyPr spcFirstLastPara="1" wrap="square" lIns="91425" tIns="45700" rIns="91425" bIns="45700" anchor="t" anchorCtr="0">
            <a:noAutofit/>
          </a:bodyPr>
          <a:lstStyle/>
          <a:p>
            <a:pPr marL="23813" marR="0" lvl="0" indent="0" algn="l" rtl="0">
              <a:lnSpc>
                <a:spcPct val="103000"/>
              </a:lnSpc>
              <a:spcBef>
                <a:spcPts val="0"/>
              </a:spcBef>
              <a:spcAft>
                <a:spcPts val="0"/>
              </a:spcAft>
              <a:buNone/>
            </a:pPr>
            <a:r>
              <a:rPr lang="en-US" sz="1900">
                <a:solidFill>
                  <a:schemeClr val="dk1"/>
                </a:solidFill>
                <a:latin typeface="Arial"/>
                <a:ea typeface="Arial"/>
                <a:cs typeface="Arial"/>
                <a:sym typeface="Arial"/>
              </a:rPr>
              <a:t>Consider that your company is having a strike, and at any point  the strike is just as likely to end as at any other point. Therefore, it can be  modeled using a uniform distribution over the next month of 30 days. What is the chance the strike is over in the first week (7 days)?</a:t>
            </a:r>
            <a:endParaRPr/>
          </a:p>
        </p:txBody>
      </p:sp>
    </p:spTree>
  </p:cSld>
  <p:clrMapOvr>
    <a:masterClrMapping/>
  </p:clrMapOvr>
  <p:transition>
    <p:fade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55"/>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The Exponential Distributions</a:t>
            </a:r>
            <a:endParaRPr/>
          </a:p>
        </p:txBody>
      </p:sp>
      <p:sp>
        <p:nvSpPr>
          <p:cNvPr id="834" name="Google Shape;834;p55"/>
          <p:cNvSpPr txBox="1">
            <a:spLocks noGrp="1"/>
          </p:cNvSpPr>
          <p:nvPr>
            <p:ph type="body" idx="1"/>
          </p:nvPr>
        </p:nvSpPr>
        <p:spPr>
          <a:xfrm>
            <a:off x="762000" y="1600200"/>
            <a:ext cx="8077200" cy="4114800"/>
          </a:xfrm>
          <a:prstGeom prst="rect">
            <a:avLst/>
          </a:prstGeom>
          <a:noFill/>
          <a:ln>
            <a:noFill/>
          </a:ln>
        </p:spPr>
        <p:txBody>
          <a:bodyPr spcFirstLastPara="1" wrap="square" lIns="85325" tIns="42650" rIns="85325" bIns="42650" anchor="t" anchorCtr="0">
            <a:noAutofit/>
          </a:bodyPr>
          <a:lstStyle/>
          <a:p>
            <a:pPr marL="320675" lvl="0" indent="-320675" algn="l" rtl="0">
              <a:spcBef>
                <a:spcPts val="0"/>
              </a:spcBef>
              <a:spcAft>
                <a:spcPts val="0"/>
              </a:spcAft>
              <a:buSzPts val="1680"/>
              <a:buChar char="■"/>
            </a:pPr>
            <a:r>
              <a:rPr lang="en-US" b="1"/>
              <a:t>Definition</a:t>
            </a:r>
            <a:endParaRPr/>
          </a:p>
          <a:p>
            <a:pPr marL="320675" lvl="0" indent="-320675" algn="l" rtl="0">
              <a:spcBef>
                <a:spcPts val="560"/>
              </a:spcBef>
              <a:spcAft>
                <a:spcPts val="0"/>
              </a:spcAft>
              <a:buSzPts val="1680"/>
              <a:buChar char="■"/>
            </a:pPr>
            <a:r>
              <a:rPr lang="en-US" i="1"/>
              <a:t>X </a:t>
            </a:r>
            <a:r>
              <a:rPr lang="en-US"/>
              <a:t>is said to have an </a:t>
            </a:r>
            <a:r>
              <a:rPr lang="en-US" b="1"/>
              <a:t>exponential distribution </a:t>
            </a:r>
            <a:r>
              <a:rPr lang="en-US"/>
              <a:t>with parameter λ (λ &gt; 0) if the pdf of </a:t>
            </a:r>
            <a:r>
              <a:rPr lang="en-US" i="1"/>
              <a:t>X </a:t>
            </a:r>
            <a:r>
              <a:rPr lang="en-US"/>
              <a:t>is                                                                           </a:t>
            </a:r>
            <a:endParaRPr>
              <a:solidFill>
                <a:srgbClr val="7AC6F3"/>
              </a:solidFill>
            </a:endParaRPr>
          </a:p>
        </p:txBody>
      </p:sp>
      <p:pic>
        <p:nvPicPr>
          <p:cNvPr id="835" name="Google Shape;835;p55"/>
          <p:cNvPicPr preferRelativeResize="0"/>
          <p:nvPr/>
        </p:nvPicPr>
        <p:blipFill rotWithShape="1">
          <a:blip r:embed="rId3">
            <a:alphaModFix/>
          </a:blip>
          <a:srcRect/>
          <a:stretch/>
        </p:blipFill>
        <p:spPr>
          <a:xfrm>
            <a:off x="1524000" y="3048000"/>
            <a:ext cx="3509963" cy="823913"/>
          </a:xfrm>
          <a:prstGeom prst="rect">
            <a:avLst/>
          </a:prstGeom>
          <a:noFill/>
          <a:ln>
            <a:noFill/>
          </a:ln>
        </p:spPr>
      </p:pic>
      <p:pic>
        <p:nvPicPr>
          <p:cNvPr id="836" name="Google Shape;836;p55"/>
          <p:cNvPicPr preferRelativeResize="0"/>
          <p:nvPr/>
        </p:nvPicPr>
        <p:blipFill rotWithShape="1">
          <a:blip r:embed="rId4">
            <a:alphaModFix/>
          </a:blip>
          <a:srcRect/>
          <a:stretch/>
        </p:blipFill>
        <p:spPr>
          <a:xfrm>
            <a:off x="5257800" y="3733800"/>
            <a:ext cx="2952750" cy="2090738"/>
          </a:xfrm>
          <a:prstGeom prst="rect">
            <a:avLst/>
          </a:prstGeom>
          <a:noFill/>
          <a:ln>
            <a:noFill/>
          </a:ln>
        </p:spPr>
      </p:pic>
      <p:pic>
        <p:nvPicPr>
          <p:cNvPr id="837" name="Google Shape;837;p55"/>
          <p:cNvPicPr preferRelativeResize="0"/>
          <p:nvPr/>
        </p:nvPicPr>
        <p:blipFill rotWithShape="1">
          <a:blip r:embed="rId5">
            <a:alphaModFix/>
          </a:blip>
          <a:srcRect/>
          <a:stretch/>
        </p:blipFill>
        <p:spPr>
          <a:xfrm>
            <a:off x="2266950" y="4198938"/>
            <a:ext cx="2514600" cy="7302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p56"/>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The Exponential Distributions</a:t>
            </a:r>
            <a:endParaRPr/>
          </a:p>
        </p:txBody>
      </p:sp>
      <p:sp>
        <p:nvSpPr>
          <p:cNvPr id="843" name="Google Shape;843;p56"/>
          <p:cNvSpPr txBox="1">
            <a:spLocks noGrp="1"/>
          </p:cNvSpPr>
          <p:nvPr>
            <p:ph type="body" idx="1"/>
          </p:nvPr>
        </p:nvSpPr>
        <p:spPr>
          <a:xfrm>
            <a:off x="762000" y="1600200"/>
            <a:ext cx="8077200" cy="4114800"/>
          </a:xfrm>
          <a:prstGeom prst="rect">
            <a:avLst/>
          </a:prstGeom>
          <a:noFill/>
          <a:ln>
            <a:noFill/>
          </a:ln>
        </p:spPr>
        <p:txBody>
          <a:bodyPr spcFirstLastPara="1" wrap="square" lIns="85325" tIns="42650" rIns="85325" bIns="42650" anchor="t" anchorCtr="0">
            <a:noAutofit/>
          </a:bodyPr>
          <a:lstStyle/>
          <a:p>
            <a:pPr marL="320675" lvl="0" indent="-320675" algn="l" rtl="0">
              <a:spcBef>
                <a:spcPts val="0"/>
              </a:spcBef>
              <a:spcAft>
                <a:spcPts val="0"/>
              </a:spcAft>
              <a:buSzPts val="1680"/>
              <a:buChar char="■"/>
            </a:pPr>
            <a:r>
              <a:rPr lang="en-US"/>
              <a:t>The expected value of an exponentially distributed random variable </a:t>
            </a:r>
            <a:r>
              <a:rPr lang="en-US" i="1"/>
              <a:t>X </a:t>
            </a:r>
            <a:r>
              <a:rPr lang="en-US"/>
              <a:t>is</a:t>
            </a:r>
            <a:endParaRPr/>
          </a:p>
          <a:p>
            <a:pPr marL="320675" lvl="0" indent="-213995" algn="l" rtl="0">
              <a:spcBef>
                <a:spcPts val="560"/>
              </a:spcBef>
              <a:spcAft>
                <a:spcPts val="0"/>
              </a:spcAft>
              <a:buSzPts val="1680"/>
              <a:buNone/>
            </a:pPr>
            <a:endParaRPr/>
          </a:p>
          <a:p>
            <a:pPr marL="320675" lvl="0" indent="-213995" algn="l" rtl="0">
              <a:spcBef>
                <a:spcPts val="560"/>
              </a:spcBef>
              <a:spcAft>
                <a:spcPts val="0"/>
              </a:spcAft>
              <a:buSzPts val="1680"/>
              <a:buNone/>
            </a:pPr>
            <a:endParaRPr/>
          </a:p>
          <a:p>
            <a:pPr marL="320675" lvl="0" indent="-213995" algn="l" rtl="0">
              <a:spcBef>
                <a:spcPts val="560"/>
              </a:spcBef>
              <a:spcAft>
                <a:spcPts val="0"/>
              </a:spcAft>
              <a:buSzPts val="1680"/>
              <a:buNone/>
            </a:pPr>
            <a:endParaRPr/>
          </a:p>
          <a:p>
            <a:pPr marL="320675" lvl="0" indent="-320675" algn="l" rtl="0">
              <a:spcBef>
                <a:spcPts val="560"/>
              </a:spcBef>
              <a:spcAft>
                <a:spcPts val="0"/>
              </a:spcAft>
              <a:buSzPts val="1680"/>
              <a:buChar char="■"/>
            </a:pPr>
            <a:r>
              <a:rPr lang="en-US"/>
              <a:t>Obtaining this expected value necessitates doing an integration by parts. The variance of </a:t>
            </a:r>
            <a:r>
              <a:rPr lang="en-US" i="1"/>
              <a:t>X </a:t>
            </a:r>
            <a:r>
              <a:rPr lang="en-US"/>
              <a:t>can be computed using the fact that </a:t>
            </a:r>
            <a:r>
              <a:rPr lang="en-US" i="1"/>
              <a:t>V</a:t>
            </a:r>
            <a:r>
              <a:rPr lang="en-US" sz="400" i="1"/>
              <a:t> </a:t>
            </a:r>
            <a:r>
              <a:rPr lang="en-US"/>
              <a:t>(</a:t>
            </a:r>
            <a:r>
              <a:rPr lang="en-US" i="1"/>
              <a:t>X</a:t>
            </a:r>
            <a:r>
              <a:rPr lang="en-US"/>
              <a:t>) = </a:t>
            </a:r>
            <a:r>
              <a:rPr lang="en-US" i="1"/>
              <a:t>E</a:t>
            </a:r>
            <a:r>
              <a:rPr lang="en-US" sz="400" i="1"/>
              <a:t> </a:t>
            </a:r>
            <a:r>
              <a:rPr lang="en-US"/>
              <a:t>(</a:t>
            </a:r>
            <a:r>
              <a:rPr lang="en-US" i="1"/>
              <a:t>X</a:t>
            </a:r>
            <a:r>
              <a:rPr lang="en-US" baseline="30000"/>
              <a:t>2</a:t>
            </a:r>
            <a:r>
              <a:rPr lang="en-US"/>
              <a:t>) – [</a:t>
            </a:r>
            <a:r>
              <a:rPr lang="en-US" i="1"/>
              <a:t>E</a:t>
            </a:r>
            <a:r>
              <a:rPr lang="en-US"/>
              <a:t>(</a:t>
            </a:r>
            <a:r>
              <a:rPr lang="en-US" i="1"/>
              <a:t>X</a:t>
            </a:r>
            <a:r>
              <a:rPr lang="en-US"/>
              <a:t>)]</a:t>
            </a:r>
            <a:r>
              <a:rPr lang="en-US" baseline="30000"/>
              <a:t>2</a:t>
            </a:r>
            <a:r>
              <a:rPr lang="en-US"/>
              <a:t>. </a:t>
            </a:r>
            <a:endParaRPr/>
          </a:p>
          <a:p>
            <a:pPr marL="320675" lvl="0" indent="-213995" algn="l" rtl="0">
              <a:spcBef>
                <a:spcPts val="560"/>
              </a:spcBef>
              <a:spcAft>
                <a:spcPts val="0"/>
              </a:spcAft>
              <a:buSzPts val="1680"/>
              <a:buNone/>
            </a:pPr>
            <a:endParaRPr/>
          </a:p>
        </p:txBody>
      </p:sp>
      <p:pic>
        <p:nvPicPr>
          <p:cNvPr id="844" name="Google Shape;844;p56"/>
          <p:cNvPicPr preferRelativeResize="0"/>
          <p:nvPr/>
        </p:nvPicPr>
        <p:blipFill rotWithShape="1">
          <a:blip r:embed="rId3">
            <a:alphaModFix/>
          </a:blip>
          <a:srcRect/>
          <a:stretch/>
        </p:blipFill>
        <p:spPr>
          <a:xfrm>
            <a:off x="2743200" y="2925763"/>
            <a:ext cx="2486025" cy="73183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57"/>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The Exponential Distributions</a:t>
            </a:r>
            <a:endParaRPr/>
          </a:p>
        </p:txBody>
      </p:sp>
      <p:sp>
        <p:nvSpPr>
          <p:cNvPr id="850" name="Google Shape;850;p57"/>
          <p:cNvSpPr txBox="1">
            <a:spLocks noGrp="1"/>
          </p:cNvSpPr>
          <p:nvPr>
            <p:ph type="body" idx="1"/>
          </p:nvPr>
        </p:nvSpPr>
        <p:spPr>
          <a:xfrm>
            <a:off x="762000" y="1600200"/>
            <a:ext cx="8077200" cy="4114800"/>
          </a:xfrm>
          <a:prstGeom prst="rect">
            <a:avLst/>
          </a:prstGeom>
          <a:noFill/>
          <a:ln>
            <a:noFill/>
          </a:ln>
        </p:spPr>
        <p:txBody>
          <a:bodyPr spcFirstLastPara="1" wrap="square" lIns="85325" tIns="42650" rIns="85325" bIns="42650" anchor="t" anchorCtr="0">
            <a:noAutofit/>
          </a:bodyPr>
          <a:lstStyle/>
          <a:p>
            <a:pPr marL="320675" lvl="0" indent="-320675" algn="l" rtl="0">
              <a:spcBef>
                <a:spcPts val="0"/>
              </a:spcBef>
              <a:spcAft>
                <a:spcPts val="0"/>
              </a:spcAft>
              <a:buSzPts val="1680"/>
              <a:buChar char="■"/>
            </a:pPr>
            <a:r>
              <a:rPr lang="en-US"/>
              <a:t>The exponential pdf is easily integrated to obtain the cdf.</a:t>
            </a:r>
            <a:endParaRPr/>
          </a:p>
        </p:txBody>
      </p:sp>
      <p:pic>
        <p:nvPicPr>
          <p:cNvPr id="851" name="Google Shape;851;p57"/>
          <p:cNvPicPr preferRelativeResize="0"/>
          <p:nvPr/>
        </p:nvPicPr>
        <p:blipFill rotWithShape="1">
          <a:blip r:embed="rId3">
            <a:alphaModFix/>
          </a:blip>
          <a:srcRect/>
          <a:stretch/>
        </p:blipFill>
        <p:spPr>
          <a:xfrm>
            <a:off x="2209800" y="2133600"/>
            <a:ext cx="3290888" cy="731838"/>
          </a:xfrm>
          <a:prstGeom prst="rect">
            <a:avLst/>
          </a:prstGeom>
          <a:noFill/>
          <a:ln>
            <a:noFill/>
          </a:ln>
        </p:spPr>
      </p:pic>
      <p:sp>
        <p:nvSpPr>
          <p:cNvPr id="852" name="Google Shape;852;p57"/>
          <p:cNvSpPr/>
          <p:nvPr/>
        </p:nvSpPr>
        <p:spPr>
          <a:xfrm>
            <a:off x="808038" y="3425825"/>
            <a:ext cx="8183562" cy="2246313"/>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2800">
                <a:solidFill>
                  <a:schemeClr val="dk1"/>
                </a:solidFill>
                <a:latin typeface="Arial"/>
                <a:ea typeface="Arial"/>
                <a:cs typeface="Arial"/>
                <a:sym typeface="Arial"/>
              </a:rPr>
              <a:t>The exponential distribution is frequently used as a model for the distribution of times between the occurrence of successive events, such as customers arriving at a service facility or calls coming in to a switchboard.</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58"/>
          <p:cNvSpPr txBox="1">
            <a:spLocks noGrp="1"/>
          </p:cNvSpPr>
          <p:nvPr>
            <p:ph type="title" idx="4294967295"/>
          </p:nvPr>
        </p:nvSpPr>
        <p:spPr>
          <a:xfrm>
            <a:off x="1350963" y="381000"/>
            <a:ext cx="7793037"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The Exponential Distributions</a:t>
            </a:r>
            <a:endParaRPr/>
          </a:p>
        </p:txBody>
      </p:sp>
      <p:sp>
        <p:nvSpPr>
          <p:cNvPr id="858" name="Google Shape;858;p58"/>
          <p:cNvSpPr/>
          <p:nvPr/>
        </p:nvSpPr>
        <p:spPr>
          <a:xfrm>
            <a:off x="228600" y="1524000"/>
            <a:ext cx="8610600" cy="23082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It is a continuous distribution.</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 It is a family of distributions.</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 It is skewed to the right.</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 The </a:t>
            </a:r>
            <a:r>
              <a:rPr lang="en-US" sz="2400" i="1">
                <a:solidFill>
                  <a:schemeClr val="dk1"/>
                </a:solidFill>
                <a:latin typeface="Arial"/>
                <a:ea typeface="Arial"/>
                <a:cs typeface="Arial"/>
                <a:sym typeface="Arial"/>
              </a:rPr>
              <a:t>x values range from zero to infinity.</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 Its apex is always at </a:t>
            </a:r>
            <a:r>
              <a:rPr lang="en-US" sz="2400" i="1">
                <a:solidFill>
                  <a:schemeClr val="dk1"/>
                </a:solidFill>
                <a:latin typeface="Arial"/>
                <a:ea typeface="Arial"/>
                <a:cs typeface="Arial"/>
                <a:sym typeface="Arial"/>
              </a:rPr>
              <a:t>x = 0.</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 The curve steadily decreases as </a:t>
            </a:r>
            <a:r>
              <a:rPr lang="en-US" sz="2400" i="1">
                <a:solidFill>
                  <a:schemeClr val="dk1"/>
                </a:solidFill>
                <a:latin typeface="Arial"/>
                <a:ea typeface="Arial"/>
                <a:cs typeface="Arial"/>
                <a:sym typeface="Arial"/>
              </a:rPr>
              <a:t>x gets larger.</a:t>
            </a:r>
            <a:endParaRPr sz="2400">
              <a:solidFill>
                <a:schemeClr val="dk1"/>
              </a:solidFill>
              <a:latin typeface="Arial"/>
              <a:ea typeface="Arial"/>
              <a:cs typeface="Arial"/>
              <a:sym typeface="Arial"/>
            </a:endParaRPr>
          </a:p>
        </p:txBody>
      </p:sp>
      <p:pic>
        <p:nvPicPr>
          <p:cNvPr id="859" name="Google Shape;859;p58"/>
          <p:cNvPicPr preferRelativeResize="0"/>
          <p:nvPr/>
        </p:nvPicPr>
        <p:blipFill rotWithShape="1">
          <a:blip r:embed="rId3">
            <a:alphaModFix/>
          </a:blip>
          <a:srcRect/>
          <a:stretch/>
        </p:blipFill>
        <p:spPr>
          <a:xfrm>
            <a:off x="1219200" y="3990975"/>
            <a:ext cx="5038725" cy="28670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p59"/>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Example</a:t>
            </a:r>
            <a:endParaRPr/>
          </a:p>
        </p:txBody>
      </p:sp>
      <p:sp>
        <p:nvSpPr>
          <p:cNvPr id="865" name="Google Shape;865;p59"/>
          <p:cNvSpPr txBox="1">
            <a:spLocks noGrp="1"/>
          </p:cNvSpPr>
          <p:nvPr>
            <p:ph type="body" idx="1"/>
          </p:nvPr>
        </p:nvSpPr>
        <p:spPr>
          <a:xfrm>
            <a:off x="762000" y="1600200"/>
            <a:ext cx="8077200" cy="5410200"/>
          </a:xfrm>
          <a:prstGeom prst="rect">
            <a:avLst/>
          </a:prstGeom>
          <a:noFill/>
          <a:ln>
            <a:noFill/>
          </a:ln>
        </p:spPr>
        <p:txBody>
          <a:bodyPr spcFirstLastPara="1" wrap="square" lIns="85325" tIns="42650" rIns="85325" bIns="42650" anchor="t" anchorCtr="0">
            <a:noAutofit/>
          </a:bodyPr>
          <a:lstStyle/>
          <a:p>
            <a:pPr marL="320675" lvl="0" indent="-320675" algn="l" rtl="0">
              <a:spcBef>
                <a:spcPts val="0"/>
              </a:spcBef>
              <a:spcAft>
                <a:spcPts val="0"/>
              </a:spcAft>
              <a:buSzPts val="1200"/>
              <a:buChar char="■"/>
            </a:pPr>
            <a:r>
              <a:rPr lang="en-US" sz="2000">
                <a:latin typeface="Times New Roman"/>
                <a:ea typeface="Times New Roman"/>
                <a:cs typeface="Times New Roman"/>
                <a:sym typeface="Times New Roman"/>
              </a:rPr>
              <a:t>Suppose that calls are received at a 24-hour “suicide hotline” according to a Poisson process with rate α = .5 call per day. </a:t>
            </a:r>
            <a:endParaRPr/>
          </a:p>
          <a:p>
            <a:pPr marL="320675" lvl="0" indent="-320675" algn="l" rtl="0">
              <a:spcBef>
                <a:spcPts val="400"/>
              </a:spcBef>
              <a:spcAft>
                <a:spcPts val="0"/>
              </a:spcAft>
              <a:buSzPts val="1200"/>
              <a:buChar char="■"/>
            </a:pPr>
            <a:r>
              <a:rPr lang="en-US" sz="2000">
                <a:latin typeface="Times New Roman"/>
                <a:ea typeface="Times New Roman"/>
                <a:cs typeface="Times New Roman"/>
                <a:sym typeface="Times New Roman"/>
              </a:rPr>
              <a:t>Then the number of days </a:t>
            </a:r>
            <a:r>
              <a:rPr lang="en-US" sz="2000" i="1">
                <a:latin typeface="Times New Roman"/>
                <a:ea typeface="Times New Roman"/>
                <a:cs typeface="Times New Roman"/>
                <a:sym typeface="Times New Roman"/>
              </a:rPr>
              <a:t>X </a:t>
            </a:r>
            <a:r>
              <a:rPr lang="en-US" sz="2000">
                <a:latin typeface="Times New Roman"/>
                <a:ea typeface="Times New Roman"/>
                <a:cs typeface="Times New Roman"/>
                <a:sym typeface="Times New Roman"/>
              </a:rPr>
              <a:t>between successive calls has an exponential distribution with parameter value .5, so the probability that more than 2 days elapse between calls is</a:t>
            </a:r>
            <a:endParaRPr/>
          </a:p>
          <a:p>
            <a:pPr marL="320675" lvl="0" indent="-244475" algn="l" rtl="0">
              <a:spcBef>
                <a:spcPts val="400"/>
              </a:spcBef>
              <a:spcAft>
                <a:spcPts val="0"/>
              </a:spcAft>
              <a:buSzPts val="1200"/>
              <a:buNone/>
            </a:pPr>
            <a:endParaRPr sz="2000">
              <a:latin typeface="Times New Roman"/>
              <a:ea typeface="Times New Roman"/>
              <a:cs typeface="Times New Roman"/>
              <a:sym typeface="Times New Roman"/>
            </a:endParaRPr>
          </a:p>
          <a:p>
            <a:pPr marL="320675" lvl="0" indent="-320675" algn="l" rtl="0">
              <a:spcBef>
                <a:spcPts val="400"/>
              </a:spcBef>
              <a:spcAft>
                <a:spcPts val="0"/>
              </a:spcAft>
              <a:buSzPts val="1200"/>
              <a:buChar char="■"/>
            </a:pPr>
            <a:r>
              <a:rPr lang="en-US" sz="2000" i="1">
                <a:latin typeface="Times New Roman"/>
                <a:ea typeface="Times New Roman"/>
                <a:cs typeface="Times New Roman"/>
                <a:sym typeface="Times New Roman"/>
              </a:rPr>
              <a:t>             P</a:t>
            </a:r>
            <a:r>
              <a:rPr lang="en-US" sz="2000">
                <a:latin typeface="Times New Roman"/>
                <a:ea typeface="Times New Roman"/>
                <a:cs typeface="Times New Roman"/>
                <a:sym typeface="Times New Roman"/>
              </a:rPr>
              <a:t>(</a:t>
            </a:r>
            <a:r>
              <a:rPr lang="en-US" sz="2000" i="1">
                <a:latin typeface="Times New Roman"/>
                <a:ea typeface="Times New Roman"/>
                <a:cs typeface="Times New Roman"/>
                <a:sym typeface="Times New Roman"/>
              </a:rPr>
              <a:t>X </a:t>
            </a:r>
            <a:r>
              <a:rPr lang="en-US" sz="2000">
                <a:latin typeface="Times New Roman"/>
                <a:ea typeface="Times New Roman"/>
                <a:cs typeface="Times New Roman"/>
                <a:sym typeface="Times New Roman"/>
              </a:rPr>
              <a:t>&gt; 2) = 1 – </a:t>
            </a:r>
            <a:r>
              <a:rPr lang="en-US" sz="2000" i="1">
                <a:latin typeface="Times New Roman"/>
                <a:ea typeface="Times New Roman"/>
                <a:cs typeface="Times New Roman"/>
                <a:sym typeface="Times New Roman"/>
              </a:rPr>
              <a:t>P</a:t>
            </a:r>
            <a:r>
              <a:rPr lang="en-US" sz="2000">
                <a:latin typeface="Times New Roman"/>
                <a:ea typeface="Times New Roman"/>
                <a:cs typeface="Times New Roman"/>
                <a:sym typeface="Times New Roman"/>
              </a:rPr>
              <a:t>(</a:t>
            </a:r>
            <a:r>
              <a:rPr lang="en-US" sz="2000" i="1">
                <a:latin typeface="Times New Roman"/>
                <a:ea typeface="Times New Roman"/>
                <a:cs typeface="Times New Roman"/>
                <a:sym typeface="Times New Roman"/>
              </a:rPr>
              <a:t>X </a:t>
            </a:r>
            <a:r>
              <a:rPr lang="en-US" sz="2000" b="1">
                <a:latin typeface="Times New Roman"/>
                <a:ea typeface="Times New Roman"/>
                <a:cs typeface="Times New Roman"/>
                <a:sym typeface="Times New Roman"/>
              </a:rPr>
              <a:t>≤</a:t>
            </a:r>
            <a:r>
              <a:rPr lang="en-US" sz="2000">
                <a:latin typeface="Times New Roman"/>
                <a:ea typeface="Times New Roman"/>
                <a:cs typeface="Times New Roman"/>
                <a:sym typeface="Times New Roman"/>
              </a:rPr>
              <a:t> 2) </a:t>
            </a:r>
            <a:endParaRPr/>
          </a:p>
          <a:p>
            <a:pPr marL="320675" lvl="0" indent="-244475" algn="l" rtl="0">
              <a:spcBef>
                <a:spcPts val="400"/>
              </a:spcBef>
              <a:spcAft>
                <a:spcPts val="0"/>
              </a:spcAft>
              <a:buSzPts val="1200"/>
              <a:buNone/>
            </a:pPr>
            <a:endParaRPr sz="2000">
              <a:latin typeface="Times New Roman"/>
              <a:ea typeface="Times New Roman"/>
              <a:cs typeface="Times New Roman"/>
              <a:sym typeface="Times New Roman"/>
            </a:endParaRPr>
          </a:p>
          <a:p>
            <a:pPr marL="320675" lvl="0" indent="-320675" algn="l" rtl="0">
              <a:spcBef>
                <a:spcPts val="400"/>
              </a:spcBef>
              <a:spcAft>
                <a:spcPts val="0"/>
              </a:spcAft>
              <a:buSzPts val="1200"/>
              <a:buChar char="■"/>
            </a:pPr>
            <a:r>
              <a:rPr lang="en-US" sz="2000">
                <a:latin typeface="Times New Roman"/>
                <a:ea typeface="Times New Roman"/>
                <a:cs typeface="Times New Roman"/>
                <a:sym typeface="Times New Roman"/>
              </a:rPr>
              <a:t>                            = 1 – </a:t>
            </a:r>
            <a:r>
              <a:rPr lang="en-US" sz="2000" i="1">
                <a:latin typeface="Times New Roman"/>
                <a:ea typeface="Times New Roman"/>
                <a:cs typeface="Times New Roman"/>
                <a:sym typeface="Times New Roman"/>
              </a:rPr>
              <a:t>F</a:t>
            </a:r>
            <a:r>
              <a:rPr lang="en-US" sz="2000">
                <a:latin typeface="Times New Roman"/>
                <a:ea typeface="Times New Roman"/>
                <a:cs typeface="Times New Roman"/>
                <a:sym typeface="Times New Roman"/>
              </a:rPr>
              <a:t>(2; .5) </a:t>
            </a:r>
            <a:endParaRPr/>
          </a:p>
          <a:p>
            <a:pPr marL="320675" lvl="0" indent="-320675" algn="l" rtl="0">
              <a:spcBef>
                <a:spcPts val="400"/>
              </a:spcBef>
              <a:spcAft>
                <a:spcPts val="0"/>
              </a:spcAft>
              <a:buSzPts val="1200"/>
              <a:buChar char="■"/>
            </a:pPr>
            <a:r>
              <a:rPr lang="en-US" sz="2000">
                <a:latin typeface="Times New Roman"/>
                <a:ea typeface="Times New Roman"/>
                <a:cs typeface="Times New Roman"/>
                <a:sym typeface="Times New Roman"/>
              </a:rPr>
              <a:t>                            = </a:t>
            </a:r>
            <a:r>
              <a:rPr lang="en-US" sz="2000" i="1">
                <a:latin typeface="Times New Roman"/>
                <a:ea typeface="Times New Roman"/>
                <a:cs typeface="Times New Roman"/>
                <a:sym typeface="Times New Roman"/>
              </a:rPr>
              <a:t>e</a:t>
            </a:r>
            <a:r>
              <a:rPr lang="en-US" sz="2000" baseline="30000">
                <a:latin typeface="Times New Roman"/>
                <a:ea typeface="Times New Roman"/>
                <a:cs typeface="Times New Roman"/>
                <a:sym typeface="Times New Roman"/>
              </a:rPr>
              <a:t>–(.5)(2)</a:t>
            </a:r>
            <a:r>
              <a:rPr lang="en-US" sz="2000">
                <a:latin typeface="Times New Roman"/>
                <a:ea typeface="Times New Roman"/>
                <a:cs typeface="Times New Roman"/>
                <a:sym typeface="Times New Roman"/>
              </a:rPr>
              <a:t> </a:t>
            </a:r>
            <a:endParaRPr/>
          </a:p>
        </p:txBody>
      </p:sp>
      <p:sp>
        <p:nvSpPr>
          <p:cNvPr id="866" name="Google Shape;866;p59"/>
          <p:cNvSpPr/>
          <p:nvPr/>
        </p:nvSpPr>
        <p:spPr>
          <a:xfrm>
            <a:off x="-838200" y="5181600"/>
            <a:ext cx="10591800" cy="10779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						= .368</a:t>
            </a:r>
            <a:endParaRPr/>
          </a:p>
          <a:p>
            <a:pPr marL="0" marR="0" lvl="0" indent="0" algn="ctr" rtl="0">
              <a:spcBef>
                <a:spcPts val="0"/>
              </a:spcBef>
              <a:spcAft>
                <a:spcPts val="0"/>
              </a:spcAft>
              <a:buNone/>
            </a:pPr>
            <a:endParaRPr sz="2400">
              <a:solidFill>
                <a:schemeClr val="dk1"/>
              </a:solidFill>
              <a:latin typeface="Arial"/>
              <a:ea typeface="Arial"/>
              <a:cs typeface="Arial"/>
              <a:sym typeface="Arial"/>
            </a:endParaRPr>
          </a:p>
          <a:p>
            <a:pPr marL="0" marR="0" lvl="0" indent="0" algn="ctr" rtl="0">
              <a:spcBef>
                <a:spcPts val="0"/>
              </a:spcBef>
              <a:spcAft>
                <a:spcPts val="0"/>
              </a:spcAft>
              <a:buNone/>
            </a:pPr>
            <a:r>
              <a:rPr lang="en-US" sz="2000">
                <a:solidFill>
                  <a:schemeClr val="dk1"/>
                </a:solidFill>
                <a:latin typeface="Times New Roman"/>
                <a:ea typeface="Times New Roman"/>
                <a:cs typeface="Times New Roman"/>
                <a:sym typeface="Times New Roman"/>
              </a:rPr>
              <a:t>The expected time between successive calls is 1/.5 = 2 days.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60"/>
          <p:cNvSpPr txBox="1">
            <a:spLocks noGrp="1"/>
          </p:cNvSpPr>
          <p:nvPr>
            <p:ph type="title"/>
          </p:nvPr>
        </p:nvSpPr>
        <p:spPr>
          <a:xfrm>
            <a:off x="685800" y="152400"/>
            <a:ext cx="7772400" cy="1143000"/>
          </a:xfrm>
          <a:prstGeom prst="rect">
            <a:avLst/>
          </a:prstGeom>
          <a:noFill/>
          <a:ln>
            <a:noFill/>
          </a:ln>
        </p:spPr>
        <p:txBody>
          <a:bodyPr spcFirstLastPara="1" wrap="square" lIns="90475" tIns="44450" rIns="90475" bIns="44450" anchor="ctr" anchorCtr="1">
            <a:noAutofit/>
          </a:bodyPr>
          <a:lstStyle/>
          <a:p>
            <a:pPr marL="0" lvl="0" indent="0" algn="ctr" rtl="0">
              <a:lnSpc>
                <a:spcPct val="95000"/>
              </a:lnSpc>
              <a:spcBef>
                <a:spcPts val="0"/>
              </a:spcBef>
              <a:spcAft>
                <a:spcPts val="0"/>
              </a:spcAft>
              <a:buNone/>
            </a:pPr>
            <a:r>
              <a:rPr lang="en-US" sz="4500"/>
              <a:t>The Normal Distribution</a:t>
            </a:r>
            <a:endParaRPr/>
          </a:p>
        </p:txBody>
      </p:sp>
      <p:sp>
        <p:nvSpPr>
          <p:cNvPr id="872" name="Google Shape;872;p60"/>
          <p:cNvSpPr txBox="1">
            <a:spLocks noGrp="1"/>
          </p:cNvSpPr>
          <p:nvPr>
            <p:ph type="body" idx="1"/>
          </p:nvPr>
        </p:nvSpPr>
        <p:spPr>
          <a:xfrm>
            <a:off x="457200" y="1752600"/>
            <a:ext cx="4800600" cy="4800600"/>
          </a:xfrm>
          <a:prstGeom prst="rect">
            <a:avLst/>
          </a:prstGeom>
          <a:noFill/>
          <a:ln>
            <a:noFill/>
          </a:ln>
        </p:spPr>
        <p:txBody>
          <a:bodyPr spcFirstLastPara="1" wrap="square" lIns="90475" tIns="44450" rIns="90475" bIns="44450" anchor="t" anchorCtr="0">
            <a:noAutofit/>
          </a:bodyPr>
          <a:lstStyle/>
          <a:p>
            <a:pPr marL="0" lvl="0" indent="-101600" algn="l" rtl="0">
              <a:lnSpc>
                <a:spcPct val="80000"/>
              </a:lnSpc>
              <a:spcBef>
                <a:spcPts val="0"/>
              </a:spcBef>
              <a:spcAft>
                <a:spcPts val="0"/>
              </a:spcAft>
              <a:buSzPts val="1600"/>
              <a:buChar char="■"/>
            </a:pPr>
            <a:r>
              <a:rPr lang="en-US" sz="2000"/>
              <a:t> </a:t>
            </a:r>
            <a:r>
              <a:rPr lang="en-US" sz="2400" b="1">
                <a:solidFill>
                  <a:schemeClr val="lt1"/>
                </a:solidFill>
                <a:latin typeface="Times New Roman"/>
                <a:ea typeface="Times New Roman"/>
                <a:cs typeface="Times New Roman"/>
                <a:sym typeface="Times New Roman"/>
              </a:rPr>
              <a:t>‘</a:t>
            </a:r>
            <a:r>
              <a:rPr lang="en-US" sz="2400">
                <a:latin typeface="Times New Roman"/>
                <a:ea typeface="Times New Roman"/>
                <a:cs typeface="Times New Roman"/>
                <a:sym typeface="Times New Roman"/>
              </a:rPr>
              <a:t>Bell Shaped’</a:t>
            </a:r>
            <a:endParaRPr/>
          </a:p>
          <a:p>
            <a:pPr marL="0" lvl="0" indent="-91440" algn="l" rtl="0">
              <a:lnSpc>
                <a:spcPct val="60000"/>
              </a:lnSpc>
              <a:spcBef>
                <a:spcPts val="1200"/>
              </a:spcBef>
              <a:spcAft>
                <a:spcPts val="0"/>
              </a:spcAft>
              <a:buClr>
                <a:srgbClr val="FF3300"/>
              </a:buClr>
              <a:buSzPts val="1440"/>
              <a:buChar char="■"/>
            </a:pPr>
            <a:r>
              <a:rPr lang="en-US" sz="2400">
                <a:latin typeface="Times New Roman"/>
                <a:ea typeface="Times New Roman"/>
                <a:cs typeface="Times New Roman"/>
                <a:sym typeface="Times New Roman"/>
              </a:rPr>
              <a:t>  Symmetrical    </a:t>
            </a:r>
            <a:endParaRPr/>
          </a:p>
          <a:p>
            <a:pPr marL="0" lvl="0" indent="-91440" algn="l" rtl="0">
              <a:lnSpc>
                <a:spcPct val="70000"/>
              </a:lnSpc>
              <a:spcBef>
                <a:spcPts val="1200"/>
              </a:spcBef>
              <a:spcAft>
                <a:spcPts val="0"/>
              </a:spcAft>
              <a:buClr>
                <a:srgbClr val="339933"/>
              </a:buClr>
              <a:buSzPts val="1440"/>
              <a:buChar char="■"/>
            </a:pPr>
            <a:r>
              <a:rPr lang="en-US" sz="2400">
                <a:latin typeface="Times New Roman"/>
                <a:ea typeface="Times New Roman"/>
                <a:cs typeface="Times New Roman"/>
                <a:sym typeface="Times New Roman"/>
              </a:rPr>
              <a:t>  Mean, Median and Mode</a:t>
            </a:r>
            <a:endParaRPr/>
          </a:p>
          <a:p>
            <a:pPr marL="0" lvl="0" indent="0" algn="l" rtl="0">
              <a:lnSpc>
                <a:spcPct val="30000"/>
              </a:lnSpc>
              <a:spcBef>
                <a:spcPts val="1200"/>
              </a:spcBef>
              <a:spcAft>
                <a:spcPts val="0"/>
              </a:spcAft>
              <a:buSzPts val="1440"/>
              <a:buFont typeface="Noto Sans Symbols"/>
              <a:buNone/>
            </a:pPr>
            <a:r>
              <a:rPr lang="en-US" sz="2400">
                <a:latin typeface="Times New Roman"/>
                <a:ea typeface="Times New Roman"/>
                <a:cs typeface="Times New Roman"/>
                <a:sym typeface="Times New Roman"/>
              </a:rPr>
              <a:t>	 are Equal</a:t>
            </a:r>
            <a:endParaRPr/>
          </a:p>
          <a:p>
            <a:pPr marL="0" lvl="0" indent="0" algn="l" rtl="0">
              <a:lnSpc>
                <a:spcPct val="80000"/>
              </a:lnSpc>
              <a:spcBef>
                <a:spcPts val="1200"/>
              </a:spcBef>
              <a:spcAft>
                <a:spcPts val="0"/>
              </a:spcAft>
              <a:buSzPts val="1440"/>
              <a:buFont typeface="Noto Sans Symbols"/>
              <a:buNone/>
            </a:pPr>
            <a:r>
              <a:rPr lang="en-US" sz="2400">
                <a:latin typeface="Times New Roman"/>
                <a:ea typeface="Times New Roman"/>
                <a:cs typeface="Times New Roman"/>
                <a:sym typeface="Times New Roman"/>
              </a:rPr>
              <a:t>Location is determined by the mean, μ</a:t>
            </a:r>
            <a:endParaRPr/>
          </a:p>
          <a:p>
            <a:pPr marL="0" lvl="0" indent="0" algn="l" rtl="0">
              <a:lnSpc>
                <a:spcPct val="80000"/>
              </a:lnSpc>
              <a:spcBef>
                <a:spcPts val="1200"/>
              </a:spcBef>
              <a:spcAft>
                <a:spcPts val="0"/>
              </a:spcAft>
              <a:buSzPts val="1440"/>
              <a:buFont typeface="Noto Sans Symbols"/>
              <a:buNone/>
            </a:pPr>
            <a:r>
              <a:rPr lang="en-US" sz="2400">
                <a:latin typeface="Times New Roman"/>
                <a:ea typeface="Times New Roman"/>
                <a:cs typeface="Times New Roman"/>
                <a:sym typeface="Times New Roman"/>
              </a:rPr>
              <a:t>Spread is determined by the standard deviation, σ </a:t>
            </a:r>
            <a:endParaRPr/>
          </a:p>
          <a:p>
            <a:pPr marL="0" lvl="0" indent="0" algn="l" rtl="0">
              <a:lnSpc>
                <a:spcPct val="20000"/>
              </a:lnSpc>
              <a:spcBef>
                <a:spcPts val="1200"/>
              </a:spcBef>
              <a:spcAft>
                <a:spcPts val="0"/>
              </a:spcAft>
              <a:buSzPts val="1440"/>
              <a:buNone/>
            </a:pPr>
            <a:endParaRPr sz="2400">
              <a:latin typeface="Times New Roman"/>
              <a:ea typeface="Times New Roman"/>
              <a:cs typeface="Times New Roman"/>
              <a:sym typeface="Times New Roman"/>
            </a:endParaRPr>
          </a:p>
          <a:p>
            <a:pPr marL="0" lvl="0" indent="0" algn="l" rtl="0">
              <a:lnSpc>
                <a:spcPct val="90000"/>
              </a:lnSpc>
              <a:spcBef>
                <a:spcPts val="1200"/>
              </a:spcBef>
              <a:spcAft>
                <a:spcPts val="0"/>
              </a:spcAft>
              <a:buSzPts val="1440"/>
              <a:buFont typeface="Noto Sans Symbols"/>
              <a:buNone/>
            </a:pPr>
            <a:r>
              <a:rPr lang="en-US" sz="2400">
                <a:latin typeface="Times New Roman"/>
                <a:ea typeface="Times New Roman"/>
                <a:cs typeface="Times New Roman"/>
                <a:sym typeface="Times New Roman"/>
              </a:rPr>
              <a:t>The random variable has an infinite theoretical range: </a:t>
            </a:r>
            <a:endParaRPr/>
          </a:p>
          <a:p>
            <a:pPr marL="0" lvl="0" indent="0" algn="l" rtl="0">
              <a:lnSpc>
                <a:spcPct val="30000"/>
              </a:lnSpc>
              <a:spcBef>
                <a:spcPts val="1200"/>
              </a:spcBef>
              <a:spcAft>
                <a:spcPts val="0"/>
              </a:spcAft>
              <a:buSzPts val="1440"/>
              <a:buFont typeface="Noto Sans Symbols"/>
              <a:buNone/>
            </a:pPr>
            <a:r>
              <a:rPr lang="en-US" sz="2400">
                <a:latin typeface="Times New Roman"/>
                <a:ea typeface="Times New Roman"/>
                <a:cs typeface="Times New Roman"/>
                <a:sym typeface="Times New Roman"/>
              </a:rPr>
              <a:t>+ ∞  to  − ∞</a:t>
            </a:r>
            <a:endParaRPr/>
          </a:p>
        </p:txBody>
      </p:sp>
      <p:sp>
        <p:nvSpPr>
          <p:cNvPr id="873" name="Google Shape;873;p60"/>
          <p:cNvSpPr/>
          <p:nvPr/>
        </p:nvSpPr>
        <p:spPr>
          <a:xfrm>
            <a:off x="6324600" y="4800600"/>
            <a:ext cx="1533525" cy="1001713"/>
          </a:xfrm>
          <a:prstGeom prst="rect">
            <a:avLst/>
          </a:prstGeom>
          <a:noFill/>
          <a:ln>
            <a:noFill/>
          </a:ln>
        </p:spPr>
        <p:txBody>
          <a:bodyPr spcFirstLastPara="1" wrap="square" lIns="90475" tIns="44450" rIns="90475" bIns="44450" anchor="t" anchorCtr="0">
            <a:noAutofit/>
          </a:bodyPr>
          <a:lstStyle/>
          <a:p>
            <a:pPr marL="0" marR="0" lvl="0" indent="0" algn="l" rtl="0">
              <a:lnSpc>
                <a:spcPct val="50000"/>
              </a:lnSpc>
              <a:spcBef>
                <a:spcPts val="0"/>
              </a:spcBef>
              <a:spcAft>
                <a:spcPts val="0"/>
              </a:spcAft>
              <a:buNone/>
            </a:pPr>
            <a:r>
              <a:rPr lang="en-US" sz="2400" b="1">
                <a:solidFill>
                  <a:schemeClr val="folHlink"/>
                </a:solidFill>
                <a:latin typeface="Arial"/>
                <a:ea typeface="Arial"/>
                <a:cs typeface="Arial"/>
                <a:sym typeface="Arial"/>
              </a:rPr>
              <a:t>   Mean </a:t>
            </a:r>
            <a:endParaRPr/>
          </a:p>
          <a:p>
            <a:pPr marL="0" marR="0" lvl="0" indent="0" algn="l" rtl="0">
              <a:lnSpc>
                <a:spcPct val="50000"/>
              </a:lnSpc>
              <a:spcBef>
                <a:spcPts val="1200"/>
              </a:spcBef>
              <a:spcAft>
                <a:spcPts val="0"/>
              </a:spcAft>
              <a:buNone/>
            </a:pPr>
            <a:r>
              <a:rPr lang="en-US" sz="2400" b="1">
                <a:solidFill>
                  <a:schemeClr val="folHlink"/>
                </a:solidFill>
                <a:latin typeface="Arial"/>
                <a:ea typeface="Arial"/>
                <a:cs typeface="Arial"/>
                <a:sym typeface="Arial"/>
              </a:rPr>
              <a:t>= Median </a:t>
            </a:r>
            <a:endParaRPr/>
          </a:p>
          <a:p>
            <a:pPr marL="0" marR="0" lvl="0" indent="0" algn="l" rtl="0">
              <a:lnSpc>
                <a:spcPct val="50000"/>
              </a:lnSpc>
              <a:spcBef>
                <a:spcPts val="1200"/>
              </a:spcBef>
              <a:spcAft>
                <a:spcPts val="0"/>
              </a:spcAft>
              <a:buNone/>
            </a:pPr>
            <a:r>
              <a:rPr lang="en-US" sz="2400" b="1">
                <a:solidFill>
                  <a:schemeClr val="folHlink"/>
                </a:solidFill>
                <a:latin typeface="Arial"/>
                <a:ea typeface="Arial"/>
                <a:cs typeface="Arial"/>
                <a:sym typeface="Arial"/>
              </a:rPr>
              <a:t>= Mode</a:t>
            </a:r>
            <a:endParaRPr/>
          </a:p>
        </p:txBody>
      </p:sp>
      <p:cxnSp>
        <p:nvCxnSpPr>
          <p:cNvPr id="874" name="Google Shape;874;p60"/>
          <p:cNvCxnSpPr/>
          <p:nvPr/>
        </p:nvCxnSpPr>
        <p:spPr>
          <a:xfrm>
            <a:off x="7010400" y="4419600"/>
            <a:ext cx="0" cy="350838"/>
          </a:xfrm>
          <a:prstGeom prst="straightConnector1">
            <a:avLst/>
          </a:prstGeom>
          <a:noFill/>
          <a:ln w="12700" cap="flat" cmpd="sng">
            <a:solidFill>
              <a:schemeClr val="lt2"/>
            </a:solidFill>
            <a:prstDash val="solid"/>
            <a:round/>
            <a:headEnd type="triangle" w="med" len="med"/>
            <a:tailEnd type="none" w="med" len="med"/>
          </a:ln>
        </p:spPr>
      </p:cxnSp>
      <p:sp>
        <p:nvSpPr>
          <p:cNvPr id="875" name="Google Shape;875;p60"/>
          <p:cNvSpPr/>
          <p:nvPr/>
        </p:nvSpPr>
        <p:spPr>
          <a:xfrm>
            <a:off x="7010400" y="2743200"/>
            <a:ext cx="1430338" cy="1144588"/>
          </a:xfrm>
          <a:custGeom>
            <a:avLst/>
            <a:gdLst/>
            <a:ahLst/>
            <a:cxnLst/>
            <a:rect l="l" t="t" r="r" b="b"/>
            <a:pathLst>
              <a:path w="901" h="721" extrusionOk="0">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876" name="Google Shape;876;p60"/>
          <p:cNvSpPr/>
          <p:nvPr/>
        </p:nvSpPr>
        <p:spPr>
          <a:xfrm>
            <a:off x="5562600" y="2743200"/>
            <a:ext cx="1430338" cy="1144588"/>
          </a:xfrm>
          <a:custGeom>
            <a:avLst/>
            <a:gdLst/>
            <a:ahLst/>
            <a:cxnLst/>
            <a:rect l="l" t="t" r="r" b="b"/>
            <a:pathLst>
              <a:path w="901" h="721" extrusionOk="0">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877" name="Google Shape;877;p60"/>
          <p:cNvCxnSpPr/>
          <p:nvPr/>
        </p:nvCxnSpPr>
        <p:spPr>
          <a:xfrm>
            <a:off x="7010400" y="2743200"/>
            <a:ext cx="0" cy="1219200"/>
          </a:xfrm>
          <a:prstGeom prst="straightConnector1">
            <a:avLst/>
          </a:prstGeom>
          <a:noFill/>
          <a:ln w="12700" cap="flat" cmpd="sng">
            <a:solidFill>
              <a:srgbClr val="CDCDCD"/>
            </a:solidFill>
            <a:prstDash val="solid"/>
            <a:round/>
            <a:headEnd type="none" w="med" len="med"/>
            <a:tailEnd type="none" w="med" len="med"/>
          </a:ln>
        </p:spPr>
      </p:cxnSp>
      <p:sp>
        <p:nvSpPr>
          <p:cNvPr id="878" name="Google Shape;878;p60"/>
          <p:cNvSpPr/>
          <p:nvPr/>
        </p:nvSpPr>
        <p:spPr>
          <a:xfrm>
            <a:off x="5486400" y="2743200"/>
            <a:ext cx="3005138" cy="1214438"/>
          </a:xfrm>
          <a:custGeom>
            <a:avLst/>
            <a:gdLst/>
            <a:ahLst/>
            <a:cxnLst/>
            <a:rect l="l" t="t" r="r" b="b"/>
            <a:pathLst>
              <a:path w="1893" h="765" extrusionOk="0">
                <a:moveTo>
                  <a:pt x="0" y="0"/>
                </a:moveTo>
                <a:lnTo>
                  <a:pt x="0" y="764"/>
                </a:lnTo>
                <a:lnTo>
                  <a:pt x="1892" y="764"/>
                </a:lnTo>
              </a:path>
            </a:pathLst>
          </a:custGeom>
          <a:noFill/>
          <a:ln w="25400" cap="rnd"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879" name="Google Shape;879;p60"/>
          <p:cNvCxnSpPr/>
          <p:nvPr/>
        </p:nvCxnSpPr>
        <p:spPr>
          <a:xfrm>
            <a:off x="5556250" y="2659063"/>
            <a:ext cx="1588" cy="0"/>
          </a:xfrm>
          <a:prstGeom prst="straightConnector1">
            <a:avLst/>
          </a:prstGeom>
          <a:noFill/>
          <a:ln w="12700" cap="flat" cmpd="sng">
            <a:solidFill>
              <a:srgbClr val="CDCDCD"/>
            </a:solidFill>
            <a:prstDash val="solid"/>
            <a:round/>
            <a:headEnd type="none" w="med" len="med"/>
            <a:tailEnd type="none" w="med" len="med"/>
          </a:ln>
        </p:spPr>
      </p:cxnSp>
      <p:cxnSp>
        <p:nvCxnSpPr>
          <p:cNvPr id="880" name="Google Shape;880;p60"/>
          <p:cNvCxnSpPr/>
          <p:nvPr/>
        </p:nvCxnSpPr>
        <p:spPr>
          <a:xfrm>
            <a:off x="5556250" y="2781300"/>
            <a:ext cx="1588" cy="0"/>
          </a:xfrm>
          <a:prstGeom prst="straightConnector1">
            <a:avLst/>
          </a:prstGeom>
          <a:noFill/>
          <a:ln w="12700" cap="flat" cmpd="sng">
            <a:solidFill>
              <a:srgbClr val="CDCDCD"/>
            </a:solidFill>
            <a:prstDash val="solid"/>
            <a:round/>
            <a:headEnd type="none" w="med" len="med"/>
            <a:tailEnd type="none" w="med" len="med"/>
          </a:ln>
        </p:spPr>
      </p:cxnSp>
      <p:cxnSp>
        <p:nvCxnSpPr>
          <p:cNvPr id="881" name="Google Shape;881;p60"/>
          <p:cNvCxnSpPr/>
          <p:nvPr/>
        </p:nvCxnSpPr>
        <p:spPr>
          <a:xfrm>
            <a:off x="5556250" y="2901950"/>
            <a:ext cx="1588" cy="0"/>
          </a:xfrm>
          <a:prstGeom prst="straightConnector1">
            <a:avLst/>
          </a:prstGeom>
          <a:noFill/>
          <a:ln w="12700" cap="flat" cmpd="sng">
            <a:solidFill>
              <a:srgbClr val="CDCDCD"/>
            </a:solidFill>
            <a:prstDash val="solid"/>
            <a:round/>
            <a:headEnd type="none" w="med" len="med"/>
            <a:tailEnd type="none" w="med" len="med"/>
          </a:ln>
        </p:spPr>
      </p:cxnSp>
      <p:cxnSp>
        <p:nvCxnSpPr>
          <p:cNvPr id="882" name="Google Shape;882;p60"/>
          <p:cNvCxnSpPr/>
          <p:nvPr/>
        </p:nvCxnSpPr>
        <p:spPr>
          <a:xfrm>
            <a:off x="5556250" y="3024188"/>
            <a:ext cx="1588" cy="0"/>
          </a:xfrm>
          <a:prstGeom prst="straightConnector1">
            <a:avLst/>
          </a:prstGeom>
          <a:noFill/>
          <a:ln w="12700" cap="flat" cmpd="sng">
            <a:solidFill>
              <a:srgbClr val="CDCDCD"/>
            </a:solidFill>
            <a:prstDash val="solid"/>
            <a:round/>
            <a:headEnd type="none" w="med" len="med"/>
            <a:tailEnd type="none" w="med" len="med"/>
          </a:ln>
        </p:spPr>
      </p:cxnSp>
      <p:cxnSp>
        <p:nvCxnSpPr>
          <p:cNvPr id="883" name="Google Shape;883;p60"/>
          <p:cNvCxnSpPr/>
          <p:nvPr/>
        </p:nvCxnSpPr>
        <p:spPr>
          <a:xfrm>
            <a:off x="5556250" y="3144838"/>
            <a:ext cx="1588" cy="0"/>
          </a:xfrm>
          <a:prstGeom prst="straightConnector1">
            <a:avLst/>
          </a:prstGeom>
          <a:noFill/>
          <a:ln w="12700" cap="flat" cmpd="sng">
            <a:solidFill>
              <a:srgbClr val="CDCDCD"/>
            </a:solidFill>
            <a:prstDash val="solid"/>
            <a:round/>
            <a:headEnd type="none" w="med" len="med"/>
            <a:tailEnd type="none" w="med" len="med"/>
          </a:ln>
        </p:spPr>
      </p:cxnSp>
      <p:cxnSp>
        <p:nvCxnSpPr>
          <p:cNvPr id="884" name="Google Shape;884;p60"/>
          <p:cNvCxnSpPr/>
          <p:nvPr/>
        </p:nvCxnSpPr>
        <p:spPr>
          <a:xfrm>
            <a:off x="5556250" y="3267075"/>
            <a:ext cx="1588" cy="0"/>
          </a:xfrm>
          <a:prstGeom prst="straightConnector1">
            <a:avLst/>
          </a:prstGeom>
          <a:noFill/>
          <a:ln w="12700" cap="flat" cmpd="sng">
            <a:solidFill>
              <a:srgbClr val="CDCDCD"/>
            </a:solidFill>
            <a:prstDash val="solid"/>
            <a:round/>
            <a:headEnd type="none" w="med" len="med"/>
            <a:tailEnd type="none" w="med" len="med"/>
          </a:ln>
        </p:spPr>
      </p:cxnSp>
      <p:cxnSp>
        <p:nvCxnSpPr>
          <p:cNvPr id="885" name="Google Shape;885;p60"/>
          <p:cNvCxnSpPr/>
          <p:nvPr/>
        </p:nvCxnSpPr>
        <p:spPr>
          <a:xfrm>
            <a:off x="5556250" y="3387725"/>
            <a:ext cx="1588" cy="0"/>
          </a:xfrm>
          <a:prstGeom prst="straightConnector1">
            <a:avLst/>
          </a:prstGeom>
          <a:noFill/>
          <a:ln w="12700" cap="flat" cmpd="sng">
            <a:solidFill>
              <a:srgbClr val="CDCDCD"/>
            </a:solidFill>
            <a:prstDash val="solid"/>
            <a:round/>
            <a:headEnd type="none" w="med" len="med"/>
            <a:tailEnd type="none" w="med" len="med"/>
          </a:ln>
        </p:spPr>
      </p:cxnSp>
      <p:cxnSp>
        <p:nvCxnSpPr>
          <p:cNvPr id="886" name="Google Shape;886;p60"/>
          <p:cNvCxnSpPr/>
          <p:nvPr/>
        </p:nvCxnSpPr>
        <p:spPr>
          <a:xfrm>
            <a:off x="5556250" y="3509963"/>
            <a:ext cx="1588" cy="0"/>
          </a:xfrm>
          <a:prstGeom prst="straightConnector1">
            <a:avLst/>
          </a:prstGeom>
          <a:noFill/>
          <a:ln w="12700" cap="flat" cmpd="sng">
            <a:solidFill>
              <a:srgbClr val="CDCDCD"/>
            </a:solidFill>
            <a:prstDash val="solid"/>
            <a:round/>
            <a:headEnd type="none" w="med" len="med"/>
            <a:tailEnd type="none" w="med" len="med"/>
          </a:ln>
        </p:spPr>
      </p:cxnSp>
      <p:cxnSp>
        <p:nvCxnSpPr>
          <p:cNvPr id="887" name="Google Shape;887;p60"/>
          <p:cNvCxnSpPr/>
          <p:nvPr/>
        </p:nvCxnSpPr>
        <p:spPr>
          <a:xfrm>
            <a:off x="5556250" y="3630613"/>
            <a:ext cx="1588" cy="0"/>
          </a:xfrm>
          <a:prstGeom prst="straightConnector1">
            <a:avLst/>
          </a:prstGeom>
          <a:noFill/>
          <a:ln w="12700" cap="flat" cmpd="sng">
            <a:solidFill>
              <a:srgbClr val="CDCDCD"/>
            </a:solidFill>
            <a:prstDash val="solid"/>
            <a:round/>
            <a:headEnd type="none" w="med" len="med"/>
            <a:tailEnd type="none" w="med" len="med"/>
          </a:ln>
        </p:spPr>
      </p:cxnSp>
      <p:cxnSp>
        <p:nvCxnSpPr>
          <p:cNvPr id="888" name="Google Shape;888;p60"/>
          <p:cNvCxnSpPr/>
          <p:nvPr/>
        </p:nvCxnSpPr>
        <p:spPr>
          <a:xfrm>
            <a:off x="5556250" y="3751263"/>
            <a:ext cx="1588" cy="0"/>
          </a:xfrm>
          <a:prstGeom prst="straightConnector1">
            <a:avLst/>
          </a:prstGeom>
          <a:noFill/>
          <a:ln w="12700" cap="flat" cmpd="sng">
            <a:solidFill>
              <a:srgbClr val="CDCDCD"/>
            </a:solidFill>
            <a:prstDash val="solid"/>
            <a:round/>
            <a:headEnd type="none" w="med" len="med"/>
            <a:tailEnd type="none" w="med" len="med"/>
          </a:ln>
        </p:spPr>
      </p:cxnSp>
      <p:cxnSp>
        <p:nvCxnSpPr>
          <p:cNvPr id="889" name="Google Shape;889;p60"/>
          <p:cNvCxnSpPr/>
          <p:nvPr/>
        </p:nvCxnSpPr>
        <p:spPr>
          <a:xfrm>
            <a:off x="8574088" y="3879850"/>
            <a:ext cx="0" cy="1588"/>
          </a:xfrm>
          <a:prstGeom prst="straightConnector1">
            <a:avLst/>
          </a:prstGeom>
          <a:noFill/>
          <a:ln w="12700" cap="flat" cmpd="sng">
            <a:solidFill>
              <a:srgbClr val="CDCDCD"/>
            </a:solidFill>
            <a:prstDash val="solid"/>
            <a:round/>
            <a:headEnd type="none" w="med" len="med"/>
            <a:tailEnd type="none" w="med" len="med"/>
          </a:ln>
        </p:spPr>
      </p:cxnSp>
      <p:cxnSp>
        <p:nvCxnSpPr>
          <p:cNvPr id="890" name="Google Shape;890;p60"/>
          <p:cNvCxnSpPr/>
          <p:nvPr/>
        </p:nvCxnSpPr>
        <p:spPr>
          <a:xfrm>
            <a:off x="8274050" y="3879850"/>
            <a:ext cx="0" cy="1588"/>
          </a:xfrm>
          <a:prstGeom prst="straightConnector1">
            <a:avLst/>
          </a:prstGeom>
          <a:noFill/>
          <a:ln w="12700" cap="flat" cmpd="sng">
            <a:solidFill>
              <a:srgbClr val="CDCDCD"/>
            </a:solidFill>
            <a:prstDash val="solid"/>
            <a:round/>
            <a:headEnd type="none" w="med" len="med"/>
            <a:tailEnd type="none" w="med" len="med"/>
          </a:ln>
        </p:spPr>
      </p:cxnSp>
      <p:cxnSp>
        <p:nvCxnSpPr>
          <p:cNvPr id="891" name="Google Shape;891;p60"/>
          <p:cNvCxnSpPr/>
          <p:nvPr/>
        </p:nvCxnSpPr>
        <p:spPr>
          <a:xfrm>
            <a:off x="7972425" y="3879850"/>
            <a:ext cx="0" cy="1588"/>
          </a:xfrm>
          <a:prstGeom prst="straightConnector1">
            <a:avLst/>
          </a:prstGeom>
          <a:noFill/>
          <a:ln w="12700" cap="flat" cmpd="sng">
            <a:solidFill>
              <a:srgbClr val="CDCDCD"/>
            </a:solidFill>
            <a:prstDash val="solid"/>
            <a:round/>
            <a:headEnd type="none" w="med" len="med"/>
            <a:tailEnd type="none" w="med" len="med"/>
          </a:ln>
        </p:spPr>
      </p:cxnSp>
      <p:cxnSp>
        <p:nvCxnSpPr>
          <p:cNvPr id="892" name="Google Shape;892;p60"/>
          <p:cNvCxnSpPr/>
          <p:nvPr/>
        </p:nvCxnSpPr>
        <p:spPr>
          <a:xfrm>
            <a:off x="7672388" y="3879850"/>
            <a:ext cx="0" cy="1588"/>
          </a:xfrm>
          <a:prstGeom prst="straightConnector1">
            <a:avLst/>
          </a:prstGeom>
          <a:noFill/>
          <a:ln w="12700" cap="flat" cmpd="sng">
            <a:solidFill>
              <a:srgbClr val="CDCDCD"/>
            </a:solidFill>
            <a:prstDash val="solid"/>
            <a:round/>
            <a:headEnd type="none" w="med" len="med"/>
            <a:tailEnd type="none" w="med" len="med"/>
          </a:ln>
        </p:spPr>
      </p:cxnSp>
      <p:cxnSp>
        <p:nvCxnSpPr>
          <p:cNvPr id="893" name="Google Shape;893;p60"/>
          <p:cNvCxnSpPr/>
          <p:nvPr/>
        </p:nvCxnSpPr>
        <p:spPr>
          <a:xfrm>
            <a:off x="7372350" y="3879850"/>
            <a:ext cx="0" cy="1588"/>
          </a:xfrm>
          <a:prstGeom prst="straightConnector1">
            <a:avLst/>
          </a:prstGeom>
          <a:noFill/>
          <a:ln w="12700" cap="flat" cmpd="sng">
            <a:solidFill>
              <a:srgbClr val="CDCDCD"/>
            </a:solidFill>
            <a:prstDash val="solid"/>
            <a:round/>
            <a:headEnd type="none" w="med" len="med"/>
            <a:tailEnd type="none" w="med" len="med"/>
          </a:ln>
        </p:spPr>
      </p:cxnSp>
      <p:cxnSp>
        <p:nvCxnSpPr>
          <p:cNvPr id="894" name="Google Shape;894;p60"/>
          <p:cNvCxnSpPr/>
          <p:nvPr/>
        </p:nvCxnSpPr>
        <p:spPr>
          <a:xfrm>
            <a:off x="7072313" y="3879850"/>
            <a:ext cx="0" cy="1588"/>
          </a:xfrm>
          <a:prstGeom prst="straightConnector1">
            <a:avLst/>
          </a:prstGeom>
          <a:noFill/>
          <a:ln w="12700" cap="flat" cmpd="sng">
            <a:solidFill>
              <a:srgbClr val="CDCDCD"/>
            </a:solidFill>
            <a:prstDash val="solid"/>
            <a:round/>
            <a:headEnd type="none" w="med" len="med"/>
            <a:tailEnd type="none" w="med" len="med"/>
          </a:ln>
        </p:spPr>
      </p:cxnSp>
      <p:cxnSp>
        <p:nvCxnSpPr>
          <p:cNvPr id="895" name="Google Shape;895;p60"/>
          <p:cNvCxnSpPr/>
          <p:nvPr/>
        </p:nvCxnSpPr>
        <p:spPr>
          <a:xfrm>
            <a:off x="6772275" y="3879850"/>
            <a:ext cx="0" cy="1588"/>
          </a:xfrm>
          <a:prstGeom prst="straightConnector1">
            <a:avLst/>
          </a:prstGeom>
          <a:noFill/>
          <a:ln w="12700" cap="flat" cmpd="sng">
            <a:solidFill>
              <a:srgbClr val="CDCDCD"/>
            </a:solidFill>
            <a:prstDash val="solid"/>
            <a:round/>
            <a:headEnd type="none" w="med" len="med"/>
            <a:tailEnd type="none" w="med" len="med"/>
          </a:ln>
        </p:spPr>
      </p:cxnSp>
      <p:cxnSp>
        <p:nvCxnSpPr>
          <p:cNvPr id="896" name="Google Shape;896;p60"/>
          <p:cNvCxnSpPr/>
          <p:nvPr/>
        </p:nvCxnSpPr>
        <p:spPr>
          <a:xfrm>
            <a:off x="6472238" y="3879850"/>
            <a:ext cx="0" cy="1588"/>
          </a:xfrm>
          <a:prstGeom prst="straightConnector1">
            <a:avLst/>
          </a:prstGeom>
          <a:noFill/>
          <a:ln w="12700" cap="flat" cmpd="sng">
            <a:solidFill>
              <a:srgbClr val="CDCDCD"/>
            </a:solidFill>
            <a:prstDash val="solid"/>
            <a:round/>
            <a:headEnd type="none" w="med" len="med"/>
            <a:tailEnd type="none" w="med" len="med"/>
          </a:ln>
        </p:spPr>
      </p:cxnSp>
      <p:cxnSp>
        <p:nvCxnSpPr>
          <p:cNvPr id="897" name="Google Shape;897;p60"/>
          <p:cNvCxnSpPr/>
          <p:nvPr/>
        </p:nvCxnSpPr>
        <p:spPr>
          <a:xfrm>
            <a:off x="6170613" y="3879850"/>
            <a:ext cx="0" cy="1588"/>
          </a:xfrm>
          <a:prstGeom prst="straightConnector1">
            <a:avLst/>
          </a:prstGeom>
          <a:noFill/>
          <a:ln w="12700" cap="flat" cmpd="sng">
            <a:solidFill>
              <a:srgbClr val="CDCDCD"/>
            </a:solidFill>
            <a:prstDash val="solid"/>
            <a:round/>
            <a:headEnd type="none" w="med" len="med"/>
            <a:tailEnd type="none" w="med" len="med"/>
          </a:ln>
        </p:spPr>
      </p:cxnSp>
      <p:cxnSp>
        <p:nvCxnSpPr>
          <p:cNvPr id="898" name="Google Shape;898;p60"/>
          <p:cNvCxnSpPr/>
          <p:nvPr/>
        </p:nvCxnSpPr>
        <p:spPr>
          <a:xfrm>
            <a:off x="5870575" y="3879850"/>
            <a:ext cx="0" cy="1588"/>
          </a:xfrm>
          <a:prstGeom prst="straightConnector1">
            <a:avLst/>
          </a:prstGeom>
          <a:noFill/>
          <a:ln w="12700" cap="flat" cmpd="sng">
            <a:solidFill>
              <a:srgbClr val="CDCDCD"/>
            </a:solidFill>
            <a:prstDash val="solid"/>
            <a:round/>
            <a:headEnd type="none" w="med" len="med"/>
            <a:tailEnd type="none" w="med" len="med"/>
          </a:ln>
        </p:spPr>
      </p:cxnSp>
      <p:sp>
        <p:nvSpPr>
          <p:cNvPr id="899" name="Google Shape;899;p60"/>
          <p:cNvSpPr/>
          <p:nvPr/>
        </p:nvSpPr>
        <p:spPr>
          <a:xfrm>
            <a:off x="5443538" y="3175000"/>
            <a:ext cx="92075" cy="1841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900" name="Google Shape;900;p60"/>
          <p:cNvSpPr/>
          <p:nvPr/>
        </p:nvSpPr>
        <p:spPr>
          <a:xfrm>
            <a:off x="6980238" y="3849688"/>
            <a:ext cx="184150" cy="920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901" name="Google Shape;901;p60"/>
          <p:cNvSpPr/>
          <p:nvPr/>
        </p:nvSpPr>
        <p:spPr>
          <a:xfrm>
            <a:off x="8534400" y="3614738"/>
            <a:ext cx="350838"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x</a:t>
            </a:r>
            <a:endParaRPr/>
          </a:p>
        </p:txBody>
      </p:sp>
      <p:sp>
        <p:nvSpPr>
          <p:cNvPr id="902" name="Google Shape;902;p60"/>
          <p:cNvSpPr/>
          <p:nvPr/>
        </p:nvSpPr>
        <p:spPr>
          <a:xfrm>
            <a:off x="5181600" y="2209800"/>
            <a:ext cx="655638"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f(x)</a:t>
            </a:r>
            <a:endParaRPr/>
          </a:p>
        </p:txBody>
      </p:sp>
      <p:sp>
        <p:nvSpPr>
          <p:cNvPr id="903" name="Google Shape;903;p60"/>
          <p:cNvSpPr/>
          <p:nvPr/>
        </p:nvSpPr>
        <p:spPr>
          <a:xfrm>
            <a:off x="6858000" y="3962400"/>
            <a:ext cx="466725"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chemeClr val="lt2"/>
                </a:solidFill>
                <a:latin typeface="Arial"/>
                <a:ea typeface="Arial"/>
                <a:cs typeface="Arial"/>
                <a:sym typeface="Arial"/>
              </a:rPr>
              <a:t>μ</a:t>
            </a:r>
            <a:endParaRPr/>
          </a:p>
        </p:txBody>
      </p:sp>
      <p:sp>
        <p:nvSpPr>
          <p:cNvPr id="904" name="Google Shape;904;p60"/>
          <p:cNvSpPr txBox="1"/>
          <p:nvPr/>
        </p:nvSpPr>
        <p:spPr>
          <a:xfrm>
            <a:off x="7086600" y="3352800"/>
            <a:ext cx="4572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2"/>
                </a:solidFill>
                <a:latin typeface="Arial"/>
                <a:ea typeface="Arial"/>
                <a:cs typeface="Arial"/>
                <a:sym typeface="Arial"/>
              </a:rPr>
              <a:t>σ</a:t>
            </a:r>
            <a:endParaRPr sz="2400">
              <a:solidFill>
                <a:schemeClr val="lt2"/>
              </a:solidFill>
              <a:latin typeface="Arial"/>
              <a:ea typeface="Arial"/>
              <a:cs typeface="Arial"/>
              <a:sym typeface="Arial"/>
            </a:endParaRPr>
          </a:p>
        </p:txBody>
      </p:sp>
      <p:cxnSp>
        <p:nvCxnSpPr>
          <p:cNvPr id="905" name="Google Shape;905;p60"/>
          <p:cNvCxnSpPr/>
          <p:nvPr/>
        </p:nvCxnSpPr>
        <p:spPr>
          <a:xfrm rot="10800000">
            <a:off x="7010400" y="3352800"/>
            <a:ext cx="533400" cy="0"/>
          </a:xfrm>
          <a:prstGeom prst="straightConnector1">
            <a:avLst/>
          </a:prstGeom>
          <a:noFill/>
          <a:ln w="12700" cap="flat" cmpd="sng">
            <a:solidFill>
              <a:schemeClr val="lt2"/>
            </a:solidFill>
            <a:prstDash val="solid"/>
            <a:round/>
            <a:headEnd type="triangle" w="med" len="med"/>
            <a:tailEnd type="triangle" w="med" len="med"/>
          </a:ln>
        </p:spPr>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p61"/>
          <p:cNvSpPr txBox="1">
            <a:spLocks noGrp="1"/>
          </p:cNvSpPr>
          <p:nvPr>
            <p:ph type="title" idx="4294967295"/>
          </p:nvPr>
        </p:nvSpPr>
        <p:spPr>
          <a:xfrm>
            <a:off x="1447800" y="381000"/>
            <a:ext cx="7086600"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sz="4000"/>
              <a:t>The Normal Distribution Shape</a:t>
            </a:r>
            <a:endParaRPr/>
          </a:p>
        </p:txBody>
      </p:sp>
      <p:cxnSp>
        <p:nvCxnSpPr>
          <p:cNvPr id="911" name="Google Shape;911;p61"/>
          <p:cNvCxnSpPr/>
          <p:nvPr/>
        </p:nvCxnSpPr>
        <p:spPr>
          <a:xfrm>
            <a:off x="4267200" y="4267200"/>
            <a:ext cx="762000" cy="0"/>
          </a:xfrm>
          <a:prstGeom prst="straightConnector1">
            <a:avLst/>
          </a:prstGeom>
          <a:noFill/>
          <a:ln w="12700" cap="flat" cmpd="sng">
            <a:solidFill>
              <a:schemeClr val="lt2"/>
            </a:solidFill>
            <a:prstDash val="solid"/>
            <a:round/>
            <a:headEnd type="stealth" w="med" len="med"/>
            <a:tailEnd type="stealth" w="med" len="med"/>
          </a:ln>
        </p:spPr>
      </p:cxnSp>
      <p:sp>
        <p:nvSpPr>
          <p:cNvPr id="912" name="Google Shape;912;p61"/>
          <p:cNvSpPr/>
          <p:nvPr/>
        </p:nvSpPr>
        <p:spPr>
          <a:xfrm>
            <a:off x="1828800" y="2971800"/>
            <a:ext cx="5029200" cy="2438400"/>
          </a:xfrm>
          <a:custGeom>
            <a:avLst/>
            <a:gdLst/>
            <a:ahLst/>
            <a:cxnLst/>
            <a:rect l="l" t="t" r="r" b="b"/>
            <a:pathLst>
              <a:path w="1893" h="765" extrusionOk="0">
                <a:moveTo>
                  <a:pt x="0" y="0"/>
                </a:moveTo>
                <a:lnTo>
                  <a:pt x="0" y="764"/>
                </a:lnTo>
                <a:lnTo>
                  <a:pt x="1892" y="764"/>
                </a:lnTo>
              </a:path>
            </a:pathLst>
          </a:custGeom>
          <a:noFill/>
          <a:ln w="25400" cap="rnd"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913" name="Google Shape;913;p61"/>
          <p:cNvCxnSpPr/>
          <p:nvPr/>
        </p:nvCxnSpPr>
        <p:spPr>
          <a:xfrm>
            <a:off x="2900363" y="3206750"/>
            <a:ext cx="1587" cy="0"/>
          </a:xfrm>
          <a:prstGeom prst="straightConnector1">
            <a:avLst/>
          </a:prstGeom>
          <a:noFill/>
          <a:ln w="12700" cap="flat" cmpd="sng">
            <a:solidFill>
              <a:srgbClr val="CDCDCD"/>
            </a:solidFill>
            <a:prstDash val="solid"/>
            <a:round/>
            <a:headEnd type="none" w="med" len="med"/>
            <a:tailEnd type="none" w="med" len="med"/>
          </a:ln>
        </p:spPr>
      </p:cxnSp>
      <p:cxnSp>
        <p:nvCxnSpPr>
          <p:cNvPr id="914" name="Google Shape;914;p61"/>
          <p:cNvCxnSpPr/>
          <p:nvPr/>
        </p:nvCxnSpPr>
        <p:spPr>
          <a:xfrm>
            <a:off x="2900363" y="3328988"/>
            <a:ext cx="1587" cy="0"/>
          </a:xfrm>
          <a:prstGeom prst="straightConnector1">
            <a:avLst/>
          </a:prstGeom>
          <a:noFill/>
          <a:ln w="12700" cap="flat" cmpd="sng">
            <a:solidFill>
              <a:srgbClr val="CDCDCD"/>
            </a:solidFill>
            <a:prstDash val="solid"/>
            <a:round/>
            <a:headEnd type="none" w="med" len="med"/>
            <a:tailEnd type="none" w="med" len="med"/>
          </a:ln>
        </p:spPr>
      </p:cxnSp>
      <p:cxnSp>
        <p:nvCxnSpPr>
          <p:cNvPr id="915" name="Google Shape;915;p61"/>
          <p:cNvCxnSpPr/>
          <p:nvPr/>
        </p:nvCxnSpPr>
        <p:spPr>
          <a:xfrm>
            <a:off x="2900363" y="3449638"/>
            <a:ext cx="1587" cy="0"/>
          </a:xfrm>
          <a:prstGeom prst="straightConnector1">
            <a:avLst/>
          </a:prstGeom>
          <a:noFill/>
          <a:ln w="12700" cap="flat" cmpd="sng">
            <a:solidFill>
              <a:srgbClr val="CDCDCD"/>
            </a:solidFill>
            <a:prstDash val="solid"/>
            <a:round/>
            <a:headEnd type="none" w="med" len="med"/>
            <a:tailEnd type="none" w="med" len="med"/>
          </a:ln>
        </p:spPr>
      </p:cxnSp>
      <p:cxnSp>
        <p:nvCxnSpPr>
          <p:cNvPr id="916" name="Google Shape;916;p61"/>
          <p:cNvCxnSpPr/>
          <p:nvPr/>
        </p:nvCxnSpPr>
        <p:spPr>
          <a:xfrm>
            <a:off x="2900363" y="3571875"/>
            <a:ext cx="1587" cy="0"/>
          </a:xfrm>
          <a:prstGeom prst="straightConnector1">
            <a:avLst/>
          </a:prstGeom>
          <a:noFill/>
          <a:ln w="12700" cap="flat" cmpd="sng">
            <a:solidFill>
              <a:srgbClr val="CDCDCD"/>
            </a:solidFill>
            <a:prstDash val="solid"/>
            <a:round/>
            <a:headEnd type="none" w="med" len="med"/>
            <a:tailEnd type="none" w="med" len="med"/>
          </a:ln>
        </p:spPr>
      </p:cxnSp>
      <p:cxnSp>
        <p:nvCxnSpPr>
          <p:cNvPr id="917" name="Google Shape;917;p61"/>
          <p:cNvCxnSpPr/>
          <p:nvPr/>
        </p:nvCxnSpPr>
        <p:spPr>
          <a:xfrm>
            <a:off x="2900363" y="3692525"/>
            <a:ext cx="1587" cy="0"/>
          </a:xfrm>
          <a:prstGeom prst="straightConnector1">
            <a:avLst/>
          </a:prstGeom>
          <a:noFill/>
          <a:ln w="12700" cap="flat" cmpd="sng">
            <a:solidFill>
              <a:srgbClr val="CDCDCD"/>
            </a:solidFill>
            <a:prstDash val="solid"/>
            <a:round/>
            <a:headEnd type="none" w="med" len="med"/>
            <a:tailEnd type="none" w="med" len="med"/>
          </a:ln>
        </p:spPr>
      </p:cxnSp>
      <p:cxnSp>
        <p:nvCxnSpPr>
          <p:cNvPr id="918" name="Google Shape;918;p61"/>
          <p:cNvCxnSpPr/>
          <p:nvPr/>
        </p:nvCxnSpPr>
        <p:spPr>
          <a:xfrm>
            <a:off x="2900363" y="3814763"/>
            <a:ext cx="1587" cy="0"/>
          </a:xfrm>
          <a:prstGeom prst="straightConnector1">
            <a:avLst/>
          </a:prstGeom>
          <a:noFill/>
          <a:ln w="12700" cap="flat" cmpd="sng">
            <a:solidFill>
              <a:srgbClr val="CDCDCD"/>
            </a:solidFill>
            <a:prstDash val="solid"/>
            <a:round/>
            <a:headEnd type="none" w="med" len="med"/>
            <a:tailEnd type="none" w="med" len="med"/>
          </a:ln>
        </p:spPr>
      </p:cxnSp>
      <p:cxnSp>
        <p:nvCxnSpPr>
          <p:cNvPr id="919" name="Google Shape;919;p61"/>
          <p:cNvCxnSpPr/>
          <p:nvPr/>
        </p:nvCxnSpPr>
        <p:spPr>
          <a:xfrm>
            <a:off x="2900363" y="3935413"/>
            <a:ext cx="1587" cy="0"/>
          </a:xfrm>
          <a:prstGeom prst="straightConnector1">
            <a:avLst/>
          </a:prstGeom>
          <a:noFill/>
          <a:ln w="12700" cap="flat" cmpd="sng">
            <a:solidFill>
              <a:srgbClr val="CDCDCD"/>
            </a:solidFill>
            <a:prstDash val="solid"/>
            <a:round/>
            <a:headEnd type="none" w="med" len="med"/>
            <a:tailEnd type="none" w="med" len="med"/>
          </a:ln>
        </p:spPr>
      </p:cxnSp>
      <p:cxnSp>
        <p:nvCxnSpPr>
          <p:cNvPr id="920" name="Google Shape;920;p61"/>
          <p:cNvCxnSpPr/>
          <p:nvPr/>
        </p:nvCxnSpPr>
        <p:spPr>
          <a:xfrm>
            <a:off x="2900363" y="4057650"/>
            <a:ext cx="1587" cy="0"/>
          </a:xfrm>
          <a:prstGeom prst="straightConnector1">
            <a:avLst/>
          </a:prstGeom>
          <a:noFill/>
          <a:ln w="12700" cap="flat" cmpd="sng">
            <a:solidFill>
              <a:srgbClr val="CDCDCD"/>
            </a:solidFill>
            <a:prstDash val="solid"/>
            <a:round/>
            <a:headEnd type="none" w="med" len="med"/>
            <a:tailEnd type="none" w="med" len="med"/>
          </a:ln>
        </p:spPr>
      </p:cxnSp>
      <p:cxnSp>
        <p:nvCxnSpPr>
          <p:cNvPr id="921" name="Google Shape;921;p61"/>
          <p:cNvCxnSpPr/>
          <p:nvPr/>
        </p:nvCxnSpPr>
        <p:spPr>
          <a:xfrm>
            <a:off x="2900363" y="4178300"/>
            <a:ext cx="1587" cy="0"/>
          </a:xfrm>
          <a:prstGeom prst="straightConnector1">
            <a:avLst/>
          </a:prstGeom>
          <a:noFill/>
          <a:ln w="12700" cap="flat" cmpd="sng">
            <a:solidFill>
              <a:srgbClr val="CDCDCD"/>
            </a:solidFill>
            <a:prstDash val="solid"/>
            <a:round/>
            <a:headEnd type="none" w="med" len="med"/>
            <a:tailEnd type="none" w="med" len="med"/>
          </a:ln>
        </p:spPr>
      </p:cxnSp>
      <p:cxnSp>
        <p:nvCxnSpPr>
          <p:cNvPr id="922" name="Google Shape;922;p61"/>
          <p:cNvCxnSpPr/>
          <p:nvPr/>
        </p:nvCxnSpPr>
        <p:spPr>
          <a:xfrm>
            <a:off x="2900363" y="4298950"/>
            <a:ext cx="1587" cy="0"/>
          </a:xfrm>
          <a:prstGeom prst="straightConnector1">
            <a:avLst/>
          </a:prstGeom>
          <a:noFill/>
          <a:ln w="12700" cap="flat" cmpd="sng">
            <a:solidFill>
              <a:srgbClr val="CDCDCD"/>
            </a:solidFill>
            <a:prstDash val="solid"/>
            <a:round/>
            <a:headEnd type="none" w="med" len="med"/>
            <a:tailEnd type="none" w="med" len="med"/>
          </a:ln>
        </p:spPr>
      </p:cxnSp>
      <p:cxnSp>
        <p:nvCxnSpPr>
          <p:cNvPr id="923" name="Google Shape;923;p61"/>
          <p:cNvCxnSpPr/>
          <p:nvPr/>
        </p:nvCxnSpPr>
        <p:spPr>
          <a:xfrm>
            <a:off x="5918200" y="4427538"/>
            <a:ext cx="0" cy="1587"/>
          </a:xfrm>
          <a:prstGeom prst="straightConnector1">
            <a:avLst/>
          </a:prstGeom>
          <a:noFill/>
          <a:ln w="12700" cap="flat" cmpd="sng">
            <a:solidFill>
              <a:srgbClr val="CDCDCD"/>
            </a:solidFill>
            <a:prstDash val="solid"/>
            <a:round/>
            <a:headEnd type="none" w="med" len="med"/>
            <a:tailEnd type="none" w="med" len="med"/>
          </a:ln>
        </p:spPr>
      </p:cxnSp>
      <p:cxnSp>
        <p:nvCxnSpPr>
          <p:cNvPr id="924" name="Google Shape;924;p61"/>
          <p:cNvCxnSpPr/>
          <p:nvPr/>
        </p:nvCxnSpPr>
        <p:spPr>
          <a:xfrm>
            <a:off x="5618163" y="4427538"/>
            <a:ext cx="0" cy="1587"/>
          </a:xfrm>
          <a:prstGeom prst="straightConnector1">
            <a:avLst/>
          </a:prstGeom>
          <a:noFill/>
          <a:ln w="12700" cap="flat" cmpd="sng">
            <a:solidFill>
              <a:srgbClr val="CDCDCD"/>
            </a:solidFill>
            <a:prstDash val="solid"/>
            <a:round/>
            <a:headEnd type="none" w="med" len="med"/>
            <a:tailEnd type="none" w="med" len="med"/>
          </a:ln>
        </p:spPr>
      </p:cxnSp>
      <p:cxnSp>
        <p:nvCxnSpPr>
          <p:cNvPr id="925" name="Google Shape;925;p61"/>
          <p:cNvCxnSpPr/>
          <p:nvPr/>
        </p:nvCxnSpPr>
        <p:spPr>
          <a:xfrm>
            <a:off x="5316538" y="4427538"/>
            <a:ext cx="0" cy="1587"/>
          </a:xfrm>
          <a:prstGeom prst="straightConnector1">
            <a:avLst/>
          </a:prstGeom>
          <a:noFill/>
          <a:ln w="12700" cap="flat" cmpd="sng">
            <a:solidFill>
              <a:srgbClr val="CDCDCD"/>
            </a:solidFill>
            <a:prstDash val="solid"/>
            <a:round/>
            <a:headEnd type="none" w="med" len="med"/>
            <a:tailEnd type="none" w="med" len="med"/>
          </a:ln>
        </p:spPr>
      </p:cxnSp>
      <p:cxnSp>
        <p:nvCxnSpPr>
          <p:cNvPr id="926" name="Google Shape;926;p61"/>
          <p:cNvCxnSpPr/>
          <p:nvPr/>
        </p:nvCxnSpPr>
        <p:spPr>
          <a:xfrm>
            <a:off x="5016500" y="4427538"/>
            <a:ext cx="0" cy="1587"/>
          </a:xfrm>
          <a:prstGeom prst="straightConnector1">
            <a:avLst/>
          </a:prstGeom>
          <a:noFill/>
          <a:ln w="12700" cap="flat" cmpd="sng">
            <a:solidFill>
              <a:srgbClr val="CDCDCD"/>
            </a:solidFill>
            <a:prstDash val="solid"/>
            <a:round/>
            <a:headEnd type="none" w="med" len="med"/>
            <a:tailEnd type="none" w="med" len="med"/>
          </a:ln>
        </p:spPr>
      </p:cxnSp>
      <p:cxnSp>
        <p:nvCxnSpPr>
          <p:cNvPr id="927" name="Google Shape;927;p61"/>
          <p:cNvCxnSpPr/>
          <p:nvPr/>
        </p:nvCxnSpPr>
        <p:spPr>
          <a:xfrm>
            <a:off x="4716463" y="4427538"/>
            <a:ext cx="0" cy="1587"/>
          </a:xfrm>
          <a:prstGeom prst="straightConnector1">
            <a:avLst/>
          </a:prstGeom>
          <a:noFill/>
          <a:ln w="12700" cap="flat" cmpd="sng">
            <a:solidFill>
              <a:srgbClr val="CDCDCD"/>
            </a:solidFill>
            <a:prstDash val="solid"/>
            <a:round/>
            <a:headEnd type="none" w="med" len="med"/>
            <a:tailEnd type="none" w="med" len="med"/>
          </a:ln>
        </p:spPr>
      </p:cxnSp>
      <p:cxnSp>
        <p:nvCxnSpPr>
          <p:cNvPr id="928" name="Google Shape;928;p61"/>
          <p:cNvCxnSpPr/>
          <p:nvPr/>
        </p:nvCxnSpPr>
        <p:spPr>
          <a:xfrm>
            <a:off x="4416425" y="4427538"/>
            <a:ext cx="0" cy="1587"/>
          </a:xfrm>
          <a:prstGeom prst="straightConnector1">
            <a:avLst/>
          </a:prstGeom>
          <a:noFill/>
          <a:ln w="12700" cap="flat" cmpd="sng">
            <a:solidFill>
              <a:srgbClr val="CDCDCD"/>
            </a:solidFill>
            <a:prstDash val="solid"/>
            <a:round/>
            <a:headEnd type="none" w="med" len="med"/>
            <a:tailEnd type="none" w="med" len="med"/>
          </a:ln>
        </p:spPr>
      </p:cxnSp>
      <p:cxnSp>
        <p:nvCxnSpPr>
          <p:cNvPr id="929" name="Google Shape;929;p61"/>
          <p:cNvCxnSpPr/>
          <p:nvPr/>
        </p:nvCxnSpPr>
        <p:spPr>
          <a:xfrm>
            <a:off x="4116388" y="4427538"/>
            <a:ext cx="0" cy="1587"/>
          </a:xfrm>
          <a:prstGeom prst="straightConnector1">
            <a:avLst/>
          </a:prstGeom>
          <a:noFill/>
          <a:ln w="12700" cap="flat" cmpd="sng">
            <a:solidFill>
              <a:srgbClr val="CDCDCD"/>
            </a:solidFill>
            <a:prstDash val="solid"/>
            <a:round/>
            <a:headEnd type="none" w="med" len="med"/>
            <a:tailEnd type="none" w="med" len="med"/>
          </a:ln>
        </p:spPr>
      </p:cxnSp>
      <p:cxnSp>
        <p:nvCxnSpPr>
          <p:cNvPr id="930" name="Google Shape;930;p61"/>
          <p:cNvCxnSpPr/>
          <p:nvPr/>
        </p:nvCxnSpPr>
        <p:spPr>
          <a:xfrm>
            <a:off x="3816350" y="4427538"/>
            <a:ext cx="0" cy="1587"/>
          </a:xfrm>
          <a:prstGeom prst="straightConnector1">
            <a:avLst/>
          </a:prstGeom>
          <a:noFill/>
          <a:ln w="12700" cap="flat" cmpd="sng">
            <a:solidFill>
              <a:srgbClr val="CDCDCD"/>
            </a:solidFill>
            <a:prstDash val="solid"/>
            <a:round/>
            <a:headEnd type="none" w="med" len="med"/>
            <a:tailEnd type="none" w="med" len="med"/>
          </a:ln>
        </p:spPr>
      </p:cxnSp>
      <p:cxnSp>
        <p:nvCxnSpPr>
          <p:cNvPr id="931" name="Google Shape;931;p61"/>
          <p:cNvCxnSpPr/>
          <p:nvPr/>
        </p:nvCxnSpPr>
        <p:spPr>
          <a:xfrm>
            <a:off x="3514725" y="4427538"/>
            <a:ext cx="0" cy="1587"/>
          </a:xfrm>
          <a:prstGeom prst="straightConnector1">
            <a:avLst/>
          </a:prstGeom>
          <a:noFill/>
          <a:ln w="12700" cap="flat" cmpd="sng">
            <a:solidFill>
              <a:srgbClr val="CDCDCD"/>
            </a:solidFill>
            <a:prstDash val="solid"/>
            <a:round/>
            <a:headEnd type="none" w="med" len="med"/>
            <a:tailEnd type="none" w="med" len="med"/>
          </a:ln>
        </p:spPr>
      </p:cxnSp>
      <p:cxnSp>
        <p:nvCxnSpPr>
          <p:cNvPr id="932" name="Google Shape;932;p61"/>
          <p:cNvCxnSpPr/>
          <p:nvPr/>
        </p:nvCxnSpPr>
        <p:spPr>
          <a:xfrm>
            <a:off x="3214688" y="4427538"/>
            <a:ext cx="0" cy="1587"/>
          </a:xfrm>
          <a:prstGeom prst="straightConnector1">
            <a:avLst/>
          </a:prstGeom>
          <a:noFill/>
          <a:ln w="12700" cap="flat" cmpd="sng">
            <a:solidFill>
              <a:srgbClr val="CDCDCD"/>
            </a:solidFill>
            <a:prstDash val="solid"/>
            <a:round/>
            <a:headEnd type="none" w="med" len="med"/>
            <a:tailEnd type="none" w="med" len="med"/>
          </a:ln>
        </p:spPr>
      </p:cxnSp>
      <p:sp>
        <p:nvSpPr>
          <p:cNvPr id="933" name="Google Shape;933;p61"/>
          <p:cNvSpPr/>
          <p:nvPr/>
        </p:nvSpPr>
        <p:spPr>
          <a:xfrm>
            <a:off x="2787650" y="3722688"/>
            <a:ext cx="92075" cy="1841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934" name="Google Shape;934;p61"/>
          <p:cNvSpPr/>
          <p:nvPr/>
        </p:nvSpPr>
        <p:spPr>
          <a:xfrm>
            <a:off x="4324350" y="4397375"/>
            <a:ext cx="184150" cy="920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935" name="Google Shape;935;p61"/>
          <p:cNvSpPr/>
          <p:nvPr/>
        </p:nvSpPr>
        <p:spPr>
          <a:xfrm>
            <a:off x="7010400" y="5410200"/>
            <a:ext cx="350838"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x</a:t>
            </a:r>
            <a:endParaRPr/>
          </a:p>
        </p:txBody>
      </p:sp>
      <p:sp>
        <p:nvSpPr>
          <p:cNvPr id="936" name="Google Shape;936;p61"/>
          <p:cNvSpPr/>
          <p:nvPr/>
        </p:nvSpPr>
        <p:spPr>
          <a:xfrm>
            <a:off x="1295400" y="2362200"/>
            <a:ext cx="655638"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f(x)</a:t>
            </a:r>
            <a:endParaRPr/>
          </a:p>
        </p:txBody>
      </p:sp>
      <p:sp>
        <p:nvSpPr>
          <p:cNvPr id="937" name="Google Shape;937;p61"/>
          <p:cNvSpPr/>
          <p:nvPr/>
        </p:nvSpPr>
        <p:spPr>
          <a:xfrm>
            <a:off x="4114800" y="5410200"/>
            <a:ext cx="479425"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μ</a:t>
            </a:r>
            <a:endParaRPr/>
          </a:p>
        </p:txBody>
      </p:sp>
      <p:sp>
        <p:nvSpPr>
          <p:cNvPr id="938" name="Google Shape;938;p61"/>
          <p:cNvSpPr/>
          <p:nvPr/>
        </p:nvSpPr>
        <p:spPr>
          <a:xfrm>
            <a:off x="4495800" y="4191000"/>
            <a:ext cx="479425"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σ</a:t>
            </a:r>
            <a:endParaRPr/>
          </a:p>
        </p:txBody>
      </p:sp>
      <p:sp>
        <p:nvSpPr>
          <p:cNvPr id="939" name="Google Shape;939;p61"/>
          <p:cNvSpPr/>
          <p:nvPr/>
        </p:nvSpPr>
        <p:spPr>
          <a:xfrm>
            <a:off x="4267200" y="3429000"/>
            <a:ext cx="2438400" cy="1905000"/>
          </a:xfrm>
          <a:custGeom>
            <a:avLst/>
            <a:gdLst/>
            <a:ahLst/>
            <a:cxnLst/>
            <a:rect l="l" t="t" r="r" b="b"/>
            <a:pathLst>
              <a:path w="901" h="721" extrusionOk="0">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40" name="Google Shape;940;p61"/>
          <p:cNvSpPr/>
          <p:nvPr/>
        </p:nvSpPr>
        <p:spPr>
          <a:xfrm>
            <a:off x="1905000" y="3429000"/>
            <a:ext cx="2344738" cy="1905000"/>
          </a:xfrm>
          <a:custGeom>
            <a:avLst/>
            <a:gdLst/>
            <a:ahLst/>
            <a:cxnLst/>
            <a:rect l="l" t="t" r="r" b="b"/>
            <a:pathLst>
              <a:path w="901" h="721" extrusionOk="0">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941" name="Google Shape;941;p61"/>
          <p:cNvCxnSpPr/>
          <p:nvPr/>
        </p:nvCxnSpPr>
        <p:spPr>
          <a:xfrm>
            <a:off x="4267200" y="3505200"/>
            <a:ext cx="0" cy="1905000"/>
          </a:xfrm>
          <a:prstGeom prst="straightConnector1">
            <a:avLst/>
          </a:prstGeom>
          <a:noFill/>
          <a:ln w="12700" cap="flat" cmpd="sng">
            <a:solidFill>
              <a:schemeClr val="lt2"/>
            </a:solidFill>
            <a:prstDash val="solid"/>
            <a:round/>
            <a:headEnd type="none" w="med" len="med"/>
            <a:tailEnd type="none" w="med" len="med"/>
          </a:ln>
        </p:spPr>
      </p:cxnSp>
      <p:sp>
        <p:nvSpPr>
          <p:cNvPr id="942" name="Google Shape;942;p61"/>
          <p:cNvSpPr txBox="1"/>
          <p:nvPr/>
        </p:nvSpPr>
        <p:spPr>
          <a:xfrm>
            <a:off x="2819400" y="2438400"/>
            <a:ext cx="3276600" cy="822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2"/>
                </a:solidFill>
                <a:latin typeface="Arial"/>
                <a:ea typeface="Arial"/>
                <a:cs typeface="Arial"/>
                <a:sym typeface="Arial"/>
              </a:rPr>
              <a:t>Changing </a:t>
            </a:r>
            <a:r>
              <a:rPr lang="en-US" sz="2400" b="1">
                <a:solidFill>
                  <a:schemeClr val="folHlink"/>
                </a:solidFill>
                <a:latin typeface="Arial"/>
                <a:ea typeface="Arial"/>
                <a:cs typeface="Arial"/>
                <a:sym typeface="Arial"/>
              </a:rPr>
              <a:t>μ</a:t>
            </a:r>
            <a:r>
              <a:rPr lang="en-US" sz="2400">
                <a:solidFill>
                  <a:schemeClr val="lt2"/>
                </a:solidFill>
                <a:latin typeface="Arial"/>
                <a:ea typeface="Arial"/>
                <a:cs typeface="Arial"/>
                <a:sym typeface="Arial"/>
              </a:rPr>
              <a:t> shifts the distribution left or right</a:t>
            </a:r>
            <a:r>
              <a:rPr lang="en-US" sz="2400">
                <a:solidFill>
                  <a:schemeClr val="dk1"/>
                </a:solidFill>
                <a:latin typeface="Arial"/>
                <a:ea typeface="Arial"/>
                <a:cs typeface="Arial"/>
                <a:sym typeface="Arial"/>
              </a:rPr>
              <a:t>.</a:t>
            </a:r>
            <a:endParaRPr/>
          </a:p>
        </p:txBody>
      </p:sp>
      <p:sp>
        <p:nvSpPr>
          <p:cNvPr id="943" name="Google Shape;943;p61"/>
          <p:cNvSpPr txBox="1"/>
          <p:nvPr/>
        </p:nvSpPr>
        <p:spPr>
          <a:xfrm>
            <a:off x="5410200" y="3581400"/>
            <a:ext cx="3429000" cy="11874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2"/>
                </a:solidFill>
                <a:latin typeface="Arial"/>
                <a:ea typeface="Arial"/>
                <a:cs typeface="Arial"/>
                <a:sym typeface="Arial"/>
              </a:rPr>
              <a:t>Changing</a:t>
            </a:r>
            <a:r>
              <a:rPr lang="en-US" sz="2400">
                <a:solidFill>
                  <a:schemeClr val="lt2"/>
                </a:solidFill>
                <a:latin typeface="Times New Roman"/>
                <a:ea typeface="Times New Roman"/>
                <a:cs typeface="Times New Roman"/>
                <a:sym typeface="Times New Roman"/>
              </a:rPr>
              <a:t> </a:t>
            </a:r>
            <a:r>
              <a:rPr lang="en-US" sz="2400">
                <a:solidFill>
                  <a:schemeClr val="folHlink"/>
                </a:solidFill>
                <a:latin typeface="Arial"/>
                <a:ea typeface="Arial"/>
                <a:cs typeface="Arial"/>
                <a:sym typeface="Arial"/>
              </a:rPr>
              <a:t>σ</a:t>
            </a:r>
            <a:r>
              <a:rPr lang="en-US" sz="2400">
                <a:solidFill>
                  <a:schemeClr val="lt2"/>
                </a:solidFill>
                <a:latin typeface="Times New Roman"/>
                <a:ea typeface="Times New Roman"/>
                <a:cs typeface="Times New Roman"/>
                <a:sym typeface="Times New Roman"/>
              </a:rPr>
              <a:t> </a:t>
            </a:r>
            <a:r>
              <a:rPr lang="en-US" sz="2400">
                <a:solidFill>
                  <a:schemeClr val="lt2"/>
                </a:solidFill>
                <a:latin typeface="Arial"/>
                <a:ea typeface="Arial"/>
                <a:cs typeface="Arial"/>
                <a:sym typeface="Arial"/>
              </a:rPr>
              <a:t>increases or decreases the spread.</a:t>
            </a:r>
            <a:endParaRPr/>
          </a:p>
        </p:txBody>
      </p:sp>
      <p:sp>
        <p:nvSpPr>
          <p:cNvPr id="944" name="Google Shape;944;p61"/>
          <p:cNvSpPr/>
          <p:nvPr/>
        </p:nvSpPr>
        <p:spPr>
          <a:xfrm>
            <a:off x="698500" y="5962650"/>
            <a:ext cx="7312025" cy="831850"/>
          </a:xfrm>
          <a:prstGeom prst="rect">
            <a:avLst/>
          </a:prstGeom>
          <a:noFill/>
          <a:ln w="12700" cap="flat" cmpd="sng">
            <a:solidFill>
              <a:schemeClr val="lt1"/>
            </a:solidFill>
            <a:prstDash val="solid"/>
            <a:miter lim="800000"/>
            <a:headEnd type="none" w="sm" len="sm"/>
            <a:tailEnd type="none" w="sm" len="sm"/>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By varying the parameters</a:t>
            </a:r>
            <a:r>
              <a:rPr lang="en-US" sz="2400" b="1">
                <a:solidFill>
                  <a:schemeClr val="dk1"/>
                </a:solidFill>
                <a:latin typeface="Times New Roman"/>
                <a:ea typeface="Times New Roman"/>
                <a:cs typeface="Times New Roman"/>
                <a:sym typeface="Times New Roman"/>
              </a:rPr>
              <a:t> </a:t>
            </a:r>
            <a:r>
              <a:rPr lang="en-US" sz="2400" b="1">
                <a:solidFill>
                  <a:schemeClr val="folHlink"/>
                </a:solidFill>
                <a:latin typeface="Arial"/>
                <a:ea typeface="Arial"/>
                <a:cs typeface="Arial"/>
                <a:sym typeface="Arial"/>
              </a:rPr>
              <a:t>μ</a:t>
            </a:r>
            <a:r>
              <a:rPr lang="en-US" sz="2400" b="1">
                <a:solidFill>
                  <a:schemeClr val="dk1"/>
                </a:solidFill>
                <a:latin typeface="Times New Roman"/>
                <a:ea typeface="Times New Roman"/>
                <a:cs typeface="Times New Roman"/>
                <a:sym typeface="Times New Roman"/>
              </a:rPr>
              <a:t> </a:t>
            </a:r>
            <a:r>
              <a:rPr lang="en-US" sz="2400" b="1">
                <a:solidFill>
                  <a:schemeClr val="dk1"/>
                </a:solidFill>
                <a:latin typeface="Arial"/>
                <a:ea typeface="Arial"/>
                <a:cs typeface="Arial"/>
                <a:sym typeface="Arial"/>
              </a:rPr>
              <a:t>and </a:t>
            </a:r>
            <a:r>
              <a:rPr lang="en-US" sz="2400" b="1">
                <a:solidFill>
                  <a:schemeClr val="folHlink"/>
                </a:solidFill>
                <a:latin typeface="Arial"/>
                <a:ea typeface="Arial"/>
                <a:cs typeface="Arial"/>
                <a:sym typeface="Arial"/>
              </a:rPr>
              <a:t>σ</a:t>
            </a:r>
            <a:r>
              <a:rPr lang="en-US" sz="2400" b="1">
                <a:solidFill>
                  <a:schemeClr val="dk1"/>
                </a:solidFill>
                <a:latin typeface="Arial"/>
                <a:ea typeface="Arial"/>
                <a:cs typeface="Arial"/>
                <a:sym typeface="Arial"/>
              </a:rPr>
              <a:t>, we obtain different normal distributions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62"/>
          <p:cNvSpPr txBox="1">
            <a:spLocks noGrp="1"/>
          </p:cNvSpPr>
          <p:nvPr>
            <p:ph type="title"/>
          </p:nvPr>
        </p:nvSpPr>
        <p:spPr>
          <a:xfrm>
            <a:off x="914400" y="304800"/>
            <a:ext cx="7772400" cy="904875"/>
          </a:xfrm>
          <a:prstGeom prst="rect">
            <a:avLst/>
          </a:prstGeom>
          <a:noFill/>
          <a:ln>
            <a:noFill/>
          </a:ln>
        </p:spPr>
        <p:txBody>
          <a:bodyPr spcFirstLastPara="1" wrap="square" lIns="90475" tIns="44450" rIns="90475" bIns="44450" anchor="ctr" anchorCtr="1">
            <a:noAutofit/>
          </a:bodyPr>
          <a:lstStyle/>
          <a:p>
            <a:pPr marL="0" lvl="0" indent="0" algn="ctr" rtl="0">
              <a:lnSpc>
                <a:spcPct val="95000"/>
              </a:lnSpc>
              <a:spcBef>
                <a:spcPts val="0"/>
              </a:spcBef>
              <a:spcAft>
                <a:spcPts val="0"/>
              </a:spcAft>
              <a:buNone/>
            </a:pPr>
            <a:r>
              <a:rPr lang="en-US" sz="4000"/>
              <a:t>Finding Normal Probabilities</a:t>
            </a:r>
            <a:r>
              <a:rPr lang="en-US">
                <a:solidFill>
                  <a:srgbClr val="F8F8F8"/>
                </a:solidFill>
              </a:rPr>
              <a:t>  </a:t>
            </a:r>
            <a:endParaRPr/>
          </a:p>
        </p:txBody>
      </p:sp>
      <p:sp>
        <p:nvSpPr>
          <p:cNvPr id="950" name="Google Shape;950;p62"/>
          <p:cNvSpPr/>
          <p:nvPr/>
        </p:nvSpPr>
        <p:spPr>
          <a:xfrm>
            <a:off x="427038" y="1798638"/>
            <a:ext cx="2805112" cy="118427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chemeClr val="lt1"/>
                </a:solidFill>
                <a:latin typeface="Arial"/>
                <a:ea typeface="Arial"/>
                <a:cs typeface="Arial"/>
                <a:sym typeface="Arial"/>
              </a:rPr>
              <a:t>Probability is the </a:t>
            </a:r>
            <a:br>
              <a:rPr lang="en-US" sz="2400" b="1">
                <a:solidFill>
                  <a:schemeClr val="lt1"/>
                </a:solidFill>
                <a:latin typeface="Arial"/>
                <a:ea typeface="Arial"/>
                <a:cs typeface="Arial"/>
                <a:sym typeface="Arial"/>
              </a:rPr>
            </a:br>
            <a:r>
              <a:rPr lang="en-US" sz="2400" b="1">
                <a:solidFill>
                  <a:schemeClr val="lt1"/>
                </a:solidFill>
                <a:latin typeface="Arial"/>
                <a:ea typeface="Arial"/>
                <a:cs typeface="Arial"/>
                <a:sym typeface="Arial"/>
              </a:rPr>
              <a:t>area under the</a:t>
            </a:r>
            <a:br>
              <a:rPr lang="en-US" sz="2400" b="1">
                <a:solidFill>
                  <a:schemeClr val="lt1"/>
                </a:solidFill>
                <a:latin typeface="Arial"/>
                <a:ea typeface="Arial"/>
                <a:cs typeface="Arial"/>
                <a:sym typeface="Arial"/>
              </a:rPr>
            </a:br>
            <a:r>
              <a:rPr lang="en-US" sz="2400" b="1">
                <a:solidFill>
                  <a:schemeClr val="lt1"/>
                </a:solidFill>
                <a:latin typeface="Arial"/>
                <a:ea typeface="Arial"/>
                <a:cs typeface="Arial"/>
                <a:sym typeface="Arial"/>
              </a:rPr>
              <a:t>curve!</a:t>
            </a:r>
            <a:endParaRPr/>
          </a:p>
        </p:txBody>
      </p:sp>
      <p:sp>
        <p:nvSpPr>
          <p:cNvPr id="951" name="Google Shape;951;p62"/>
          <p:cNvSpPr/>
          <p:nvPr/>
        </p:nvSpPr>
        <p:spPr>
          <a:xfrm>
            <a:off x="4313238" y="3609975"/>
            <a:ext cx="869950" cy="2041525"/>
          </a:xfrm>
          <a:custGeom>
            <a:avLst/>
            <a:gdLst/>
            <a:ahLst/>
            <a:cxnLst/>
            <a:rect l="l" t="t" r="r" b="b"/>
            <a:pathLst>
              <a:path w="548" h="1286" extrusionOk="0">
                <a:moveTo>
                  <a:pt x="87" y="27"/>
                </a:moveTo>
                <a:lnTo>
                  <a:pt x="150" y="60"/>
                </a:lnTo>
                <a:lnTo>
                  <a:pt x="243" y="174"/>
                </a:lnTo>
                <a:lnTo>
                  <a:pt x="318" y="288"/>
                </a:lnTo>
                <a:lnTo>
                  <a:pt x="408" y="447"/>
                </a:lnTo>
                <a:lnTo>
                  <a:pt x="483" y="585"/>
                </a:lnTo>
                <a:lnTo>
                  <a:pt x="543" y="678"/>
                </a:lnTo>
                <a:lnTo>
                  <a:pt x="548" y="1286"/>
                </a:lnTo>
                <a:lnTo>
                  <a:pt x="0" y="1286"/>
                </a:lnTo>
                <a:lnTo>
                  <a:pt x="0" y="0"/>
                </a:ln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52" name="Google Shape;952;p62"/>
          <p:cNvSpPr/>
          <p:nvPr/>
        </p:nvSpPr>
        <p:spPr>
          <a:xfrm>
            <a:off x="4160838" y="5576888"/>
            <a:ext cx="371475" cy="500062"/>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700" b="1">
                <a:solidFill>
                  <a:srgbClr val="33CC33"/>
                </a:solidFill>
                <a:latin typeface="Arial"/>
                <a:ea typeface="Arial"/>
                <a:cs typeface="Arial"/>
                <a:sym typeface="Arial"/>
              </a:rPr>
              <a:t>a</a:t>
            </a:r>
            <a:endParaRPr/>
          </a:p>
        </p:txBody>
      </p:sp>
      <p:sp>
        <p:nvSpPr>
          <p:cNvPr id="953" name="Google Shape;953;p62"/>
          <p:cNvSpPr/>
          <p:nvPr/>
        </p:nvSpPr>
        <p:spPr>
          <a:xfrm>
            <a:off x="4332288" y="3606800"/>
            <a:ext cx="322262" cy="209550"/>
          </a:xfrm>
          <a:custGeom>
            <a:avLst/>
            <a:gdLst/>
            <a:ahLst/>
            <a:cxnLst/>
            <a:rect l="l" t="t" r="r" b="b"/>
            <a:pathLst>
              <a:path w="203" h="132" extrusionOk="0">
                <a:moveTo>
                  <a:pt x="0" y="2"/>
                </a:moveTo>
                <a:lnTo>
                  <a:pt x="27" y="0"/>
                </a:lnTo>
                <a:lnTo>
                  <a:pt x="54" y="3"/>
                </a:lnTo>
                <a:lnTo>
                  <a:pt x="79" y="14"/>
                </a:lnTo>
                <a:lnTo>
                  <a:pt x="101" y="28"/>
                </a:lnTo>
                <a:lnTo>
                  <a:pt x="121" y="45"/>
                </a:lnTo>
                <a:lnTo>
                  <a:pt x="135" y="67"/>
                </a:lnTo>
                <a:lnTo>
                  <a:pt x="202" y="131"/>
                </a:lnTo>
              </a:path>
            </a:pathLst>
          </a:custGeom>
          <a:no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54" name="Google Shape;954;p62"/>
          <p:cNvSpPr/>
          <p:nvPr/>
        </p:nvSpPr>
        <p:spPr>
          <a:xfrm>
            <a:off x="4999038" y="5576888"/>
            <a:ext cx="390525" cy="500062"/>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700" b="1">
                <a:solidFill>
                  <a:srgbClr val="FF6600"/>
                </a:solidFill>
                <a:latin typeface="Arial"/>
                <a:ea typeface="Arial"/>
                <a:cs typeface="Arial"/>
                <a:sym typeface="Arial"/>
              </a:rPr>
              <a:t>b</a:t>
            </a:r>
            <a:endParaRPr/>
          </a:p>
        </p:txBody>
      </p:sp>
      <p:sp>
        <p:nvSpPr>
          <p:cNvPr id="955" name="Google Shape;955;p62"/>
          <p:cNvSpPr/>
          <p:nvPr/>
        </p:nvSpPr>
        <p:spPr>
          <a:xfrm>
            <a:off x="6864350" y="5562600"/>
            <a:ext cx="350838"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i="1">
                <a:solidFill>
                  <a:schemeClr val="dk1"/>
                </a:solidFill>
                <a:latin typeface="Arial"/>
                <a:ea typeface="Arial"/>
                <a:cs typeface="Arial"/>
                <a:sym typeface="Arial"/>
              </a:rPr>
              <a:t>x</a:t>
            </a:r>
            <a:endParaRPr/>
          </a:p>
        </p:txBody>
      </p:sp>
      <p:sp>
        <p:nvSpPr>
          <p:cNvPr id="956" name="Google Shape;956;p62"/>
          <p:cNvSpPr/>
          <p:nvPr/>
        </p:nvSpPr>
        <p:spPr>
          <a:xfrm>
            <a:off x="4332288" y="3609975"/>
            <a:ext cx="2154237" cy="1981200"/>
          </a:xfrm>
          <a:custGeom>
            <a:avLst/>
            <a:gdLst/>
            <a:ahLst/>
            <a:cxnLst/>
            <a:rect l="l" t="t" r="r" b="b"/>
            <a:pathLst>
              <a:path w="1357" h="1248" extrusionOk="0">
                <a:moveTo>
                  <a:pt x="1356" y="1247"/>
                </a:moveTo>
                <a:lnTo>
                  <a:pt x="1213" y="1232"/>
                </a:lnTo>
                <a:lnTo>
                  <a:pt x="1141" y="1218"/>
                </a:lnTo>
                <a:lnTo>
                  <a:pt x="1070" y="1199"/>
                </a:lnTo>
                <a:lnTo>
                  <a:pt x="1000" y="1170"/>
                </a:lnTo>
                <a:lnTo>
                  <a:pt x="927" y="1132"/>
                </a:lnTo>
                <a:lnTo>
                  <a:pt x="857" y="1080"/>
                </a:lnTo>
                <a:lnTo>
                  <a:pt x="714" y="935"/>
                </a:lnTo>
                <a:lnTo>
                  <a:pt x="571" y="731"/>
                </a:lnTo>
                <a:lnTo>
                  <a:pt x="428" y="487"/>
                </a:lnTo>
                <a:lnTo>
                  <a:pt x="356" y="363"/>
                </a:lnTo>
                <a:lnTo>
                  <a:pt x="286" y="247"/>
                </a:lnTo>
                <a:lnTo>
                  <a:pt x="213" y="145"/>
                </a:lnTo>
                <a:lnTo>
                  <a:pt x="143" y="67"/>
                </a:lnTo>
                <a:lnTo>
                  <a:pt x="70" y="17"/>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57" name="Google Shape;957;p62"/>
          <p:cNvSpPr/>
          <p:nvPr/>
        </p:nvSpPr>
        <p:spPr>
          <a:xfrm>
            <a:off x="2179638" y="3609975"/>
            <a:ext cx="2138362" cy="1965325"/>
          </a:xfrm>
          <a:custGeom>
            <a:avLst/>
            <a:gdLst/>
            <a:ahLst/>
            <a:cxnLst/>
            <a:rect l="l" t="t" r="r" b="b"/>
            <a:pathLst>
              <a:path w="1347" h="1238" extrusionOk="0">
                <a:moveTo>
                  <a:pt x="0" y="1238"/>
                </a:moveTo>
                <a:lnTo>
                  <a:pt x="143" y="1223"/>
                </a:lnTo>
                <a:lnTo>
                  <a:pt x="213" y="1209"/>
                </a:lnTo>
                <a:lnTo>
                  <a:pt x="285" y="1190"/>
                </a:lnTo>
                <a:lnTo>
                  <a:pt x="356" y="1161"/>
                </a:lnTo>
                <a:lnTo>
                  <a:pt x="428" y="1123"/>
                </a:lnTo>
                <a:lnTo>
                  <a:pt x="499" y="1071"/>
                </a:lnTo>
                <a:lnTo>
                  <a:pt x="642" y="926"/>
                </a:lnTo>
                <a:lnTo>
                  <a:pt x="784" y="722"/>
                </a:lnTo>
                <a:lnTo>
                  <a:pt x="927" y="478"/>
                </a:lnTo>
                <a:lnTo>
                  <a:pt x="1000" y="354"/>
                </a:lnTo>
                <a:lnTo>
                  <a:pt x="1070" y="238"/>
                </a:lnTo>
                <a:lnTo>
                  <a:pt x="1141" y="136"/>
                </a:lnTo>
                <a:lnTo>
                  <a:pt x="1213" y="58"/>
                </a:lnTo>
                <a:lnTo>
                  <a:pt x="1284" y="8"/>
                </a:lnTo>
                <a:lnTo>
                  <a:pt x="1347"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58" name="Google Shape;958;p62"/>
          <p:cNvSpPr/>
          <p:nvPr/>
        </p:nvSpPr>
        <p:spPr>
          <a:xfrm>
            <a:off x="1835150" y="3657600"/>
            <a:ext cx="5181600" cy="1981200"/>
          </a:xfrm>
          <a:custGeom>
            <a:avLst/>
            <a:gdLst/>
            <a:ahLst/>
            <a:cxnLst/>
            <a:rect l="l" t="t" r="r" b="b"/>
            <a:pathLst>
              <a:path w="2764" h="1245" extrusionOk="0">
                <a:moveTo>
                  <a:pt x="0" y="0"/>
                </a:moveTo>
                <a:lnTo>
                  <a:pt x="0" y="1244"/>
                </a:lnTo>
                <a:lnTo>
                  <a:pt x="2763" y="1244"/>
                </a:lnTo>
              </a:path>
            </a:pathLst>
          </a:custGeom>
          <a:noFill/>
          <a:ln w="254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959" name="Google Shape;959;p62"/>
          <p:cNvCxnSpPr/>
          <p:nvPr/>
        </p:nvCxnSpPr>
        <p:spPr>
          <a:xfrm>
            <a:off x="2152650" y="3609975"/>
            <a:ext cx="1588" cy="0"/>
          </a:xfrm>
          <a:prstGeom prst="straightConnector1">
            <a:avLst/>
          </a:prstGeom>
          <a:noFill/>
          <a:ln w="25400" cap="flat" cmpd="sng">
            <a:solidFill>
              <a:srgbClr val="CDCDCD"/>
            </a:solidFill>
            <a:prstDash val="solid"/>
            <a:round/>
            <a:headEnd type="none" w="med" len="med"/>
            <a:tailEnd type="none" w="med" len="med"/>
          </a:ln>
        </p:spPr>
      </p:cxnSp>
      <p:cxnSp>
        <p:nvCxnSpPr>
          <p:cNvPr id="960" name="Google Shape;960;p62"/>
          <p:cNvCxnSpPr/>
          <p:nvPr/>
        </p:nvCxnSpPr>
        <p:spPr>
          <a:xfrm>
            <a:off x="2152650" y="3806825"/>
            <a:ext cx="1588" cy="0"/>
          </a:xfrm>
          <a:prstGeom prst="straightConnector1">
            <a:avLst/>
          </a:prstGeom>
          <a:noFill/>
          <a:ln w="25400" cap="flat" cmpd="sng">
            <a:solidFill>
              <a:srgbClr val="CDCDCD"/>
            </a:solidFill>
            <a:prstDash val="solid"/>
            <a:round/>
            <a:headEnd type="none" w="med" len="med"/>
            <a:tailEnd type="none" w="med" len="med"/>
          </a:ln>
        </p:spPr>
      </p:cxnSp>
      <p:cxnSp>
        <p:nvCxnSpPr>
          <p:cNvPr id="961" name="Google Shape;961;p62"/>
          <p:cNvCxnSpPr/>
          <p:nvPr/>
        </p:nvCxnSpPr>
        <p:spPr>
          <a:xfrm>
            <a:off x="2152650" y="4003675"/>
            <a:ext cx="1588" cy="0"/>
          </a:xfrm>
          <a:prstGeom prst="straightConnector1">
            <a:avLst/>
          </a:prstGeom>
          <a:noFill/>
          <a:ln w="25400" cap="flat" cmpd="sng">
            <a:solidFill>
              <a:srgbClr val="CDCDCD"/>
            </a:solidFill>
            <a:prstDash val="solid"/>
            <a:round/>
            <a:headEnd type="none" w="med" len="med"/>
            <a:tailEnd type="none" w="med" len="med"/>
          </a:ln>
        </p:spPr>
      </p:cxnSp>
      <p:cxnSp>
        <p:nvCxnSpPr>
          <p:cNvPr id="962" name="Google Shape;962;p62"/>
          <p:cNvCxnSpPr/>
          <p:nvPr/>
        </p:nvCxnSpPr>
        <p:spPr>
          <a:xfrm>
            <a:off x="2152650" y="4202113"/>
            <a:ext cx="1588" cy="0"/>
          </a:xfrm>
          <a:prstGeom prst="straightConnector1">
            <a:avLst/>
          </a:prstGeom>
          <a:noFill/>
          <a:ln w="25400" cap="flat" cmpd="sng">
            <a:solidFill>
              <a:srgbClr val="CDCDCD"/>
            </a:solidFill>
            <a:prstDash val="solid"/>
            <a:round/>
            <a:headEnd type="none" w="med" len="med"/>
            <a:tailEnd type="none" w="med" len="med"/>
          </a:ln>
        </p:spPr>
      </p:cxnSp>
      <p:cxnSp>
        <p:nvCxnSpPr>
          <p:cNvPr id="963" name="Google Shape;963;p62"/>
          <p:cNvCxnSpPr/>
          <p:nvPr/>
        </p:nvCxnSpPr>
        <p:spPr>
          <a:xfrm>
            <a:off x="2152650" y="4398963"/>
            <a:ext cx="1588" cy="0"/>
          </a:xfrm>
          <a:prstGeom prst="straightConnector1">
            <a:avLst/>
          </a:prstGeom>
          <a:noFill/>
          <a:ln w="25400" cap="flat" cmpd="sng">
            <a:solidFill>
              <a:srgbClr val="CDCDCD"/>
            </a:solidFill>
            <a:prstDash val="solid"/>
            <a:round/>
            <a:headEnd type="none" w="med" len="med"/>
            <a:tailEnd type="none" w="med" len="med"/>
          </a:ln>
        </p:spPr>
      </p:cxnSp>
      <p:cxnSp>
        <p:nvCxnSpPr>
          <p:cNvPr id="964" name="Google Shape;964;p62"/>
          <p:cNvCxnSpPr/>
          <p:nvPr/>
        </p:nvCxnSpPr>
        <p:spPr>
          <a:xfrm>
            <a:off x="2152650" y="4597400"/>
            <a:ext cx="1588" cy="0"/>
          </a:xfrm>
          <a:prstGeom prst="straightConnector1">
            <a:avLst/>
          </a:prstGeom>
          <a:noFill/>
          <a:ln w="25400" cap="flat" cmpd="sng">
            <a:solidFill>
              <a:srgbClr val="CDCDCD"/>
            </a:solidFill>
            <a:prstDash val="solid"/>
            <a:round/>
            <a:headEnd type="none" w="med" len="med"/>
            <a:tailEnd type="none" w="med" len="med"/>
          </a:ln>
        </p:spPr>
      </p:cxnSp>
      <p:cxnSp>
        <p:nvCxnSpPr>
          <p:cNvPr id="965" name="Google Shape;965;p62"/>
          <p:cNvCxnSpPr/>
          <p:nvPr/>
        </p:nvCxnSpPr>
        <p:spPr>
          <a:xfrm>
            <a:off x="2152650" y="4794250"/>
            <a:ext cx="1588" cy="0"/>
          </a:xfrm>
          <a:prstGeom prst="straightConnector1">
            <a:avLst/>
          </a:prstGeom>
          <a:noFill/>
          <a:ln w="25400" cap="flat" cmpd="sng">
            <a:solidFill>
              <a:srgbClr val="CDCDCD"/>
            </a:solidFill>
            <a:prstDash val="solid"/>
            <a:round/>
            <a:headEnd type="none" w="med" len="med"/>
            <a:tailEnd type="none" w="med" len="med"/>
          </a:ln>
        </p:spPr>
      </p:cxnSp>
      <p:cxnSp>
        <p:nvCxnSpPr>
          <p:cNvPr id="966" name="Google Shape;966;p62"/>
          <p:cNvCxnSpPr/>
          <p:nvPr/>
        </p:nvCxnSpPr>
        <p:spPr>
          <a:xfrm>
            <a:off x="2152650" y="4992688"/>
            <a:ext cx="1588" cy="0"/>
          </a:xfrm>
          <a:prstGeom prst="straightConnector1">
            <a:avLst/>
          </a:prstGeom>
          <a:noFill/>
          <a:ln w="25400" cap="flat" cmpd="sng">
            <a:solidFill>
              <a:srgbClr val="CDCDCD"/>
            </a:solidFill>
            <a:prstDash val="solid"/>
            <a:round/>
            <a:headEnd type="none" w="med" len="med"/>
            <a:tailEnd type="none" w="med" len="med"/>
          </a:ln>
        </p:spPr>
      </p:cxnSp>
      <p:cxnSp>
        <p:nvCxnSpPr>
          <p:cNvPr id="967" name="Google Shape;967;p62"/>
          <p:cNvCxnSpPr/>
          <p:nvPr/>
        </p:nvCxnSpPr>
        <p:spPr>
          <a:xfrm>
            <a:off x="2152650" y="5189538"/>
            <a:ext cx="1588" cy="0"/>
          </a:xfrm>
          <a:prstGeom prst="straightConnector1">
            <a:avLst/>
          </a:prstGeom>
          <a:noFill/>
          <a:ln w="25400" cap="flat" cmpd="sng">
            <a:solidFill>
              <a:srgbClr val="CDCDCD"/>
            </a:solidFill>
            <a:prstDash val="solid"/>
            <a:round/>
            <a:headEnd type="none" w="med" len="med"/>
            <a:tailEnd type="none" w="med" len="med"/>
          </a:ln>
        </p:spPr>
      </p:cxnSp>
      <p:cxnSp>
        <p:nvCxnSpPr>
          <p:cNvPr id="968" name="Google Shape;968;p62"/>
          <p:cNvCxnSpPr/>
          <p:nvPr/>
        </p:nvCxnSpPr>
        <p:spPr>
          <a:xfrm>
            <a:off x="2152650" y="5386388"/>
            <a:ext cx="1588" cy="0"/>
          </a:xfrm>
          <a:prstGeom prst="straightConnector1">
            <a:avLst/>
          </a:prstGeom>
          <a:noFill/>
          <a:ln w="25400" cap="flat" cmpd="sng">
            <a:solidFill>
              <a:srgbClr val="CDCDCD"/>
            </a:solidFill>
            <a:prstDash val="solid"/>
            <a:round/>
            <a:headEnd type="none" w="med" len="med"/>
            <a:tailEnd type="none" w="med" len="med"/>
          </a:ln>
        </p:spPr>
      </p:cxnSp>
      <p:cxnSp>
        <p:nvCxnSpPr>
          <p:cNvPr id="969" name="Google Shape;969;p62"/>
          <p:cNvCxnSpPr/>
          <p:nvPr/>
        </p:nvCxnSpPr>
        <p:spPr>
          <a:xfrm>
            <a:off x="6565900" y="5607050"/>
            <a:ext cx="0" cy="1588"/>
          </a:xfrm>
          <a:prstGeom prst="straightConnector1">
            <a:avLst/>
          </a:prstGeom>
          <a:noFill/>
          <a:ln w="25400" cap="flat" cmpd="sng">
            <a:solidFill>
              <a:srgbClr val="CDCDCD"/>
            </a:solidFill>
            <a:prstDash val="solid"/>
            <a:round/>
            <a:headEnd type="none" w="med" len="med"/>
            <a:tailEnd type="none" w="med" len="med"/>
          </a:ln>
        </p:spPr>
      </p:cxnSp>
      <p:cxnSp>
        <p:nvCxnSpPr>
          <p:cNvPr id="970" name="Google Shape;970;p62"/>
          <p:cNvCxnSpPr/>
          <p:nvPr/>
        </p:nvCxnSpPr>
        <p:spPr>
          <a:xfrm>
            <a:off x="6126163" y="5607050"/>
            <a:ext cx="0" cy="1588"/>
          </a:xfrm>
          <a:prstGeom prst="straightConnector1">
            <a:avLst/>
          </a:prstGeom>
          <a:noFill/>
          <a:ln w="25400" cap="flat" cmpd="sng">
            <a:solidFill>
              <a:srgbClr val="CDCDCD"/>
            </a:solidFill>
            <a:prstDash val="solid"/>
            <a:round/>
            <a:headEnd type="none" w="med" len="med"/>
            <a:tailEnd type="none" w="med" len="med"/>
          </a:ln>
        </p:spPr>
      </p:cxnSp>
      <p:cxnSp>
        <p:nvCxnSpPr>
          <p:cNvPr id="971" name="Google Shape;971;p62"/>
          <p:cNvCxnSpPr/>
          <p:nvPr/>
        </p:nvCxnSpPr>
        <p:spPr>
          <a:xfrm>
            <a:off x="5686425" y="5607050"/>
            <a:ext cx="0" cy="1588"/>
          </a:xfrm>
          <a:prstGeom prst="straightConnector1">
            <a:avLst/>
          </a:prstGeom>
          <a:noFill/>
          <a:ln w="25400" cap="flat" cmpd="sng">
            <a:solidFill>
              <a:srgbClr val="CDCDCD"/>
            </a:solidFill>
            <a:prstDash val="solid"/>
            <a:round/>
            <a:headEnd type="none" w="med" len="med"/>
            <a:tailEnd type="none" w="med" len="med"/>
          </a:ln>
        </p:spPr>
      </p:cxnSp>
      <p:cxnSp>
        <p:nvCxnSpPr>
          <p:cNvPr id="972" name="Google Shape;972;p62"/>
          <p:cNvCxnSpPr/>
          <p:nvPr/>
        </p:nvCxnSpPr>
        <p:spPr>
          <a:xfrm>
            <a:off x="5249863" y="5607050"/>
            <a:ext cx="0" cy="1588"/>
          </a:xfrm>
          <a:prstGeom prst="straightConnector1">
            <a:avLst/>
          </a:prstGeom>
          <a:noFill/>
          <a:ln w="25400" cap="flat" cmpd="sng">
            <a:solidFill>
              <a:srgbClr val="CDCDCD"/>
            </a:solidFill>
            <a:prstDash val="solid"/>
            <a:round/>
            <a:headEnd type="none" w="med" len="med"/>
            <a:tailEnd type="none" w="med" len="med"/>
          </a:ln>
        </p:spPr>
      </p:cxnSp>
      <p:cxnSp>
        <p:nvCxnSpPr>
          <p:cNvPr id="973" name="Google Shape;973;p62"/>
          <p:cNvCxnSpPr/>
          <p:nvPr/>
        </p:nvCxnSpPr>
        <p:spPr>
          <a:xfrm>
            <a:off x="4811713" y="5607050"/>
            <a:ext cx="0" cy="1588"/>
          </a:xfrm>
          <a:prstGeom prst="straightConnector1">
            <a:avLst/>
          </a:prstGeom>
          <a:noFill/>
          <a:ln w="25400" cap="flat" cmpd="sng">
            <a:solidFill>
              <a:srgbClr val="CDCDCD"/>
            </a:solidFill>
            <a:prstDash val="solid"/>
            <a:round/>
            <a:headEnd type="none" w="med" len="med"/>
            <a:tailEnd type="none" w="med" len="med"/>
          </a:ln>
        </p:spPr>
      </p:cxnSp>
      <p:cxnSp>
        <p:nvCxnSpPr>
          <p:cNvPr id="974" name="Google Shape;974;p62"/>
          <p:cNvCxnSpPr/>
          <p:nvPr/>
        </p:nvCxnSpPr>
        <p:spPr>
          <a:xfrm>
            <a:off x="4371975" y="5607050"/>
            <a:ext cx="0" cy="1588"/>
          </a:xfrm>
          <a:prstGeom prst="straightConnector1">
            <a:avLst/>
          </a:prstGeom>
          <a:noFill/>
          <a:ln w="25400" cap="flat" cmpd="sng">
            <a:solidFill>
              <a:srgbClr val="CDCDCD"/>
            </a:solidFill>
            <a:prstDash val="solid"/>
            <a:round/>
            <a:headEnd type="none" w="med" len="med"/>
            <a:tailEnd type="none" w="med" len="med"/>
          </a:ln>
        </p:spPr>
      </p:cxnSp>
      <p:cxnSp>
        <p:nvCxnSpPr>
          <p:cNvPr id="975" name="Google Shape;975;p62"/>
          <p:cNvCxnSpPr/>
          <p:nvPr/>
        </p:nvCxnSpPr>
        <p:spPr>
          <a:xfrm>
            <a:off x="3933825" y="5607050"/>
            <a:ext cx="0" cy="1588"/>
          </a:xfrm>
          <a:prstGeom prst="straightConnector1">
            <a:avLst/>
          </a:prstGeom>
          <a:noFill/>
          <a:ln w="25400" cap="flat" cmpd="sng">
            <a:solidFill>
              <a:srgbClr val="CDCDCD"/>
            </a:solidFill>
            <a:prstDash val="solid"/>
            <a:round/>
            <a:headEnd type="none" w="med" len="med"/>
            <a:tailEnd type="none" w="med" len="med"/>
          </a:ln>
        </p:spPr>
      </p:cxnSp>
      <p:cxnSp>
        <p:nvCxnSpPr>
          <p:cNvPr id="976" name="Google Shape;976;p62"/>
          <p:cNvCxnSpPr/>
          <p:nvPr/>
        </p:nvCxnSpPr>
        <p:spPr>
          <a:xfrm>
            <a:off x="3494088" y="5607050"/>
            <a:ext cx="0" cy="1588"/>
          </a:xfrm>
          <a:prstGeom prst="straightConnector1">
            <a:avLst/>
          </a:prstGeom>
          <a:noFill/>
          <a:ln w="25400" cap="flat" cmpd="sng">
            <a:solidFill>
              <a:srgbClr val="CDCDCD"/>
            </a:solidFill>
            <a:prstDash val="solid"/>
            <a:round/>
            <a:headEnd type="none" w="med" len="med"/>
            <a:tailEnd type="none" w="med" len="med"/>
          </a:ln>
        </p:spPr>
      </p:cxnSp>
      <p:cxnSp>
        <p:nvCxnSpPr>
          <p:cNvPr id="977" name="Google Shape;977;p62"/>
          <p:cNvCxnSpPr/>
          <p:nvPr/>
        </p:nvCxnSpPr>
        <p:spPr>
          <a:xfrm>
            <a:off x="3057525" y="5607050"/>
            <a:ext cx="0" cy="1588"/>
          </a:xfrm>
          <a:prstGeom prst="straightConnector1">
            <a:avLst/>
          </a:prstGeom>
          <a:noFill/>
          <a:ln w="25400" cap="flat" cmpd="sng">
            <a:solidFill>
              <a:srgbClr val="CDCDCD"/>
            </a:solidFill>
            <a:prstDash val="solid"/>
            <a:round/>
            <a:headEnd type="none" w="med" len="med"/>
            <a:tailEnd type="none" w="med" len="med"/>
          </a:ln>
        </p:spPr>
      </p:cxnSp>
      <p:cxnSp>
        <p:nvCxnSpPr>
          <p:cNvPr id="978" name="Google Shape;978;p62"/>
          <p:cNvCxnSpPr/>
          <p:nvPr/>
        </p:nvCxnSpPr>
        <p:spPr>
          <a:xfrm>
            <a:off x="2617788" y="5607050"/>
            <a:ext cx="0" cy="1588"/>
          </a:xfrm>
          <a:prstGeom prst="straightConnector1">
            <a:avLst/>
          </a:prstGeom>
          <a:noFill/>
          <a:ln w="25400" cap="flat" cmpd="sng">
            <a:solidFill>
              <a:srgbClr val="CDCDCD"/>
            </a:solidFill>
            <a:prstDash val="solid"/>
            <a:round/>
            <a:headEnd type="none" w="med" len="med"/>
            <a:tailEnd type="none" w="med" len="med"/>
          </a:ln>
        </p:spPr>
      </p:cxnSp>
      <p:sp>
        <p:nvSpPr>
          <p:cNvPr id="979" name="Google Shape;979;p62"/>
          <p:cNvSpPr/>
          <p:nvPr/>
        </p:nvSpPr>
        <p:spPr>
          <a:xfrm>
            <a:off x="1808163" y="4505325"/>
            <a:ext cx="92075" cy="1841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980" name="Google Shape;980;p62"/>
          <p:cNvSpPr/>
          <p:nvPr/>
        </p:nvSpPr>
        <p:spPr>
          <a:xfrm>
            <a:off x="6473825" y="5784850"/>
            <a:ext cx="184150" cy="920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981" name="Google Shape;981;p62"/>
          <p:cNvSpPr/>
          <p:nvPr/>
        </p:nvSpPr>
        <p:spPr>
          <a:xfrm>
            <a:off x="1377950" y="3124200"/>
            <a:ext cx="655638"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f(x)</a:t>
            </a:r>
            <a:endParaRPr/>
          </a:p>
        </p:txBody>
      </p:sp>
      <p:sp>
        <p:nvSpPr>
          <p:cNvPr id="982" name="Google Shape;982;p62"/>
          <p:cNvSpPr/>
          <p:nvPr/>
        </p:nvSpPr>
        <p:spPr>
          <a:xfrm>
            <a:off x="5303838" y="3214688"/>
            <a:ext cx="427037" cy="5302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900">
                <a:solidFill>
                  <a:schemeClr val="dk1"/>
                </a:solidFill>
                <a:latin typeface="Arial"/>
                <a:ea typeface="Arial"/>
                <a:cs typeface="Arial"/>
                <a:sym typeface="Arial"/>
              </a:rPr>
              <a:t>P</a:t>
            </a:r>
            <a:endParaRPr/>
          </a:p>
        </p:txBody>
      </p:sp>
      <p:sp>
        <p:nvSpPr>
          <p:cNvPr id="983" name="Google Shape;983;p62"/>
          <p:cNvSpPr/>
          <p:nvPr/>
        </p:nvSpPr>
        <p:spPr>
          <a:xfrm>
            <a:off x="5761038" y="3214688"/>
            <a:ext cx="385762" cy="5302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900" b="1">
                <a:solidFill>
                  <a:srgbClr val="33CC33"/>
                </a:solidFill>
                <a:latin typeface="Arial"/>
                <a:ea typeface="Arial"/>
                <a:cs typeface="Arial"/>
                <a:sym typeface="Arial"/>
              </a:rPr>
              <a:t>a</a:t>
            </a:r>
            <a:endParaRPr/>
          </a:p>
        </p:txBody>
      </p:sp>
      <p:sp>
        <p:nvSpPr>
          <p:cNvPr id="984" name="Google Shape;984;p62"/>
          <p:cNvSpPr/>
          <p:nvPr/>
        </p:nvSpPr>
        <p:spPr>
          <a:xfrm>
            <a:off x="6446838" y="3214688"/>
            <a:ext cx="385762" cy="5302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900" b="1">
                <a:solidFill>
                  <a:schemeClr val="dk1"/>
                </a:solidFill>
                <a:latin typeface="Arial"/>
                <a:ea typeface="Arial"/>
                <a:cs typeface="Arial"/>
                <a:sym typeface="Arial"/>
              </a:rPr>
              <a:t>x</a:t>
            </a:r>
            <a:endParaRPr/>
          </a:p>
        </p:txBody>
      </p:sp>
      <p:sp>
        <p:nvSpPr>
          <p:cNvPr id="985" name="Google Shape;985;p62"/>
          <p:cNvSpPr/>
          <p:nvPr/>
        </p:nvSpPr>
        <p:spPr>
          <a:xfrm>
            <a:off x="7132638" y="3214688"/>
            <a:ext cx="406400" cy="5302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900" b="1">
                <a:solidFill>
                  <a:srgbClr val="FF6600"/>
                </a:solidFill>
                <a:latin typeface="Arial"/>
                <a:ea typeface="Arial"/>
                <a:cs typeface="Arial"/>
                <a:sym typeface="Arial"/>
              </a:rPr>
              <a:t>b</a:t>
            </a:r>
            <a:endParaRPr/>
          </a:p>
        </p:txBody>
      </p:sp>
      <p:sp>
        <p:nvSpPr>
          <p:cNvPr id="986" name="Google Shape;986;p62"/>
          <p:cNvSpPr/>
          <p:nvPr/>
        </p:nvSpPr>
        <p:spPr>
          <a:xfrm>
            <a:off x="5608638" y="3214688"/>
            <a:ext cx="303212" cy="5302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900">
                <a:solidFill>
                  <a:schemeClr val="dk1"/>
                </a:solidFill>
                <a:latin typeface="Arial"/>
                <a:ea typeface="Arial"/>
                <a:cs typeface="Arial"/>
                <a:sym typeface="Arial"/>
              </a:rPr>
              <a:t>(</a:t>
            </a:r>
            <a:endParaRPr/>
          </a:p>
        </p:txBody>
      </p:sp>
      <p:sp>
        <p:nvSpPr>
          <p:cNvPr id="987" name="Google Shape;987;p62"/>
          <p:cNvSpPr/>
          <p:nvPr/>
        </p:nvSpPr>
        <p:spPr>
          <a:xfrm>
            <a:off x="7392988" y="3170238"/>
            <a:ext cx="303212" cy="5302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900">
                <a:solidFill>
                  <a:schemeClr val="dk1"/>
                </a:solidFill>
                <a:latin typeface="Arial"/>
                <a:ea typeface="Arial"/>
                <a:cs typeface="Arial"/>
                <a:sym typeface="Arial"/>
              </a:rPr>
              <a:t>)</a:t>
            </a:r>
            <a:endParaRPr/>
          </a:p>
        </p:txBody>
      </p:sp>
      <p:sp>
        <p:nvSpPr>
          <p:cNvPr id="988" name="Google Shape;988;p62"/>
          <p:cNvSpPr/>
          <p:nvPr/>
        </p:nvSpPr>
        <p:spPr>
          <a:xfrm>
            <a:off x="6065838" y="3214688"/>
            <a:ext cx="382587" cy="5302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900">
                <a:solidFill>
                  <a:srgbClr val="000000"/>
                </a:solidFill>
                <a:latin typeface="Noto Sans Symbols"/>
                <a:ea typeface="Noto Sans Symbols"/>
                <a:cs typeface="Noto Sans Symbols"/>
                <a:sym typeface="Noto Sans Symbols"/>
              </a:rPr>
              <a:t>≤</a:t>
            </a:r>
            <a:endParaRPr/>
          </a:p>
        </p:txBody>
      </p:sp>
      <p:sp>
        <p:nvSpPr>
          <p:cNvPr id="989" name="Google Shape;989;p62"/>
          <p:cNvSpPr/>
          <p:nvPr/>
        </p:nvSpPr>
        <p:spPr>
          <a:xfrm>
            <a:off x="6827838" y="3214688"/>
            <a:ext cx="382587" cy="5302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900" b="1">
                <a:solidFill>
                  <a:srgbClr val="000000"/>
                </a:solidFill>
                <a:latin typeface="Noto Sans Symbols"/>
                <a:ea typeface="Noto Sans Symbols"/>
                <a:cs typeface="Noto Sans Symbols"/>
                <a:sym typeface="Noto Sans Symbols"/>
              </a:rPr>
              <a:t>≤</a:t>
            </a:r>
            <a:endParaRPr/>
          </a:p>
        </p:txBody>
      </p:sp>
      <p:sp>
        <p:nvSpPr>
          <p:cNvPr id="990" name="Google Shape;990;p62"/>
          <p:cNvSpPr/>
          <p:nvPr/>
        </p:nvSpPr>
        <p:spPr>
          <a:xfrm>
            <a:off x="0" y="1905000"/>
            <a:ext cx="9144000" cy="53657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900">
                <a:solidFill>
                  <a:schemeClr val="folHlink"/>
                </a:solidFill>
                <a:latin typeface="Arial"/>
                <a:ea typeface="Arial"/>
                <a:cs typeface="Arial"/>
                <a:sym typeface="Arial"/>
              </a:rPr>
              <a:t>Probability is measured by the area under the curve</a:t>
            </a:r>
            <a:endParaRPr/>
          </a:p>
        </p:txBody>
      </p:sp>
      <p:cxnSp>
        <p:nvCxnSpPr>
          <p:cNvPr id="991" name="Google Shape;991;p62"/>
          <p:cNvCxnSpPr/>
          <p:nvPr/>
        </p:nvCxnSpPr>
        <p:spPr>
          <a:xfrm flipH="1">
            <a:off x="4770438" y="3519488"/>
            <a:ext cx="533400" cy="685800"/>
          </a:xfrm>
          <a:prstGeom prst="straightConnector1">
            <a:avLst/>
          </a:prstGeom>
          <a:noFill/>
          <a:ln w="19050" cap="flat" cmpd="sng">
            <a:solidFill>
              <a:schemeClr val="dk1"/>
            </a:solidFill>
            <a:prstDash val="solid"/>
            <a:round/>
            <a:headEnd type="none" w="med" len="med"/>
            <a:tailEnd type="triangle" w="med" len="med"/>
          </a:ln>
        </p:spPr>
      </p:cxnSp>
      <p:pic>
        <p:nvPicPr>
          <p:cNvPr id="992" name="Google Shape;992;p62"/>
          <p:cNvPicPr preferRelativeResize="0"/>
          <p:nvPr/>
        </p:nvPicPr>
        <p:blipFill rotWithShape="1">
          <a:blip r:embed="rId3">
            <a:alphaModFix/>
          </a:blip>
          <a:srcRect/>
          <a:stretch/>
        </p:blipFill>
        <p:spPr>
          <a:xfrm>
            <a:off x="2667000" y="2514600"/>
            <a:ext cx="3352800" cy="8382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p63"/>
          <p:cNvSpPr/>
          <p:nvPr/>
        </p:nvSpPr>
        <p:spPr>
          <a:xfrm>
            <a:off x="1600200" y="3048000"/>
            <a:ext cx="5486400" cy="2438400"/>
          </a:xfrm>
          <a:custGeom>
            <a:avLst/>
            <a:gdLst/>
            <a:ahLst/>
            <a:cxnLst/>
            <a:rect l="l" t="t" r="r" b="b"/>
            <a:pathLst>
              <a:path w="1893" h="765" extrusionOk="0">
                <a:moveTo>
                  <a:pt x="0" y="0"/>
                </a:moveTo>
                <a:lnTo>
                  <a:pt x="0" y="764"/>
                </a:lnTo>
                <a:lnTo>
                  <a:pt x="1892" y="764"/>
                </a:lnTo>
              </a:path>
            </a:pathLst>
          </a:custGeom>
          <a:noFill/>
          <a:ln w="25400" cap="rnd"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98" name="Google Shape;998;p63"/>
          <p:cNvSpPr/>
          <p:nvPr/>
        </p:nvSpPr>
        <p:spPr>
          <a:xfrm>
            <a:off x="914400" y="2819400"/>
            <a:ext cx="655638"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f(x)</a:t>
            </a:r>
            <a:endParaRPr/>
          </a:p>
        </p:txBody>
      </p:sp>
      <p:sp>
        <p:nvSpPr>
          <p:cNvPr id="999" name="Google Shape;999;p63"/>
          <p:cNvSpPr/>
          <p:nvPr/>
        </p:nvSpPr>
        <p:spPr>
          <a:xfrm>
            <a:off x="4495800" y="3505200"/>
            <a:ext cx="2438400" cy="1905000"/>
          </a:xfrm>
          <a:custGeom>
            <a:avLst/>
            <a:gdLst/>
            <a:ahLst/>
            <a:cxnLst/>
            <a:rect l="l" t="t" r="r" b="b"/>
            <a:pathLst>
              <a:path w="901" h="721" extrusionOk="0">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000" name="Google Shape;1000;p63"/>
          <p:cNvSpPr/>
          <p:nvPr/>
        </p:nvSpPr>
        <p:spPr>
          <a:xfrm>
            <a:off x="2133600" y="3505200"/>
            <a:ext cx="2344738" cy="1905000"/>
          </a:xfrm>
          <a:custGeom>
            <a:avLst/>
            <a:gdLst/>
            <a:ahLst/>
            <a:cxnLst/>
            <a:rect l="l" t="t" r="r" b="b"/>
            <a:pathLst>
              <a:path w="901" h="721" extrusionOk="0">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001" name="Google Shape;1001;p63"/>
          <p:cNvCxnSpPr/>
          <p:nvPr/>
        </p:nvCxnSpPr>
        <p:spPr>
          <a:xfrm>
            <a:off x="4495800" y="3505200"/>
            <a:ext cx="0" cy="1981200"/>
          </a:xfrm>
          <a:prstGeom prst="straightConnector1">
            <a:avLst/>
          </a:prstGeom>
          <a:noFill/>
          <a:ln w="12700" cap="flat" cmpd="sng">
            <a:solidFill>
              <a:srgbClr val="808080"/>
            </a:solidFill>
            <a:prstDash val="solid"/>
            <a:round/>
            <a:headEnd type="none" w="med" len="med"/>
            <a:tailEnd type="none" w="med" len="med"/>
          </a:ln>
        </p:spPr>
      </p:cxnSp>
      <p:sp>
        <p:nvSpPr>
          <p:cNvPr id="1002" name="Google Shape;1002;p63"/>
          <p:cNvSpPr/>
          <p:nvPr/>
        </p:nvSpPr>
        <p:spPr>
          <a:xfrm>
            <a:off x="7086600" y="5334000"/>
            <a:ext cx="350838"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x</a:t>
            </a:r>
            <a:endParaRPr/>
          </a:p>
        </p:txBody>
      </p:sp>
      <p:sp>
        <p:nvSpPr>
          <p:cNvPr id="1003" name="Google Shape;1003;p63"/>
          <p:cNvSpPr/>
          <p:nvPr/>
        </p:nvSpPr>
        <p:spPr>
          <a:xfrm>
            <a:off x="4343400" y="5334000"/>
            <a:ext cx="479425" cy="5159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800" b="1">
                <a:solidFill>
                  <a:srgbClr val="339933"/>
                </a:solidFill>
                <a:latin typeface="Arial"/>
                <a:ea typeface="Arial"/>
                <a:cs typeface="Arial"/>
                <a:sym typeface="Arial"/>
              </a:rPr>
              <a:t>μ</a:t>
            </a:r>
            <a:endParaRPr/>
          </a:p>
        </p:txBody>
      </p:sp>
      <p:sp>
        <p:nvSpPr>
          <p:cNvPr id="1004" name="Google Shape;1004;p63"/>
          <p:cNvSpPr txBox="1">
            <a:spLocks noGrp="1"/>
          </p:cNvSpPr>
          <p:nvPr>
            <p:ph type="title"/>
          </p:nvPr>
        </p:nvSpPr>
        <p:spPr>
          <a:xfrm>
            <a:off x="990600" y="228600"/>
            <a:ext cx="7793038" cy="1066800"/>
          </a:xfrm>
          <a:prstGeom prst="rect">
            <a:avLst/>
          </a:prstGeom>
          <a:noFill/>
          <a:ln>
            <a:noFill/>
          </a:ln>
        </p:spPr>
        <p:txBody>
          <a:bodyPr spcFirstLastPara="1" wrap="square" lIns="85325" tIns="42650" rIns="85325" bIns="42650" anchor="b" anchorCtr="0">
            <a:noAutofit/>
          </a:bodyPr>
          <a:lstStyle/>
          <a:p>
            <a:pPr marL="0" lvl="0" indent="0" algn="ctr" rtl="0">
              <a:lnSpc>
                <a:spcPct val="80000"/>
              </a:lnSpc>
              <a:spcBef>
                <a:spcPts val="0"/>
              </a:spcBef>
              <a:spcAft>
                <a:spcPts val="0"/>
              </a:spcAft>
              <a:buNone/>
            </a:pPr>
            <a:r>
              <a:rPr lang="en-US"/>
              <a:t>Probability as </a:t>
            </a:r>
            <a:br>
              <a:rPr lang="en-US"/>
            </a:br>
            <a:r>
              <a:rPr lang="en-US"/>
              <a:t>Area Under the Curve</a:t>
            </a:r>
            <a:endParaRPr/>
          </a:p>
        </p:txBody>
      </p:sp>
      <p:sp>
        <p:nvSpPr>
          <p:cNvPr id="1005" name="Google Shape;1005;p63"/>
          <p:cNvSpPr txBox="1"/>
          <p:nvPr/>
        </p:nvSpPr>
        <p:spPr>
          <a:xfrm>
            <a:off x="4648200" y="4572000"/>
            <a:ext cx="6858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1"/>
                </a:solidFill>
                <a:latin typeface="Times New Roman"/>
                <a:ea typeface="Times New Roman"/>
                <a:cs typeface="Times New Roman"/>
                <a:sym typeface="Times New Roman"/>
              </a:rPr>
              <a:t>0.5</a:t>
            </a:r>
            <a:endParaRPr/>
          </a:p>
        </p:txBody>
      </p:sp>
      <p:sp>
        <p:nvSpPr>
          <p:cNvPr id="1006" name="Google Shape;1006;p63"/>
          <p:cNvSpPr txBox="1"/>
          <p:nvPr/>
        </p:nvSpPr>
        <p:spPr>
          <a:xfrm>
            <a:off x="3733800" y="4572000"/>
            <a:ext cx="6858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1"/>
                </a:solidFill>
                <a:latin typeface="Times New Roman"/>
                <a:ea typeface="Times New Roman"/>
                <a:cs typeface="Times New Roman"/>
                <a:sym typeface="Times New Roman"/>
              </a:rPr>
              <a:t>0.5</a:t>
            </a:r>
            <a:endParaRPr/>
          </a:p>
        </p:txBody>
      </p:sp>
      <p:sp>
        <p:nvSpPr>
          <p:cNvPr id="1007" name="Google Shape;1007;p63"/>
          <p:cNvSpPr txBox="1"/>
          <p:nvPr/>
        </p:nvSpPr>
        <p:spPr>
          <a:xfrm>
            <a:off x="152400" y="1676400"/>
            <a:ext cx="8991600" cy="8302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2"/>
                </a:solidFill>
                <a:latin typeface="Arial"/>
                <a:ea typeface="Arial"/>
                <a:cs typeface="Arial"/>
                <a:sym typeface="Arial"/>
              </a:rPr>
              <a:t>The </a:t>
            </a:r>
            <a:r>
              <a:rPr lang="en-US" sz="2400">
                <a:solidFill>
                  <a:schemeClr val="folHlink"/>
                </a:solidFill>
                <a:latin typeface="Arial"/>
                <a:ea typeface="Arial"/>
                <a:cs typeface="Arial"/>
                <a:sym typeface="Arial"/>
              </a:rPr>
              <a:t>total area under the curve is 1.0</a:t>
            </a:r>
            <a:r>
              <a:rPr lang="en-US" sz="2400">
                <a:solidFill>
                  <a:schemeClr val="lt2"/>
                </a:solidFill>
                <a:latin typeface="Arial"/>
                <a:ea typeface="Arial"/>
                <a:cs typeface="Arial"/>
                <a:sym typeface="Arial"/>
              </a:rPr>
              <a:t>, and the curve is symmetric, so half is above the mean, half is below</a:t>
            </a:r>
            <a:endParaRPr sz="2800">
              <a:solidFill>
                <a:schemeClr val="lt2"/>
              </a:solidFill>
              <a:latin typeface="Times New Roman"/>
              <a:ea typeface="Times New Roman"/>
              <a:cs typeface="Times New Roman"/>
              <a:sym typeface="Times New Roman"/>
            </a:endParaRPr>
          </a:p>
        </p:txBody>
      </p:sp>
      <p:pic>
        <p:nvPicPr>
          <p:cNvPr id="1008" name="Google Shape;1008;p63"/>
          <p:cNvPicPr preferRelativeResize="0"/>
          <p:nvPr/>
        </p:nvPicPr>
        <p:blipFill rotWithShape="1">
          <a:blip r:embed="rId3">
            <a:alphaModFix/>
          </a:blip>
          <a:srcRect/>
          <a:stretch/>
        </p:blipFill>
        <p:spPr>
          <a:xfrm>
            <a:off x="2971800" y="5867400"/>
            <a:ext cx="3517900" cy="549275"/>
          </a:xfrm>
          <a:prstGeom prst="rect">
            <a:avLst/>
          </a:prstGeom>
          <a:solidFill>
            <a:srgbClr val="CCFFFF"/>
          </a:solidFill>
          <a:ln w="9525" cap="flat" cmpd="sng">
            <a:solidFill>
              <a:schemeClr val="dk1"/>
            </a:solidFill>
            <a:prstDash val="solid"/>
            <a:miter lim="800000"/>
            <a:headEnd type="none" w="sm" len="sm"/>
            <a:tailEnd type="none" w="sm" len="sm"/>
          </a:ln>
        </p:spPr>
      </p:pic>
      <p:pic>
        <p:nvPicPr>
          <p:cNvPr id="1009" name="Google Shape;1009;p63"/>
          <p:cNvPicPr preferRelativeResize="0"/>
          <p:nvPr/>
        </p:nvPicPr>
        <p:blipFill rotWithShape="1">
          <a:blip r:embed="rId4">
            <a:alphaModFix/>
          </a:blip>
          <a:srcRect/>
          <a:stretch/>
        </p:blipFill>
        <p:spPr>
          <a:xfrm>
            <a:off x="5562600" y="3124200"/>
            <a:ext cx="2732088" cy="439738"/>
          </a:xfrm>
          <a:prstGeom prst="rect">
            <a:avLst/>
          </a:prstGeom>
          <a:solidFill>
            <a:srgbClr val="FFFFCD"/>
          </a:solidFill>
          <a:ln w="9525" cap="flat" cmpd="sng">
            <a:solidFill>
              <a:schemeClr val="dk1"/>
            </a:solidFill>
            <a:prstDash val="solid"/>
            <a:miter lim="800000"/>
            <a:headEnd type="none" w="sm" len="sm"/>
            <a:tailEnd type="none" w="sm" len="sm"/>
          </a:ln>
        </p:spPr>
      </p:pic>
      <p:pic>
        <p:nvPicPr>
          <p:cNvPr id="1010" name="Google Shape;1010;p63"/>
          <p:cNvPicPr preferRelativeResize="0"/>
          <p:nvPr/>
        </p:nvPicPr>
        <p:blipFill rotWithShape="1">
          <a:blip r:embed="rId5">
            <a:alphaModFix/>
          </a:blip>
          <a:srcRect/>
          <a:stretch/>
        </p:blipFill>
        <p:spPr>
          <a:xfrm>
            <a:off x="1752600" y="2971800"/>
            <a:ext cx="2927350" cy="441325"/>
          </a:xfrm>
          <a:prstGeom prst="rect">
            <a:avLst/>
          </a:prstGeom>
          <a:solidFill>
            <a:srgbClr val="FFFFCD"/>
          </a:solidFill>
          <a:ln w="9525" cap="flat" cmpd="sng">
            <a:solidFill>
              <a:schemeClr val="dk1"/>
            </a:solidFill>
            <a:prstDash val="solid"/>
            <a:miter lim="800000"/>
            <a:headEnd type="none" w="sm" len="sm"/>
            <a:tailEnd type="none" w="sm" len="sm"/>
          </a:ln>
        </p:spPr>
      </p:pic>
      <p:cxnSp>
        <p:nvCxnSpPr>
          <p:cNvPr id="1011" name="Google Shape;1011;p63"/>
          <p:cNvCxnSpPr/>
          <p:nvPr/>
        </p:nvCxnSpPr>
        <p:spPr>
          <a:xfrm flipH="1">
            <a:off x="4953000" y="3581400"/>
            <a:ext cx="914400" cy="990600"/>
          </a:xfrm>
          <a:prstGeom prst="straightConnector1">
            <a:avLst/>
          </a:prstGeom>
          <a:noFill/>
          <a:ln w="19050" cap="flat" cmpd="sng">
            <a:solidFill>
              <a:schemeClr val="dk1"/>
            </a:solidFill>
            <a:prstDash val="solid"/>
            <a:round/>
            <a:headEnd type="none" w="med" len="med"/>
            <a:tailEnd type="triangle" w="med" len="med"/>
          </a:ln>
        </p:spPr>
      </p:cxnSp>
      <p:cxnSp>
        <p:nvCxnSpPr>
          <p:cNvPr id="1012" name="Google Shape;1012;p63"/>
          <p:cNvCxnSpPr/>
          <p:nvPr/>
        </p:nvCxnSpPr>
        <p:spPr>
          <a:xfrm>
            <a:off x="3200400" y="3429000"/>
            <a:ext cx="762000" cy="990600"/>
          </a:xfrm>
          <a:prstGeom prst="straightConnector1">
            <a:avLst/>
          </a:prstGeom>
          <a:noFill/>
          <a:ln w="19050" cap="flat" cmpd="sng">
            <a:solidFill>
              <a:schemeClr val="dk1"/>
            </a:solidFill>
            <a:prstDash val="solid"/>
            <a:round/>
            <a:headEnd type="none" w="med" len="med"/>
            <a:tailEnd type="triangle" w="med" len="med"/>
          </a:ln>
        </p:spPr>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p64"/>
          <p:cNvSpPr txBox="1">
            <a:spLocks noGrp="1"/>
          </p:cNvSpPr>
          <p:nvPr>
            <p:ph type="title" idx="4294967295"/>
          </p:nvPr>
        </p:nvSpPr>
        <p:spPr>
          <a:xfrm>
            <a:off x="1143000" y="228600"/>
            <a:ext cx="6781800" cy="9144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Empirical Rules</a:t>
            </a:r>
            <a:endParaRPr sz="3700" b="1">
              <a:solidFill>
                <a:srgbClr val="F8F8F8"/>
              </a:solidFill>
            </a:endParaRPr>
          </a:p>
        </p:txBody>
      </p:sp>
      <p:sp>
        <p:nvSpPr>
          <p:cNvPr id="1018" name="Google Shape;1018;p64"/>
          <p:cNvSpPr txBox="1">
            <a:spLocks noGrp="1"/>
          </p:cNvSpPr>
          <p:nvPr>
            <p:ph type="body" idx="4294967295"/>
          </p:nvPr>
        </p:nvSpPr>
        <p:spPr>
          <a:xfrm>
            <a:off x="4648200" y="3200400"/>
            <a:ext cx="4191000" cy="914400"/>
          </a:xfrm>
          <a:prstGeom prst="rect">
            <a:avLst/>
          </a:prstGeom>
          <a:noFill/>
          <a:ln>
            <a:noFill/>
          </a:ln>
        </p:spPr>
        <p:txBody>
          <a:bodyPr spcFirstLastPara="1" wrap="square" lIns="85325" tIns="42650" rIns="85325" bIns="42650" anchor="t" anchorCtr="0">
            <a:noAutofit/>
          </a:bodyPr>
          <a:lstStyle/>
          <a:p>
            <a:pPr marL="571500" lvl="0" indent="-571500" algn="l" rtl="0">
              <a:lnSpc>
                <a:spcPct val="90000"/>
              </a:lnSpc>
              <a:spcBef>
                <a:spcPts val="0"/>
              </a:spcBef>
              <a:spcAft>
                <a:spcPts val="0"/>
              </a:spcAft>
              <a:buClr>
                <a:schemeClr val="dk1"/>
              </a:buClr>
              <a:buSzPts val="1440"/>
              <a:buFont typeface="Noto Sans Symbols"/>
              <a:buNone/>
            </a:pPr>
            <a:r>
              <a:rPr lang="en-US" sz="2400" b="1">
                <a:solidFill>
                  <a:schemeClr val="folHlink"/>
                </a:solidFill>
                <a:latin typeface="Times New Roman"/>
                <a:ea typeface="Times New Roman"/>
                <a:cs typeface="Times New Roman"/>
                <a:sym typeface="Times New Roman"/>
              </a:rPr>
              <a:t>  </a:t>
            </a:r>
            <a:r>
              <a:rPr lang="en-US" b="1">
                <a:solidFill>
                  <a:schemeClr val="folHlink"/>
                </a:solidFill>
              </a:rPr>
              <a:t>μ</a:t>
            </a:r>
            <a:r>
              <a:rPr lang="en-US" b="1">
                <a:solidFill>
                  <a:schemeClr val="folHlink"/>
                </a:solidFill>
                <a:latin typeface="Times New Roman"/>
                <a:ea typeface="Times New Roman"/>
                <a:cs typeface="Times New Roman"/>
                <a:sym typeface="Times New Roman"/>
              </a:rPr>
              <a:t> ± </a:t>
            </a:r>
            <a:r>
              <a:rPr lang="en-US" sz="2700" b="1">
                <a:solidFill>
                  <a:schemeClr val="folHlink"/>
                </a:solidFill>
              </a:rPr>
              <a:t>1</a:t>
            </a:r>
            <a:r>
              <a:rPr lang="en-US" b="1">
                <a:solidFill>
                  <a:schemeClr val="folHlink"/>
                </a:solidFill>
              </a:rPr>
              <a:t>σ</a:t>
            </a:r>
            <a:r>
              <a:rPr lang="en-US" b="1">
                <a:solidFill>
                  <a:schemeClr val="folHlink"/>
                </a:solidFill>
                <a:latin typeface="Noto Sans Symbols"/>
                <a:ea typeface="Noto Sans Symbols"/>
                <a:cs typeface="Noto Sans Symbols"/>
                <a:sym typeface="Noto Sans Symbols"/>
              </a:rPr>
              <a:t>  </a:t>
            </a:r>
            <a:r>
              <a:rPr lang="en-US" sz="2300" b="1">
                <a:solidFill>
                  <a:schemeClr val="folHlink"/>
                </a:solidFill>
              </a:rPr>
              <a:t>encloses about 68% of x’s</a:t>
            </a:r>
            <a:r>
              <a:rPr lang="en-US" b="1">
                <a:solidFill>
                  <a:schemeClr val="folHlink"/>
                </a:solidFill>
                <a:latin typeface="Noto Sans Symbols"/>
                <a:ea typeface="Noto Sans Symbols"/>
                <a:cs typeface="Noto Sans Symbols"/>
                <a:sym typeface="Noto Sans Symbols"/>
              </a:rPr>
              <a:t> </a:t>
            </a:r>
            <a:endParaRPr/>
          </a:p>
        </p:txBody>
      </p:sp>
      <p:sp>
        <p:nvSpPr>
          <p:cNvPr id="1019" name="Google Shape;1019;p64"/>
          <p:cNvSpPr/>
          <p:nvPr/>
        </p:nvSpPr>
        <p:spPr>
          <a:xfrm>
            <a:off x="1752600" y="2971800"/>
            <a:ext cx="5029200" cy="2438400"/>
          </a:xfrm>
          <a:custGeom>
            <a:avLst/>
            <a:gdLst/>
            <a:ahLst/>
            <a:cxnLst/>
            <a:rect l="l" t="t" r="r" b="b"/>
            <a:pathLst>
              <a:path w="1893" h="765" extrusionOk="0">
                <a:moveTo>
                  <a:pt x="0" y="0"/>
                </a:moveTo>
                <a:lnTo>
                  <a:pt x="0" y="764"/>
                </a:lnTo>
                <a:lnTo>
                  <a:pt x="1892" y="764"/>
                </a:lnTo>
              </a:path>
            </a:pathLst>
          </a:custGeom>
          <a:noFill/>
          <a:ln w="25400" cap="rnd"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020" name="Google Shape;1020;p64"/>
          <p:cNvSpPr/>
          <p:nvPr/>
        </p:nvSpPr>
        <p:spPr>
          <a:xfrm>
            <a:off x="1143000" y="2819400"/>
            <a:ext cx="655638"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f(x)</a:t>
            </a:r>
            <a:endParaRPr/>
          </a:p>
        </p:txBody>
      </p:sp>
      <p:sp>
        <p:nvSpPr>
          <p:cNvPr id="1021" name="Google Shape;1021;p64"/>
          <p:cNvSpPr/>
          <p:nvPr/>
        </p:nvSpPr>
        <p:spPr>
          <a:xfrm>
            <a:off x="4191000" y="3429000"/>
            <a:ext cx="2438400" cy="1905000"/>
          </a:xfrm>
          <a:custGeom>
            <a:avLst/>
            <a:gdLst/>
            <a:ahLst/>
            <a:cxnLst/>
            <a:rect l="l" t="t" r="r" b="b"/>
            <a:pathLst>
              <a:path w="901" h="721" extrusionOk="0">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022" name="Google Shape;1022;p64"/>
          <p:cNvSpPr/>
          <p:nvPr/>
        </p:nvSpPr>
        <p:spPr>
          <a:xfrm>
            <a:off x="1828800" y="3429000"/>
            <a:ext cx="2344738" cy="1905000"/>
          </a:xfrm>
          <a:custGeom>
            <a:avLst/>
            <a:gdLst/>
            <a:ahLst/>
            <a:cxnLst/>
            <a:rect l="l" t="t" r="r" b="b"/>
            <a:pathLst>
              <a:path w="901" h="721" extrusionOk="0">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023" name="Google Shape;1023;p64"/>
          <p:cNvCxnSpPr/>
          <p:nvPr/>
        </p:nvCxnSpPr>
        <p:spPr>
          <a:xfrm>
            <a:off x="4191000" y="3505200"/>
            <a:ext cx="0" cy="1905000"/>
          </a:xfrm>
          <a:prstGeom prst="straightConnector1">
            <a:avLst/>
          </a:prstGeom>
          <a:noFill/>
          <a:ln w="12700" cap="flat" cmpd="sng">
            <a:solidFill>
              <a:schemeClr val="lt2"/>
            </a:solidFill>
            <a:prstDash val="solid"/>
            <a:round/>
            <a:headEnd type="none" w="med" len="med"/>
            <a:tailEnd type="none" w="med" len="med"/>
          </a:ln>
        </p:spPr>
      </p:cxnSp>
      <p:sp>
        <p:nvSpPr>
          <p:cNvPr id="1024" name="Google Shape;1024;p64"/>
          <p:cNvSpPr/>
          <p:nvPr/>
        </p:nvSpPr>
        <p:spPr>
          <a:xfrm>
            <a:off x="6781800" y="5334000"/>
            <a:ext cx="350838"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x</a:t>
            </a:r>
            <a:endParaRPr/>
          </a:p>
        </p:txBody>
      </p:sp>
      <p:sp>
        <p:nvSpPr>
          <p:cNvPr id="1025" name="Google Shape;1025;p64"/>
          <p:cNvSpPr/>
          <p:nvPr/>
        </p:nvSpPr>
        <p:spPr>
          <a:xfrm>
            <a:off x="4038600" y="5486400"/>
            <a:ext cx="479425"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μ</a:t>
            </a:r>
            <a:endParaRPr/>
          </a:p>
        </p:txBody>
      </p:sp>
      <p:cxnSp>
        <p:nvCxnSpPr>
          <p:cNvPr id="1026" name="Google Shape;1026;p64"/>
          <p:cNvCxnSpPr/>
          <p:nvPr/>
        </p:nvCxnSpPr>
        <p:spPr>
          <a:xfrm>
            <a:off x="3429000" y="4191000"/>
            <a:ext cx="0" cy="1219200"/>
          </a:xfrm>
          <a:prstGeom prst="straightConnector1">
            <a:avLst/>
          </a:prstGeom>
          <a:noFill/>
          <a:ln w="25400" cap="flat" cmpd="sng">
            <a:solidFill>
              <a:schemeClr val="dk2"/>
            </a:solidFill>
            <a:prstDash val="dot"/>
            <a:round/>
            <a:headEnd type="none" w="med" len="med"/>
            <a:tailEnd type="none" w="med" len="med"/>
          </a:ln>
        </p:spPr>
      </p:cxnSp>
      <p:cxnSp>
        <p:nvCxnSpPr>
          <p:cNvPr id="1027" name="Google Shape;1027;p64"/>
          <p:cNvCxnSpPr/>
          <p:nvPr/>
        </p:nvCxnSpPr>
        <p:spPr>
          <a:xfrm>
            <a:off x="4191000" y="4191000"/>
            <a:ext cx="762000" cy="0"/>
          </a:xfrm>
          <a:prstGeom prst="straightConnector1">
            <a:avLst/>
          </a:prstGeom>
          <a:noFill/>
          <a:ln w="12700" cap="flat" cmpd="sng">
            <a:solidFill>
              <a:schemeClr val="lt2"/>
            </a:solidFill>
            <a:prstDash val="solid"/>
            <a:round/>
            <a:headEnd type="stealth" w="med" len="med"/>
            <a:tailEnd type="stealth" w="med" len="med"/>
          </a:ln>
        </p:spPr>
      </p:cxnSp>
      <p:cxnSp>
        <p:nvCxnSpPr>
          <p:cNvPr id="1028" name="Google Shape;1028;p64"/>
          <p:cNvCxnSpPr/>
          <p:nvPr/>
        </p:nvCxnSpPr>
        <p:spPr>
          <a:xfrm>
            <a:off x="3429000" y="4191000"/>
            <a:ext cx="762000" cy="0"/>
          </a:xfrm>
          <a:prstGeom prst="straightConnector1">
            <a:avLst/>
          </a:prstGeom>
          <a:noFill/>
          <a:ln w="12700" cap="flat" cmpd="sng">
            <a:solidFill>
              <a:schemeClr val="lt2"/>
            </a:solidFill>
            <a:prstDash val="solid"/>
            <a:round/>
            <a:headEnd type="stealth" w="med" len="med"/>
            <a:tailEnd type="stealth" w="med" len="med"/>
          </a:ln>
        </p:spPr>
      </p:cxnSp>
      <p:cxnSp>
        <p:nvCxnSpPr>
          <p:cNvPr id="1029" name="Google Shape;1029;p64"/>
          <p:cNvCxnSpPr/>
          <p:nvPr/>
        </p:nvCxnSpPr>
        <p:spPr>
          <a:xfrm>
            <a:off x="4953000" y="4191000"/>
            <a:ext cx="0" cy="1219200"/>
          </a:xfrm>
          <a:prstGeom prst="straightConnector1">
            <a:avLst/>
          </a:prstGeom>
          <a:noFill/>
          <a:ln w="25400" cap="flat" cmpd="sng">
            <a:solidFill>
              <a:schemeClr val="dk2"/>
            </a:solidFill>
            <a:prstDash val="dot"/>
            <a:round/>
            <a:headEnd type="none" w="med" len="med"/>
            <a:tailEnd type="none" w="med" len="med"/>
          </a:ln>
        </p:spPr>
      </p:cxnSp>
      <p:cxnSp>
        <p:nvCxnSpPr>
          <p:cNvPr id="1030" name="Google Shape;1030;p64"/>
          <p:cNvCxnSpPr/>
          <p:nvPr/>
        </p:nvCxnSpPr>
        <p:spPr>
          <a:xfrm>
            <a:off x="4191000" y="5562600"/>
            <a:ext cx="762000" cy="0"/>
          </a:xfrm>
          <a:prstGeom prst="straightConnector1">
            <a:avLst/>
          </a:prstGeom>
          <a:noFill/>
          <a:ln w="12700" cap="flat" cmpd="sng">
            <a:solidFill>
              <a:schemeClr val="dk2"/>
            </a:solidFill>
            <a:prstDash val="solid"/>
            <a:round/>
            <a:headEnd type="stealth" w="med" len="med"/>
            <a:tailEnd type="stealth" w="med" len="med"/>
          </a:ln>
        </p:spPr>
      </p:cxnSp>
      <p:cxnSp>
        <p:nvCxnSpPr>
          <p:cNvPr id="1031" name="Google Shape;1031;p64"/>
          <p:cNvCxnSpPr/>
          <p:nvPr/>
        </p:nvCxnSpPr>
        <p:spPr>
          <a:xfrm>
            <a:off x="3429000" y="5562600"/>
            <a:ext cx="762000" cy="0"/>
          </a:xfrm>
          <a:prstGeom prst="straightConnector1">
            <a:avLst/>
          </a:prstGeom>
          <a:noFill/>
          <a:ln w="12700" cap="flat" cmpd="sng">
            <a:solidFill>
              <a:schemeClr val="dk2"/>
            </a:solidFill>
            <a:prstDash val="solid"/>
            <a:round/>
            <a:headEnd type="stealth" w="med" len="med"/>
            <a:tailEnd type="stealth" w="med" len="med"/>
          </a:ln>
        </p:spPr>
      </p:cxnSp>
      <p:sp>
        <p:nvSpPr>
          <p:cNvPr id="1032" name="Google Shape;1032;p64"/>
          <p:cNvSpPr/>
          <p:nvPr/>
        </p:nvSpPr>
        <p:spPr>
          <a:xfrm>
            <a:off x="4648200" y="5486400"/>
            <a:ext cx="914400"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μ</a:t>
            </a:r>
            <a:r>
              <a:rPr lang="en-US" sz="2400" b="1">
                <a:solidFill>
                  <a:srgbClr val="339933"/>
                </a:solidFill>
                <a:latin typeface="Noto Sans Symbols"/>
                <a:ea typeface="Noto Sans Symbols"/>
                <a:cs typeface="Noto Sans Symbols"/>
                <a:sym typeface="Noto Sans Symbols"/>
              </a:rPr>
              <a:t>+1</a:t>
            </a:r>
            <a:r>
              <a:rPr lang="en-US" sz="2400" b="1">
                <a:solidFill>
                  <a:srgbClr val="339933"/>
                </a:solidFill>
                <a:latin typeface="Arial"/>
                <a:ea typeface="Arial"/>
                <a:cs typeface="Arial"/>
                <a:sym typeface="Arial"/>
              </a:rPr>
              <a:t>σ</a:t>
            </a:r>
            <a:endParaRPr/>
          </a:p>
        </p:txBody>
      </p:sp>
      <p:sp>
        <p:nvSpPr>
          <p:cNvPr id="1033" name="Google Shape;1033;p64"/>
          <p:cNvSpPr/>
          <p:nvPr/>
        </p:nvSpPr>
        <p:spPr>
          <a:xfrm>
            <a:off x="2971800" y="5486400"/>
            <a:ext cx="914400"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μ</a:t>
            </a:r>
            <a:r>
              <a:rPr lang="en-US" sz="2400" b="1">
                <a:solidFill>
                  <a:srgbClr val="339933"/>
                </a:solidFill>
                <a:latin typeface="Noto Sans Symbols"/>
                <a:ea typeface="Noto Sans Symbols"/>
                <a:cs typeface="Noto Sans Symbols"/>
                <a:sym typeface="Noto Sans Symbols"/>
              </a:rPr>
              <a:t>−1</a:t>
            </a:r>
            <a:r>
              <a:rPr lang="en-US" sz="2400" b="1">
                <a:solidFill>
                  <a:srgbClr val="339933"/>
                </a:solidFill>
                <a:latin typeface="Arial"/>
                <a:ea typeface="Arial"/>
                <a:cs typeface="Arial"/>
                <a:sym typeface="Arial"/>
              </a:rPr>
              <a:t>σ</a:t>
            </a:r>
            <a:endParaRPr/>
          </a:p>
        </p:txBody>
      </p:sp>
      <p:sp>
        <p:nvSpPr>
          <p:cNvPr id="1034" name="Google Shape;1034;p64"/>
          <p:cNvSpPr txBox="1"/>
          <p:nvPr/>
        </p:nvSpPr>
        <p:spPr>
          <a:xfrm>
            <a:off x="457200" y="1752600"/>
            <a:ext cx="8458200" cy="9461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lt2"/>
                </a:solidFill>
                <a:latin typeface="Arial"/>
                <a:ea typeface="Arial"/>
                <a:cs typeface="Arial"/>
                <a:sym typeface="Arial"/>
              </a:rPr>
              <a:t>What can we say about the distribution of values around the mean?  There are some general rules:</a:t>
            </a:r>
            <a:endParaRPr/>
          </a:p>
        </p:txBody>
      </p:sp>
      <p:sp>
        <p:nvSpPr>
          <p:cNvPr id="1035" name="Google Shape;1035;p64"/>
          <p:cNvSpPr/>
          <p:nvPr/>
        </p:nvSpPr>
        <p:spPr>
          <a:xfrm>
            <a:off x="4343400" y="4114800"/>
            <a:ext cx="304800"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σ</a:t>
            </a:r>
            <a:endParaRPr/>
          </a:p>
        </p:txBody>
      </p:sp>
      <p:sp>
        <p:nvSpPr>
          <p:cNvPr id="1036" name="Google Shape;1036;p64"/>
          <p:cNvSpPr/>
          <p:nvPr/>
        </p:nvSpPr>
        <p:spPr>
          <a:xfrm>
            <a:off x="3657600" y="4114800"/>
            <a:ext cx="304800"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σ</a:t>
            </a:r>
            <a:endParaRPr/>
          </a:p>
        </p:txBody>
      </p:sp>
      <p:cxnSp>
        <p:nvCxnSpPr>
          <p:cNvPr id="1037" name="Google Shape;1037;p64"/>
          <p:cNvCxnSpPr/>
          <p:nvPr/>
        </p:nvCxnSpPr>
        <p:spPr>
          <a:xfrm>
            <a:off x="3429000" y="6019800"/>
            <a:ext cx="1524000" cy="0"/>
          </a:xfrm>
          <a:prstGeom prst="straightConnector1">
            <a:avLst/>
          </a:prstGeom>
          <a:noFill/>
          <a:ln w="12700" cap="flat" cmpd="sng">
            <a:solidFill>
              <a:schemeClr val="dk2"/>
            </a:solidFill>
            <a:prstDash val="solid"/>
            <a:round/>
            <a:headEnd type="stealth" w="med" len="med"/>
            <a:tailEnd type="stealth" w="med" len="med"/>
          </a:ln>
        </p:spPr>
      </p:cxnSp>
      <p:sp>
        <p:nvSpPr>
          <p:cNvPr id="1038" name="Google Shape;1038;p64"/>
          <p:cNvSpPr/>
          <p:nvPr/>
        </p:nvSpPr>
        <p:spPr>
          <a:xfrm>
            <a:off x="3657600" y="5943600"/>
            <a:ext cx="1219200" cy="457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chemeClr val="folHlink"/>
                </a:solidFill>
                <a:latin typeface="Arial"/>
                <a:ea typeface="Arial"/>
                <a:cs typeface="Arial"/>
                <a:sym typeface="Arial"/>
              </a:rPr>
              <a:t>68.26%</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sp>
        <p:nvSpPr>
          <p:cNvPr id="1043" name="Google Shape;1043;p65"/>
          <p:cNvSpPr txBox="1">
            <a:spLocks noGrp="1"/>
          </p:cNvSpPr>
          <p:nvPr>
            <p:ph type="title"/>
          </p:nvPr>
        </p:nvSpPr>
        <p:spPr>
          <a:xfrm>
            <a:off x="1066800" y="381000"/>
            <a:ext cx="7391400" cy="762000"/>
          </a:xfrm>
          <a:prstGeom prst="rect">
            <a:avLst/>
          </a:prstGeom>
          <a:noFill/>
          <a:ln>
            <a:noFill/>
          </a:ln>
        </p:spPr>
        <p:txBody>
          <a:bodyPr spcFirstLastPara="1" wrap="square" lIns="85325" tIns="42650" rIns="85325" bIns="42650" anchor="b" anchorCtr="0">
            <a:noAutofit/>
          </a:bodyPr>
          <a:lstStyle/>
          <a:p>
            <a:pPr marL="0" lvl="0" indent="0" algn="ctr" rtl="0">
              <a:lnSpc>
                <a:spcPct val="90000"/>
              </a:lnSpc>
              <a:spcBef>
                <a:spcPts val="0"/>
              </a:spcBef>
              <a:spcAft>
                <a:spcPts val="0"/>
              </a:spcAft>
              <a:buNone/>
            </a:pPr>
            <a:r>
              <a:rPr lang="en-US"/>
              <a:t>The Empirical Rule</a:t>
            </a:r>
            <a:endParaRPr sz="3700" b="1">
              <a:solidFill>
                <a:srgbClr val="FFCCFF"/>
              </a:solidFill>
              <a:latin typeface="Noto Sans Symbols"/>
              <a:ea typeface="Noto Sans Symbols"/>
              <a:cs typeface="Noto Sans Symbols"/>
              <a:sym typeface="Noto Sans Symbols"/>
            </a:endParaRPr>
          </a:p>
        </p:txBody>
      </p:sp>
      <p:sp>
        <p:nvSpPr>
          <p:cNvPr id="1044" name="Google Shape;1044;p65"/>
          <p:cNvSpPr txBox="1">
            <a:spLocks noGrp="1"/>
          </p:cNvSpPr>
          <p:nvPr>
            <p:ph type="body" idx="1"/>
          </p:nvPr>
        </p:nvSpPr>
        <p:spPr>
          <a:xfrm>
            <a:off x="1219200" y="1600200"/>
            <a:ext cx="6934200" cy="1295400"/>
          </a:xfrm>
          <a:prstGeom prst="rect">
            <a:avLst/>
          </a:prstGeom>
          <a:noFill/>
          <a:ln>
            <a:noFill/>
          </a:ln>
        </p:spPr>
        <p:txBody>
          <a:bodyPr spcFirstLastPara="1" wrap="square" lIns="85325" tIns="42650" rIns="85325" bIns="42650" anchor="t" anchorCtr="0">
            <a:noAutofit/>
          </a:bodyPr>
          <a:lstStyle/>
          <a:p>
            <a:pPr marL="571500" lvl="0" indent="-571500" algn="l" rtl="0">
              <a:spcBef>
                <a:spcPts val="0"/>
              </a:spcBef>
              <a:spcAft>
                <a:spcPts val="0"/>
              </a:spcAft>
              <a:buSzPts val="1680"/>
              <a:buChar char="■"/>
            </a:pPr>
            <a:r>
              <a:rPr lang="en-US" b="1">
                <a:solidFill>
                  <a:srgbClr val="F8F8F8"/>
                </a:solidFill>
                <a:latin typeface="Times New Roman"/>
                <a:ea typeface="Times New Roman"/>
                <a:cs typeface="Times New Roman"/>
                <a:sym typeface="Times New Roman"/>
              </a:rPr>
              <a:t>  </a:t>
            </a:r>
            <a:r>
              <a:rPr lang="en-US" b="1"/>
              <a:t>μ</a:t>
            </a:r>
            <a:r>
              <a:rPr lang="en-US" b="1">
                <a:latin typeface="Times New Roman"/>
                <a:ea typeface="Times New Roman"/>
                <a:cs typeface="Times New Roman"/>
                <a:sym typeface="Times New Roman"/>
              </a:rPr>
              <a:t> ± </a:t>
            </a:r>
            <a:r>
              <a:rPr lang="en-US" b="1">
                <a:solidFill>
                  <a:schemeClr val="folHlink"/>
                </a:solidFill>
              </a:rPr>
              <a:t>2σ</a:t>
            </a:r>
            <a:r>
              <a:rPr lang="en-US" b="1">
                <a:solidFill>
                  <a:schemeClr val="folHlink"/>
                </a:solidFill>
                <a:latin typeface="Times New Roman"/>
                <a:ea typeface="Times New Roman"/>
                <a:cs typeface="Times New Roman"/>
                <a:sym typeface="Times New Roman"/>
              </a:rPr>
              <a:t> </a:t>
            </a:r>
            <a:r>
              <a:rPr lang="en-US" b="1"/>
              <a:t>covers about </a:t>
            </a:r>
            <a:r>
              <a:rPr lang="en-US" b="1">
                <a:solidFill>
                  <a:schemeClr val="folHlink"/>
                </a:solidFill>
              </a:rPr>
              <a:t>95%</a:t>
            </a:r>
            <a:r>
              <a:rPr lang="en-US" b="1"/>
              <a:t> of x’s</a:t>
            </a:r>
            <a:endParaRPr/>
          </a:p>
          <a:p>
            <a:pPr marL="571500" lvl="0" indent="-571500" algn="l" rtl="0">
              <a:spcBef>
                <a:spcPts val="1400"/>
              </a:spcBef>
              <a:spcAft>
                <a:spcPts val="0"/>
              </a:spcAft>
              <a:buSzPts val="1680"/>
              <a:buChar char="■"/>
            </a:pPr>
            <a:r>
              <a:rPr lang="en-US" b="1">
                <a:latin typeface="Times New Roman"/>
                <a:ea typeface="Times New Roman"/>
                <a:cs typeface="Times New Roman"/>
                <a:sym typeface="Times New Roman"/>
              </a:rPr>
              <a:t>  </a:t>
            </a:r>
            <a:r>
              <a:rPr lang="en-US" b="1"/>
              <a:t>μ</a:t>
            </a:r>
            <a:r>
              <a:rPr lang="en-US" b="1">
                <a:latin typeface="Times New Roman"/>
                <a:ea typeface="Times New Roman"/>
                <a:cs typeface="Times New Roman"/>
                <a:sym typeface="Times New Roman"/>
              </a:rPr>
              <a:t> ± </a:t>
            </a:r>
            <a:r>
              <a:rPr lang="en-US" b="1">
                <a:solidFill>
                  <a:schemeClr val="folHlink"/>
                </a:solidFill>
              </a:rPr>
              <a:t>3σ</a:t>
            </a:r>
            <a:r>
              <a:rPr lang="en-US" b="1">
                <a:solidFill>
                  <a:schemeClr val="folHlink"/>
                </a:solidFill>
                <a:latin typeface="Times New Roman"/>
                <a:ea typeface="Times New Roman"/>
                <a:cs typeface="Times New Roman"/>
                <a:sym typeface="Times New Roman"/>
              </a:rPr>
              <a:t> </a:t>
            </a:r>
            <a:r>
              <a:rPr lang="en-US" b="1"/>
              <a:t>covers about </a:t>
            </a:r>
            <a:r>
              <a:rPr lang="en-US" b="1">
                <a:solidFill>
                  <a:schemeClr val="folHlink"/>
                </a:solidFill>
              </a:rPr>
              <a:t>99.7%</a:t>
            </a:r>
            <a:r>
              <a:rPr lang="en-US" b="1"/>
              <a:t> of x’s</a:t>
            </a:r>
            <a:endParaRPr/>
          </a:p>
        </p:txBody>
      </p:sp>
      <p:sp>
        <p:nvSpPr>
          <p:cNvPr id="1045" name="Google Shape;1045;p65"/>
          <p:cNvSpPr/>
          <p:nvPr/>
        </p:nvSpPr>
        <p:spPr>
          <a:xfrm>
            <a:off x="2209800" y="3276600"/>
            <a:ext cx="1935163" cy="1279525"/>
          </a:xfrm>
          <a:custGeom>
            <a:avLst/>
            <a:gdLst/>
            <a:ahLst/>
            <a:cxnLst/>
            <a:rect l="l" t="t" r="r" b="b"/>
            <a:pathLst>
              <a:path w="901" h="721" extrusionOk="0">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046" name="Google Shape;1046;p65"/>
          <p:cNvSpPr/>
          <p:nvPr/>
        </p:nvSpPr>
        <p:spPr>
          <a:xfrm>
            <a:off x="381000" y="3276600"/>
            <a:ext cx="1860550" cy="1279525"/>
          </a:xfrm>
          <a:custGeom>
            <a:avLst/>
            <a:gdLst/>
            <a:ahLst/>
            <a:cxnLst/>
            <a:rect l="l" t="t" r="r" b="b"/>
            <a:pathLst>
              <a:path w="901" h="721" extrusionOk="0">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047" name="Google Shape;1047;p65"/>
          <p:cNvCxnSpPr/>
          <p:nvPr/>
        </p:nvCxnSpPr>
        <p:spPr>
          <a:xfrm>
            <a:off x="2209800" y="3276600"/>
            <a:ext cx="1588" cy="1279525"/>
          </a:xfrm>
          <a:prstGeom prst="straightConnector1">
            <a:avLst/>
          </a:prstGeom>
          <a:noFill/>
          <a:ln w="12700" cap="flat" cmpd="sng">
            <a:solidFill>
              <a:schemeClr val="lt2"/>
            </a:solidFill>
            <a:prstDash val="solid"/>
            <a:round/>
            <a:headEnd type="none" w="med" len="med"/>
            <a:tailEnd type="none" w="med" len="med"/>
          </a:ln>
        </p:spPr>
      </p:cxnSp>
      <p:sp>
        <p:nvSpPr>
          <p:cNvPr id="1048" name="Google Shape;1048;p65"/>
          <p:cNvSpPr/>
          <p:nvPr/>
        </p:nvSpPr>
        <p:spPr>
          <a:xfrm>
            <a:off x="4114800" y="4572000"/>
            <a:ext cx="350838"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x</a:t>
            </a:r>
            <a:endParaRPr/>
          </a:p>
        </p:txBody>
      </p:sp>
      <p:sp>
        <p:nvSpPr>
          <p:cNvPr id="1049" name="Google Shape;1049;p65"/>
          <p:cNvSpPr/>
          <p:nvPr/>
        </p:nvSpPr>
        <p:spPr>
          <a:xfrm>
            <a:off x="2057400" y="4572000"/>
            <a:ext cx="381000"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μ</a:t>
            </a:r>
            <a:endParaRPr/>
          </a:p>
        </p:txBody>
      </p:sp>
      <p:cxnSp>
        <p:nvCxnSpPr>
          <p:cNvPr id="1050" name="Google Shape;1050;p65"/>
          <p:cNvCxnSpPr/>
          <p:nvPr/>
        </p:nvCxnSpPr>
        <p:spPr>
          <a:xfrm>
            <a:off x="990600" y="4267200"/>
            <a:ext cx="0" cy="990600"/>
          </a:xfrm>
          <a:prstGeom prst="straightConnector1">
            <a:avLst/>
          </a:prstGeom>
          <a:noFill/>
          <a:ln w="25400" cap="flat" cmpd="sng">
            <a:solidFill>
              <a:schemeClr val="hlink"/>
            </a:solidFill>
            <a:prstDash val="dot"/>
            <a:round/>
            <a:headEnd type="none" w="med" len="med"/>
            <a:tailEnd type="none" w="med" len="med"/>
          </a:ln>
        </p:spPr>
      </p:cxnSp>
      <p:cxnSp>
        <p:nvCxnSpPr>
          <p:cNvPr id="1051" name="Google Shape;1051;p65"/>
          <p:cNvCxnSpPr/>
          <p:nvPr/>
        </p:nvCxnSpPr>
        <p:spPr>
          <a:xfrm>
            <a:off x="2209800" y="4495800"/>
            <a:ext cx="1295400" cy="0"/>
          </a:xfrm>
          <a:prstGeom prst="straightConnector1">
            <a:avLst/>
          </a:prstGeom>
          <a:noFill/>
          <a:ln w="12700" cap="flat" cmpd="sng">
            <a:solidFill>
              <a:schemeClr val="hlink"/>
            </a:solidFill>
            <a:prstDash val="solid"/>
            <a:round/>
            <a:headEnd type="stealth" w="med" len="med"/>
            <a:tailEnd type="stealth" w="med" len="med"/>
          </a:ln>
        </p:spPr>
      </p:cxnSp>
      <p:cxnSp>
        <p:nvCxnSpPr>
          <p:cNvPr id="1052" name="Google Shape;1052;p65"/>
          <p:cNvCxnSpPr/>
          <p:nvPr/>
        </p:nvCxnSpPr>
        <p:spPr>
          <a:xfrm>
            <a:off x="990600" y="4495800"/>
            <a:ext cx="1219200" cy="0"/>
          </a:xfrm>
          <a:prstGeom prst="straightConnector1">
            <a:avLst/>
          </a:prstGeom>
          <a:noFill/>
          <a:ln w="12700" cap="flat" cmpd="sng">
            <a:solidFill>
              <a:schemeClr val="hlink"/>
            </a:solidFill>
            <a:prstDash val="solid"/>
            <a:round/>
            <a:headEnd type="stealth" w="med" len="med"/>
            <a:tailEnd type="stealth" w="med" len="med"/>
          </a:ln>
        </p:spPr>
      </p:cxnSp>
      <p:cxnSp>
        <p:nvCxnSpPr>
          <p:cNvPr id="1053" name="Google Shape;1053;p65"/>
          <p:cNvCxnSpPr/>
          <p:nvPr/>
        </p:nvCxnSpPr>
        <p:spPr>
          <a:xfrm>
            <a:off x="3505200" y="4267200"/>
            <a:ext cx="0" cy="990600"/>
          </a:xfrm>
          <a:prstGeom prst="straightConnector1">
            <a:avLst/>
          </a:prstGeom>
          <a:noFill/>
          <a:ln w="25400" cap="flat" cmpd="sng">
            <a:solidFill>
              <a:schemeClr val="hlink"/>
            </a:solidFill>
            <a:prstDash val="dot"/>
            <a:round/>
            <a:headEnd type="none" w="med" len="med"/>
            <a:tailEnd type="none" w="med" len="med"/>
          </a:ln>
        </p:spPr>
      </p:cxnSp>
      <p:cxnSp>
        <p:nvCxnSpPr>
          <p:cNvPr id="1054" name="Google Shape;1054;p65"/>
          <p:cNvCxnSpPr/>
          <p:nvPr/>
        </p:nvCxnSpPr>
        <p:spPr>
          <a:xfrm>
            <a:off x="228600" y="4648200"/>
            <a:ext cx="4051300" cy="1588"/>
          </a:xfrm>
          <a:prstGeom prst="straightConnector1">
            <a:avLst/>
          </a:prstGeom>
          <a:noFill/>
          <a:ln w="19050" cap="flat" cmpd="sng">
            <a:solidFill>
              <a:schemeClr val="dk1"/>
            </a:solidFill>
            <a:prstDash val="solid"/>
            <a:round/>
            <a:headEnd type="none" w="med" len="med"/>
            <a:tailEnd type="none" w="med" len="med"/>
          </a:ln>
        </p:spPr>
      </p:cxnSp>
      <p:sp>
        <p:nvSpPr>
          <p:cNvPr id="1055" name="Google Shape;1055;p65"/>
          <p:cNvSpPr/>
          <p:nvPr/>
        </p:nvSpPr>
        <p:spPr>
          <a:xfrm>
            <a:off x="1360488" y="4119563"/>
            <a:ext cx="561975" cy="457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chemeClr val="hlink"/>
                </a:solidFill>
                <a:latin typeface="Arial"/>
                <a:ea typeface="Arial"/>
                <a:cs typeface="Arial"/>
                <a:sym typeface="Arial"/>
              </a:rPr>
              <a:t>2σ</a:t>
            </a:r>
            <a:endParaRPr/>
          </a:p>
        </p:txBody>
      </p:sp>
      <p:sp>
        <p:nvSpPr>
          <p:cNvPr id="1056" name="Google Shape;1056;p65"/>
          <p:cNvSpPr/>
          <p:nvPr/>
        </p:nvSpPr>
        <p:spPr>
          <a:xfrm>
            <a:off x="2503488" y="4119563"/>
            <a:ext cx="561975" cy="457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chemeClr val="hlink"/>
                </a:solidFill>
                <a:latin typeface="Arial"/>
                <a:ea typeface="Arial"/>
                <a:cs typeface="Arial"/>
                <a:sym typeface="Arial"/>
              </a:rPr>
              <a:t>2σ</a:t>
            </a:r>
            <a:endParaRPr/>
          </a:p>
        </p:txBody>
      </p:sp>
      <p:sp>
        <p:nvSpPr>
          <p:cNvPr id="1057" name="Google Shape;1057;p65"/>
          <p:cNvSpPr/>
          <p:nvPr/>
        </p:nvSpPr>
        <p:spPr>
          <a:xfrm>
            <a:off x="6629400" y="3276600"/>
            <a:ext cx="1935163" cy="1279525"/>
          </a:xfrm>
          <a:custGeom>
            <a:avLst/>
            <a:gdLst/>
            <a:ahLst/>
            <a:cxnLst/>
            <a:rect l="l" t="t" r="r" b="b"/>
            <a:pathLst>
              <a:path w="901" h="721" extrusionOk="0">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058" name="Google Shape;1058;p65"/>
          <p:cNvSpPr/>
          <p:nvPr/>
        </p:nvSpPr>
        <p:spPr>
          <a:xfrm>
            <a:off x="4800600" y="3276600"/>
            <a:ext cx="1860550" cy="1279525"/>
          </a:xfrm>
          <a:custGeom>
            <a:avLst/>
            <a:gdLst/>
            <a:ahLst/>
            <a:cxnLst/>
            <a:rect l="l" t="t" r="r" b="b"/>
            <a:pathLst>
              <a:path w="901" h="721" extrusionOk="0">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059" name="Google Shape;1059;p65"/>
          <p:cNvCxnSpPr/>
          <p:nvPr/>
        </p:nvCxnSpPr>
        <p:spPr>
          <a:xfrm>
            <a:off x="6629400" y="3276600"/>
            <a:ext cx="1588" cy="1279525"/>
          </a:xfrm>
          <a:prstGeom prst="straightConnector1">
            <a:avLst/>
          </a:prstGeom>
          <a:noFill/>
          <a:ln w="12700" cap="flat" cmpd="sng">
            <a:solidFill>
              <a:schemeClr val="lt2"/>
            </a:solidFill>
            <a:prstDash val="solid"/>
            <a:round/>
            <a:headEnd type="none" w="med" len="med"/>
            <a:tailEnd type="none" w="med" len="med"/>
          </a:ln>
        </p:spPr>
      </p:cxnSp>
      <p:sp>
        <p:nvSpPr>
          <p:cNvPr id="1060" name="Google Shape;1060;p65"/>
          <p:cNvSpPr/>
          <p:nvPr/>
        </p:nvSpPr>
        <p:spPr>
          <a:xfrm>
            <a:off x="8534400" y="4572000"/>
            <a:ext cx="350838"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x</a:t>
            </a:r>
            <a:endParaRPr/>
          </a:p>
        </p:txBody>
      </p:sp>
      <p:sp>
        <p:nvSpPr>
          <p:cNvPr id="1061" name="Google Shape;1061;p65"/>
          <p:cNvSpPr/>
          <p:nvPr/>
        </p:nvSpPr>
        <p:spPr>
          <a:xfrm>
            <a:off x="6477000" y="4572000"/>
            <a:ext cx="381000"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μ</a:t>
            </a:r>
            <a:endParaRPr/>
          </a:p>
        </p:txBody>
      </p:sp>
      <p:cxnSp>
        <p:nvCxnSpPr>
          <p:cNvPr id="1062" name="Google Shape;1062;p65"/>
          <p:cNvCxnSpPr/>
          <p:nvPr/>
        </p:nvCxnSpPr>
        <p:spPr>
          <a:xfrm>
            <a:off x="4648200" y="4648200"/>
            <a:ext cx="4051300" cy="1588"/>
          </a:xfrm>
          <a:prstGeom prst="straightConnector1">
            <a:avLst/>
          </a:prstGeom>
          <a:noFill/>
          <a:ln w="19050" cap="flat" cmpd="sng">
            <a:solidFill>
              <a:schemeClr val="dk1"/>
            </a:solidFill>
            <a:prstDash val="solid"/>
            <a:round/>
            <a:headEnd type="none" w="med" len="med"/>
            <a:tailEnd type="none" w="med" len="med"/>
          </a:ln>
        </p:spPr>
      </p:cxnSp>
      <p:cxnSp>
        <p:nvCxnSpPr>
          <p:cNvPr id="1063" name="Google Shape;1063;p65"/>
          <p:cNvCxnSpPr/>
          <p:nvPr/>
        </p:nvCxnSpPr>
        <p:spPr>
          <a:xfrm>
            <a:off x="4876800" y="4343400"/>
            <a:ext cx="0" cy="914400"/>
          </a:xfrm>
          <a:prstGeom prst="straightConnector1">
            <a:avLst/>
          </a:prstGeom>
          <a:noFill/>
          <a:ln w="25400" cap="flat" cmpd="sng">
            <a:solidFill>
              <a:schemeClr val="dk2"/>
            </a:solidFill>
            <a:prstDash val="dot"/>
            <a:round/>
            <a:headEnd type="none" w="med" len="med"/>
            <a:tailEnd type="none" w="med" len="med"/>
          </a:ln>
        </p:spPr>
      </p:cxnSp>
      <p:cxnSp>
        <p:nvCxnSpPr>
          <p:cNvPr id="1064" name="Google Shape;1064;p65"/>
          <p:cNvCxnSpPr/>
          <p:nvPr/>
        </p:nvCxnSpPr>
        <p:spPr>
          <a:xfrm>
            <a:off x="8534400" y="4343400"/>
            <a:ext cx="0" cy="914400"/>
          </a:xfrm>
          <a:prstGeom prst="straightConnector1">
            <a:avLst/>
          </a:prstGeom>
          <a:noFill/>
          <a:ln w="25400" cap="flat" cmpd="sng">
            <a:solidFill>
              <a:schemeClr val="dk2"/>
            </a:solidFill>
            <a:prstDash val="dot"/>
            <a:round/>
            <a:headEnd type="none" w="med" len="med"/>
            <a:tailEnd type="none" w="med" len="med"/>
          </a:ln>
        </p:spPr>
      </p:cxnSp>
      <p:cxnSp>
        <p:nvCxnSpPr>
          <p:cNvPr id="1065" name="Google Shape;1065;p65"/>
          <p:cNvCxnSpPr/>
          <p:nvPr/>
        </p:nvCxnSpPr>
        <p:spPr>
          <a:xfrm>
            <a:off x="6629400" y="4419600"/>
            <a:ext cx="1905000" cy="0"/>
          </a:xfrm>
          <a:prstGeom prst="straightConnector1">
            <a:avLst/>
          </a:prstGeom>
          <a:noFill/>
          <a:ln w="12700" cap="flat" cmpd="sng">
            <a:solidFill>
              <a:schemeClr val="dk2"/>
            </a:solidFill>
            <a:prstDash val="solid"/>
            <a:round/>
            <a:headEnd type="stealth" w="med" len="med"/>
            <a:tailEnd type="stealth" w="med" len="med"/>
          </a:ln>
        </p:spPr>
      </p:cxnSp>
      <p:cxnSp>
        <p:nvCxnSpPr>
          <p:cNvPr id="1066" name="Google Shape;1066;p65"/>
          <p:cNvCxnSpPr/>
          <p:nvPr/>
        </p:nvCxnSpPr>
        <p:spPr>
          <a:xfrm>
            <a:off x="4876800" y="4419600"/>
            <a:ext cx="1752600" cy="0"/>
          </a:xfrm>
          <a:prstGeom prst="straightConnector1">
            <a:avLst/>
          </a:prstGeom>
          <a:noFill/>
          <a:ln w="12700" cap="flat" cmpd="sng">
            <a:solidFill>
              <a:schemeClr val="dk2"/>
            </a:solidFill>
            <a:prstDash val="solid"/>
            <a:round/>
            <a:headEnd type="stealth" w="med" len="med"/>
            <a:tailEnd type="stealth" w="med" len="med"/>
          </a:ln>
        </p:spPr>
      </p:cxnSp>
      <p:sp>
        <p:nvSpPr>
          <p:cNvPr id="1067" name="Google Shape;1067;p65"/>
          <p:cNvSpPr/>
          <p:nvPr/>
        </p:nvSpPr>
        <p:spPr>
          <a:xfrm>
            <a:off x="5856288" y="4043363"/>
            <a:ext cx="561975" cy="457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chemeClr val="folHlink"/>
                </a:solidFill>
                <a:latin typeface="Arial"/>
                <a:ea typeface="Arial"/>
                <a:cs typeface="Arial"/>
                <a:sym typeface="Arial"/>
              </a:rPr>
              <a:t>3σ</a:t>
            </a:r>
            <a:endParaRPr/>
          </a:p>
        </p:txBody>
      </p:sp>
      <p:sp>
        <p:nvSpPr>
          <p:cNvPr id="1068" name="Google Shape;1068;p65"/>
          <p:cNvSpPr/>
          <p:nvPr/>
        </p:nvSpPr>
        <p:spPr>
          <a:xfrm>
            <a:off x="6923088" y="4043363"/>
            <a:ext cx="561975" cy="457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chemeClr val="folHlink"/>
                </a:solidFill>
                <a:latin typeface="Arial"/>
                <a:ea typeface="Arial"/>
                <a:cs typeface="Arial"/>
                <a:sym typeface="Arial"/>
              </a:rPr>
              <a:t>3σ</a:t>
            </a:r>
            <a:endParaRPr/>
          </a:p>
        </p:txBody>
      </p:sp>
      <p:cxnSp>
        <p:nvCxnSpPr>
          <p:cNvPr id="1069" name="Google Shape;1069;p65"/>
          <p:cNvCxnSpPr/>
          <p:nvPr/>
        </p:nvCxnSpPr>
        <p:spPr>
          <a:xfrm>
            <a:off x="990600" y="5181600"/>
            <a:ext cx="2514600" cy="0"/>
          </a:xfrm>
          <a:prstGeom prst="straightConnector1">
            <a:avLst/>
          </a:prstGeom>
          <a:noFill/>
          <a:ln w="19050" cap="flat" cmpd="sng">
            <a:solidFill>
              <a:schemeClr val="hlink"/>
            </a:solidFill>
            <a:prstDash val="solid"/>
            <a:round/>
            <a:headEnd type="triangle" w="med" len="med"/>
            <a:tailEnd type="triangle" w="med" len="med"/>
          </a:ln>
        </p:spPr>
      </p:cxnSp>
      <p:cxnSp>
        <p:nvCxnSpPr>
          <p:cNvPr id="1070" name="Google Shape;1070;p65"/>
          <p:cNvCxnSpPr/>
          <p:nvPr/>
        </p:nvCxnSpPr>
        <p:spPr>
          <a:xfrm>
            <a:off x="4876800" y="5181600"/>
            <a:ext cx="3657600" cy="0"/>
          </a:xfrm>
          <a:prstGeom prst="straightConnector1">
            <a:avLst/>
          </a:prstGeom>
          <a:noFill/>
          <a:ln w="19050" cap="flat" cmpd="sng">
            <a:solidFill>
              <a:schemeClr val="folHlink"/>
            </a:solidFill>
            <a:prstDash val="solid"/>
            <a:round/>
            <a:headEnd type="triangle" w="med" len="med"/>
            <a:tailEnd type="triangle" w="med" len="med"/>
          </a:ln>
        </p:spPr>
      </p:cxnSp>
      <p:sp>
        <p:nvSpPr>
          <p:cNvPr id="1071" name="Google Shape;1071;p65"/>
          <p:cNvSpPr/>
          <p:nvPr/>
        </p:nvSpPr>
        <p:spPr>
          <a:xfrm>
            <a:off x="1668463" y="5181600"/>
            <a:ext cx="1219200" cy="457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chemeClr val="hlink"/>
                </a:solidFill>
                <a:latin typeface="Arial"/>
                <a:ea typeface="Arial"/>
                <a:cs typeface="Arial"/>
                <a:sym typeface="Arial"/>
              </a:rPr>
              <a:t>95.44%</a:t>
            </a:r>
            <a:endParaRPr/>
          </a:p>
        </p:txBody>
      </p:sp>
      <p:sp>
        <p:nvSpPr>
          <p:cNvPr id="1072" name="Google Shape;1072;p65"/>
          <p:cNvSpPr/>
          <p:nvPr/>
        </p:nvSpPr>
        <p:spPr>
          <a:xfrm>
            <a:off x="6096000" y="5181600"/>
            <a:ext cx="1219200" cy="457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chemeClr val="folHlink"/>
                </a:solidFill>
                <a:latin typeface="Arial"/>
                <a:ea typeface="Arial"/>
                <a:cs typeface="Arial"/>
                <a:sym typeface="Arial"/>
              </a:rPr>
              <a:t>99.72%</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p66"/>
          <p:cNvSpPr txBox="1">
            <a:spLocks noGrp="1"/>
          </p:cNvSpPr>
          <p:nvPr>
            <p:ph type="title"/>
          </p:nvPr>
        </p:nvSpPr>
        <p:spPr>
          <a:xfrm>
            <a:off x="1524000" y="381000"/>
            <a:ext cx="6781800" cy="8382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Importance of the Rule</a:t>
            </a:r>
            <a:endParaRPr/>
          </a:p>
        </p:txBody>
      </p:sp>
      <p:sp>
        <p:nvSpPr>
          <p:cNvPr id="1078" name="Google Shape;1078;p66"/>
          <p:cNvSpPr txBox="1">
            <a:spLocks noGrp="1"/>
          </p:cNvSpPr>
          <p:nvPr>
            <p:ph type="body" idx="1"/>
          </p:nvPr>
        </p:nvSpPr>
        <p:spPr>
          <a:xfrm>
            <a:off x="0" y="1905000"/>
            <a:ext cx="9144000" cy="4114800"/>
          </a:xfrm>
          <a:prstGeom prst="rect">
            <a:avLst/>
          </a:prstGeom>
          <a:noFill/>
          <a:ln>
            <a:noFill/>
          </a:ln>
        </p:spPr>
        <p:txBody>
          <a:bodyPr spcFirstLastPara="1" wrap="square" lIns="85325" tIns="42650" rIns="85325" bIns="42650" anchor="t" anchorCtr="0">
            <a:noAutofit/>
          </a:bodyPr>
          <a:lstStyle/>
          <a:p>
            <a:pPr marL="0" lvl="0" indent="-106679" algn="l" rtl="0">
              <a:lnSpc>
                <a:spcPct val="90000"/>
              </a:lnSpc>
              <a:spcBef>
                <a:spcPts val="0"/>
              </a:spcBef>
              <a:spcAft>
                <a:spcPts val="0"/>
              </a:spcAft>
              <a:buSzPts val="1680"/>
              <a:buChar char="■"/>
            </a:pPr>
            <a:r>
              <a:rPr lang="en-US"/>
              <a:t>  If a value is about </a:t>
            </a:r>
            <a:r>
              <a:rPr lang="en-US">
                <a:solidFill>
                  <a:schemeClr val="folHlink"/>
                </a:solidFill>
              </a:rPr>
              <a:t>2 or more</a:t>
            </a:r>
            <a:r>
              <a:rPr lang="en-US"/>
              <a:t> standard   deviations away from the mean in a normal distribution, then it is </a:t>
            </a:r>
            <a:r>
              <a:rPr lang="en-US">
                <a:solidFill>
                  <a:schemeClr val="folHlink"/>
                </a:solidFill>
              </a:rPr>
              <a:t>far </a:t>
            </a:r>
            <a:r>
              <a:rPr lang="en-US"/>
              <a:t>from the mean</a:t>
            </a:r>
            <a:endParaRPr/>
          </a:p>
          <a:p>
            <a:pPr marL="0" lvl="0" indent="0" algn="l" rtl="0">
              <a:lnSpc>
                <a:spcPct val="90000"/>
              </a:lnSpc>
              <a:spcBef>
                <a:spcPts val="560"/>
              </a:spcBef>
              <a:spcAft>
                <a:spcPts val="0"/>
              </a:spcAft>
              <a:buSzPts val="1680"/>
              <a:buNone/>
            </a:pPr>
            <a:endParaRPr/>
          </a:p>
          <a:p>
            <a:pPr marL="0" lvl="0" indent="-106679" algn="l" rtl="0">
              <a:lnSpc>
                <a:spcPct val="90000"/>
              </a:lnSpc>
              <a:spcBef>
                <a:spcPts val="560"/>
              </a:spcBef>
              <a:spcAft>
                <a:spcPts val="0"/>
              </a:spcAft>
              <a:buSzPts val="1680"/>
              <a:buChar char="■"/>
            </a:pPr>
            <a:r>
              <a:rPr lang="en-US"/>
              <a:t>  The chance that a value that far or farther    away from the mean is </a:t>
            </a:r>
            <a:r>
              <a:rPr lang="en-US">
                <a:solidFill>
                  <a:schemeClr val="folHlink"/>
                </a:solidFill>
              </a:rPr>
              <a:t>highly unlikely</a:t>
            </a:r>
            <a:r>
              <a:rPr lang="en-US"/>
              <a:t>, given   that particular mean and standard deviation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p67"/>
          <p:cNvSpPr txBox="1">
            <a:spLocks noGrp="1"/>
          </p:cNvSpPr>
          <p:nvPr>
            <p:ph type="title" idx="4294967295"/>
          </p:nvPr>
        </p:nvSpPr>
        <p:spPr>
          <a:xfrm>
            <a:off x="1066800" y="457200"/>
            <a:ext cx="7848600"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sz="4000"/>
              <a:t>The Standard Normal Distribution</a:t>
            </a:r>
            <a:endParaRPr/>
          </a:p>
        </p:txBody>
      </p:sp>
      <p:sp>
        <p:nvSpPr>
          <p:cNvPr id="1084" name="Google Shape;1084;p67"/>
          <p:cNvSpPr txBox="1">
            <a:spLocks noGrp="1"/>
          </p:cNvSpPr>
          <p:nvPr>
            <p:ph type="body" idx="4294967295"/>
          </p:nvPr>
        </p:nvSpPr>
        <p:spPr>
          <a:xfrm>
            <a:off x="1143000" y="1600200"/>
            <a:ext cx="7162800" cy="1676400"/>
          </a:xfrm>
          <a:prstGeom prst="rect">
            <a:avLst/>
          </a:prstGeom>
          <a:noFill/>
          <a:ln>
            <a:noFill/>
          </a:ln>
        </p:spPr>
        <p:txBody>
          <a:bodyPr spcFirstLastPara="1" wrap="square" lIns="85325" tIns="42650" rIns="85325" bIns="42650" anchor="t" anchorCtr="0">
            <a:noAutofit/>
          </a:bodyPr>
          <a:lstStyle/>
          <a:p>
            <a:pPr marL="571500" lvl="0" indent="-571500" algn="l" rtl="0">
              <a:spcBef>
                <a:spcPts val="0"/>
              </a:spcBef>
              <a:spcAft>
                <a:spcPts val="0"/>
              </a:spcAft>
              <a:buSzPts val="1620"/>
              <a:buChar char="■"/>
            </a:pPr>
            <a:r>
              <a:rPr lang="en-US" sz="2700"/>
              <a:t>Also known as the “z” distribution</a:t>
            </a:r>
            <a:endParaRPr/>
          </a:p>
          <a:p>
            <a:pPr marL="571500" lvl="0" indent="-571500" algn="l" rtl="0">
              <a:spcBef>
                <a:spcPts val="540"/>
              </a:spcBef>
              <a:spcAft>
                <a:spcPts val="0"/>
              </a:spcAft>
              <a:buSzPts val="1620"/>
              <a:buChar char="■"/>
            </a:pPr>
            <a:r>
              <a:rPr lang="en-US" sz="2700">
                <a:solidFill>
                  <a:schemeClr val="folHlink"/>
                </a:solidFill>
              </a:rPr>
              <a:t>Mean is defined to be 0</a:t>
            </a:r>
            <a:endParaRPr/>
          </a:p>
          <a:p>
            <a:pPr marL="571500" lvl="0" indent="-571500" algn="l" rtl="0">
              <a:spcBef>
                <a:spcPts val="540"/>
              </a:spcBef>
              <a:spcAft>
                <a:spcPts val="0"/>
              </a:spcAft>
              <a:buSzPts val="1620"/>
              <a:buChar char="■"/>
            </a:pPr>
            <a:r>
              <a:rPr lang="en-US" sz="2700">
                <a:solidFill>
                  <a:schemeClr val="folHlink"/>
                </a:solidFill>
              </a:rPr>
              <a:t>Standard Deviation is 1</a:t>
            </a:r>
            <a:endParaRPr/>
          </a:p>
        </p:txBody>
      </p:sp>
      <p:sp>
        <p:nvSpPr>
          <p:cNvPr id="1085" name="Google Shape;1085;p67"/>
          <p:cNvSpPr/>
          <p:nvPr/>
        </p:nvSpPr>
        <p:spPr>
          <a:xfrm>
            <a:off x="4298950" y="3813175"/>
            <a:ext cx="1430338" cy="1144588"/>
          </a:xfrm>
          <a:custGeom>
            <a:avLst/>
            <a:gdLst/>
            <a:ahLst/>
            <a:cxnLst/>
            <a:rect l="l" t="t" r="r" b="b"/>
            <a:pathLst>
              <a:path w="901" h="721" extrusionOk="0">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086" name="Google Shape;1086;p67"/>
          <p:cNvSpPr/>
          <p:nvPr/>
        </p:nvSpPr>
        <p:spPr>
          <a:xfrm>
            <a:off x="2870200" y="3813175"/>
            <a:ext cx="1430338" cy="1144588"/>
          </a:xfrm>
          <a:custGeom>
            <a:avLst/>
            <a:gdLst/>
            <a:ahLst/>
            <a:cxnLst/>
            <a:rect l="l" t="t" r="r" b="b"/>
            <a:pathLst>
              <a:path w="901" h="721" extrusionOk="0">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087" name="Google Shape;1087;p67"/>
          <p:cNvCxnSpPr/>
          <p:nvPr/>
        </p:nvCxnSpPr>
        <p:spPr>
          <a:xfrm>
            <a:off x="4267200" y="3886200"/>
            <a:ext cx="0" cy="1066800"/>
          </a:xfrm>
          <a:prstGeom prst="straightConnector1">
            <a:avLst/>
          </a:prstGeom>
          <a:noFill/>
          <a:ln w="12700" cap="flat" cmpd="sng">
            <a:solidFill>
              <a:schemeClr val="lt2"/>
            </a:solidFill>
            <a:prstDash val="solid"/>
            <a:round/>
            <a:headEnd type="none" w="med" len="med"/>
            <a:tailEnd type="none" w="med" len="med"/>
          </a:ln>
        </p:spPr>
      </p:cxnSp>
      <p:sp>
        <p:nvSpPr>
          <p:cNvPr id="1088" name="Google Shape;1088;p67"/>
          <p:cNvSpPr/>
          <p:nvPr/>
        </p:nvSpPr>
        <p:spPr>
          <a:xfrm>
            <a:off x="2743200" y="3810000"/>
            <a:ext cx="3005138" cy="1214438"/>
          </a:xfrm>
          <a:custGeom>
            <a:avLst/>
            <a:gdLst/>
            <a:ahLst/>
            <a:cxnLst/>
            <a:rect l="l" t="t" r="r" b="b"/>
            <a:pathLst>
              <a:path w="1893" h="765" extrusionOk="0">
                <a:moveTo>
                  <a:pt x="0" y="0"/>
                </a:moveTo>
                <a:lnTo>
                  <a:pt x="0" y="764"/>
                </a:lnTo>
                <a:lnTo>
                  <a:pt x="1892" y="764"/>
                </a:lnTo>
              </a:path>
            </a:pathLst>
          </a:custGeom>
          <a:noFill/>
          <a:ln w="25400" cap="rnd"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089" name="Google Shape;1089;p67"/>
          <p:cNvCxnSpPr/>
          <p:nvPr/>
        </p:nvCxnSpPr>
        <p:spPr>
          <a:xfrm>
            <a:off x="2798763" y="3743325"/>
            <a:ext cx="1587" cy="0"/>
          </a:xfrm>
          <a:prstGeom prst="straightConnector1">
            <a:avLst/>
          </a:prstGeom>
          <a:noFill/>
          <a:ln w="12700" cap="flat" cmpd="sng">
            <a:solidFill>
              <a:srgbClr val="CDCDCD"/>
            </a:solidFill>
            <a:prstDash val="solid"/>
            <a:round/>
            <a:headEnd type="none" w="med" len="med"/>
            <a:tailEnd type="none" w="med" len="med"/>
          </a:ln>
        </p:spPr>
      </p:cxnSp>
      <p:cxnSp>
        <p:nvCxnSpPr>
          <p:cNvPr id="1090" name="Google Shape;1090;p67"/>
          <p:cNvCxnSpPr/>
          <p:nvPr/>
        </p:nvCxnSpPr>
        <p:spPr>
          <a:xfrm>
            <a:off x="2798763" y="3865563"/>
            <a:ext cx="1587" cy="0"/>
          </a:xfrm>
          <a:prstGeom prst="straightConnector1">
            <a:avLst/>
          </a:prstGeom>
          <a:noFill/>
          <a:ln w="12700" cap="flat" cmpd="sng">
            <a:solidFill>
              <a:srgbClr val="CDCDCD"/>
            </a:solidFill>
            <a:prstDash val="solid"/>
            <a:round/>
            <a:headEnd type="none" w="med" len="med"/>
            <a:tailEnd type="none" w="med" len="med"/>
          </a:ln>
        </p:spPr>
      </p:cxnSp>
      <p:cxnSp>
        <p:nvCxnSpPr>
          <p:cNvPr id="1091" name="Google Shape;1091;p67"/>
          <p:cNvCxnSpPr/>
          <p:nvPr/>
        </p:nvCxnSpPr>
        <p:spPr>
          <a:xfrm>
            <a:off x="2798763" y="3986213"/>
            <a:ext cx="1587" cy="0"/>
          </a:xfrm>
          <a:prstGeom prst="straightConnector1">
            <a:avLst/>
          </a:prstGeom>
          <a:noFill/>
          <a:ln w="12700" cap="flat" cmpd="sng">
            <a:solidFill>
              <a:srgbClr val="CDCDCD"/>
            </a:solidFill>
            <a:prstDash val="solid"/>
            <a:round/>
            <a:headEnd type="none" w="med" len="med"/>
            <a:tailEnd type="none" w="med" len="med"/>
          </a:ln>
        </p:spPr>
      </p:cxnSp>
      <p:cxnSp>
        <p:nvCxnSpPr>
          <p:cNvPr id="1092" name="Google Shape;1092;p67"/>
          <p:cNvCxnSpPr/>
          <p:nvPr/>
        </p:nvCxnSpPr>
        <p:spPr>
          <a:xfrm>
            <a:off x="2798763" y="4108450"/>
            <a:ext cx="1587" cy="0"/>
          </a:xfrm>
          <a:prstGeom prst="straightConnector1">
            <a:avLst/>
          </a:prstGeom>
          <a:noFill/>
          <a:ln w="12700" cap="flat" cmpd="sng">
            <a:solidFill>
              <a:srgbClr val="CDCDCD"/>
            </a:solidFill>
            <a:prstDash val="solid"/>
            <a:round/>
            <a:headEnd type="none" w="med" len="med"/>
            <a:tailEnd type="none" w="med" len="med"/>
          </a:ln>
        </p:spPr>
      </p:cxnSp>
      <p:cxnSp>
        <p:nvCxnSpPr>
          <p:cNvPr id="1093" name="Google Shape;1093;p67"/>
          <p:cNvCxnSpPr/>
          <p:nvPr/>
        </p:nvCxnSpPr>
        <p:spPr>
          <a:xfrm>
            <a:off x="2798763" y="4229100"/>
            <a:ext cx="1587" cy="0"/>
          </a:xfrm>
          <a:prstGeom prst="straightConnector1">
            <a:avLst/>
          </a:prstGeom>
          <a:noFill/>
          <a:ln w="12700" cap="flat" cmpd="sng">
            <a:solidFill>
              <a:srgbClr val="CDCDCD"/>
            </a:solidFill>
            <a:prstDash val="solid"/>
            <a:round/>
            <a:headEnd type="none" w="med" len="med"/>
            <a:tailEnd type="none" w="med" len="med"/>
          </a:ln>
        </p:spPr>
      </p:cxnSp>
      <p:cxnSp>
        <p:nvCxnSpPr>
          <p:cNvPr id="1094" name="Google Shape;1094;p67"/>
          <p:cNvCxnSpPr/>
          <p:nvPr/>
        </p:nvCxnSpPr>
        <p:spPr>
          <a:xfrm>
            <a:off x="2798763" y="4351338"/>
            <a:ext cx="1587" cy="0"/>
          </a:xfrm>
          <a:prstGeom prst="straightConnector1">
            <a:avLst/>
          </a:prstGeom>
          <a:noFill/>
          <a:ln w="12700" cap="flat" cmpd="sng">
            <a:solidFill>
              <a:srgbClr val="CDCDCD"/>
            </a:solidFill>
            <a:prstDash val="solid"/>
            <a:round/>
            <a:headEnd type="none" w="med" len="med"/>
            <a:tailEnd type="none" w="med" len="med"/>
          </a:ln>
        </p:spPr>
      </p:cxnSp>
      <p:cxnSp>
        <p:nvCxnSpPr>
          <p:cNvPr id="1095" name="Google Shape;1095;p67"/>
          <p:cNvCxnSpPr/>
          <p:nvPr/>
        </p:nvCxnSpPr>
        <p:spPr>
          <a:xfrm>
            <a:off x="2798763" y="4471988"/>
            <a:ext cx="1587" cy="0"/>
          </a:xfrm>
          <a:prstGeom prst="straightConnector1">
            <a:avLst/>
          </a:prstGeom>
          <a:noFill/>
          <a:ln w="12700" cap="flat" cmpd="sng">
            <a:solidFill>
              <a:srgbClr val="CDCDCD"/>
            </a:solidFill>
            <a:prstDash val="solid"/>
            <a:round/>
            <a:headEnd type="none" w="med" len="med"/>
            <a:tailEnd type="none" w="med" len="med"/>
          </a:ln>
        </p:spPr>
      </p:cxnSp>
      <p:cxnSp>
        <p:nvCxnSpPr>
          <p:cNvPr id="1096" name="Google Shape;1096;p67"/>
          <p:cNvCxnSpPr/>
          <p:nvPr/>
        </p:nvCxnSpPr>
        <p:spPr>
          <a:xfrm>
            <a:off x="2798763" y="4594225"/>
            <a:ext cx="1587" cy="0"/>
          </a:xfrm>
          <a:prstGeom prst="straightConnector1">
            <a:avLst/>
          </a:prstGeom>
          <a:noFill/>
          <a:ln w="12700" cap="flat" cmpd="sng">
            <a:solidFill>
              <a:srgbClr val="CDCDCD"/>
            </a:solidFill>
            <a:prstDash val="solid"/>
            <a:round/>
            <a:headEnd type="none" w="med" len="med"/>
            <a:tailEnd type="none" w="med" len="med"/>
          </a:ln>
        </p:spPr>
      </p:cxnSp>
      <p:cxnSp>
        <p:nvCxnSpPr>
          <p:cNvPr id="1097" name="Google Shape;1097;p67"/>
          <p:cNvCxnSpPr/>
          <p:nvPr/>
        </p:nvCxnSpPr>
        <p:spPr>
          <a:xfrm>
            <a:off x="2798763" y="4714875"/>
            <a:ext cx="1587" cy="0"/>
          </a:xfrm>
          <a:prstGeom prst="straightConnector1">
            <a:avLst/>
          </a:prstGeom>
          <a:noFill/>
          <a:ln w="12700" cap="flat" cmpd="sng">
            <a:solidFill>
              <a:srgbClr val="CDCDCD"/>
            </a:solidFill>
            <a:prstDash val="solid"/>
            <a:round/>
            <a:headEnd type="none" w="med" len="med"/>
            <a:tailEnd type="none" w="med" len="med"/>
          </a:ln>
        </p:spPr>
      </p:cxnSp>
      <p:cxnSp>
        <p:nvCxnSpPr>
          <p:cNvPr id="1098" name="Google Shape;1098;p67"/>
          <p:cNvCxnSpPr/>
          <p:nvPr/>
        </p:nvCxnSpPr>
        <p:spPr>
          <a:xfrm>
            <a:off x="2798763" y="4835525"/>
            <a:ext cx="1587" cy="0"/>
          </a:xfrm>
          <a:prstGeom prst="straightConnector1">
            <a:avLst/>
          </a:prstGeom>
          <a:noFill/>
          <a:ln w="12700" cap="flat" cmpd="sng">
            <a:solidFill>
              <a:srgbClr val="CDCDCD"/>
            </a:solidFill>
            <a:prstDash val="solid"/>
            <a:round/>
            <a:headEnd type="none" w="med" len="med"/>
            <a:tailEnd type="none" w="med" len="med"/>
          </a:ln>
        </p:spPr>
      </p:cxnSp>
      <p:cxnSp>
        <p:nvCxnSpPr>
          <p:cNvPr id="1099" name="Google Shape;1099;p67"/>
          <p:cNvCxnSpPr/>
          <p:nvPr/>
        </p:nvCxnSpPr>
        <p:spPr>
          <a:xfrm>
            <a:off x="5816600" y="4964113"/>
            <a:ext cx="0" cy="1587"/>
          </a:xfrm>
          <a:prstGeom prst="straightConnector1">
            <a:avLst/>
          </a:prstGeom>
          <a:noFill/>
          <a:ln w="12700" cap="flat" cmpd="sng">
            <a:solidFill>
              <a:srgbClr val="CDCDCD"/>
            </a:solidFill>
            <a:prstDash val="solid"/>
            <a:round/>
            <a:headEnd type="none" w="med" len="med"/>
            <a:tailEnd type="none" w="med" len="med"/>
          </a:ln>
        </p:spPr>
      </p:cxnSp>
      <p:cxnSp>
        <p:nvCxnSpPr>
          <p:cNvPr id="1100" name="Google Shape;1100;p67"/>
          <p:cNvCxnSpPr/>
          <p:nvPr/>
        </p:nvCxnSpPr>
        <p:spPr>
          <a:xfrm>
            <a:off x="5516563" y="4964113"/>
            <a:ext cx="0" cy="1587"/>
          </a:xfrm>
          <a:prstGeom prst="straightConnector1">
            <a:avLst/>
          </a:prstGeom>
          <a:noFill/>
          <a:ln w="12700" cap="flat" cmpd="sng">
            <a:solidFill>
              <a:srgbClr val="CDCDCD"/>
            </a:solidFill>
            <a:prstDash val="solid"/>
            <a:round/>
            <a:headEnd type="none" w="med" len="med"/>
            <a:tailEnd type="none" w="med" len="med"/>
          </a:ln>
        </p:spPr>
      </p:cxnSp>
      <p:cxnSp>
        <p:nvCxnSpPr>
          <p:cNvPr id="1101" name="Google Shape;1101;p67"/>
          <p:cNvCxnSpPr/>
          <p:nvPr/>
        </p:nvCxnSpPr>
        <p:spPr>
          <a:xfrm>
            <a:off x="5214938" y="4964113"/>
            <a:ext cx="0" cy="1587"/>
          </a:xfrm>
          <a:prstGeom prst="straightConnector1">
            <a:avLst/>
          </a:prstGeom>
          <a:noFill/>
          <a:ln w="12700" cap="flat" cmpd="sng">
            <a:solidFill>
              <a:srgbClr val="CDCDCD"/>
            </a:solidFill>
            <a:prstDash val="solid"/>
            <a:round/>
            <a:headEnd type="none" w="med" len="med"/>
            <a:tailEnd type="none" w="med" len="med"/>
          </a:ln>
        </p:spPr>
      </p:cxnSp>
      <p:cxnSp>
        <p:nvCxnSpPr>
          <p:cNvPr id="1102" name="Google Shape;1102;p67"/>
          <p:cNvCxnSpPr/>
          <p:nvPr/>
        </p:nvCxnSpPr>
        <p:spPr>
          <a:xfrm>
            <a:off x="4914900" y="4964113"/>
            <a:ext cx="0" cy="1587"/>
          </a:xfrm>
          <a:prstGeom prst="straightConnector1">
            <a:avLst/>
          </a:prstGeom>
          <a:noFill/>
          <a:ln w="12700" cap="flat" cmpd="sng">
            <a:solidFill>
              <a:srgbClr val="CDCDCD"/>
            </a:solidFill>
            <a:prstDash val="solid"/>
            <a:round/>
            <a:headEnd type="none" w="med" len="med"/>
            <a:tailEnd type="none" w="med" len="med"/>
          </a:ln>
        </p:spPr>
      </p:cxnSp>
      <p:cxnSp>
        <p:nvCxnSpPr>
          <p:cNvPr id="1103" name="Google Shape;1103;p67"/>
          <p:cNvCxnSpPr/>
          <p:nvPr/>
        </p:nvCxnSpPr>
        <p:spPr>
          <a:xfrm>
            <a:off x="4614863" y="4964113"/>
            <a:ext cx="0" cy="1587"/>
          </a:xfrm>
          <a:prstGeom prst="straightConnector1">
            <a:avLst/>
          </a:prstGeom>
          <a:noFill/>
          <a:ln w="12700" cap="flat" cmpd="sng">
            <a:solidFill>
              <a:srgbClr val="CDCDCD"/>
            </a:solidFill>
            <a:prstDash val="solid"/>
            <a:round/>
            <a:headEnd type="none" w="med" len="med"/>
            <a:tailEnd type="none" w="med" len="med"/>
          </a:ln>
        </p:spPr>
      </p:cxnSp>
      <p:cxnSp>
        <p:nvCxnSpPr>
          <p:cNvPr id="1104" name="Google Shape;1104;p67"/>
          <p:cNvCxnSpPr/>
          <p:nvPr/>
        </p:nvCxnSpPr>
        <p:spPr>
          <a:xfrm>
            <a:off x="4314825" y="4964113"/>
            <a:ext cx="0" cy="1587"/>
          </a:xfrm>
          <a:prstGeom prst="straightConnector1">
            <a:avLst/>
          </a:prstGeom>
          <a:noFill/>
          <a:ln w="12700" cap="flat" cmpd="sng">
            <a:solidFill>
              <a:srgbClr val="CDCDCD"/>
            </a:solidFill>
            <a:prstDash val="solid"/>
            <a:round/>
            <a:headEnd type="none" w="med" len="med"/>
            <a:tailEnd type="none" w="med" len="med"/>
          </a:ln>
        </p:spPr>
      </p:cxnSp>
      <p:cxnSp>
        <p:nvCxnSpPr>
          <p:cNvPr id="1105" name="Google Shape;1105;p67"/>
          <p:cNvCxnSpPr/>
          <p:nvPr/>
        </p:nvCxnSpPr>
        <p:spPr>
          <a:xfrm>
            <a:off x="4014788" y="4964113"/>
            <a:ext cx="0" cy="1587"/>
          </a:xfrm>
          <a:prstGeom prst="straightConnector1">
            <a:avLst/>
          </a:prstGeom>
          <a:noFill/>
          <a:ln w="12700" cap="flat" cmpd="sng">
            <a:solidFill>
              <a:srgbClr val="CDCDCD"/>
            </a:solidFill>
            <a:prstDash val="solid"/>
            <a:round/>
            <a:headEnd type="none" w="med" len="med"/>
            <a:tailEnd type="none" w="med" len="med"/>
          </a:ln>
        </p:spPr>
      </p:cxnSp>
      <p:cxnSp>
        <p:nvCxnSpPr>
          <p:cNvPr id="1106" name="Google Shape;1106;p67"/>
          <p:cNvCxnSpPr/>
          <p:nvPr/>
        </p:nvCxnSpPr>
        <p:spPr>
          <a:xfrm>
            <a:off x="3714750" y="4964113"/>
            <a:ext cx="0" cy="1587"/>
          </a:xfrm>
          <a:prstGeom prst="straightConnector1">
            <a:avLst/>
          </a:prstGeom>
          <a:noFill/>
          <a:ln w="12700" cap="flat" cmpd="sng">
            <a:solidFill>
              <a:srgbClr val="CDCDCD"/>
            </a:solidFill>
            <a:prstDash val="solid"/>
            <a:round/>
            <a:headEnd type="none" w="med" len="med"/>
            <a:tailEnd type="none" w="med" len="med"/>
          </a:ln>
        </p:spPr>
      </p:cxnSp>
      <p:cxnSp>
        <p:nvCxnSpPr>
          <p:cNvPr id="1107" name="Google Shape;1107;p67"/>
          <p:cNvCxnSpPr/>
          <p:nvPr/>
        </p:nvCxnSpPr>
        <p:spPr>
          <a:xfrm>
            <a:off x="3413125" y="4964113"/>
            <a:ext cx="0" cy="1587"/>
          </a:xfrm>
          <a:prstGeom prst="straightConnector1">
            <a:avLst/>
          </a:prstGeom>
          <a:noFill/>
          <a:ln w="12700" cap="flat" cmpd="sng">
            <a:solidFill>
              <a:srgbClr val="CDCDCD"/>
            </a:solidFill>
            <a:prstDash val="solid"/>
            <a:round/>
            <a:headEnd type="none" w="med" len="med"/>
            <a:tailEnd type="none" w="med" len="med"/>
          </a:ln>
        </p:spPr>
      </p:cxnSp>
      <p:cxnSp>
        <p:nvCxnSpPr>
          <p:cNvPr id="1108" name="Google Shape;1108;p67"/>
          <p:cNvCxnSpPr/>
          <p:nvPr/>
        </p:nvCxnSpPr>
        <p:spPr>
          <a:xfrm>
            <a:off x="3113088" y="4964113"/>
            <a:ext cx="0" cy="1587"/>
          </a:xfrm>
          <a:prstGeom prst="straightConnector1">
            <a:avLst/>
          </a:prstGeom>
          <a:noFill/>
          <a:ln w="12700" cap="flat" cmpd="sng">
            <a:solidFill>
              <a:srgbClr val="CDCDCD"/>
            </a:solidFill>
            <a:prstDash val="solid"/>
            <a:round/>
            <a:headEnd type="none" w="med" len="med"/>
            <a:tailEnd type="none" w="med" len="med"/>
          </a:ln>
        </p:spPr>
      </p:cxnSp>
      <p:sp>
        <p:nvSpPr>
          <p:cNvPr id="1109" name="Google Shape;1109;p67"/>
          <p:cNvSpPr/>
          <p:nvPr/>
        </p:nvSpPr>
        <p:spPr>
          <a:xfrm>
            <a:off x="2686050" y="4259263"/>
            <a:ext cx="92075" cy="1841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110" name="Google Shape;1110;p67"/>
          <p:cNvSpPr/>
          <p:nvPr/>
        </p:nvSpPr>
        <p:spPr>
          <a:xfrm>
            <a:off x="4222750" y="4933950"/>
            <a:ext cx="184150" cy="920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111" name="Google Shape;1111;p67"/>
          <p:cNvSpPr/>
          <p:nvPr/>
        </p:nvSpPr>
        <p:spPr>
          <a:xfrm>
            <a:off x="5791200" y="4800600"/>
            <a:ext cx="333375"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z</a:t>
            </a:r>
            <a:endParaRPr/>
          </a:p>
        </p:txBody>
      </p:sp>
      <p:sp>
        <p:nvSpPr>
          <p:cNvPr id="1112" name="Google Shape;1112;p67"/>
          <p:cNvSpPr/>
          <p:nvPr/>
        </p:nvSpPr>
        <p:spPr>
          <a:xfrm>
            <a:off x="2286000" y="3352800"/>
            <a:ext cx="638175"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f(z)</a:t>
            </a:r>
            <a:endParaRPr/>
          </a:p>
        </p:txBody>
      </p:sp>
      <p:sp>
        <p:nvSpPr>
          <p:cNvPr id="1113" name="Google Shape;1113;p67"/>
          <p:cNvSpPr/>
          <p:nvPr/>
        </p:nvSpPr>
        <p:spPr>
          <a:xfrm>
            <a:off x="4114800" y="4953000"/>
            <a:ext cx="479425"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0</a:t>
            </a:r>
            <a:endParaRPr/>
          </a:p>
        </p:txBody>
      </p:sp>
      <p:cxnSp>
        <p:nvCxnSpPr>
          <p:cNvPr id="1114" name="Google Shape;1114;p67"/>
          <p:cNvCxnSpPr/>
          <p:nvPr/>
        </p:nvCxnSpPr>
        <p:spPr>
          <a:xfrm>
            <a:off x="4267200" y="4343400"/>
            <a:ext cx="533400" cy="0"/>
          </a:xfrm>
          <a:prstGeom prst="straightConnector1">
            <a:avLst/>
          </a:prstGeom>
          <a:noFill/>
          <a:ln w="12700" cap="flat" cmpd="sng">
            <a:solidFill>
              <a:schemeClr val="lt2"/>
            </a:solidFill>
            <a:prstDash val="solid"/>
            <a:round/>
            <a:headEnd type="stealth" w="med" len="med"/>
            <a:tailEnd type="stealth" w="med" len="med"/>
          </a:ln>
        </p:spPr>
      </p:cxnSp>
      <p:sp>
        <p:nvSpPr>
          <p:cNvPr id="1115" name="Google Shape;1115;p67"/>
          <p:cNvSpPr/>
          <p:nvPr/>
        </p:nvSpPr>
        <p:spPr>
          <a:xfrm>
            <a:off x="4419600" y="4267200"/>
            <a:ext cx="479425"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1</a:t>
            </a:r>
            <a:endParaRPr/>
          </a:p>
        </p:txBody>
      </p:sp>
      <p:sp>
        <p:nvSpPr>
          <p:cNvPr id="1116" name="Google Shape;1116;p67"/>
          <p:cNvSpPr txBox="1"/>
          <p:nvPr/>
        </p:nvSpPr>
        <p:spPr>
          <a:xfrm>
            <a:off x="838200" y="5486400"/>
            <a:ext cx="7239000" cy="82232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Arial"/>
                <a:ea typeface="Arial"/>
                <a:cs typeface="Arial"/>
                <a:sym typeface="Arial"/>
              </a:rPr>
              <a:t>Values above the mean have </a:t>
            </a:r>
            <a:r>
              <a:rPr lang="en-US" sz="2400">
                <a:solidFill>
                  <a:schemeClr val="folHlink"/>
                </a:solidFill>
                <a:latin typeface="Arial"/>
                <a:ea typeface="Arial"/>
                <a:cs typeface="Arial"/>
                <a:sym typeface="Arial"/>
              </a:rPr>
              <a:t>positive</a:t>
            </a:r>
            <a:r>
              <a:rPr lang="en-US" sz="2400">
                <a:solidFill>
                  <a:schemeClr val="dk1"/>
                </a:solidFill>
                <a:latin typeface="Arial"/>
                <a:ea typeface="Arial"/>
                <a:cs typeface="Arial"/>
                <a:sym typeface="Arial"/>
              </a:rPr>
              <a:t> z-values, values below the mean have </a:t>
            </a:r>
            <a:r>
              <a:rPr lang="en-US" sz="2400">
                <a:solidFill>
                  <a:schemeClr val="folHlink"/>
                </a:solidFill>
                <a:latin typeface="Arial"/>
                <a:ea typeface="Arial"/>
                <a:cs typeface="Arial"/>
                <a:sym typeface="Arial"/>
              </a:rPr>
              <a:t>negative</a:t>
            </a:r>
            <a:r>
              <a:rPr lang="en-US" sz="2400">
                <a:solidFill>
                  <a:schemeClr val="dk1"/>
                </a:solidFill>
                <a:latin typeface="Arial"/>
                <a:ea typeface="Arial"/>
                <a:cs typeface="Arial"/>
                <a:sym typeface="Arial"/>
              </a:rPr>
              <a:t> z-values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p68"/>
          <p:cNvSpPr txBox="1">
            <a:spLocks noGrp="1"/>
          </p:cNvSpPr>
          <p:nvPr>
            <p:ph type="title" idx="4294967295"/>
          </p:nvPr>
        </p:nvSpPr>
        <p:spPr>
          <a:xfrm>
            <a:off x="1600200" y="304800"/>
            <a:ext cx="6781800" cy="8382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sz="4000"/>
              <a:t>The Standard Normal</a:t>
            </a:r>
            <a:endParaRPr/>
          </a:p>
        </p:txBody>
      </p:sp>
      <p:sp>
        <p:nvSpPr>
          <p:cNvPr id="1122" name="Google Shape;1122;p68"/>
          <p:cNvSpPr txBox="1">
            <a:spLocks noGrp="1"/>
          </p:cNvSpPr>
          <p:nvPr>
            <p:ph type="body" idx="4294967295"/>
          </p:nvPr>
        </p:nvSpPr>
        <p:spPr>
          <a:xfrm>
            <a:off x="762000" y="1905000"/>
            <a:ext cx="8077200" cy="3124200"/>
          </a:xfrm>
          <a:prstGeom prst="rect">
            <a:avLst/>
          </a:prstGeom>
          <a:noFill/>
          <a:ln>
            <a:noFill/>
          </a:ln>
        </p:spPr>
        <p:txBody>
          <a:bodyPr spcFirstLastPara="1" wrap="square" lIns="85325" tIns="42650" rIns="85325" bIns="42650" anchor="t" anchorCtr="0">
            <a:noAutofit/>
          </a:bodyPr>
          <a:lstStyle/>
          <a:p>
            <a:pPr marL="571500" lvl="0" indent="-571500" algn="l" rtl="0">
              <a:lnSpc>
                <a:spcPct val="90000"/>
              </a:lnSpc>
              <a:spcBef>
                <a:spcPts val="0"/>
              </a:spcBef>
              <a:spcAft>
                <a:spcPts val="0"/>
              </a:spcAft>
              <a:buSzPts val="1680"/>
              <a:buChar char="■"/>
            </a:pPr>
            <a:r>
              <a:rPr lang="en-US">
                <a:solidFill>
                  <a:schemeClr val="folHlink"/>
                </a:solidFill>
              </a:rPr>
              <a:t>Any</a:t>
            </a:r>
            <a:r>
              <a:rPr lang="en-US"/>
              <a:t> normal distribution (with any mean and standard deviation combination) can be transformed into the </a:t>
            </a:r>
            <a:r>
              <a:rPr lang="en-US">
                <a:solidFill>
                  <a:schemeClr val="folHlink"/>
                </a:solidFill>
              </a:rPr>
              <a:t>standard normal</a:t>
            </a:r>
            <a:r>
              <a:rPr lang="en-US">
                <a:solidFill>
                  <a:schemeClr val="lt1"/>
                </a:solidFill>
              </a:rPr>
              <a:t> </a:t>
            </a:r>
            <a:r>
              <a:rPr lang="en-US">
                <a:solidFill>
                  <a:schemeClr val="folHlink"/>
                </a:solidFill>
              </a:rPr>
              <a:t>distribution (z)</a:t>
            </a:r>
            <a:endParaRPr/>
          </a:p>
          <a:p>
            <a:pPr marL="571500" lvl="0" indent="-464819" algn="l" rtl="0">
              <a:lnSpc>
                <a:spcPct val="90000"/>
              </a:lnSpc>
              <a:spcBef>
                <a:spcPts val="560"/>
              </a:spcBef>
              <a:spcAft>
                <a:spcPts val="0"/>
              </a:spcAft>
              <a:buSzPts val="1680"/>
              <a:buNone/>
            </a:pPr>
            <a:endParaRPr>
              <a:solidFill>
                <a:schemeClr val="folHlink"/>
              </a:solidFill>
            </a:endParaRPr>
          </a:p>
          <a:p>
            <a:pPr marL="571500" lvl="0" indent="-571500" algn="l" rtl="0">
              <a:lnSpc>
                <a:spcPct val="90000"/>
              </a:lnSpc>
              <a:spcBef>
                <a:spcPts val="560"/>
              </a:spcBef>
              <a:spcAft>
                <a:spcPts val="0"/>
              </a:spcAft>
              <a:buSzPts val="1680"/>
              <a:buChar char="■"/>
            </a:pPr>
            <a:r>
              <a:rPr lang="en-US"/>
              <a:t>Need to transform  x  units into  </a:t>
            </a:r>
            <a:r>
              <a:rPr lang="en-US">
                <a:solidFill>
                  <a:schemeClr val="folHlink"/>
                </a:solidFill>
              </a:rPr>
              <a:t>z  </a:t>
            </a:r>
            <a:r>
              <a:rPr lang="en-US"/>
              <a:t>units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sp>
        <p:nvSpPr>
          <p:cNvPr id="1127" name="Google Shape;1127;p69"/>
          <p:cNvSpPr txBox="1">
            <a:spLocks noGrp="1"/>
          </p:cNvSpPr>
          <p:nvPr>
            <p:ph type="title" idx="4294967295"/>
          </p:nvPr>
        </p:nvSpPr>
        <p:spPr>
          <a:xfrm>
            <a:off x="1524000" y="228600"/>
            <a:ext cx="6781800" cy="1143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sz="3700"/>
              <a:t>Translation to the Standard Normal Distribution</a:t>
            </a:r>
            <a:endParaRPr/>
          </a:p>
        </p:txBody>
      </p:sp>
      <p:sp>
        <p:nvSpPr>
          <p:cNvPr id="1128" name="Google Shape;1128;p69"/>
          <p:cNvSpPr txBox="1">
            <a:spLocks noGrp="1"/>
          </p:cNvSpPr>
          <p:nvPr>
            <p:ph type="body" idx="4294967295"/>
          </p:nvPr>
        </p:nvSpPr>
        <p:spPr>
          <a:xfrm>
            <a:off x="685800" y="1905000"/>
            <a:ext cx="8077200" cy="1600200"/>
          </a:xfrm>
          <a:prstGeom prst="rect">
            <a:avLst/>
          </a:prstGeom>
          <a:noFill/>
          <a:ln>
            <a:noFill/>
          </a:ln>
        </p:spPr>
        <p:txBody>
          <a:bodyPr spcFirstLastPara="1" wrap="square" lIns="85325" tIns="42650" rIns="85325" bIns="42650" anchor="t" anchorCtr="0">
            <a:noAutofit/>
          </a:bodyPr>
          <a:lstStyle/>
          <a:p>
            <a:pPr marL="571500" lvl="0" indent="-571500" algn="l" rtl="0">
              <a:spcBef>
                <a:spcPts val="0"/>
              </a:spcBef>
              <a:spcAft>
                <a:spcPts val="0"/>
              </a:spcAft>
              <a:buSzPts val="1680"/>
              <a:buChar char="■"/>
            </a:pPr>
            <a:r>
              <a:rPr lang="en-US"/>
              <a:t>Translate from x to the standard normal (the “z” distribution) by </a:t>
            </a:r>
            <a:r>
              <a:rPr lang="en-US">
                <a:solidFill>
                  <a:schemeClr val="folHlink"/>
                </a:solidFill>
              </a:rPr>
              <a:t>subtracting the mean</a:t>
            </a:r>
            <a:r>
              <a:rPr lang="en-US"/>
              <a:t> of x and </a:t>
            </a:r>
            <a:r>
              <a:rPr lang="en-US">
                <a:solidFill>
                  <a:schemeClr val="folHlink"/>
                </a:solidFill>
              </a:rPr>
              <a:t>dividing by its standard deviation</a:t>
            </a:r>
            <a:r>
              <a:rPr lang="en-US"/>
              <a:t>:</a:t>
            </a:r>
            <a:endParaRPr/>
          </a:p>
        </p:txBody>
      </p:sp>
      <p:pic>
        <p:nvPicPr>
          <p:cNvPr id="1129" name="Google Shape;1129;p69"/>
          <p:cNvPicPr preferRelativeResize="0"/>
          <p:nvPr/>
        </p:nvPicPr>
        <p:blipFill rotWithShape="1">
          <a:blip r:embed="rId3">
            <a:alphaModFix/>
          </a:blip>
          <a:srcRect/>
          <a:stretch/>
        </p:blipFill>
        <p:spPr>
          <a:xfrm>
            <a:off x="3200400" y="3657600"/>
            <a:ext cx="2668588" cy="1579563"/>
          </a:xfrm>
          <a:prstGeom prst="rect">
            <a:avLst/>
          </a:prstGeom>
          <a:solidFill>
            <a:srgbClr val="FFFFCD"/>
          </a:solidFill>
          <a:ln w="9525" cap="flat" cmpd="sng">
            <a:solidFill>
              <a:schemeClr val="dk1"/>
            </a:solidFill>
            <a:prstDash val="solid"/>
            <a:miter lim="800000"/>
            <a:headEnd type="none" w="sm" len="sm"/>
            <a:tailEnd type="none" w="sm" len="sm"/>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33"/>
        <p:cNvGrpSpPr/>
        <p:nvPr/>
      </p:nvGrpSpPr>
      <p:grpSpPr>
        <a:xfrm>
          <a:off x="0" y="0"/>
          <a:ext cx="0" cy="0"/>
          <a:chOff x="0" y="0"/>
          <a:chExt cx="0" cy="0"/>
        </a:xfrm>
      </p:grpSpPr>
      <p:sp>
        <p:nvSpPr>
          <p:cNvPr id="1134" name="Google Shape;1134;p70"/>
          <p:cNvSpPr txBox="1">
            <a:spLocks noGrp="1"/>
          </p:cNvSpPr>
          <p:nvPr>
            <p:ph type="title" idx="4294967295"/>
          </p:nvPr>
        </p:nvSpPr>
        <p:spPr>
          <a:xfrm>
            <a:off x="1447800" y="304800"/>
            <a:ext cx="6781800" cy="8382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Example</a:t>
            </a:r>
            <a:endParaRPr/>
          </a:p>
        </p:txBody>
      </p:sp>
      <p:sp>
        <p:nvSpPr>
          <p:cNvPr id="1135" name="Google Shape;1135;p70"/>
          <p:cNvSpPr txBox="1">
            <a:spLocks noGrp="1"/>
          </p:cNvSpPr>
          <p:nvPr>
            <p:ph type="body" idx="4294967295"/>
          </p:nvPr>
        </p:nvSpPr>
        <p:spPr>
          <a:xfrm>
            <a:off x="609600" y="1752600"/>
            <a:ext cx="8077200" cy="4419600"/>
          </a:xfrm>
          <a:prstGeom prst="rect">
            <a:avLst/>
          </a:prstGeom>
          <a:noFill/>
          <a:ln>
            <a:noFill/>
          </a:ln>
        </p:spPr>
        <p:txBody>
          <a:bodyPr spcFirstLastPara="1" wrap="square" lIns="85325" tIns="42650" rIns="85325" bIns="42650" anchor="t" anchorCtr="0">
            <a:noAutofit/>
          </a:bodyPr>
          <a:lstStyle/>
          <a:p>
            <a:pPr marL="571500" lvl="0" indent="-571500" algn="l" rtl="0">
              <a:spcBef>
                <a:spcPts val="0"/>
              </a:spcBef>
              <a:spcAft>
                <a:spcPts val="0"/>
              </a:spcAft>
              <a:buSzPts val="1680"/>
              <a:buChar char="■"/>
            </a:pPr>
            <a:r>
              <a:rPr lang="en-US"/>
              <a:t>If  x  is distributed normally with </a:t>
            </a:r>
            <a:r>
              <a:rPr lang="en-US">
                <a:solidFill>
                  <a:schemeClr val="folHlink"/>
                </a:solidFill>
              </a:rPr>
              <a:t>mean of 100</a:t>
            </a:r>
            <a:r>
              <a:rPr lang="en-US"/>
              <a:t> and </a:t>
            </a:r>
            <a:r>
              <a:rPr lang="en-US">
                <a:solidFill>
                  <a:schemeClr val="folHlink"/>
                </a:solidFill>
              </a:rPr>
              <a:t>standard deviation of 50</a:t>
            </a:r>
            <a:r>
              <a:rPr lang="en-US"/>
              <a:t>, the  z  value for  </a:t>
            </a:r>
            <a:r>
              <a:rPr lang="en-US">
                <a:solidFill>
                  <a:schemeClr val="hlink"/>
                </a:solidFill>
              </a:rPr>
              <a:t>x = 250</a:t>
            </a:r>
            <a:r>
              <a:rPr lang="en-US">
                <a:solidFill>
                  <a:schemeClr val="folHlink"/>
                </a:solidFill>
              </a:rPr>
              <a:t>  </a:t>
            </a:r>
            <a:r>
              <a:rPr lang="en-US"/>
              <a:t>is</a:t>
            </a:r>
            <a:endParaRPr/>
          </a:p>
          <a:p>
            <a:pPr marL="571500" lvl="0" indent="-464819" algn="l" rtl="0">
              <a:spcBef>
                <a:spcPts val="560"/>
              </a:spcBef>
              <a:spcAft>
                <a:spcPts val="0"/>
              </a:spcAft>
              <a:buSzPts val="1680"/>
              <a:buNone/>
            </a:pPr>
            <a:endParaRPr/>
          </a:p>
          <a:p>
            <a:pPr marL="571500" lvl="0" indent="-464819" algn="l" rtl="0">
              <a:spcBef>
                <a:spcPts val="560"/>
              </a:spcBef>
              <a:spcAft>
                <a:spcPts val="0"/>
              </a:spcAft>
              <a:buSzPts val="1680"/>
              <a:buNone/>
            </a:pPr>
            <a:endParaRPr/>
          </a:p>
          <a:p>
            <a:pPr marL="571500" lvl="0" indent="-464819" algn="l" rtl="0">
              <a:spcBef>
                <a:spcPts val="560"/>
              </a:spcBef>
              <a:spcAft>
                <a:spcPts val="0"/>
              </a:spcAft>
              <a:buSzPts val="1680"/>
              <a:buNone/>
            </a:pPr>
            <a:endParaRPr/>
          </a:p>
          <a:p>
            <a:pPr marL="571500" lvl="0" indent="-571500" algn="l" rtl="0">
              <a:spcBef>
                <a:spcPts val="560"/>
              </a:spcBef>
              <a:spcAft>
                <a:spcPts val="0"/>
              </a:spcAft>
              <a:buSzPts val="1680"/>
              <a:buChar char="■"/>
            </a:pPr>
            <a:r>
              <a:rPr lang="en-US">
                <a:solidFill>
                  <a:srgbClr val="0066CC"/>
                </a:solidFill>
              </a:rPr>
              <a:t>This says that  x = 250  is three standard deviations (3 increments of 50 units) above the mean of 100.</a:t>
            </a:r>
            <a:endParaRPr/>
          </a:p>
        </p:txBody>
      </p:sp>
      <p:pic>
        <p:nvPicPr>
          <p:cNvPr id="1136" name="Google Shape;1136;p70"/>
          <p:cNvPicPr preferRelativeResize="0"/>
          <p:nvPr/>
        </p:nvPicPr>
        <p:blipFill rotWithShape="1">
          <a:blip r:embed="rId3">
            <a:alphaModFix/>
          </a:blip>
          <a:srcRect/>
          <a:stretch/>
        </p:blipFill>
        <p:spPr>
          <a:xfrm>
            <a:off x="1943100" y="3276600"/>
            <a:ext cx="5448300" cy="1181100"/>
          </a:xfrm>
          <a:prstGeom prst="rect">
            <a:avLst/>
          </a:prstGeom>
          <a:solidFill>
            <a:srgbClr val="FFFFCD"/>
          </a:solidFill>
          <a:ln w="9525" cap="flat" cmpd="sng">
            <a:solidFill>
              <a:schemeClr val="dk1"/>
            </a:solidFill>
            <a:prstDash val="solid"/>
            <a:miter lim="800000"/>
            <a:headEnd type="none" w="sm" len="sm"/>
            <a:tailEnd type="none" w="sm" len="sm"/>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40"/>
        <p:cNvGrpSpPr/>
        <p:nvPr/>
      </p:nvGrpSpPr>
      <p:grpSpPr>
        <a:xfrm>
          <a:off x="0" y="0"/>
          <a:ext cx="0" cy="0"/>
          <a:chOff x="0" y="0"/>
          <a:chExt cx="0" cy="0"/>
        </a:xfrm>
      </p:grpSpPr>
      <p:sp>
        <p:nvSpPr>
          <p:cNvPr id="1141" name="Google Shape;1141;p71"/>
          <p:cNvSpPr txBox="1">
            <a:spLocks noGrp="1"/>
          </p:cNvSpPr>
          <p:nvPr>
            <p:ph type="title"/>
          </p:nvPr>
        </p:nvSpPr>
        <p:spPr>
          <a:xfrm>
            <a:off x="1447800" y="304800"/>
            <a:ext cx="6781800" cy="8382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Comparing  x  and  z  units</a:t>
            </a:r>
            <a:endParaRPr/>
          </a:p>
        </p:txBody>
      </p:sp>
      <p:sp>
        <p:nvSpPr>
          <p:cNvPr id="1142" name="Google Shape;1142;p71"/>
          <p:cNvSpPr/>
          <p:nvPr/>
        </p:nvSpPr>
        <p:spPr>
          <a:xfrm>
            <a:off x="1828800" y="1981200"/>
            <a:ext cx="2243138" cy="1681163"/>
          </a:xfrm>
          <a:custGeom>
            <a:avLst/>
            <a:gdLst/>
            <a:ahLst/>
            <a:cxnLst/>
            <a:rect l="l" t="t" r="r" b="b"/>
            <a:pathLst>
              <a:path w="901" h="721" extrusionOk="0">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143" name="Google Shape;1143;p71"/>
          <p:cNvCxnSpPr/>
          <p:nvPr/>
        </p:nvCxnSpPr>
        <p:spPr>
          <a:xfrm>
            <a:off x="2570163" y="2447925"/>
            <a:ext cx="1587" cy="0"/>
          </a:xfrm>
          <a:prstGeom prst="straightConnector1">
            <a:avLst/>
          </a:prstGeom>
          <a:noFill/>
          <a:ln w="12700" cap="flat" cmpd="sng">
            <a:solidFill>
              <a:srgbClr val="CDCDCD"/>
            </a:solidFill>
            <a:prstDash val="solid"/>
            <a:round/>
            <a:headEnd type="none" w="med" len="med"/>
            <a:tailEnd type="none" w="med" len="med"/>
          </a:ln>
        </p:spPr>
      </p:cxnSp>
      <p:cxnSp>
        <p:nvCxnSpPr>
          <p:cNvPr id="1144" name="Google Shape;1144;p71"/>
          <p:cNvCxnSpPr/>
          <p:nvPr/>
        </p:nvCxnSpPr>
        <p:spPr>
          <a:xfrm>
            <a:off x="2570163" y="2570163"/>
            <a:ext cx="1587" cy="0"/>
          </a:xfrm>
          <a:prstGeom prst="straightConnector1">
            <a:avLst/>
          </a:prstGeom>
          <a:noFill/>
          <a:ln w="12700" cap="flat" cmpd="sng">
            <a:solidFill>
              <a:srgbClr val="CDCDCD"/>
            </a:solidFill>
            <a:prstDash val="solid"/>
            <a:round/>
            <a:headEnd type="none" w="med" len="med"/>
            <a:tailEnd type="none" w="med" len="med"/>
          </a:ln>
        </p:spPr>
      </p:cxnSp>
      <p:cxnSp>
        <p:nvCxnSpPr>
          <p:cNvPr id="1145" name="Google Shape;1145;p71"/>
          <p:cNvCxnSpPr/>
          <p:nvPr/>
        </p:nvCxnSpPr>
        <p:spPr>
          <a:xfrm>
            <a:off x="2570163" y="2690813"/>
            <a:ext cx="1587" cy="0"/>
          </a:xfrm>
          <a:prstGeom prst="straightConnector1">
            <a:avLst/>
          </a:prstGeom>
          <a:noFill/>
          <a:ln w="12700" cap="flat" cmpd="sng">
            <a:solidFill>
              <a:srgbClr val="CDCDCD"/>
            </a:solidFill>
            <a:prstDash val="solid"/>
            <a:round/>
            <a:headEnd type="none" w="med" len="med"/>
            <a:tailEnd type="none" w="med" len="med"/>
          </a:ln>
        </p:spPr>
      </p:cxnSp>
      <p:cxnSp>
        <p:nvCxnSpPr>
          <p:cNvPr id="1146" name="Google Shape;1146;p71"/>
          <p:cNvCxnSpPr/>
          <p:nvPr/>
        </p:nvCxnSpPr>
        <p:spPr>
          <a:xfrm>
            <a:off x="2570163" y="2813050"/>
            <a:ext cx="1587" cy="0"/>
          </a:xfrm>
          <a:prstGeom prst="straightConnector1">
            <a:avLst/>
          </a:prstGeom>
          <a:noFill/>
          <a:ln w="12700" cap="flat" cmpd="sng">
            <a:solidFill>
              <a:srgbClr val="CDCDCD"/>
            </a:solidFill>
            <a:prstDash val="solid"/>
            <a:round/>
            <a:headEnd type="none" w="med" len="med"/>
            <a:tailEnd type="none" w="med" len="med"/>
          </a:ln>
        </p:spPr>
      </p:cxnSp>
      <p:cxnSp>
        <p:nvCxnSpPr>
          <p:cNvPr id="1147" name="Google Shape;1147;p71"/>
          <p:cNvCxnSpPr/>
          <p:nvPr/>
        </p:nvCxnSpPr>
        <p:spPr>
          <a:xfrm>
            <a:off x="2570163" y="2933700"/>
            <a:ext cx="1587" cy="0"/>
          </a:xfrm>
          <a:prstGeom prst="straightConnector1">
            <a:avLst/>
          </a:prstGeom>
          <a:noFill/>
          <a:ln w="12700" cap="flat" cmpd="sng">
            <a:solidFill>
              <a:srgbClr val="CDCDCD"/>
            </a:solidFill>
            <a:prstDash val="solid"/>
            <a:round/>
            <a:headEnd type="none" w="med" len="med"/>
            <a:tailEnd type="none" w="med" len="med"/>
          </a:ln>
        </p:spPr>
      </p:cxnSp>
      <p:cxnSp>
        <p:nvCxnSpPr>
          <p:cNvPr id="1148" name="Google Shape;1148;p71"/>
          <p:cNvCxnSpPr/>
          <p:nvPr/>
        </p:nvCxnSpPr>
        <p:spPr>
          <a:xfrm>
            <a:off x="2570163" y="3055938"/>
            <a:ext cx="1587" cy="0"/>
          </a:xfrm>
          <a:prstGeom prst="straightConnector1">
            <a:avLst/>
          </a:prstGeom>
          <a:noFill/>
          <a:ln w="12700" cap="flat" cmpd="sng">
            <a:solidFill>
              <a:srgbClr val="CDCDCD"/>
            </a:solidFill>
            <a:prstDash val="solid"/>
            <a:round/>
            <a:headEnd type="none" w="med" len="med"/>
            <a:tailEnd type="none" w="med" len="med"/>
          </a:ln>
        </p:spPr>
      </p:cxnSp>
      <p:cxnSp>
        <p:nvCxnSpPr>
          <p:cNvPr id="1149" name="Google Shape;1149;p71"/>
          <p:cNvCxnSpPr/>
          <p:nvPr/>
        </p:nvCxnSpPr>
        <p:spPr>
          <a:xfrm>
            <a:off x="2570163" y="3176588"/>
            <a:ext cx="1587" cy="0"/>
          </a:xfrm>
          <a:prstGeom prst="straightConnector1">
            <a:avLst/>
          </a:prstGeom>
          <a:noFill/>
          <a:ln w="12700" cap="flat" cmpd="sng">
            <a:solidFill>
              <a:srgbClr val="CDCDCD"/>
            </a:solidFill>
            <a:prstDash val="solid"/>
            <a:round/>
            <a:headEnd type="none" w="med" len="med"/>
            <a:tailEnd type="none" w="med" len="med"/>
          </a:ln>
        </p:spPr>
      </p:cxnSp>
      <p:cxnSp>
        <p:nvCxnSpPr>
          <p:cNvPr id="1150" name="Google Shape;1150;p71"/>
          <p:cNvCxnSpPr/>
          <p:nvPr/>
        </p:nvCxnSpPr>
        <p:spPr>
          <a:xfrm>
            <a:off x="2570163" y="3298825"/>
            <a:ext cx="1587" cy="0"/>
          </a:xfrm>
          <a:prstGeom prst="straightConnector1">
            <a:avLst/>
          </a:prstGeom>
          <a:noFill/>
          <a:ln w="12700" cap="flat" cmpd="sng">
            <a:solidFill>
              <a:srgbClr val="CDCDCD"/>
            </a:solidFill>
            <a:prstDash val="solid"/>
            <a:round/>
            <a:headEnd type="none" w="med" len="med"/>
            <a:tailEnd type="none" w="med" len="med"/>
          </a:ln>
        </p:spPr>
      </p:cxnSp>
      <p:cxnSp>
        <p:nvCxnSpPr>
          <p:cNvPr id="1151" name="Google Shape;1151;p71"/>
          <p:cNvCxnSpPr/>
          <p:nvPr/>
        </p:nvCxnSpPr>
        <p:spPr>
          <a:xfrm>
            <a:off x="2570163" y="3419475"/>
            <a:ext cx="1587" cy="0"/>
          </a:xfrm>
          <a:prstGeom prst="straightConnector1">
            <a:avLst/>
          </a:prstGeom>
          <a:noFill/>
          <a:ln w="12700" cap="flat" cmpd="sng">
            <a:solidFill>
              <a:srgbClr val="CDCDCD"/>
            </a:solidFill>
            <a:prstDash val="solid"/>
            <a:round/>
            <a:headEnd type="none" w="med" len="med"/>
            <a:tailEnd type="none" w="med" len="med"/>
          </a:ln>
        </p:spPr>
      </p:cxnSp>
      <p:cxnSp>
        <p:nvCxnSpPr>
          <p:cNvPr id="1152" name="Google Shape;1152;p71"/>
          <p:cNvCxnSpPr/>
          <p:nvPr/>
        </p:nvCxnSpPr>
        <p:spPr>
          <a:xfrm>
            <a:off x="2570163" y="3540125"/>
            <a:ext cx="1587" cy="0"/>
          </a:xfrm>
          <a:prstGeom prst="straightConnector1">
            <a:avLst/>
          </a:prstGeom>
          <a:noFill/>
          <a:ln w="12700" cap="flat" cmpd="sng">
            <a:solidFill>
              <a:srgbClr val="CDCDCD"/>
            </a:solidFill>
            <a:prstDash val="solid"/>
            <a:round/>
            <a:headEnd type="none" w="med" len="med"/>
            <a:tailEnd type="none" w="med" len="med"/>
          </a:ln>
        </p:spPr>
      </p:cxnSp>
      <p:cxnSp>
        <p:nvCxnSpPr>
          <p:cNvPr id="1153" name="Google Shape;1153;p71"/>
          <p:cNvCxnSpPr/>
          <p:nvPr/>
        </p:nvCxnSpPr>
        <p:spPr>
          <a:xfrm>
            <a:off x="5588000" y="3668713"/>
            <a:ext cx="0" cy="1587"/>
          </a:xfrm>
          <a:prstGeom prst="straightConnector1">
            <a:avLst/>
          </a:prstGeom>
          <a:noFill/>
          <a:ln w="12700" cap="flat" cmpd="sng">
            <a:solidFill>
              <a:srgbClr val="CDCDCD"/>
            </a:solidFill>
            <a:prstDash val="solid"/>
            <a:round/>
            <a:headEnd type="none" w="med" len="med"/>
            <a:tailEnd type="none" w="med" len="med"/>
          </a:ln>
        </p:spPr>
      </p:cxnSp>
      <p:cxnSp>
        <p:nvCxnSpPr>
          <p:cNvPr id="1154" name="Google Shape;1154;p71"/>
          <p:cNvCxnSpPr/>
          <p:nvPr/>
        </p:nvCxnSpPr>
        <p:spPr>
          <a:xfrm>
            <a:off x="5287963" y="3668713"/>
            <a:ext cx="0" cy="1587"/>
          </a:xfrm>
          <a:prstGeom prst="straightConnector1">
            <a:avLst/>
          </a:prstGeom>
          <a:noFill/>
          <a:ln w="12700" cap="flat" cmpd="sng">
            <a:solidFill>
              <a:srgbClr val="CDCDCD"/>
            </a:solidFill>
            <a:prstDash val="solid"/>
            <a:round/>
            <a:headEnd type="none" w="med" len="med"/>
            <a:tailEnd type="none" w="med" len="med"/>
          </a:ln>
        </p:spPr>
      </p:cxnSp>
      <p:cxnSp>
        <p:nvCxnSpPr>
          <p:cNvPr id="1155" name="Google Shape;1155;p71"/>
          <p:cNvCxnSpPr/>
          <p:nvPr/>
        </p:nvCxnSpPr>
        <p:spPr>
          <a:xfrm>
            <a:off x="4986338" y="3668713"/>
            <a:ext cx="0" cy="1587"/>
          </a:xfrm>
          <a:prstGeom prst="straightConnector1">
            <a:avLst/>
          </a:prstGeom>
          <a:noFill/>
          <a:ln w="12700" cap="flat" cmpd="sng">
            <a:solidFill>
              <a:srgbClr val="CDCDCD"/>
            </a:solidFill>
            <a:prstDash val="solid"/>
            <a:round/>
            <a:headEnd type="none" w="med" len="med"/>
            <a:tailEnd type="none" w="med" len="med"/>
          </a:ln>
        </p:spPr>
      </p:cxnSp>
      <p:cxnSp>
        <p:nvCxnSpPr>
          <p:cNvPr id="1156" name="Google Shape;1156;p71"/>
          <p:cNvCxnSpPr/>
          <p:nvPr/>
        </p:nvCxnSpPr>
        <p:spPr>
          <a:xfrm>
            <a:off x="4686300" y="3668713"/>
            <a:ext cx="0" cy="1587"/>
          </a:xfrm>
          <a:prstGeom prst="straightConnector1">
            <a:avLst/>
          </a:prstGeom>
          <a:noFill/>
          <a:ln w="12700" cap="flat" cmpd="sng">
            <a:solidFill>
              <a:srgbClr val="CDCDCD"/>
            </a:solidFill>
            <a:prstDash val="solid"/>
            <a:round/>
            <a:headEnd type="none" w="med" len="med"/>
            <a:tailEnd type="none" w="med" len="med"/>
          </a:ln>
        </p:spPr>
      </p:cxnSp>
      <p:cxnSp>
        <p:nvCxnSpPr>
          <p:cNvPr id="1157" name="Google Shape;1157;p71"/>
          <p:cNvCxnSpPr/>
          <p:nvPr/>
        </p:nvCxnSpPr>
        <p:spPr>
          <a:xfrm>
            <a:off x="4386263" y="3668713"/>
            <a:ext cx="0" cy="1587"/>
          </a:xfrm>
          <a:prstGeom prst="straightConnector1">
            <a:avLst/>
          </a:prstGeom>
          <a:noFill/>
          <a:ln w="12700" cap="flat" cmpd="sng">
            <a:solidFill>
              <a:srgbClr val="CDCDCD"/>
            </a:solidFill>
            <a:prstDash val="solid"/>
            <a:round/>
            <a:headEnd type="none" w="med" len="med"/>
            <a:tailEnd type="none" w="med" len="med"/>
          </a:ln>
        </p:spPr>
      </p:cxnSp>
      <p:cxnSp>
        <p:nvCxnSpPr>
          <p:cNvPr id="1158" name="Google Shape;1158;p71"/>
          <p:cNvCxnSpPr/>
          <p:nvPr/>
        </p:nvCxnSpPr>
        <p:spPr>
          <a:xfrm>
            <a:off x="4086225" y="3668713"/>
            <a:ext cx="0" cy="1587"/>
          </a:xfrm>
          <a:prstGeom prst="straightConnector1">
            <a:avLst/>
          </a:prstGeom>
          <a:noFill/>
          <a:ln w="12700" cap="flat" cmpd="sng">
            <a:solidFill>
              <a:srgbClr val="CDCDCD"/>
            </a:solidFill>
            <a:prstDash val="solid"/>
            <a:round/>
            <a:headEnd type="none" w="med" len="med"/>
            <a:tailEnd type="none" w="med" len="med"/>
          </a:ln>
        </p:spPr>
      </p:cxnSp>
      <p:cxnSp>
        <p:nvCxnSpPr>
          <p:cNvPr id="1159" name="Google Shape;1159;p71"/>
          <p:cNvCxnSpPr/>
          <p:nvPr/>
        </p:nvCxnSpPr>
        <p:spPr>
          <a:xfrm>
            <a:off x="3786188" y="3668713"/>
            <a:ext cx="0" cy="1587"/>
          </a:xfrm>
          <a:prstGeom prst="straightConnector1">
            <a:avLst/>
          </a:prstGeom>
          <a:noFill/>
          <a:ln w="12700" cap="flat" cmpd="sng">
            <a:solidFill>
              <a:srgbClr val="CDCDCD"/>
            </a:solidFill>
            <a:prstDash val="solid"/>
            <a:round/>
            <a:headEnd type="none" w="med" len="med"/>
            <a:tailEnd type="none" w="med" len="med"/>
          </a:ln>
        </p:spPr>
      </p:cxnSp>
      <p:cxnSp>
        <p:nvCxnSpPr>
          <p:cNvPr id="1160" name="Google Shape;1160;p71"/>
          <p:cNvCxnSpPr/>
          <p:nvPr/>
        </p:nvCxnSpPr>
        <p:spPr>
          <a:xfrm>
            <a:off x="3486150" y="3668713"/>
            <a:ext cx="0" cy="1587"/>
          </a:xfrm>
          <a:prstGeom prst="straightConnector1">
            <a:avLst/>
          </a:prstGeom>
          <a:noFill/>
          <a:ln w="12700" cap="flat" cmpd="sng">
            <a:solidFill>
              <a:srgbClr val="CDCDCD"/>
            </a:solidFill>
            <a:prstDash val="solid"/>
            <a:round/>
            <a:headEnd type="none" w="med" len="med"/>
            <a:tailEnd type="none" w="med" len="med"/>
          </a:ln>
        </p:spPr>
      </p:cxnSp>
      <p:cxnSp>
        <p:nvCxnSpPr>
          <p:cNvPr id="1161" name="Google Shape;1161;p71"/>
          <p:cNvCxnSpPr/>
          <p:nvPr/>
        </p:nvCxnSpPr>
        <p:spPr>
          <a:xfrm>
            <a:off x="3184525" y="3668713"/>
            <a:ext cx="0" cy="1587"/>
          </a:xfrm>
          <a:prstGeom prst="straightConnector1">
            <a:avLst/>
          </a:prstGeom>
          <a:noFill/>
          <a:ln w="12700" cap="flat" cmpd="sng">
            <a:solidFill>
              <a:srgbClr val="CDCDCD"/>
            </a:solidFill>
            <a:prstDash val="solid"/>
            <a:round/>
            <a:headEnd type="none" w="med" len="med"/>
            <a:tailEnd type="none" w="med" len="med"/>
          </a:ln>
        </p:spPr>
      </p:cxnSp>
      <p:cxnSp>
        <p:nvCxnSpPr>
          <p:cNvPr id="1162" name="Google Shape;1162;p71"/>
          <p:cNvCxnSpPr/>
          <p:nvPr/>
        </p:nvCxnSpPr>
        <p:spPr>
          <a:xfrm>
            <a:off x="2884488" y="3668713"/>
            <a:ext cx="0" cy="1587"/>
          </a:xfrm>
          <a:prstGeom prst="straightConnector1">
            <a:avLst/>
          </a:prstGeom>
          <a:noFill/>
          <a:ln w="12700" cap="flat" cmpd="sng">
            <a:solidFill>
              <a:srgbClr val="CDCDCD"/>
            </a:solidFill>
            <a:prstDash val="solid"/>
            <a:round/>
            <a:headEnd type="none" w="med" len="med"/>
            <a:tailEnd type="none" w="med" len="med"/>
          </a:ln>
        </p:spPr>
      </p:cxnSp>
      <p:sp>
        <p:nvSpPr>
          <p:cNvPr id="1163" name="Google Shape;1163;p71"/>
          <p:cNvSpPr/>
          <p:nvPr/>
        </p:nvSpPr>
        <p:spPr>
          <a:xfrm>
            <a:off x="2457450" y="2963863"/>
            <a:ext cx="92075" cy="1841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164" name="Google Shape;1164;p71"/>
          <p:cNvSpPr/>
          <p:nvPr/>
        </p:nvSpPr>
        <p:spPr>
          <a:xfrm>
            <a:off x="3994150" y="3638550"/>
            <a:ext cx="184150" cy="920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165" name="Google Shape;1165;p71"/>
          <p:cNvSpPr/>
          <p:nvPr/>
        </p:nvSpPr>
        <p:spPr>
          <a:xfrm>
            <a:off x="6629400" y="4267200"/>
            <a:ext cx="381000" cy="5159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800" b="1">
                <a:solidFill>
                  <a:srgbClr val="FF3300"/>
                </a:solidFill>
                <a:latin typeface="Arial"/>
                <a:ea typeface="Arial"/>
                <a:cs typeface="Arial"/>
                <a:sym typeface="Arial"/>
              </a:rPr>
              <a:t>z</a:t>
            </a:r>
            <a:endParaRPr/>
          </a:p>
        </p:txBody>
      </p:sp>
      <p:sp>
        <p:nvSpPr>
          <p:cNvPr id="1166" name="Google Shape;1166;p71"/>
          <p:cNvSpPr/>
          <p:nvPr/>
        </p:nvSpPr>
        <p:spPr>
          <a:xfrm>
            <a:off x="3733800" y="3810000"/>
            <a:ext cx="914400" cy="5159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800" b="1">
                <a:solidFill>
                  <a:schemeClr val="lt2"/>
                </a:solidFill>
                <a:latin typeface="Arial"/>
                <a:ea typeface="Arial"/>
                <a:cs typeface="Arial"/>
                <a:sym typeface="Arial"/>
              </a:rPr>
              <a:t>100</a:t>
            </a:r>
            <a:endParaRPr/>
          </a:p>
        </p:txBody>
      </p:sp>
      <p:sp>
        <p:nvSpPr>
          <p:cNvPr id="1167" name="Google Shape;1167;p71"/>
          <p:cNvSpPr/>
          <p:nvPr/>
        </p:nvSpPr>
        <p:spPr>
          <a:xfrm>
            <a:off x="5410200" y="4267200"/>
            <a:ext cx="990600" cy="5159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800" b="1">
                <a:solidFill>
                  <a:srgbClr val="FF3300"/>
                </a:solidFill>
                <a:latin typeface="Arial"/>
                <a:ea typeface="Arial"/>
                <a:cs typeface="Arial"/>
                <a:sym typeface="Arial"/>
              </a:rPr>
              <a:t>3.0</a:t>
            </a:r>
            <a:endParaRPr/>
          </a:p>
        </p:txBody>
      </p:sp>
      <p:sp>
        <p:nvSpPr>
          <p:cNvPr id="1168" name="Google Shape;1168;p71"/>
          <p:cNvSpPr/>
          <p:nvPr/>
        </p:nvSpPr>
        <p:spPr>
          <a:xfrm>
            <a:off x="4038600" y="1981200"/>
            <a:ext cx="2101850" cy="1681163"/>
          </a:xfrm>
          <a:custGeom>
            <a:avLst/>
            <a:gdLst/>
            <a:ahLst/>
            <a:cxnLst/>
            <a:rect l="l" t="t" r="r" b="b"/>
            <a:pathLst>
              <a:path w="901" h="721" extrusionOk="0">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169" name="Google Shape;1169;p71"/>
          <p:cNvCxnSpPr/>
          <p:nvPr/>
        </p:nvCxnSpPr>
        <p:spPr>
          <a:xfrm>
            <a:off x="1676400" y="3733800"/>
            <a:ext cx="4572000" cy="0"/>
          </a:xfrm>
          <a:prstGeom prst="straightConnector1">
            <a:avLst/>
          </a:prstGeom>
          <a:noFill/>
          <a:ln w="28575" cap="flat" cmpd="sng">
            <a:solidFill>
              <a:schemeClr val="lt2"/>
            </a:solidFill>
            <a:prstDash val="solid"/>
            <a:round/>
            <a:headEnd type="none" w="med" len="med"/>
            <a:tailEnd type="none" w="med" len="med"/>
          </a:ln>
        </p:spPr>
      </p:cxnSp>
      <p:sp>
        <p:nvSpPr>
          <p:cNvPr id="1170" name="Google Shape;1170;p71"/>
          <p:cNvSpPr/>
          <p:nvPr/>
        </p:nvSpPr>
        <p:spPr>
          <a:xfrm>
            <a:off x="3886200" y="4267200"/>
            <a:ext cx="479425" cy="5159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800" b="1">
                <a:solidFill>
                  <a:srgbClr val="FF3300"/>
                </a:solidFill>
                <a:latin typeface="Arial"/>
                <a:ea typeface="Arial"/>
                <a:cs typeface="Arial"/>
                <a:sym typeface="Arial"/>
              </a:rPr>
              <a:t>0</a:t>
            </a:r>
            <a:endParaRPr/>
          </a:p>
        </p:txBody>
      </p:sp>
      <p:sp>
        <p:nvSpPr>
          <p:cNvPr id="1171" name="Google Shape;1171;p71"/>
          <p:cNvSpPr/>
          <p:nvPr/>
        </p:nvSpPr>
        <p:spPr>
          <a:xfrm>
            <a:off x="5334000" y="3810000"/>
            <a:ext cx="990600" cy="5159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800" b="1">
                <a:solidFill>
                  <a:schemeClr val="lt2"/>
                </a:solidFill>
                <a:latin typeface="Arial"/>
                <a:ea typeface="Arial"/>
                <a:cs typeface="Arial"/>
                <a:sym typeface="Arial"/>
              </a:rPr>
              <a:t>250</a:t>
            </a:r>
            <a:endParaRPr/>
          </a:p>
        </p:txBody>
      </p:sp>
      <p:sp>
        <p:nvSpPr>
          <p:cNvPr id="1172" name="Google Shape;1172;p71"/>
          <p:cNvSpPr/>
          <p:nvPr/>
        </p:nvSpPr>
        <p:spPr>
          <a:xfrm>
            <a:off x="6629400" y="3810000"/>
            <a:ext cx="379413" cy="5159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800" b="1">
                <a:solidFill>
                  <a:schemeClr val="lt2"/>
                </a:solidFill>
                <a:latin typeface="Arial"/>
                <a:ea typeface="Arial"/>
                <a:cs typeface="Arial"/>
                <a:sym typeface="Arial"/>
              </a:rPr>
              <a:t>x</a:t>
            </a:r>
            <a:endParaRPr/>
          </a:p>
        </p:txBody>
      </p:sp>
      <p:sp>
        <p:nvSpPr>
          <p:cNvPr id="1173" name="Google Shape;1173;p71"/>
          <p:cNvSpPr txBox="1"/>
          <p:nvPr/>
        </p:nvSpPr>
        <p:spPr>
          <a:xfrm>
            <a:off x="838200" y="4953000"/>
            <a:ext cx="7696200" cy="11874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lt2"/>
                </a:solidFill>
                <a:latin typeface="Arial"/>
                <a:ea typeface="Arial"/>
                <a:cs typeface="Arial"/>
                <a:sym typeface="Arial"/>
              </a:rPr>
              <a:t>Note that the distribution is the same, only the scale has changed.  We can express the problem in original units (x) or in standardized units (z)</a:t>
            </a:r>
            <a:endParaRPr/>
          </a:p>
        </p:txBody>
      </p:sp>
      <p:cxnSp>
        <p:nvCxnSpPr>
          <p:cNvPr id="1174" name="Google Shape;1174;p71"/>
          <p:cNvCxnSpPr/>
          <p:nvPr/>
        </p:nvCxnSpPr>
        <p:spPr>
          <a:xfrm>
            <a:off x="4038600" y="1981200"/>
            <a:ext cx="0" cy="1752600"/>
          </a:xfrm>
          <a:prstGeom prst="straightConnector1">
            <a:avLst/>
          </a:prstGeom>
          <a:noFill/>
          <a:ln w="12700" cap="flat" cmpd="sng">
            <a:solidFill>
              <a:schemeClr val="lt2"/>
            </a:solidFill>
            <a:prstDash val="solid"/>
            <a:round/>
            <a:headEnd type="none" w="med" len="med"/>
            <a:tailEnd type="none" w="med" len="med"/>
          </a:ln>
        </p:spPr>
      </p:cxnSp>
      <p:cxnSp>
        <p:nvCxnSpPr>
          <p:cNvPr id="1175" name="Google Shape;1175;p71"/>
          <p:cNvCxnSpPr/>
          <p:nvPr/>
        </p:nvCxnSpPr>
        <p:spPr>
          <a:xfrm>
            <a:off x="5715000" y="3581400"/>
            <a:ext cx="0" cy="152400"/>
          </a:xfrm>
          <a:prstGeom prst="straightConnector1">
            <a:avLst/>
          </a:prstGeom>
          <a:noFill/>
          <a:ln w="28575" cap="flat" cmpd="sng">
            <a:solidFill>
              <a:schemeClr val="lt2"/>
            </a:solidFill>
            <a:prstDash val="solid"/>
            <a:round/>
            <a:headEnd type="none" w="med" len="med"/>
            <a:tailEnd type="none" w="med" len="med"/>
          </a:ln>
        </p:spPr>
      </p:cxnSp>
      <p:sp>
        <p:nvSpPr>
          <p:cNvPr id="1176" name="Google Shape;1176;p71"/>
          <p:cNvSpPr txBox="1"/>
          <p:nvPr/>
        </p:nvSpPr>
        <p:spPr>
          <a:xfrm>
            <a:off x="6629400" y="1981200"/>
            <a:ext cx="1371600" cy="1017588"/>
          </a:xfrm>
          <a:prstGeom prst="rect">
            <a:avLst/>
          </a:prstGeom>
          <a:noFill/>
          <a:ln w="12700" cap="flat" cmpd="sng">
            <a:solidFill>
              <a:schemeClr val="lt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2"/>
                </a:solidFill>
                <a:latin typeface="Arial"/>
                <a:ea typeface="Arial"/>
                <a:cs typeface="Arial"/>
                <a:sym typeface="Arial"/>
              </a:rPr>
              <a:t>μ</a:t>
            </a:r>
            <a:r>
              <a:rPr lang="en-US" sz="2400">
                <a:solidFill>
                  <a:schemeClr val="lt2"/>
                </a:solidFill>
                <a:latin typeface="Times New Roman"/>
                <a:ea typeface="Times New Roman"/>
                <a:cs typeface="Times New Roman"/>
                <a:sym typeface="Times New Roman"/>
              </a:rPr>
              <a:t> </a:t>
            </a:r>
            <a:r>
              <a:rPr lang="en-US" sz="2400">
                <a:solidFill>
                  <a:schemeClr val="lt2"/>
                </a:solidFill>
                <a:latin typeface="Arial"/>
                <a:ea typeface="Arial"/>
                <a:cs typeface="Arial"/>
                <a:sym typeface="Arial"/>
              </a:rPr>
              <a:t>= 100</a:t>
            </a:r>
            <a:endParaRPr/>
          </a:p>
          <a:p>
            <a:pPr marL="0" marR="0" lvl="0" indent="0" algn="l" rtl="0">
              <a:spcBef>
                <a:spcPts val="1200"/>
              </a:spcBef>
              <a:spcAft>
                <a:spcPts val="0"/>
              </a:spcAft>
              <a:buNone/>
            </a:pPr>
            <a:r>
              <a:rPr lang="en-US" sz="2400">
                <a:solidFill>
                  <a:schemeClr val="lt2"/>
                </a:solidFill>
                <a:latin typeface="Arial"/>
                <a:ea typeface="Arial"/>
                <a:cs typeface="Arial"/>
                <a:sym typeface="Arial"/>
              </a:rPr>
              <a:t>σ</a:t>
            </a:r>
            <a:r>
              <a:rPr lang="en-US" sz="2400">
                <a:solidFill>
                  <a:schemeClr val="lt2"/>
                </a:solidFill>
                <a:latin typeface="Times New Roman"/>
                <a:ea typeface="Times New Roman"/>
                <a:cs typeface="Times New Roman"/>
                <a:sym typeface="Times New Roman"/>
              </a:rPr>
              <a:t> </a:t>
            </a:r>
            <a:r>
              <a:rPr lang="en-US" sz="2400">
                <a:solidFill>
                  <a:schemeClr val="lt2"/>
                </a:solidFill>
                <a:latin typeface="Arial"/>
                <a:ea typeface="Arial"/>
                <a:cs typeface="Arial"/>
                <a:sym typeface="Arial"/>
              </a:rPr>
              <a:t>= 50</a:t>
            </a:r>
            <a:endParaRPr sz="2400">
              <a:solidFill>
                <a:schemeClr val="lt2"/>
              </a:solidFill>
              <a:latin typeface="Arial"/>
              <a:ea typeface="Arial"/>
              <a:cs typeface="Arial"/>
              <a:sym typeface="Arial"/>
            </a:endParaRPr>
          </a:p>
        </p:txBody>
      </p:sp>
      <p:cxnSp>
        <p:nvCxnSpPr>
          <p:cNvPr id="1177" name="Google Shape;1177;p71"/>
          <p:cNvCxnSpPr/>
          <p:nvPr/>
        </p:nvCxnSpPr>
        <p:spPr>
          <a:xfrm flipH="1">
            <a:off x="4953000" y="2438400"/>
            <a:ext cx="1676400" cy="457200"/>
          </a:xfrm>
          <a:prstGeom prst="straightConnector1">
            <a:avLst/>
          </a:prstGeom>
          <a:noFill/>
          <a:ln w="12700" cap="flat" cmpd="sng">
            <a:solidFill>
              <a:schemeClr val="lt2"/>
            </a:solidFill>
            <a:prstDash val="solid"/>
            <a:round/>
            <a:headEnd type="none" w="med" len="med"/>
            <a:tailEnd type="triangle" w="med" len="med"/>
          </a:ln>
        </p:spPr>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81"/>
        <p:cNvGrpSpPr/>
        <p:nvPr/>
      </p:nvGrpSpPr>
      <p:grpSpPr>
        <a:xfrm>
          <a:off x="0" y="0"/>
          <a:ext cx="0" cy="0"/>
          <a:chOff x="0" y="0"/>
          <a:chExt cx="0" cy="0"/>
        </a:xfrm>
      </p:grpSpPr>
      <p:cxnSp>
        <p:nvCxnSpPr>
          <p:cNvPr id="1182" name="Google Shape;1182;p72"/>
          <p:cNvCxnSpPr/>
          <p:nvPr/>
        </p:nvCxnSpPr>
        <p:spPr>
          <a:xfrm>
            <a:off x="6553200" y="5105400"/>
            <a:ext cx="0" cy="304800"/>
          </a:xfrm>
          <a:prstGeom prst="straightConnector1">
            <a:avLst/>
          </a:prstGeom>
          <a:noFill/>
          <a:ln w="101600" cap="flat" cmpd="sng">
            <a:solidFill>
              <a:srgbClr val="FF0000"/>
            </a:solidFill>
            <a:prstDash val="solid"/>
            <a:round/>
            <a:headEnd type="none" w="med" len="med"/>
            <a:tailEnd type="none" w="med" len="med"/>
          </a:ln>
        </p:spPr>
      </p:cxnSp>
      <p:sp>
        <p:nvSpPr>
          <p:cNvPr id="1183" name="Google Shape;1183;p72"/>
          <p:cNvSpPr/>
          <p:nvPr/>
        </p:nvSpPr>
        <p:spPr>
          <a:xfrm>
            <a:off x="5791200" y="4191000"/>
            <a:ext cx="76200" cy="1219200"/>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184" name="Google Shape;1184;p72"/>
          <p:cNvSpPr/>
          <p:nvPr/>
        </p:nvSpPr>
        <p:spPr>
          <a:xfrm>
            <a:off x="5780088" y="4191000"/>
            <a:ext cx="812800" cy="1214438"/>
          </a:xfrm>
          <a:custGeom>
            <a:avLst/>
            <a:gdLst/>
            <a:ahLst/>
            <a:cxnLst/>
            <a:rect l="l" t="t" r="r" b="b"/>
            <a:pathLst>
              <a:path w="512" h="765" extrusionOk="0">
                <a:moveTo>
                  <a:pt x="23" y="19"/>
                </a:moveTo>
                <a:cubicBezTo>
                  <a:pt x="20" y="2"/>
                  <a:pt x="14" y="16"/>
                  <a:pt x="17" y="17"/>
                </a:cubicBezTo>
                <a:cubicBezTo>
                  <a:pt x="20" y="18"/>
                  <a:pt x="35" y="25"/>
                  <a:pt x="43" y="27"/>
                </a:cubicBezTo>
                <a:cubicBezTo>
                  <a:pt x="61" y="29"/>
                  <a:pt x="48" y="21"/>
                  <a:pt x="65" y="27"/>
                </a:cubicBezTo>
                <a:cubicBezTo>
                  <a:pt x="80" y="32"/>
                  <a:pt x="83" y="33"/>
                  <a:pt x="95" y="43"/>
                </a:cubicBezTo>
                <a:cubicBezTo>
                  <a:pt x="123" y="64"/>
                  <a:pt x="138" y="88"/>
                  <a:pt x="167" y="106"/>
                </a:cubicBezTo>
                <a:cubicBezTo>
                  <a:pt x="180" y="144"/>
                  <a:pt x="215" y="179"/>
                  <a:pt x="245" y="208"/>
                </a:cubicBezTo>
                <a:cubicBezTo>
                  <a:pt x="259" y="248"/>
                  <a:pt x="272" y="246"/>
                  <a:pt x="296" y="280"/>
                </a:cubicBezTo>
                <a:cubicBezTo>
                  <a:pt x="304" y="292"/>
                  <a:pt x="315" y="306"/>
                  <a:pt x="327" y="313"/>
                </a:cubicBezTo>
                <a:cubicBezTo>
                  <a:pt x="333" y="317"/>
                  <a:pt x="339" y="340"/>
                  <a:pt x="339" y="340"/>
                </a:cubicBezTo>
                <a:cubicBezTo>
                  <a:pt x="348" y="366"/>
                  <a:pt x="360" y="368"/>
                  <a:pt x="374" y="391"/>
                </a:cubicBezTo>
                <a:cubicBezTo>
                  <a:pt x="386" y="409"/>
                  <a:pt x="416" y="440"/>
                  <a:pt x="431" y="458"/>
                </a:cubicBezTo>
                <a:cubicBezTo>
                  <a:pt x="450" y="482"/>
                  <a:pt x="447" y="510"/>
                  <a:pt x="471" y="526"/>
                </a:cubicBezTo>
                <a:cubicBezTo>
                  <a:pt x="480" y="553"/>
                  <a:pt x="494" y="532"/>
                  <a:pt x="494" y="571"/>
                </a:cubicBezTo>
                <a:cubicBezTo>
                  <a:pt x="494" y="765"/>
                  <a:pt x="512" y="743"/>
                  <a:pt x="326" y="750"/>
                </a:cubicBezTo>
                <a:cubicBezTo>
                  <a:pt x="308" y="752"/>
                  <a:pt x="290" y="757"/>
                  <a:pt x="272" y="756"/>
                </a:cubicBezTo>
                <a:cubicBezTo>
                  <a:pt x="220" y="755"/>
                  <a:pt x="116" y="745"/>
                  <a:pt x="116" y="745"/>
                </a:cubicBezTo>
                <a:cubicBezTo>
                  <a:pt x="75" y="731"/>
                  <a:pt x="60" y="731"/>
                  <a:pt x="19" y="745"/>
                </a:cubicBezTo>
                <a:cubicBezTo>
                  <a:pt x="0" y="646"/>
                  <a:pt x="28" y="594"/>
                  <a:pt x="49" y="513"/>
                </a:cubicBezTo>
                <a:cubicBezTo>
                  <a:pt x="13" y="288"/>
                  <a:pt x="9" y="166"/>
                  <a:pt x="5" y="23"/>
                </a:cubicBezTo>
                <a:cubicBezTo>
                  <a:pt x="4" y="0"/>
                  <a:pt x="44" y="19"/>
                  <a:pt x="23" y="19"/>
                </a:cubicBezTo>
                <a:close/>
              </a:path>
            </a:pathLst>
          </a:custGeom>
          <a:solidFill>
            <a:srgbClr val="FF0000"/>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85" name="Google Shape;1185;p72"/>
          <p:cNvSpPr txBox="1">
            <a:spLocks noGrp="1"/>
          </p:cNvSpPr>
          <p:nvPr>
            <p:ph type="title" idx="4294967295"/>
          </p:nvPr>
        </p:nvSpPr>
        <p:spPr>
          <a:xfrm>
            <a:off x="1600200" y="381000"/>
            <a:ext cx="6781800" cy="8382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The Standard Normal Table</a:t>
            </a:r>
            <a:endParaRPr/>
          </a:p>
        </p:txBody>
      </p:sp>
      <p:sp>
        <p:nvSpPr>
          <p:cNvPr id="1186" name="Google Shape;1186;p72"/>
          <p:cNvSpPr txBox="1">
            <a:spLocks noGrp="1"/>
          </p:cNvSpPr>
          <p:nvPr>
            <p:ph type="body" idx="4294967295"/>
          </p:nvPr>
        </p:nvSpPr>
        <p:spPr>
          <a:xfrm>
            <a:off x="0" y="1828800"/>
            <a:ext cx="9144000" cy="1981200"/>
          </a:xfrm>
          <a:prstGeom prst="rect">
            <a:avLst/>
          </a:prstGeom>
          <a:noFill/>
          <a:ln>
            <a:noFill/>
          </a:ln>
        </p:spPr>
        <p:txBody>
          <a:bodyPr spcFirstLastPara="1" wrap="square" lIns="85325" tIns="42650" rIns="85325" bIns="42650" anchor="t" anchorCtr="0">
            <a:noAutofit/>
          </a:bodyPr>
          <a:lstStyle/>
          <a:p>
            <a:pPr marL="0" lvl="0" indent="-102870" algn="l" rtl="0">
              <a:spcBef>
                <a:spcPts val="0"/>
              </a:spcBef>
              <a:spcAft>
                <a:spcPts val="0"/>
              </a:spcAft>
              <a:buSzPts val="1620"/>
              <a:buChar char="■"/>
            </a:pPr>
            <a:r>
              <a:rPr lang="en-US" sz="2700"/>
              <a:t>  </a:t>
            </a:r>
            <a:r>
              <a:rPr lang="en-US"/>
              <a:t>The Standard Normal table gives the probability from the mean (zero) up to a desired value for z</a:t>
            </a:r>
            <a:endParaRPr/>
          </a:p>
        </p:txBody>
      </p:sp>
      <p:sp>
        <p:nvSpPr>
          <p:cNvPr id="1187" name="Google Shape;1187;p72"/>
          <p:cNvSpPr/>
          <p:nvPr/>
        </p:nvSpPr>
        <p:spPr>
          <a:xfrm>
            <a:off x="4419600" y="4184650"/>
            <a:ext cx="1400175" cy="1149350"/>
          </a:xfrm>
          <a:custGeom>
            <a:avLst/>
            <a:gdLst/>
            <a:ahLst/>
            <a:cxnLst/>
            <a:rect l="l" t="t" r="r" b="b"/>
            <a:pathLst>
              <a:path w="882" h="724" extrusionOk="0">
                <a:moveTo>
                  <a:pt x="0" y="724"/>
                </a:moveTo>
                <a:lnTo>
                  <a:pt x="95" y="716"/>
                </a:lnTo>
                <a:lnTo>
                  <a:pt x="142" y="708"/>
                </a:lnTo>
                <a:lnTo>
                  <a:pt x="189" y="695"/>
                </a:lnTo>
                <a:lnTo>
                  <a:pt x="237" y="679"/>
                </a:lnTo>
                <a:lnTo>
                  <a:pt x="284" y="657"/>
                </a:lnTo>
                <a:lnTo>
                  <a:pt x="331" y="627"/>
                </a:lnTo>
                <a:lnTo>
                  <a:pt x="426" y="544"/>
                </a:lnTo>
                <a:lnTo>
                  <a:pt x="521" y="426"/>
                </a:lnTo>
                <a:lnTo>
                  <a:pt x="616" y="285"/>
                </a:lnTo>
                <a:lnTo>
                  <a:pt x="663" y="213"/>
                </a:lnTo>
                <a:lnTo>
                  <a:pt x="710" y="146"/>
                </a:lnTo>
                <a:lnTo>
                  <a:pt x="757" y="87"/>
                </a:lnTo>
                <a:lnTo>
                  <a:pt x="805" y="42"/>
                </a:lnTo>
                <a:lnTo>
                  <a:pt x="852" y="13"/>
                </a:lnTo>
                <a:lnTo>
                  <a:pt x="882"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188" name="Google Shape;1188;p72"/>
          <p:cNvCxnSpPr/>
          <p:nvPr/>
        </p:nvCxnSpPr>
        <p:spPr>
          <a:xfrm>
            <a:off x="7340600" y="5268913"/>
            <a:ext cx="0" cy="1587"/>
          </a:xfrm>
          <a:prstGeom prst="straightConnector1">
            <a:avLst/>
          </a:prstGeom>
          <a:noFill/>
          <a:ln w="12700" cap="flat" cmpd="sng">
            <a:solidFill>
              <a:srgbClr val="CDCDCD"/>
            </a:solidFill>
            <a:prstDash val="solid"/>
            <a:round/>
            <a:headEnd type="none" w="med" len="med"/>
            <a:tailEnd type="none" w="med" len="med"/>
          </a:ln>
        </p:spPr>
      </p:cxnSp>
      <p:sp>
        <p:nvSpPr>
          <p:cNvPr id="1189" name="Google Shape;1189;p72"/>
          <p:cNvSpPr/>
          <p:nvPr/>
        </p:nvSpPr>
        <p:spPr>
          <a:xfrm>
            <a:off x="7467600" y="5334000"/>
            <a:ext cx="333375"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z</a:t>
            </a:r>
            <a:endParaRPr/>
          </a:p>
        </p:txBody>
      </p:sp>
      <p:sp>
        <p:nvSpPr>
          <p:cNvPr id="1190" name="Google Shape;1190;p72"/>
          <p:cNvSpPr/>
          <p:nvPr/>
        </p:nvSpPr>
        <p:spPr>
          <a:xfrm>
            <a:off x="5638800" y="5410200"/>
            <a:ext cx="479425"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0</a:t>
            </a:r>
            <a:endParaRPr/>
          </a:p>
        </p:txBody>
      </p:sp>
      <p:sp>
        <p:nvSpPr>
          <p:cNvPr id="1191" name="Google Shape;1191;p72"/>
          <p:cNvSpPr/>
          <p:nvPr/>
        </p:nvSpPr>
        <p:spPr>
          <a:xfrm>
            <a:off x="6172200" y="5410200"/>
            <a:ext cx="990600" cy="454025"/>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rgbClr val="339933"/>
                </a:solidFill>
                <a:latin typeface="Arial"/>
                <a:ea typeface="Arial"/>
                <a:cs typeface="Arial"/>
                <a:sym typeface="Arial"/>
              </a:rPr>
              <a:t>2.00</a:t>
            </a:r>
            <a:endParaRPr/>
          </a:p>
        </p:txBody>
      </p:sp>
      <p:cxnSp>
        <p:nvCxnSpPr>
          <p:cNvPr id="1192" name="Google Shape;1192;p72"/>
          <p:cNvCxnSpPr/>
          <p:nvPr/>
        </p:nvCxnSpPr>
        <p:spPr>
          <a:xfrm>
            <a:off x="5791200" y="5334000"/>
            <a:ext cx="762000" cy="0"/>
          </a:xfrm>
          <a:prstGeom prst="straightConnector1">
            <a:avLst/>
          </a:prstGeom>
          <a:noFill/>
          <a:ln w="50800" cap="flat" cmpd="sng">
            <a:solidFill>
              <a:srgbClr val="FF0000"/>
            </a:solidFill>
            <a:prstDash val="solid"/>
            <a:round/>
            <a:headEnd type="none" w="med" len="med"/>
            <a:tailEnd type="none" w="med" len="med"/>
          </a:ln>
        </p:spPr>
      </p:cxnSp>
      <p:cxnSp>
        <p:nvCxnSpPr>
          <p:cNvPr id="1193" name="Google Shape;1193;p72"/>
          <p:cNvCxnSpPr/>
          <p:nvPr/>
        </p:nvCxnSpPr>
        <p:spPr>
          <a:xfrm>
            <a:off x="5791200" y="5334000"/>
            <a:ext cx="762000" cy="0"/>
          </a:xfrm>
          <a:prstGeom prst="straightConnector1">
            <a:avLst/>
          </a:prstGeom>
          <a:noFill/>
          <a:ln w="50800" cap="flat" cmpd="sng">
            <a:solidFill>
              <a:srgbClr val="FF0000"/>
            </a:solidFill>
            <a:prstDash val="solid"/>
            <a:round/>
            <a:headEnd type="none" w="med" len="med"/>
            <a:tailEnd type="none" w="med" len="med"/>
          </a:ln>
        </p:spPr>
      </p:cxnSp>
      <p:cxnSp>
        <p:nvCxnSpPr>
          <p:cNvPr id="1194" name="Google Shape;1194;p72"/>
          <p:cNvCxnSpPr/>
          <p:nvPr/>
        </p:nvCxnSpPr>
        <p:spPr>
          <a:xfrm>
            <a:off x="5791200" y="5334000"/>
            <a:ext cx="762000" cy="0"/>
          </a:xfrm>
          <a:prstGeom prst="straightConnector1">
            <a:avLst/>
          </a:prstGeom>
          <a:noFill/>
          <a:ln w="152400" cap="flat" cmpd="sng">
            <a:solidFill>
              <a:srgbClr val="FF0000"/>
            </a:solidFill>
            <a:prstDash val="solid"/>
            <a:round/>
            <a:headEnd type="none" w="med" len="med"/>
            <a:tailEnd type="none" w="med" len="med"/>
          </a:ln>
        </p:spPr>
      </p:cxnSp>
      <p:sp>
        <p:nvSpPr>
          <p:cNvPr id="1195" name="Google Shape;1195;p72"/>
          <p:cNvSpPr txBox="1"/>
          <p:nvPr/>
        </p:nvSpPr>
        <p:spPr>
          <a:xfrm>
            <a:off x="6629400" y="4038600"/>
            <a:ext cx="9906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.4772</a:t>
            </a:r>
            <a:endParaRPr/>
          </a:p>
        </p:txBody>
      </p:sp>
      <p:cxnSp>
        <p:nvCxnSpPr>
          <p:cNvPr id="1196" name="Google Shape;1196;p72"/>
          <p:cNvCxnSpPr/>
          <p:nvPr/>
        </p:nvCxnSpPr>
        <p:spPr>
          <a:xfrm flipH="1">
            <a:off x="6172200" y="4495800"/>
            <a:ext cx="609600" cy="381000"/>
          </a:xfrm>
          <a:prstGeom prst="straightConnector1">
            <a:avLst/>
          </a:prstGeom>
          <a:noFill/>
          <a:ln w="12700" cap="flat" cmpd="sng">
            <a:solidFill>
              <a:schemeClr val="dk1"/>
            </a:solidFill>
            <a:prstDash val="solid"/>
            <a:round/>
            <a:headEnd type="none" w="med" len="med"/>
            <a:tailEnd type="triangle" w="med" len="med"/>
          </a:ln>
        </p:spPr>
      </p:cxnSp>
      <p:sp>
        <p:nvSpPr>
          <p:cNvPr id="1197" name="Google Shape;1197;p72"/>
          <p:cNvSpPr/>
          <p:nvPr/>
        </p:nvSpPr>
        <p:spPr>
          <a:xfrm>
            <a:off x="5832475" y="4187825"/>
            <a:ext cx="1384300" cy="1139825"/>
          </a:xfrm>
          <a:custGeom>
            <a:avLst/>
            <a:gdLst/>
            <a:ahLst/>
            <a:cxnLst/>
            <a:rect l="l" t="t" r="r" b="b"/>
            <a:pathLst>
              <a:path w="872" h="718" extrusionOk="0">
                <a:moveTo>
                  <a:pt x="872" y="718"/>
                </a:moveTo>
                <a:lnTo>
                  <a:pt x="777" y="710"/>
                </a:lnTo>
                <a:lnTo>
                  <a:pt x="730" y="702"/>
                </a:lnTo>
                <a:lnTo>
                  <a:pt x="683" y="689"/>
                </a:lnTo>
                <a:lnTo>
                  <a:pt x="635" y="673"/>
                </a:lnTo>
                <a:lnTo>
                  <a:pt x="587" y="651"/>
                </a:lnTo>
                <a:lnTo>
                  <a:pt x="540" y="621"/>
                </a:lnTo>
                <a:lnTo>
                  <a:pt x="445" y="538"/>
                </a:lnTo>
                <a:lnTo>
                  <a:pt x="350" y="420"/>
                </a:lnTo>
                <a:lnTo>
                  <a:pt x="256" y="279"/>
                </a:lnTo>
                <a:lnTo>
                  <a:pt x="208" y="207"/>
                </a:lnTo>
                <a:lnTo>
                  <a:pt x="161" y="140"/>
                </a:lnTo>
                <a:lnTo>
                  <a:pt x="114" y="81"/>
                </a:lnTo>
                <a:lnTo>
                  <a:pt x="66" y="36"/>
                </a:lnTo>
                <a:lnTo>
                  <a:pt x="18" y="10"/>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98" name="Google Shape;1198;p72"/>
          <p:cNvSpPr/>
          <p:nvPr/>
        </p:nvSpPr>
        <p:spPr>
          <a:xfrm>
            <a:off x="4114800" y="5410200"/>
            <a:ext cx="3422650" cy="1588"/>
          </a:xfrm>
          <a:custGeom>
            <a:avLst/>
            <a:gdLst/>
            <a:ahLst/>
            <a:cxnLst/>
            <a:rect l="l" t="t" r="r" b="b"/>
            <a:pathLst>
              <a:path w="2156" h="1" extrusionOk="0">
                <a:moveTo>
                  <a:pt x="0" y="0"/>
                </a:moveTo>
                <a:lnTo>
                  <a:pt x="72" y="1"/>
                </a:lnTo>
                <a:lnTo>
                  <a:pt x="2156" y="1"/>
                </a:lnTo>
              </a:path>
            </a:pathLst>
          </a:custGeom>
          <a:noFill/>
          <a:ln w="25400" cap="rnd"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99" name="Google Shape;1199;p72"/>
          <p:cNvSpPr/>
          <p:nvPr/>
        </p:nvSpPr>
        <p:spPr>
          <a:xfrm>
            <a:off x="838200" y="4191000"/>
            <a:ext cx="3429000" cy="904875"/>
          </a:xfrm>
          <a:prstGeom prst="rect">
            <a:avLst/>
          </a:prstGeom>
          <a:solidFill>
            <a:srgbClr val="FFFFCD"/>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folHlink"/>
              </a:buClr>
              <a:buSzPts val="1440"/>
              <a:buFont typeface="Noto Sans Symbols"/>
              <a:buNone/>
            </a:pPr>
            <a:r>
              <a:rPr lang="en-US" sz="2400">
                <a:solidFill>
                  <a:schemeClr val="folHlink"/>
                </a:solidFill>
                <a:latin typeface="Arial"/>
                <a:ea typeface="Arial"/>
                <a:cs typeface="Arial"/>
                <a:sym typeface="Arial"/>
              </a:rPr>
              <a:t>Example:</a:t>
            </a:r>
            <a:r>
              <a:rPr lang="en-US" sz="2400">
                <a:solidFill>
                  <a:schemeClr val="dk1"/>
                </a:solidFill>
                <a:latin typeface="Arial"/>
                <a:ea typeface="Arial"/>
                <a:cs typeface="Arial"/>
                <a:sym typeface="Arial"/>
              </a:rPr>
              <a:t> </a:t>
            </a:r>
            <a:endParaRPr/>
          </a:p>
          <a:p>
            <a:pPr marL="0" marR="0" lvl="0" indent="0" algn="l" rtl="0">
              <a:spcBef>
                <a:spcPts val="480"/>
              </a:spcBef>
              <a:spcAft>
                <a:spcPts val="0"/>
              </a:spcAft>
              <a:buClr>
                <a:schemeClr val="folHlink"/>
              </a:buClr>
              <a:buSzPts val="1440"/>
              <a:buFont typeface="Noto Sans Symbols"/>
              <a:buNone/>
            </a:pPr>
            <a:r>
              <a:rPr lang="en-US" sz="2400">
                <a:solidFill>
                  <a:schemeClr val="dk1"/>
                </a:solidFill>
                <a:latin typeface="Arial"/>
                <a:ea typeface="Arial"/>
                <a:cs typeface="Arial"/>
                <a:sym typeface="Arial"/>
              </a:rPr>
              <a:t>P(0 &lt; z &lt; 2.00) = .4772</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203"/>
        <p:cNvGrpSpPr/>
        <p:nvPr/>
      </p:nvGrpSpPr>
      <p:grpSpPr>
        <a:xfrm>
          <a:off x="0" y="0"/>
          <a:ext cx="0" cy="0"/>
          <a:chOff x="0" y="0"/>
          <a:chExt cx="0" cy="0"/>
        </a:xfrm>
      </p:grpSpPr>
      <p:sp>
        <p:nvSpPr>
          <p:cNvPr id="1204" name="Google Shape;1204;p73"/>
          <p:cNvSpPr/>
          <p:nvPr/>
        </p:nvSpPr>
        <p:spPr>
          <a:xfrm>
            <a:off x="4038600" y="2743200"/>
            <a:ext cx="2590800" cy="533400"/>
          </a:xfrm>
          <a:prstGeom prst="rect">
            <a:avLst/>
          </a:prstGeom>
          <a:solidFill>
            <a:srgbClr val="B8FAC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205" name="Google Shape;1205;p73"/>
          <p:cNvSpPr/>
          <p:nvPr/>
        </p:nvSpPr>
        <p:spPr>
          <a:xfrm>
            <a:off x="3276600" y="3352800"/>
            <a:ext cx="533400" cy="1828800"/>
          </a:xfrm>
          <a:prstGeom prst="rect">
            <a:avLst/>
          </a:prstGeom>
          <a:solidFill>
            <a:srgbClr val="8ED8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206" name="Google Shape;1206;p73"/>
          <p:cNvSpPr txBox="1">
            <a:spLocks noGrp="1"/>
          </p:cNvSpPr>
          <p:nvPr>
            <p:ph type="title" idx="4294967295"/>
          </p:nvPr>
        </p:nvSpPr>
        <p:spPr>
          <a:xfrm>
            <a:off x="1447800" y="304800"/>
            <a:ext cx="6781800" cy="8382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The Standard Normal Table</a:t>
            </a:r>
            <a:endParaRPr/>
          </a:p>
        </p:txBody>
      </p:sp>
      <p:sp>
        <p:nvSpPr>
          <p:cNvPr id="1207" name="Google Shape;1207;p73"/>
          <p:cNvSpPr txBox="1">
            <a:spLocks noGrp="1"/>
          </p:cNvSpPr>
          <p:nvPr>
            <p:ph type="body" idx="4294967295"/>
          </p:nvPr>
        </p:nvSpPr>
        <p:spPr>
          <a:xfrm>
            <a:off x="4800600" y="4114800"/>
            <a:ext cx="3657600" cy="1600200"/>
          </a:xfrm>
          <a:prstGeom prst="rect">
            <a:avLst/>
          </a:prstGeom>
          <a:noFill/>
          <a:ln>
            <a:noFill/>
          </a:ln>
        </p:spPr>
        <p:txBody>
          <a:bodyPr spcFirstLastPara="1" wrap="square" lIns="85325" tIns="42650" rIns="85325" bIns="42650" anchor="t" anchorCtr="0">
            <a:noAutofit/>
          </a:bodyPr>
          <a:lstStyle/>
          <a:p>
            <a:pPr marL="571500" lvl="0" indent="-571500" algn="l" rtl="0">
              <a:spcBef>
                <a:spcPts val="0"/>
              </a:spcBef>
              <a:spcAft>
                <a:spcPts val="0"/>
              </a:spcAft>
              <a:buSzPts val="1380"/>
              <a:buFont typeface="Noto Sans Symbols"/>
              <a:buNone/>
            </a:pPr>
            <a:r>
              <a:rPr lang="en-US" sz="2300"/>
              <a:t>      </a:t>
            </a:r>
            <a:r>
              <a:rPr lang="en-US" sz="2400"/>
              <a:t>The value within the table gives the </a:t>
            </a:r>
            <a:r>
              <a:rPr lang="en-US" sz="2400">
                <a:solidFill>
                  <a:srgbClr val="FF3300"/>
                </a:solidFill>
              </a:rPr>
              <a:t>probability </a:t>
            </a:r>
            <a:r>
              <a:rPr lang="en-US" sz="2400"/>
              <a:t>from z = 0 up to the desired z value</a:t>
            </a:r>
            <a:endParaRPr/>
          </a:p>
        </p:txBody>
      </p:sp>
      <p:pic>
        <p:nvPicPr>
          <p:cNvPr id="1208" name="Google Shape;1208;p73"/>
          <p:cNvPicPr preferRelativeResize="0"/>
          <p:nvPr/>
        </p:nvPicPr>
        <p:blipFill rotWithShape="1">
          <a:blip r:embed="rId3">
            <a:alphaModFix/>
          </a:blip>
          <a:srcRect/>
          <a:stretch/>
        </p:blipFill>
        <p:spPr>
          <a:xfrm>
            <a:off x="3276600" y="2819400"/>
            <a:ext cx="3679825" cy="2381250"/>
          </a:xfrm>
          <a:prstGeom prst="rect">
            <a:avLst/>
          </a:prstGeom>
          <a:noFill/>
          <a:ln>
            <a:noFill/>
          </a:ln>
        </p:spPr>
      </p:pic>
      <p:cxnSp>
        <p:nvCxnSpPr>
          <p:cNvPr id="1209" name="Google Shape;1209;p73"/>
          <p:cNvCxnSpPr/>
          <p:nvPr/>
        </p:nvCxnSpPr>
        <p:spPr>
          <a:xfrm rot="10800000">
            <a:off x="4876800" y="5029200"/>
            <a:ext cx="457200" cy="76200"/>
          </a:xfrm>
          <a:prstGeom prst="straightConnector1">
            <a:avLst/>
          </a:prstGeom>
          <a:noFill/>
          <a:ln w="38100" cap="flat" cmpd="sng">
            <a:solidFill>
              <a:srgbClr val="FF0000"/>
            </a:solidFill>
            <a:prstDash val="solid"/>
            <a:round/>
            <a:headEnd type="none" w="med" len="med"/>
            <a:tailEnd type="triangle" w="med" len="med"/>
          </a:ln>
        </p:spPr>
      </p:cxnSp>
      <p:sp>
        <p:nvSpPr>
          <p:cNvPr id="1210" name="Google Shape;1210;p73"/>
          <p:cNvSpPr txBox="1"/>
          <p:nvPr/>
        </p:nvSpPr>
        <p:spPr>
          <a:xfrm>
            <a:off x="4114800" y="4800600"/>
            <a:ext cx="990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3300"/>
                </a:solidFill>
                <a:latin typeface="Arial"/>
                <a:ea typeface="Arial"/>
                <a:cs typeface="Arial"/>
                <a:sym typeface="Arial"/>
              </a:rPr>
              <a:t>.4772</a:t>
            </a:r>
            <a:endParaRPr/>
          </a:p>
        </p:txBody>
      </p:sp>
      <p:sp>
        <p:nvSpPr>
          <p:cNvPr id="1211" name="Google Shape;1211;p73"/>
          <p:cNvSpPr txBox="1"/>
          <p:nvPr/>
        </p:nvSpPr>
        <p:spPr>
          <a:xfrm>
            <a:off x="3200400" y="5638800"/>
            <a:ext cx="685800"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lt1"/>
                </a:solidFill>
                <a:latin typeface="Arial"/>
                <a:ea typeface="Arial"/>
                <a:cs typeface="Arial"/>
                <a:sym typeface="Arial"/>
              </a:rPr>
              <a:t>2.0</a:t>
            </a:r>
            <a:endParaRPr/>
          </a:p>
        </p:txBody>
      </p:sp>
      <p:sp>
        <p:nvSpPr>
          <p:cNvPr id="1212" name="Google Shape;1212;p73"/>
          <p:cNvSpPr txBox="1"/>
          <p:nvPr/>
        </p:nvSpPr>
        <p:spPr>
          <a:xfrm>
            <a:off x="1295400" y="5638800"/>
            <a:ext cx="3505200" cy="466725"/>
          </a:xfrm>
          <a:prstGeom prst="rect">
            <a:avLst/>
          </a:prstGeom>
          <a:solidFill>
            <a:srgbClr val="FFFFCD"/>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lt2"/>
                </a:solidFill>
                <a:latin typeface="Arial"/>
                <a:ea typeface="Arial"/>
                <a:cs typeface="Arial"/>
                <a:sym typeface="Arial"/>
              </a:rPr>
              <a:t>P(0 &lt; z &lt; 2.00) =</a:t>
            </a:r>
            <a:r>
              <a:rPr lang="en-US" sz="2400" b="1">
                <a:solidFill>
                  <a:srgbClr val="FF3300"/>
                </a:solidFill>
                <a:latin typeface="Arial"/>
                <a:ea typeface="Arial"/>
                <a:cs typeface="Arial"/>
                <a:sym typeface="Arial"/>
              </a:rPr>
              <a:t> .4772</a:t>
            </a:r>
            <a:endParaRPr/>
          </a:p>
        </p:txBody>
      </p:sp>
      <p:sp>
        <p:nvSpPr>
          <p:cNvPr id="1213" name="Google Shape;1213;p73"/>
          <p:cNvSpPr/>
          <p:nvPr/>
        </p:nvSpPr>
        <p:spPr>
          <a:xfrm>
            <a:off x="381000" y="3429000"/>
            <a:ext cx="2819400" cy="1676400"/>
          </a:xfrm>
          <a:prstGeom prst="rect">
            <a:avLst/>
          </a:prstGeom>
          <a:noFill/>
          <a:ln>
            <a:noFill/>
          </a:ln>
        </p:spPr>
        <p:txBody>
          <a:bodyPr spcFirstLastPara="1" wrap="square" lIns="85325" tIns="42650" rIns="85325" bIns="42650" anchor="t" anchorCtr="0">
            <a:noAutofit/>
          </a:bodyPr>
          <a:lstStyle/>
          <a:p>
            <a:pPr marL="571500" marR="0" lvl="0" indent="-571500" algn="l" rtl="0">
              <a:spcBef>
                <a:spcPts val="0"/>
              </a:spcBef>
              <a:spcAft>
                <a:spcPts val="0"/>
              </a:spcAft>
              <a:buClr>
                <a:schemeClr val="folHlink"/>
              </a:buClr>
              <a:buSzPts val="1380"/>
              <a:buFont typeface="Noto Sans Symbols"/>
              <a:buNone/>
            </a:pPr>
            <a:r>
              <a:rPr lang="en-US" sz="23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The </a:t>
            </a:r>
            <a:r>
              <a:rPr lang="en-US" sz="2400">
                <a:solidFill>
                  <a:schemeClr val="folHlink"/>
                </a:solidFill>
                <a:latin typeface="Arial"/>
                <a:ea typeface="Arial"/>
                <a:cs typeface="Arial"/>
                <a:sym typeface="Arial"/>
              </a:rPr>
              <a:t>row </a:t>
            </a:r>
            <a:r>
              <a:rPr lang="en-US" sz="2400">
                <a:solidFill>
                  <a:schemeClr val="dk1"/>
                </a:solidFill>
                <a:latin typeface="Arial"/>
                <a:ea typeface="Arial"/>
                <a:cs typeface="Arial"/>
                <a:sym typeface="Arial"/>
              </a:rPr>
              <a:t>shows the value of z to the first decimal point</a:t>
            </a:r>
            <a:endParaRPr/>
          </a:p>
        </p:txBody>
      </p:sp>
      <p:sp>
        <p:nvSpPr>
          <p:cNvPr id="1214" name="Google Shape;1214;p73"/>
          <p:cNvSpPr/>
          <p:nvPr/>
        </p:nvSpPr>
        <p:spPr>
          <a:xfrm>
            <a:off x="3581400" y="1828800"/>
            <a:ext cx="4800600" cy="990600"/>
          </a:xfrm>
          <a:prstGeom prst="rect">
            <a:avLst/>
          </a:prstGeom>
          <a:noFill/>
          <a:ln>
            <a:noFill/>
          </a:ln>
        </p:spPr>
        <p:txBody>
          <a:bodyPr spcFirstLastPara="1" wrap="square" lIns="85325" tIns="42650" rIns="85325" bIns="42650" anchor="t" anchorCtr="0">
            <a:noAutofit/>
          </a:bodyPr>
          <a:lstStyle/>
          <a:p>
            <a:pPr marL="571500" marR="0" lvl="0" indent="-571500" algn="l" rtl="0">
              <a:spcBef>
                <a:spcPts val="0"/>
              </a:spcBef>
              <a:spcAft>
                <a:spcPts val="0"/>
              </a:spcAft>
              <a:buClr>
                <a:schemeClr val="folHlink"/>
              </a:buClr>
              <a:buSzPts val="1380"/>
              <a:buFont typeface="Noto Sans Symbols"/>
              <a:buNone/>
            </a:pPr>
            <a:r>
              <a:rPr lang="en-US" sz="23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The </a:t>
            </a:r>
            <a:r>
              <a:rPr lang="en-US" sz="2400">
                <a:solidFill>
                  <a:srgbClr val="339933"/>
                </a:solidFill>
                <a:latin typeface="Arial"/>
                <a:ea typeface="Arial"/>
                <a:cs typeface="Arial"/>
                <a:sym typeface="Arial"/>
              </a:rPr>
              <a:t>column</a:t>
            </a:r>
            <a:r>
              <a:rPr lang="en-US" sz="2400">
                <a:solidFill>
                  <a:schemeClr val="hlink"/>
                </a:solidFill>
                <a:latin typeface="Arial"/>
                <a:ea typeface="Arial"/>
                <a:cs typeface="Arial"/>
                <a:sym typeface="Arial"/>
              </a:rPr>
              <a:t> </a:t>
            </a:r>
            <a:r>
              <a:rPr lang="en-US" sz="2400">
                <a:solidFill>
                  <a:schemeClr val="dk1"/>
                </a:solidFill>
                <a:latin typeface="Arial"/>
                <a:ea typeface="Arial"/>
                <a:cs typeface="Arial"/>
                <a:sym typeface="Arial"/>
              </a:rPr>
              <a:t>gives the value of z to the second decimal point</a:t>
            </a:r>
            <a:endParaRPr/>
          </a:p>
        </p:txBody>
      </p:sp>
      <p:cxnSp>
        <p:nvCxnSpPr>
          <p:cNvPr id="1215" name="Google Shape;1215;p73"/>
          <p:cNvCxnSpPr/>
          <p:nvPr/>
        </p:nvCxnSpPr>
        <p:spPr>
          <a:xfrm>
            <a:off x="4419600" y="3200400"/>
            <a:ext cx="0" cy="1600200"/>
          </a:xfrm>
          <a:prstGeom prst="straightConnector1">
            <a:avLst/>
          </a:prstGeom>
          <a:noFill/>
          <a:ln w="28575" cap="rnd" cmpd="sng">
            <a:solidFill>
              <a:schemeClr val="lt2"/>
            </a:solidFill>
            <a:prstDash val="dot"/>
            <a:round/>
            <a:headEnd type="none" w="med" len="med"/>
            <a:tailEnd type="triangle" w="med" len="med"/>
          </a:ln>
        </p:spPr>
      </p:cxnSp>
      <p:cxnSp>
        <p:nvCxnSpPr>
          <p:cNvPr id="1216" name="Google Shape;1216;p73"/>
          <p:cNvCxnSpPr/>
          <p:nvPr/>
        </p:nvCxnSpPr>
        <p:spPr>
          <a:xfrm>
            <a:off x="3810000" y="4953000"/>
            <a:ext cx="381000" cy="0"/>
          </a:xfrm>
          <a:prstGeom prst="straightConnector1">
            <a:avLst/>
          </a:prstGeom>
          <a:noFill/>
          <a:ln w="28575" cap="rnd" cmpd="sng">
            <a:solidFill>
              <a:schemeClr val="lt2"/>
            </a:solidFill>
            <a:prstDash val="dot"/>
            <a:round/>
            <a:headEnd type="none" w="med" len="med"/>
            <a:tailEnd type="triangle" w="med" len="med"/>
          </a:ln>
        </p:spPr>
      </p:cxnSp>
      <p:sp>
        <p:nvSpPr>
          <p:cNvPr id="1217" name="Google Shape;1217;p73"/>
          <p:cNvSpPr txBox="1"/>
          <p:nvPr/>
        </p:nvSpPr>
        <p:spPr>
          <a:xfrm>
            <a:off x="3124200" y="4800600"/>
            <a:ext cx="838200" cy="3968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chemeClr val="folHlink"/>
                </a:solidFill>
                <a:latin typeface="Arial"/>
                <a:ea typeface="Arial"/>
                <a:cs typeface="Arial"/>
                <a:sym typeface="Arial"/>
              </a:rPr>
              <a:t>2.0</a:t>
            </a:r>
            <a:endParaRPr/>
          </a:p>
        </p:txBody>
      </p:sp>
      <p:sp>
        <p:nvSpPr>
          <p:cNvPr id="1218" name="Google Shape;1218;p73"/>
          <p:cNvSpPr txBox="1"/>
          <p:nvPr/>
        </p:nvSpPr>
        <p:spPr>
          <a:xfrm>
            <a:off x="3352800" y="4191000"/>
            <a:ext cx="381000" cy="641350"/>
          </a:xfrm>
          <a:prstGeom prst="rect">
            <a:avLst/>
          </a:prstGeom>
          <a:noFill/>
          <a:ln>
            <a:noFill/>
          </a:ln>
        </p:spPr>
        <p:txBody>
          <a:bodyPr spcFirstLastPara="1" wrap="square" lIns="91425" tIns="45700" rIns="91425" bIns="45700" anchor="t" anchorCtr="0">
            <a:spAutoFit/>
          </a:bodyPr>
          <a:lstStyle/>
          <a:p>
            <a:pPr marL="0" marR="0" lvl="0" indent="0" algn="ctr" rtl="0">
              <a:lnSpc>
                <a:spcPct val="40000"/>
              </a:lnSpc>
              <a:spcBef>
                <a:spcPts val="0"/>
              </a:spcBef>
              <a:spcAft>
                <a:spcPts val="0"/>
              </a:spcAft>
              <a:buNone/>
            </a:pPr>
            <a:r>
              <a:rPr lang="en-US" sz="2400">
                <a:solidFill>
                  <a:schemeClr val="folHlink"/>
                </a:solidFill>
                <a:latin typeface="Arial"/>
                <a:ea typeface="Arial"/>
                <a:cs typeface="Arial"/>
                <a:sym typeface="Arial"/>
              </a:rPr>
              <a:t>.</a:t>
            </a:r>
            <a:endParaRPr/>
          </a:p>
          <a:p>
            <a:pPr marL="0" marR="0" lvl="0" indent="0" algn="ctr" rtl="0">
              <a:lnSpc>
                <a:spcPct val="40000"/>
              </a:lnSpc>
              <a:spcBef>
                <a:spcPts val="360"/>
              </a:spcBef>
              <a:spcAft>
                <a:spcPts val="0"/>
              </a:spcAft>
              <a:buNone/>
            </a:pPr>
            <a:r>
              <a:rPr lang="en-US" sz="2400">
                <a:solidFill>
                  <a:schemeClr val="folHlink"/>
                </a:solidFill>
                <a:latin typeface="Arial"/>
                <a:ea typeface="Arial"/>
                <a:cs typeface="Arial"/>
                <a:sym typeface="Arial"/>
              </a:rPr>
              <a:t>.</a:t>
            </a:r>
            <a:endParaRPr/>
          </a:p>
          <a:p>
            <a:pPr marL="0" marR="0" lvl="0" indent="0" algn="ctr" rtl="0">
              <a:lnSpc>
                <a:spcPct val="40000"/>
              </a:lnSpc>
              <a:spcBef>
                <a:spcPts val="360"/>
              </a:spcBef>
              <a:spcAft>
                <a:spcPts val="0"/>
              </a:spcAft>
              <a:buNone/>
            </a:pPr>
            <a:r>
              <a:rPr lang="en-US" sz="2400">
                <a:solidFill>
                  <a:schemeClr val="folHlink"/>
                </a:solidFill>
                <a:latin typeface="Arial"/>
                <a:ea typeface="Arial"/>
                <a:cs typeface="Arial"/>
                <a:sym typeface="Arial"/>
              </a:rPr>
              <a:t>.</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74"/>
          <p:cNvSpPr txBox="1">
            <a:spLocks noGrp="1"/>
          </p:cNvSpPr>
          <p:nvPr>
            <p:ph type="title"/>
          </p:nvPr>
        </p:nvSpPr>
        <p:spPr>
          <a:xfrm>
            <a:off x="1143000" y="152400"/>
            <a:ext cx="6781800" cy="1143000"/>
          </a:xfrm>
          <a:prstGeom prst="rect">
            <a:avLst/>
          </a:prstGeom>
          <a:noFill/>
          <a:ln>
            <a:noFill/>
          </a:ln>
        </p:spPr>
        <p:txBody>
          <a:bodyPr spcFirstLastPara="1" wrap="square" lIns="85325" tIns="42650" rIns="85325" bIns="42650" anchor="b" anchorCtr="0">
            <a:noAutofit/>
          </a:bodyPr>
          <a:lstStyle/>
          <a:p>
            <a:pPr marL="0" lvl="0" indent="0" algn="ctr" rtl="0">
              <a:lnSpc>
                <a:spcPct val="85000"/>
              </a:lnSpc>
              <a:spcBef>
                <a:spcPts val="0"/>
              </a:spcBef>
              <a:spcAft>
                <a:spcPts val="0"/>
              </a:spcAft>
              <a:buNone/>
            </a:pPr>
            <a:r>
              <a:rPr lang="en-US"/>
              <a:t>General Procedure for Finding Probabilities</a:t>
            </a:r>
            <a:endParaRPr/>
          </a:p>
        </p:txBody>
      </p:sp>
      <p:sp>
        <p:nvSpPr>
          <p:cNvPr id="1224" name="Google Shape;1224;p74"/>
          <p:cNvSpPr txBox="1">
            <a:spLocks noGrp="1"/>
          </p:cNvSpPr>
          <p:nvPr>
            <p:ph type="body" idx="2"/>
          </p:nvPr>
        </p:nvSpPr>
        <p:spPr>
          <a:xfrm>
            <a:off x="990600" y="3048000"/>
            <a:ext cx="7162800" cy="3200400"/>
          </a:xfrm>
          <a:prstGeom prst="rect">
            <a:avLst/>
          </a:prstGeom>
          <a:noFill/>
          <a:ln>
            <a:noFill/>
          </a:ln>
        </p:spPr>
        <p:txBody>
          <a:bodyPr spcFirstLastPara="1" wrap="square" lIns="85325" tIns="42650" rIns="85325" bIns="42650" anchor="t" anchorCtr="0">
            <a:noAutofit/>
          </a:bodyPr>
          <a:lstStyle/>
          <a:p>
            <a:pPr marL="0" lvl="0" indent="-121920" algn="l" rtl="0">
              <a:lnSpc>
                <a:spcPct val="95000"/>
              </a:lnSpc>
              <a:spcBef>
                <a:spcPts val="0"/>
              </a:spcBef>
              <a:spcAft>
                <a:spcPts val="0"/>
              </a:spcAft>
              <a:buSzPts val="1920"/>
              <a:buChar char="■"/>
            </a:pPr>
            <a:r>
              <a:rPr lang="en-US" sz="2400">
                <a:solidFill>
                  <a:srgbClr val="F8F8F8"/>
                </a:solidFill>
              </a:rPr>
              <a:t>  </a:t>
            </a:r>
            <a:r>
              <a:rPr lang="en-US"/>
              <a:t>Draw the normal curve for the problem in</a:t>
            </a:r>
            <a:endParaRPr/>
          </a:p>
          <a:p>
            <a:pPr marL="0" lvl="0" indent="0" algn="l" rtl="0">
              <a:lnSpc>
                <a:spcPct val="95000"/>
              </a:lnSpc>
              <a:spcBef>
                <a:spcPts val="560"/>
              </a:spcBef>
              <a:spcAft>
                <a:spcPts val="0"/>
              </a:spcAft>
              <a:buSzPts val="1680"/>
              <a:buFont typeface="Noto Sans Symbols"/>
              <a:buNone/>
            </a:pPr>
            <a:r>
              <a:rPr lang="en-US"/>
              <a:t>              terms of x</a:t>
            </a:r>
            <a:endParaRPr/>
          </a:p>
          <a:p>
            <a:pPr marL="0" lvl="0" indent="0" algn="l" rtl="0">
              <a:lnSpc>
                <a:spcPct val="95000"/>
              </a:lnSpc>
              <a:spcBef>
                <a:spcPts val="560"/>
              </a:spcBef>
              <a:spcAft>
                <a:spcPts val="0"/>
              </a:spcAft>
              <a:buSzPts val="1680"/>
              <a:buNone/>
            </a:pPr>
            <a:endParaRPr/>
          </a:p>
          <a:p>
            <a:pPr marL="0" lvl="0" indent="-106679" algn="l" rtl="0">
              <a:lnSpc>
                <a:spcPct val="55000"/>
              </a:lnSpc>
              <a:spcBef>
                <a:spcPts val="560"/>
              </a:spcBef>
              <a:spcAft>
                <a:spcPts val="0"/>
              </a:spcAft>
              <a:buSzPts val="1680"/>
              <a:buChar char="■"/>
            </a:pPr>
            <a:r>
              <a:rPr lang="en-US"/>
              <a:t>  Translate x-values to z-values</a:t>
            </a:r>
            <a:endParaRPr/>
          </a:p>
          <a:p>
            <a:pPr marL="0" lvl="0" indent="0" algn="l" rtl="0">
              <a:lnSpc>
                <a:spcPct val="95000"/>
              </a:lnSpc>
              <a:spcBef>
                <a:spcPts val="560"/>
              </a:spcBef>
              <a:spcAft>
                <a:spcPts val="0"/>
              </a:spcAft>
              <a:buSzPts val="1680"/>
              <a:buNone/>
            </a:pPr>
            <a:endParaRPr/>
          </a:p>
          <a:p>
            <a:pPr marL="0" lvl="0" indent="-106679" algn="l" rtl="0">
              <a:lnSpc>
                <a:spcPct val="95000"/>
              </a:lnSpc>
              <a:spcBef>
                <a:spcPts val="560"/>
              </a:spcBef>
              <a:spcAft>
                <a:spcPts val="0"/>
              </a:spcAft>
              <a:buSzPts val="1680"/>
              <a:buChar char="■"/>
            </a:pPr>
            <a:r>
              <a:rPr lang="en-US"/>
              <a:t>  Use the Standard Normal Table</a:t>
            </a:r>
            <a:endParaRPr sz="3200"/>
          </a:p>
        </p:txBody>
      </p:sp>
      <p:sp>
        <p:nvSpPr>
          <p:cNvPr id="1225" name="Google Shape;1225;p74"/>
          <p:cNvSpPr txBox="1"/>
          <p:nvPr/>
        </p:nvSpPr>
        <p:spPr>
          <a:xfrm>
            <a:off x="1066800" y="1828800"/>
            <a:ext cx="7010400" cy="9461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folHlink"/>
                </a:solidFill>
                <a:latin typeface="Arial"/>
                <a:ea typeface="Arial"/>
                <a:cs typeface="Arial"/>
                <a:sym typeface="Arial"/>
              </a:rPr>
              <a:t>To find  P(a &lt; x &lt; b)  when  x  is distributed normally:</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229"/>
        <p:cNvGrpSpPr/>
        <p:nvPr/>
      </p:nvGrpSpPr>
      <p:grpSpPr>
        <a:xfrm>
          <a:off x="0" y="0"/>
          <a:ext cx="0" cy="0"/>
          <a:chOff x="0" y="0"/>
          <a:chExt cx="0" cy="0"/>
        </a:xfrm>
      </p:grpSpPr>
      <p:sp>
        <p:nvSpPr>
          <p:cNvPr id="1230" name="Google Shape;1230;p75"/>
          <p:cNvSpPr/>
          <p:nvPr/>
        </p:nvSpPr>
        <p:spPr>
          <a:xfrm>
            <a:off x="6505575" y="2892425"/>
            <a:ext cx="311150" cy="1654175"/>
          </a:xfrm>
          <a:custGeom>
            <a:avLst/>
            <a:gdLst/>
            <a:ahLst/>
            <a:cxnLst/>
            <a:rect l="l" t="t" r="r" b="b"/>
            <a:pathLst>
              <a:path w="196" h="1042" extrusionOk="0">
                <a:moveTo>
                  <a:pt x="2" y="1040"/>
                </a:moveTo>
                <a:lnTo>
                  <a:pt x="0" y="0"/>
                </a:lnTo>
                <a:lnTo>
                  <a:pt x="30" y="2"/>
                </a:lnTo>
                <a:lnTo>
                  <a:pt x="66" y="18"/>
                </a:lnTo>
                <a:lnTo>
                  <a:pt x="102" y="51"/>
                </a:lnTo>
                <a:lnTo>
                  <a:pt x="138" y="85"/>
                </a:lnTo>
                <a:lnTo>
                  <a:pt x="174" y="136"/>
                </a:lnTo>
                <a:lnTo>
                  <a:pt x="196" y="158"/>
                </a:lnTo>
                <a:lnTo>
                  <a:pt x="196" y="1042"/>
                </a:lnTo>
                <a:lnTo>
                  <a:pt x="2" y="1040"/>
                </a:lnTo>
                <a:close/>
              </a:path>
            </a:pathLst>
          </a:custGeom>
          <a:solidFill>
            <a:schemeClr val="hlink"/>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31" name="Google Shape;1231;p75"/>
          <p:cNvSpPr/>
          <p:nvPr/>
        </p:nvSpPr>
        <p:spPr>
          <a:xfrm>
            <a:off x="5562600" y="5334000"/>
            <a:ext cx="2590800" cy="1219200"/>
          </a:xfrm>
          <a:prstGeom prst="rect">
            <a:avLst/>
          </a:prstGeom>
          <a:solidFill>
            <a:srgbClr val="CCFFFF"/>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232" name="Google Shape;1232;p75"/>
          <p:cNvSpPr txBox="1">
            <a:spLocks noGrp="1"/>
          </p:cNvSpPr>
          <p:nvPr>
            <p:ph type="title" idx="4294967295"/>
          </p:nvPr>
        </p:nvSpPr>
        <p:spPr>
          <a:xfrm>
            <a:off x="1143000" y="152400"/>
            <a:ext cx="6781800" cy="1143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Z Table example</a:t>
            </a:r>
            <a:endParaRPr/>
          </a:p>
        </p:txBody>
      </p:sp>
      <p:sp>
        <p:nvSpPr>
          <p:cNvPr id="1233" name="Google Shape;1233;p75"/>
          <p:cNvSpPr txBox="1">
            <a:spLocks noGrp="1"/>
          </p:cNvSpPr>
          <p:nvPr>
            <p:ph type="body" idx="4294967295"/>
          </p:nvPr>
        </p:nvSpPr>
        <p:spPr>
          <a:xfrm>
            <a:off x="762000" y="1600200"/>
            <a:ext cx="8077200" cy="990600"/>
          </a:xfrm>
          <a:prstGeom prst="rect">
            <a:avLst/>
          </a:prstGeom>
          <a:noFill/>
          <a:ln>
            <a:noFill/>
          </a:ln>
        </p:spPr>
        <p:txBody>
          <a:bodyPr spcFirstLastPara="1" wrap="square" lIns="85325" tIns="42650" rIns="85325" bIns="42650" anchor="t" anchorCtr="0">
            <a:noAutofit/>
          </a:bodyPr>
          <a:lstStyle/>
          <a:p>
            <a:pPr marL="571500" lvl="0" indent="-571500" algn="l" rtl="0">
              <a:spcBef>
                <a:spcPts val="0"/>
              </a:spcBef>
              <a:spcAft>
                <a:spcPts val="0"/>
              </a:spcAft>
              <a:buSzPts val="1680"/>
              <a:buChar char="■"/>
            </a:pPr>
            <a:r>
              <a:rPr lang="en-US"/>
              <a:t>Suppose  x  is normal with mean 8.0 and standard deviation 5.0.  Find P(8 &lt; x &lt; 8.6)</a:t>
            </a:r>
            <a:endParaRPr/>
          </a:p>
          <a:p>
            <a:pPr marL="571500" lvl="0" indent="-468630" algn="l" rtl="0">
              <a:lnSpc>
                <a:spcPct val="90000"/>
              </a:lnSpc>
              <a:spcBef>
                <a:spcPts val="540"/>
              </a:spcBef>
              <a:spcAft>
                <a:spcPts val="0"/>
              </a:spcAft>
              <a:buSzPts val="1620"/>
              <a:buNone/>
            </a:pPr>
            <a:endParaRPr sz="2700"/>
          </a:p>
        </p:txBody>
      </p:sp>
      <p:sp>
        <p:nvSpPr>
          <p:cNvPr id="1234" name="Google Shape;1234;p75"/>
          <p:cNvSpPr txBox="1"/>
          <p:nvPr/>
        </p:nvSpPr>
        <p:spPr>
          <a:xfrm>
            <a:off x="5638800" y="5410200"/>
            <a:ext cx="2590800" cy="10048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2"/>
                </a:solidFill>
                <a:latin typeface="Arial"/>
                <a:ea typeface="Arial"/>
                <a:cs typeface="Arial"/>
                <a:sym typeface="Arial"/>
              </a:rPr>
              <a:t>   P(8 &lt; x &lt; 8.6)</a:t>
            </a:r>
            <a:endParaRPr/>
          </a:p>
          <a:p>
            <a:pPr marL="0" marR="0" lvl="0" indent="0" algn="l" rtl="0">
              <a:spcBef>
                <a:spcPts val="1200"/>
              </a:spcBef>
              <a:spcAft>
                <a:spcPts val="0"/>
              </a:spcAft>
              <a:buNone/>
            </a:pPr>
            <a:r>
              <a:rPr lang="en-US" sz="2400">
                <a:solidFill>
                  <a:schemeClr val="lt2"/>
                </a:solidFill>
                <a:latin typeface="Arial"/>
                <a:ea typeface="Arial"/>
                <a:cs typeface="Arial"/>
                <a:sym typeface="Arial"/>
              </a:rPr>
              <a:t>= </a:t>
            </a:r>
            <a:r>
              <a:rPr lang="en-US" sz="2400">
                <a:solidFill>
                  <a:schemeClr val="folHlink"/>
                </a:solidFill>
                <a:latin typeface="Arial"/>
                <a:ea typeface="Arial"/>
                <a:cs typeface="Arial"/>
                <a:sym typeface="Arial"/>
              </a:rPr>
              <a:t>P(0 &lt; z &lt; 0.12)</a:t>
            </a:r>
            <a:endParaRPr/>
          </a:p>
        </p:txBody>
      </p:sp>
      <p:sp>
        <p:nvSpPr>
          <p:cNvPr id="1235" name="Google Shape;1235;p75"/>
          <p:cNvSpPr/>
          <p:nvPr/>
        </p:nvSpPr>
        <p:spPr>
          <a:xfrm>
            <a:off x="6499225" y="2895600"/>
            <a:ext cx="6350" cy="1644650"/>
          </a:xfrm>
          <a:custGeom>
            <a:avLst/>
            <a:gdLst/>
            <a:ahLst/>
            <a:cxnLst/>
            <a:rect l="l" t="t" r="r" b="b"/>
            <a:pathLst>
              <a:path w="4" h="1036" extrusionOk="0">
                <a:moveTo>
                  <a:pt x="0" y="0"/>
                </a:moveTo>
                <a:lnTo>
                  <a:pt x="4" y="1036"/>
                </a:lnTo>
              </a:path>
            </a:pathLst>
          </a:custGeom>
          <a:noFill/>
          <a:ln w="19050" cap="flat" cmpd="sng">
            <a:solidFill>
              <a:schemeClr val="dk1"/>
            </a:solidFill>
            <a:prstDash val="solid"/>
            <a:round/>
            <a:headEnd type="none" w="med" len="med"/>
            <a:tailEnd type="none" w="med" len="med"/>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36" name="Google Shape;1236;p75"/>
          <p:cNvSpPr/>
          <p:nvPr/>
        </p:nvSpPr>
        <p:spPr>
          <a:xfrm>
            <a:off x="6513513" y="2895600"/>
            <a:ext cx="1635125" cy="1573213"/>
          </a:xfrm>
          <a:custGeom>
            <a:avLst/>
            <a:gdLst/>
            <a:ahLst/>
            <a:cxnLst/>
            <a:rect l="l" t="t" r="r" b="b"/>
            <a:pathLst>
              <a:path w="1030" h="991" extrusionOk="0">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37" name="Google Shape;1237;p75"/>
          <p:cNvSpPr/>
          <p:nvPr/>
        </p:nvSpPr>
        <p:spPr>
          <a:xfrm>
            <a:off x="4876800" y="2895600"/>
            <a:ext cx="1638300" cy="1573213"/>
          </a:xfrm>
          <a:custGeom>
            <a:avLst/>
            <a:gdLst/>
            <a:ahLst/>
            <a:cxnLst/>
            <a:rect l="l" t="t" r="r" b="b"/>
            <a:pathLst>
              <a:path w="1032" h="991" extrusionOk="0">
                <a:moveTo>
                  <a:pt x="0" y="990"/>
                </a:moveTo>
                <a:lnTo>
                  <a:pt x="108" y="980"/>
                </a:lnTo>
                <a:lnTo>
                  <a:pt x="163" y="967"/>
                </a:lnTo>
                <a:lnTo>
                  <a:pt x="218" y="952"/>
                </a:lnTo>
                <a:lnTo>
                  <a:pt x="271" y="929"/>
                </a:lnTo>
                <a:lnTo>
                  <a:pt x="326" y="897"/>
                </a:lnTo>
                <a:lnTo>
                  <a:pt x="381" y="857"/>
                </a:lnTo>
                <a:lnTo>
                  <a:pt x="488" y="743"/>
                </a:lnTo>
                <a:lnTo>
                  <a:pt x="596" y="581"/>
                </a:lnTo>
                <a:lnTo>
                  <a:pt x="706" y="386"/>
                </a:lnTo>
                <a:lnTo>
                  <a:pt x="759" y="287"/>
                </a:lnTo>
                <a:lnTo>
                  <a:pt x="814" y="196"/>
                </a:lnTo>
                <a:lnTo>
                  <a:pt x="868" y="116"/>
                </a:lnTo>
                <a:lnTo>
                  <a:pt x="921" y="53"/>
                </a:lnTo>
                <a:lnTo>
                  <a:pt x="976" y="13"/>
                </a:lnTo>
                <a:lnTo>
                  <a:pt x="1031"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38" name="Google Shape;1238;p75"/>
          <p:cNvSpPr/>
          <p:nvPr/>
        </p:nvSpPr>
        <p:spPr>
          <a:xfrm>
            <a:off x="4859338" y="4551363"/>
            <a:ext cx="3289300" cy="7937"/>
          </a:xfrm>
          <a:custGeom>
            <a:avLst/>
            <a:gdLst/>
            <a:ahLst/>
            <a:cxnLst/>
            <a:rect l="l" t="t" r="r" b="b"/>
            <a:pathLst>
              <a:path w="2072" h="5" extrusionOk="0">
                <a:moveTo>
                  <a:pt x="0" y="5"/>
                </a:moveTo>
                <a:lnTo>
                  <a:pt x="12" y="0"/>
                </a:lnTo>
                <a:lnTo>
                  <a:pt x="2072" y="0"/>
                </a:lnTo>
              </a:path>
            </a:pathLst>
          </a:custGeom>
          <a:noFill/>
          <a:ln w="508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239" name="Google Shape;1239;p75"/>
          <p:cNvCxnSpPr/>
          <p:nvPr/>
        </p:nvCxnSpPr>
        <p:spPr>
          <a:xfrm>
            <a:off x="4862513" y="2932113"/>
            <a:ext cx="1587" cy="0"/>
          </a:xfrm>
          <a:prstGeom prst="straightConnector1">
            <a:avLst/>
          </a:prstGeom>
          <a:noFill/>
          <a:ln w="25400" cap="flat" cmpd="sng">
            <a:solidFill>
              <a:srgbClr val="CDCDCD"/>
            </a:solidFill>
            <a:prstDash val="solid"/>
            <a:round/>
            <a:headEnd type="none" w="med" len="med"/>
            <a:tailEnd type="none" w="med" len="med"/>
          </a:ln>
        </p:spPr>
      </p:cxnSp>
      <p:cxnSp>
        <p:nvCxnSpPr>
          <p:cNvPr id="1240" name="Google Shape;1240;p75"/>
          <p:cNvCxnSpPr/>
          <p:nvPr/>
        </p:nvCxnSpPr>
        <p:spPr>
          <a:xfrm>
            <a:off x="4862513" y="3082925"/>
            <a:ext cx="1587" cy="0"/>
          </a:xfrm>
          <a:prstGeom prst="straightConnector1">
            <a:avLst/>
          </a:prstGeom>
          <a:noFill/>
          <a:ln w="25400" cap="flat" cmpd="sng">
            <a:solidFill>
              <a:srgbClr val="CDCDCD"/>
            </a:solidFill>
            <a:prstDash val="solid"/>
            <a:round/>
            <a:headEnd type="none" w="med" len="med"/>
            <a:tailEnd type="none" w="med" len="med"/>
          </a:ln>
        </p:spPr>
      </p:cxnSp>
      <p:sp>
        <p:nvSpPr>
          <p:cNvPr id="1241" name="Google Shape;1241;p75"/>
          <p:cNvSpPr/>
          <p:nvPr/>
        </p:nvSpPr>
        <p:spPr>
          <a:xfrm>
            <a:off x="2511425" y="3259138"/>
            <a:ext cx="92075" cy="1841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242" name="Google Shape;1242;p75"/>
          <p:cNvSpPr/>
          <p:nvPr/>
        </p:nvSpPr>
        <p:spPr>
          <a:xfrm>
            <a:off x="8153400" y="4953000"/>
            <a:ext cx="381000"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folHlink"/>
                </a:solidFill>
                <a:latin typeface="Arial"/>
                <a:ea typeface="Arial"/>
                <a:cs typeface="Arial"/>
                <a:sym typeface="Arial"/>
              </a:rPr>
              <a:t>Z</a:t>
            </a:r>
            <a:endParaRPr/>
          </a:p>
        </p:txBody>
      </p:sp>
      <p:sp>
        <p:nvSpPr>
          <p:cNvPr id="1243" name="Google Shape;1243;p75"/>
          <p:cNvSpPr/>
          <p:nvPr/>
        </p:nvSpPr>
        <p:spPr>
          <a:xfrm>
            <a:off x="6526213" y="4843463"/>
            <a:ext cx="184150" cy="920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244" name="Google Shape;1244;p75"/>
          <p:cNvSpPr/>
          <p:nvPr/>
        </p:nvSpPr>
        <p:spPr>
          <a:xfrm>
            <a:off x="6553200" y="4953000"/>
            <a:ext cx="625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folHlink"/>
                </a:solidFill>
                <a:latin typeface="Arial"/>
                <a:ea typeface="Arial"/>
                <a:cs typeface="Arial"/>
                <a:sym typeface="Arial"/>
              </a:rPr>
              <a:t>0.12</a:t>
            </a:r>
            <a:endParaRPr sz="2400" b="1">
              <a:solidFill>
                <a:schemeClr val="folHlink"/>
              </a:solidFill>
              <a:latin typeface="Arial"/>
              <a:ea typeface="Arial"/>
              <a:cs typeface="Arial"/>
              <a:sym typeface="Arial"/>
            </a:endParaRPr>
          </a:p>
        </p:txBody>
      </p:sp>
      <p:sp>
        <p:nvSpPr>
          <p:cNvPr id="1245" name="Google Shape;1245;p75"/>
          <p:cNvSpPr/>
          <p:nvPr/>
        </p:nvSpPr>
        <p:spPr>
          <a:xfrm>
            <a:off x="6248400" y="4953000"/>
            <a:ext cx="371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folHlink"/>
                </a:solidFill>
                <a:latin typeface="Arial"/>
                <a:ea typeface="Arial"/>
                <a:cs typeface="Arial"/>
                <a:sym typeface="Arial"/>
              </a:rPr>
              <a:t> 0</a:t>
            </a:r>
            <a:endParaRPr sz="2400" b="1">
              <a:solidFill>
                <a:schemeClr val="folHlink"/>
              </a:solidFill>
              <a:latin typeface="Arial"/>
              <a:ea typeface="Arial"/>
              <a:cs typeface="Arial"/>
              <a:sym typeface="Arial"/>
            </a:endParaRPr>
          </a:p>
        </p:txBody>
      </p:sp>
      <p:sp>
        <p:nvSpPr>
          <p:cNvPr id="1246" name="Google Shape;1246;p75"/>
          <p:cNvSpPr/>
          <p:nvPr/>
        </p:nvSpPr>
        <p:spPr>
          <a:xfrm>
            <a:off x="8153400" y="4572000"/>
            <a:ext cx="381000"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x</a:t>
            </a:r>
            <a:endParaRPr/>
          </a:p>
        </p:txBody>
      </p:sp>
      <p:sp>
        <p:nvSpPr>
          <p:cNvPr id="1247" name="Google Shape;1247;p75"/>
          <p:cNvSpPr/>
          <p:nvPr/>
        </p:nvSpPr>
        <p:spPr>
          <a:xfrm>
            <a:off x="6629400" y="4572000"/>
            <a:ext cx="498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8.6</a:t>
            </a:r>
            <a:endParaRPr sz="2400" b="1">
              <a:solidFill>
                <a:schemeClr val="dk1"/>
              </a:solidFill>
              <a:latin typeface="Arial"/>
              <a:ea typeface="Arial"/>
              <a:cs typeface="Arial"/>
              <a:sym typeface="Arial"/>
            </a:endParaRPr>
          </a:p>
        </p:txBody>
      </p:sp>
      <p:sp>
        <p:nvSpPr>
          <p:cNvPr id="1248" name="Google Shape;1248;p75"/>
          <p:cNvSpPr/>
          <p:nvPr/>
        </p:nvSpPr>
        <p:spPr>
          <a:xfrm>
            <a:off x="6248400" y="4572000"/>
            <a:ext cx="371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 8</a:t>
            </a:r>
            <a:endParaRPr sz="2400" b="1">
              <a:solidFill>
                <a:schemeClr val="dk1"/>
              </a:solidFill>
              <a:latin typeface="Arial"/>
              <a:ea typeface="Arial"/>
              <a:cs typeface="Arial"/>
              <a:sym typeface="Arial"/>
            </a:endParaRPr>
          </a:p>
        </p:txBody>
      </p:sp>
      <p:pic>
        <p:nvPicPr>
          <p:cNvPr id="1249" name="Google Shape;1249;p75"/>
          <p:cNvPicPr preferRelativeResize="0"/>
          <p:nvPr/>
        </p:nvPicPr>
        <p:blipFill rotWithShape="1">
          <a:blip r:embed="rId3">
            <a:alphaModFix/>
          </a:blip>
          <a:srcRect/>
          <a:stretch/>
        </p:blipFill>
        <p:spPr>
          <a:xfrm>
            <a:off x="838200" y="3657600"/>
            <a:ext cx="3167063" cy="849313"/>
          </a:xfrm>
          <a:prstGeom prst="rect">
            <a:avLst/>
          </a:prstGeom>
          <a:solidFill>
            <a:srgbClr val="FFFFCD"/>
          </a:solidFill>
          <a:ln w="9525" cap="flat" cmpd="sng">
            <a:solidFill>
              <a:schemeClr val="dk1"/>
            </a:solidFill>
            <a:prstDash val="solid"/>
            <a:miter lim="800000"/>
            <a:headEnd type="none" w="sm" len="sm"/>
            <a:tailEnd type="none" w="sm" len="sm"/>
          </a:ln>
        </p:spPr>
      </p:pic>
      <p:pic>
        <p:nvPicPr>
          <p:cNvPr id="1250" name="Google Shape;1250;p75"/>
          <p:cNvPicPr preferRelativeResize="0"/>
          <p:nvPr/>
        </p:nvPicPr>
        <p:blipFill rotWithShape="1">
          <a:blip r:embed="rId4">
            <a:alphaModFix/>
          </a:blip>
          <a:srcRect/>
          <a:stretch/>
        </p:blipFill>
        <p:spPr>
          <a:xfrm>
            <a:off x="609600" y="4876800"/>
            <a:ext cx="3971925" cy="849313"/>
          </a:xfrm>
          <a:prstGeom prst="rect">
            <a:avLst/>
          </a:prstGeom>
          <a:solidFill>
            <a:srgbClr val="FFFFCD"/>
          </a:solidFill>
          <a:ln w="9525" cap="flat" cmpd="sng">
            <a:solidFill>
              <a:schemeClr val="dk1"/>
            </a:solidFill>
            <a:prstDash val="solid"/>
            <a:miter lim="800000"/>
            <a:headEnd type="none" w="sm" len="sm"/>
            <a:tailEnd type="none" w="sm" len="sm"/>
          </a:ln>
        </p:spPr>
      </p:pic>
      <p:sp>
        <p:nvSpPr>
          <p:cNvPr id="1251" name="Google Shape;1251;p75"/>
          <p:cNvSpPr txBox="1"/>
          <p:nvPr/>
        </p:nvSpPr>
        <p:spPr>
          <a:xfrm>
            <a:off x="533400" y="2971800"/>
            <a:ext cx="3124200" cy="45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folHlink"/>
                </a:solidFill>
                <a:latin typeface="Arial"/>
                <a:ea typeface="Arial"/>
                <a:cs typeface="Arial"/>
                <a:sym typeface="Arial"/>
              </a:rPr>
              <a:t>Calculate z-values: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255"/>
        <p:cNvGrpSpPr/>
        <p:nvPr/>
      </p:nvGrpSpPr>
      <p:grpSpPr>
        <a:xfrm>
          <a:off x="0" y="0"/>
          <a:ext cx="0" cy="0"/>
          <a:chOff x="0" y="0"/>
          <a:chExt cx="0" cy="0"/>
        </a:xfrm>
      </p:grpSpPr>
      <p:sp>
        <p:nvSpPr>
          <p:cNvPr id="1256" name="Google Shape;1256;p76"/>
          <p:cNvSpPr txBox="1">
            <a:spLocks noGrp="1"/>
          </p:cNvSpPr>
          <p:nvPr>
            <p:ph type="title" idx="4294967295"/>
          </p:nvPr>
        </p:nvSpPr>
        <p:spPr>
          <a:xfrm>
            <a:off x="1143000" y="152400"/>
            <a:ext cx="6781800" cy="1143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Z Table example</a:t>
            </a:r>
            <a:endParaRPr/>
          </a:p>
        </p:txBody>
      </p:sp>
      <p:sp>
        <p:nvSpPr>
          <p:cNvPr id="1257" name="Google Shape;1257;p76"/>
          <p:cNvSpPr txBox="1">
            <a:spLocks noGrp="1"/>
          </p:cNvSpPr>
          <p:nvPr>
            <p:ph type="body" idx="4294967295"/>
          </p:nvPr>
        </p:nvSpPr>
        <p:spPr>
          <a:xfrm>
            <a:off x="762000" y="1600200"/>
            <a:ext cx="8077200" cy="990600"/>
          </a:xfrm>
          <a:prstGeom prst="rect">
            <a:avLst/>
          </a:prstGeom>
          <a:noFill/>
          <a:ln>
            <a:noFill/>
          </a:ln>
        </p:spPr>
        <p:txBody>
          <a:bodyPr spcFirstLastPara="1" wrap="square" lIns="85325" tIns="42650" rIns="85325" bIns="42650" anchor="t" anchorCtr="0">
            <a:noAutofit/>
          </a:bodyPr>
          <a:lstStyle/>
          <a:p>
            <a:pPr marL="571500" lvl="0" indent="-571500" algn="l" rtl="0">
              <a:spcBef>
                <a:spcPts val="0"/>
              </a:spcBef>
              <a:spcAft>
                <a:spcPts val="0"/>
              </a:spcAft>
              <a:buSzPts val="1620"/>
              <a:buChar char="■"/>
            </a:pPr>
            <a:r>
              <a:rPr lang="en-US" sz="2700"/>
              <a:t>Suppose  x  is normal with mean 8.0 and standard deviation 5.0.  Find P(8 &lt; x &lt; 8.6)</a:t>
            </a:r>
            <a:endParaRPr/>
          </a:p>
          <a:p>
            <a:pPr marL="571500" lvl="0" indent="-468630" algn="l" rtl="0">
              <a:lnSpc>
                <a:spcPct val="90000"/>
              </a:lnSpc>
              <a:spcBef>
                <a:spcPts val="540"/>
              </a:spcBef>
              <a:spcAft>
                <a:spcPts val="0"/>
              </a:spcAft>
              <a:buSzPts val="1620"/>
              <a:buNone/>
            </a:pPr>
            <a:endParaRPr sz="2700"/>
          </a:p>
        </p:txBody>
      </p:sp>
      <p:sp>
        <p:nvSpPr>
          <p:cNvPr id="1258" name="Google Shape;1258;p76"/>
          <p:cNvSpPr txBox="1"/>
          <p:nvPr/>
        </p:nvSpPr>
        <p:spPr>
          <a:xfrm>
            <a:off x="5334000" y="5334000"/>
            <a:ext cx="25908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2"/>
                </a:solidFill>
                <a:latin typeface="Arial"/>
                <a:ea typeface="Arial"/>
                <a:cs typeface="Arial"/>
                <a:sym typeface="Arial"/>
              </a:rPr>
              <a:t>   </a:t>
            </a:r>
            <a:r>
              <a:rPr lang="en-US" sz="2400">
                <a:solidFill>
                  <a:schemeClr val="folHlink"/>
                </a:solidFill>
                <a:latin typeface="Arial"/>
                <a:ea typeface="Arial"/>
                <a:cs typeface="Arial"/>
                <a:sym typeface="Arial"/>
              </a:rPr>
              <a:t>P(0 &lt; z &lt; 0.12)</a:t>
            </a:r>
            <a:endParaRPr/>
          </a:p>
        </p:txBody>
      </p:sp>
      <p:sp>
        <p:nvSpPr>
          <p:cNvPr id="1259" name="Google Shape;1259;p76"/>
          <p:cNvSpPr/>
          <p:nvPr/>
        </p:nvSpPr>
        <p:spPr>
          <a:xfrm>
            <a:off x="6472238" y="4476750"/>
            <a:ext cx="320675" cy="242888"/>
          </a:xfrm>
          <a:custGeom>
            <a:avLst/>
            <a:gdLst/>
            <a:ahLst/>
            <a:cxnLst/>
            <a:rect l="l" t="t" r="r" b="b"/>
            <a:pathLst>
              <a:path w="202" h="153" extrusionOk="0">
                <a:moveTo>
                  <a:pt x="12" y="141"/>
                </a:moveTo>
                <a:cubicBezTo>
                  <a:pt x="39" y="153"/>
                  <a:pt x="79" y="146"/>
                  <a:pt x="105" y="145"/>
                </a:cubicBezTo>
                <a:cubicBezTo>
                  <a:pt x="127" y="143"/>
                  <a:pt x="135" y="143"/>
                  <a:pt x="162" y="144"/>
                </a:cubicBezTo>
                <a:cubicBezTo>
                  <a:pt x="172" y="148"/>
                  <a:pt x="181" y="148"/>
                  <a:pt x="192" y="147"/>
                </a:cubicBezTo>
                <a:cubicBezTo>
                  <a:pt x="200" y="136"/>
                  <a:pt x="198" y="142"/>
                  <a:pt x="201" y="132"/>
                </a:cubicBezTo>
                <a:cubicBezTo>
                  <a:pt x="200" y="102"/>
                  <a:pt x="202" y="55"/>
                  <a:pt x="187" y="24"/>
                </a:cubicBezTo>
                <a:cubicBezTo>
                  <a:pt x="185" y="7"/>
                  <a:pt x="165" y="1"/>
                  <a:pt x="150" y="0"/>
                </a:cubicBezTo>
                <a:cubicBezTo>
                  <a:pt x="116" y="2"/>
                  <a:pt x="102" y="41"/>
                  <a:pt x="70" y="46"/>
                </a:cubicBezTo>
                <a:cubicBezTo>
                  <a:pt x="63" y="49"/>
                  <a:pt x="58" y="51"/>
                  <a:pt x="51" y="52"/>
                </a:cubicBezTo>
                <a:cubicBezTo>
                  <a:pt x="43" y="55"/>
                  <a:pt x="36" y="56"/>
                  <a:pt x="27" y="57"/>
                </a:cubicBezTo>
                <a:cubicBezTo>
                  <a:pt x="19" y="62"/>
                  <a:pt x="14" y="67"/>
                  <a:pt x="7" y="73"/>
                </a:cubicBezTo>
                <a:cubicBezTo>
                  <a:pt x="0" y="87"/>
                  <a:pt x="2" y="81"/>
                  <a:pt x="0" y="90"/>
                </a:cubicBezTo>
                <a:cubicBezTo>
                  <a:pt x="0" y="104"/>
                  <a:pt x="0" y="119"/>
                  <a:pt x="1" y="133"/>
                </a:cubicBezTo>
                <a:cubicBezTo>
                  <a:pt x="1" y="138"/>
                  <a:pt x="8" y="147"/>
                  <a:pt x="12" y="141"/>
                </a:cubicBezTo>
                <a:close/>
              </a:path>
            </a:pathLst>
          </a:custGeom>
          <a:solidFill>
            <a:srgbClr val="FF0000"/>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60" name="Google Shape;1260;p76"/>
          <p:cNvSpPr/>
          <p:nvPr/>
        </p:nvSpPr>
        <p:spPr>
          <a:xfrm>
            <a:off x="6432550" y="3060700"/>
            <a:ext cx="366713" cy="1625600"/>
          </a:xfrm>
          <a:custGeom>
            <a:avLst/>
            <a:gdLst/>
            <a:ahLst/>
            <a:cxnLst/>
            <a:rect l="l" t="t" r="r" b="b"/>
            <a:pathLst>
              <a:path w="231" h="1024" extrusionOk="0">
                <a:moveTo>
                  <a:pt x="25" y="984"/>
                </a:moveTo>
                <a:cubicBezTo>
                  <a:pt x="28" y="847"/>
                  <a:pt x="34" y="709"/>
                  <a:pt x="37" y="572"/>
                </a:cubicBezTo>
                <a:cubicBezTo>
                  <a:pt x="33" y="476"/>
                  <a:pt x="30" y="440"/>
                  <a:pt x="33" y="340"/>
                </a:cubicBezTo>
                <a:cubicBezTo>
                  <a:pt x="30" y="269"/>
                  <a:pt x="25" y="210"/>
                  <a:pt x="29" y="140"/>
                </a:cubicBezTo>
                <a:cubicBezTo>
                  <a:pt x="28" y="100"/>
                  <a:pt x="0" y="32"/>
                  <a:pt x="41" y="4"/>
                </a:cubicBezTo>
                <a:cubicBezTo>
                  <a:pt x="122" y="9"/>
                  <a:pt x="91" y="0"/>
                  <a:pt x="133" y="28"/>
                </a:cubicBezTo>
                <a:cubicBezTo>
                  <a:pt x="156" y="62"/>
                  <a:pt x="125" y="22"/>
                  <a:pt x="153" y="44"/>
                </a:cubicBezTo>
                <a:cubicBezTo>
                  <a:pt x="157" y="47"/>
                  <a:pt x="158" y="53"/>
                  <a:pt x="161" y="56"/>
                </a:cubicBezTo>
                <a:cubicBezTo>
                  <a:pt x="164" y="59"/>
                  <a:pt x="169" y="61"/>
                  <a:pt x="173" y="64"/>
                </a:cubicBezTo>
                <a:cubicBezTo>
                  <a:pt x="185" y="82"/>
                  <a:pt x="194" y="97"/>
                  <a:pt x="209" y="112"/>
                </a:cubicBezTo>
                <a:cubicBezTo>
                  <a:pt x="212" y="120"/>
                  <a:pt x="221" y="127"/>
                  <a:pt x="221" y="136"/>
                </a:cubicBezTo>
                <a:cubicBezTo>
                  <a:pt x="221" y="163"/>
                  <a:pt x="213" y="216"/>
                  <a:pt x="213" y="216"/>
                </a:cubicBezTo>
                <a:cubicBezTo>
                  <a:pt x="215" y="282"/>
                  <a:pt x="217" y="319"/>
                  <a:pt x="225" y="376"/>
                </a:cubicBezTo>
                <a:cubicBezTo>
                  <a:pt x="224" y="399"/>
                  <a:pt x="224" y="421"/>
                  <a:pt x="221" y="444"/>
                </a:cubicBezTo>
                <a:cubicBezTo>
                  <a:pt x="220" y="452"/>
                  <a:pt x="213" y="468"/>
                  <a:pt x="213" y="468"/>
                </a:cubicBezTo>
                <a:cubicBezTo>
                  <a:pt x="207" y="564"/>
                  <a:pt x="209" y="508"/>
                  <a:pt x="209" y="636"/>
                </a:cubicBezTo>
                <a:cubicBezTo>
                  <a:pt x="213" y="623"/>
                  <a:pt x="222" y="582"/>
                  <a:pt x="221" y="596"/>
                </a:cubicBezTo>
                <a:cubicBezTo>
                  <a:pt x="208" y="724"/>
                  <a:pt x="231" y="865"/>
                  <a:pt x="173" y="980"/>
                </a:cubicBezTo>
                <a:cubicBezTo>
                  <a:pt x="151" y="1024"/>
                  <a:pt x="74" y="983"/>
                  <a:pt x="25" y="984"/>
                </a:cubicBezTo>
                <a:close/>
              </a:path>
            </a:pathLst>
          </a:custGeom>
          <a:solidFill>
            <a:srgbClr val="FF0000"/>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261" name="Google Shape;1261;p76"/>
          <p:cNvCxnSpPr/>
          <p:nvPr/>
        </p:nvCxnSpPr>
        <p:spPr>
          <a:xfrm>
            <a:off x="6783388" y="3321050"/>
            <a:ext cx="0" cy="1371600"/>
          </a:xfrm>
          <a:prstGeom prst="straightConnector1">
            <a:avLst/>
          </a:prstGeom>
          <a:noFill/>
          <a:ln w="63500" cap="flat" cmpd="sng">
            <a:solidFill>
              <a:srgbClr val="FF0000"/>
            </a:solidFill>
            <a:prstDash val="solid"/>
            <a:round/>
            <a:headEnd type="none" w="med" len="med"/>
            <a:tailEnd type="none" w="med" len="med"/>
          </a:ln>
        </p:spPr>
      </p:cxnSp>
      <p:cxnSp>
        <p:nvCxnSpPr>
          <p:cNvPr id="1262" name="Google Shape;1262;p76"/>
          <p:cNvCxnSpPr/>
          <p:nvPr/>
        </p:nvCxnSpPr>
        <p:spPr>
          <a:xfrm>
            <a:off x="6478588" y="3092450"/>
            <a:ext cx="0" cy="1600200"/>
          </a:xfrm>
          <a:prstGeom prst="straightConnector1">
            <a:avLst/>
          </a:prstGeom>
          <a:noFill/>
          <a:ln w="31750" cap="flat" cmpd="sng">
            <a:solidFill>
              <a:schemeClr val="dk1"/>
            </a:solidFill>
            <a:prstDash val="solid"/>
            <a:round/>
            <a:headEnd type="none" w="med" len="med"/>
            <a:tailEnd type="none" w="med" len="med"/>
          </a:ln>
        </p:spPr>
      </p:cxnSp>
      <p:sp>
        <p:nvSpPr>
          <p:cNvPr id="1263" name="Google Shape;1263;p76"/>
          <p:cNvSpPr/>
          <p:nvPr/>
        </p:nvSpPr>
        <p:spPr>
          <a:xfrm>
            <a:off x="6513513" y="3048000"/>
            <a:ext cx="1635125" cy="1573213"/>
          </a:xfrm>
          <a:custGeom>
            <a:avLst/>
            <a:gdLst/>
            <a:ahLst/>
            <a:cxnLst/>
            <a:rect l="l" t="t" r="r" b="b"/>
            <a:pathLst>
              <a:path w="1030" h="991" extrusionOk="0">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64" name="Google Shape;1264;p76"/>
          <p:cNvSpPr/>
          <p:nvPr/>
        </p:nvSpPr>
        <p:spPr>
          <a:xfrm>
            <a:off x="4876800" y="3048000"/>
            <a:ext cx="1638300" cy="1573213"/>
          </a:xfrm>
          <a:custGeom>
            <a:avLst/>
            <a:gdLst/>
            <a:ahLst/>
            <a:cxnLst/>
            <a:rect l="l" t="t" r="r" b="b"/>
            <a:pathLst>
              <a:path w="1032" h="991" extrusionOk="0">
                <a:moveTo>
                  <a:pt x="0" y="990"/>
                </a:moveTo>
                <a:lnTo>
                  <a:pt x="108" y="980"/>
                </a:lnTo>
                <a:lnTo>
                  <a:pt x="163" y="967"/>
                </a:lnTo>
                <a:lnTo>
                  <a:pt x="218" y="952"/>
                </a:lnTo>
                <a:lnTo>
                  <a:pt x="271" y="929"/>
                </a:lnTo>
                <a:lnTo>
                  <a:pt x="326" y="897"/>
                </a:lnTo>
                <a:lnTo>
                  <a:pt x="381" y="857"/>
                </a:lnTo>
                <a:lnTo>
                  <a:pt x="488" y="743"/>
                </a:lnTo>
                <a:lnTo>
                  <a:pt x="596" y="581"/>
                </a:lnTo>
                <a:lnTo>
                  <a:pt x="706" y="386"/>
                </a:lnTo>
                <a:lnTo>
                  <a:pt x="759" y="287"/>
                </a:lnTo>
                <a:lnTo>
                  <a:pt x="814" y="196"/>
                </a:lnTo>
                <a:lnTo>
                  <a:pt x="868" y="116"/>
                </a:lnTo>
                <a:lnTo>
                  <a:pt x="921" y="53"/>
                </a:lnTo>
                <a:lnTo>
                  <a:pt x="976" y="13"/>
                </a:lnTo>
                <a:lnTo>
                  <a:pt x="1031"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65" name="Google Shape;1265;p76"/>
          <p:cNvSpPr/>
          <p:nvPr/>
        </p:nvSpPr>
        <p:spPr>
          <a:xfrm>
            <a:off x="4859338" y="4703763"/>
            <a:ext cx="3289300" cy="7937"/>
          </a:xfrm>
          <a:custGeom>
            <a:avLst/>
            <a:gdLst/>
            <a:ahLst/>
            <a:cxnLst/>
            <a:rect l="l" t="t" r="r" b="b"/>
            <a:pathLst>
              <a:path w="2072" h="5" extrusionOk="0">
                <a:moveTo>
                  <a:pt x="0" y="5"/>
                </a:moveTo>
                <a:lnTo>
                  <a:pt x="12" y="0"/>
                </a:lnTo>
                <a:lnTo>
                  <a:pt x="2072" y="0"/>
                </a:lnTo>
              </a:path>
            </a:pathLst>
          </a:custGeom>
          <a:noFill/>
          <a:ln w="508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66" name="Google Shape;1266;p76"/>
          <p:cNvSpPr/>
          <p:nvPr/>
        </p:nvSpPr>
        <p:spPr>
          <a:xfrm>
            <a:off x="2511425" y="3411538"/>
            <a:ext cx="92075" cy="1841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267" name="Google Shape;1267;p76"/>
          <p:cNvSpPr/>
          <p:nvPr/>
        </p:nvSpPr>
        <p:spPr>
          <a:xfrm>
            <a:off x="8153400" y="4648200"/>
            <a:ext cx="381000"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folHlink"/>
                </a:solidFill>
                <a:latin typeface="Arial"/>
                <a:ea typeface="Arial"/>
                <a:cs typeface="Arial"/>
                <a:sym typeface="Arial"/>
              </a:rPr>
              <a:t>z</a:t>
            </a:r>
            <a:endParaRPr/>
          </a:p>
        </p:txBody>
      </p:sp>
      <p:sp>
        <p:nvSpPr>
          <p:cNvPr id="1268" name="Google Shape;1268;p76"/>
          <p:cNvSpPr/>
          <p:nvPr/>
        </p:nvSpPr>
        <p:spPr>
          <a:xfrm>
            <a:off x="6629400" y="4724400"/>
            <a:ext cx="625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folHlink"/>
                </a:solidFill>
                <a:latin typeface="Arial"/>
                <a:ea typeface="Arial"/>
                <a:cs typeface="Arial"/>
                <a:sym typeface="Arial"/>
              </a:rPr>
              <a:t>0.12</a:t>
            </a:r>
            <a:endParaRPr sz="2400" b="1">
              <a:solidFill>
                <a:schemeClr val="folHlink"/>
              </a:solidFill>
              <a:latin typeface="Arial"/>
              <a:ea typeface="Arial"/>
              <a:cs typeface="Arial"/>
              <a:sym typeface="Arial"/>
            </a:endParaRPr>
          </a:p>
        </p:txBody>
      </p:sp>
      <p:sp>
        <p:nvSpPr>
          <p:cNvPr id="1269" name="Google Shape;1269;p76"/>
          <p:cNvSpPr/>
          <p:nvPr/>
        </p:nvSpPr>
        <p:spPr>
          <a:xfrm>
            <a:off x="6248400" y="4724400"/>
            <a:ext cx="371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folHlink"/>
                </a:solidFill>
                <a:latin typeface="Arial"/>
                <a:ea typeface="Arial"/>
                <a:cs typeface="Arial"/>
                <a:sym typeface="Arial"/>
              </a:rPr>
              <a:t> 0</a:t>
            </a:r>
            <a:endParaRPr sz="2400" b="1">
              <a:solidFill>
                <a:schemeClr val="folHlink"/>
              </a:solidFill>
              <a:latin typeface="Arial"/>
              <a:ea typeface="Arial"/>
              <a:cs typeface="Arial"/>
              <a:sym typeface="Arial"/>
            </a:endParaRPr>
          </a:p>
        </p:txBody>
      </p:sp>
      <p:sp>
        <p:nvSpPr>
          <p:cNvPr id="1270" name="Google Shape;1270;p76"/>
          <p:cNvSpPr/>
          <p:nvPr/>
        </p:nvSpPr>
        <p:spPr>
          <a:xfrm>
            <a:off x="2205038" y="4476750"/>
            <a:ext cx="320675" cy="242888"/>
          </a:xfrm>
          <a:custGeom>
            <a:avLst/>
            <a:gdLst/>
            <a:ahLst/>
            <a:cxnLst/>
            <a:rect l="l" t="t" r="r" b="b"/>
            <a:pathLst>
              <a:path w="202" h="153" extrusionOk="0">
                <a:moveTo>
                  <a:pt x="12" y="141"/>
                </a:moveTo>
                <a:cubicBezTo>
                  <a:pt x="39" y="153"/>
                  <a:pt x="79" y="146"/>
                  <a:pt x="105" y="145"/>
                </a:cubicBezTo>
                <a:cubicBezTo>
                  <a:pt x="127" y="143"/>
                  <a:pt x="135" y="143"/>
                  <a:pt x="162" y="144"/>
                </a:cubicBezTo>
                <a:cubicBezTo>
                  <a:pt x="172" y="148"/>
                  <a:pt x="181" y="148"/>
                  <a:pt x="192" y="147"/>
                </a:cubicBezTo>
                <a:cubicBezTo>
                  <a:pt x="200" y="136"/>
                  <a:pt x="198" y="142"/>
                  <a:pt x="201" y="132"/>
                </a:cubicBezTo>
                <a:cubicBezTo>
                  <a:pt x="200" y="102"/>
                  <a:pt x="202" y="55"/>
                  <a:pt x="187" y="24"/>
                </a:cubicBezTo>
                <a:cubicBezTo>
                  <a:pt x="185" y="7"/>
                  <a:pt x="165" y="1"/>
                  <a:pt x="150" y="0"/>
                </a:cubicBezTo>
                <a:cubicBezTo>
                  <a:pt x="116" y="2"/>
                  <a:pt x="102" y="41"/>
                  <a:pt x="70" y="46"/>
                </a:cubicBezTo>
                <a:cubicBezTo>
                  <a:pt x="63" y="49"/>
                  <a:pt x="58" y="51"/>
                  <a:pt x="51" y="52"/>
                </a:cubicBezTo>
                <a:cubicBezTo>
                  <a:pt x="43" y="55"/>
                  <a:pt x="36" y="56"/>
                  <a:pt x="27" y="57"/>
                </a:cubicBezTo>
                <a:cubicBezTo>
                  <a:pt x="19" y="62"/>
                  <a:pt x="14" y="67"/>
                  <a:pt x="7" y="73"/>
                </a:cubicBezTo>
                <a:cubicBezTo>
                  <a:pt x="0" y="87"/>
                  <a:pt x="2" y="81"/>
                  <a:pt x="0" y="90"/>
                </a:cubicBezTo>
                <a:cubicBezTo>
                  <a:pt x="0" y="104"/>
                  <a:pt x="0" y="119"/>
                  <a:pt x="1" y="133"/>
                </a:cubicBezTo>
                <a:cubicBezTo>
                  <a:pt x="1" y="138"/>
                  <a:pt x="8" y="147"/>
                  <a:pt x="12" y="141"/>
                </a:cubicBezTo>
                <a:close/>
              </a:path>
            </a:pathLst>
          </a:custGeom>
          <a:solidFill>
            <a:srgbClr val="FF0000"/>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71" name="Google Shape;1271;p76"/>
          <p:cNvSpPr/>
          <p:nvPr/>
        </p:nvSpPr>
        <p:spPr>
          <a:xfrm>
            <a:off x="2165350" y="3060700"/>
            <a:ext cx="366713" cy="1625600"/>
          </a:xfrm>
          <a:custGeom>
            <a:avLst/>
            <a:gdLst/>
            <a:ahLst/>
            <a:cxnLst/>
            <a:rect l="l" t="t" r="r" b="b"/>
            <a:pathLst>
              <a:path w="231" h="1024" extrusionOk="0">
                <a:moveTo>
                  <a:pt x="25" y="984"/>
                </a:moveTo>
                <a:cubicBezTo>
                  <a:pt x="28" y="847"/>
                  <a:pt x="34" y="709"/>
                  <a:pt x="37" y="572"/>
                </a:cubicBezTo>
                <a:cubicBezTo>
                  <a:pt x="33" y="476"/>
                  <a:pt x="30" y="440"/>
                  <a:pt x="33" y="340"/>
                </a:cubicBezTo>
                <a:cubicBezTo>
                  <a:pt x="30" y="269"/>
                  <a:pt x="25" y="210"/>
                  <a:pt x="29" y="140"/>
                </a:cubicBezTo>
                <a:cubicBezTo>
                  <a:pt x="28" y="100"/>
                  <a:pt x="0" y="32"/>
                  <a:pt x="41" y="4"/>
                </a:cubicBezTo>
                <a:cubicBezTo>
                  <a:pt x="122" y="9"/>
                  <a:pt x="91" y="0"/>
                  <a:pt x="133" y="28"/>
                </a:cubicBezTo>
                <a:cubicBezTo>
                  <a:pt x="156" y="62"/>
                  <a:pt x="125" y="22"/>
                  <a:pt x="153" y="44"/>
                </a:cubicBezTo>
                <a:cubicBezTo>
                  <a:pt x="157" y="47"/>
                  <a:pt x="158" y="53"/>
                  <a:pt x="161" y="56"/>
                </a:cubicBezTo>
                <a:cubicBezTo>
                  <a:pt x="164" y="59"/>
                  <a:pt x="169" y="61"/>
                  <a:pt x="173" y="64"/>
                </a:cubicBezTo>
                <a:cubicBezTo>
                  <a:pt x="185" y="82"/>
                  <a:pt x="194" y="97"/>
                  <a:pt x="209" y="112"/>
                </a:cubicBezTo>
                <a:cubicBezTo>
                  <a:pt x="212" y="120"/>
                  <a:pt x="221" y="127"/>
                  <a:pt x="221" y="136"/>
                </a:cubicBezTo>
                <a:cubicBezTo>
                  <a:pt x="221" y="163"/>
                  <a:pt x="213" y="216"/>
                  <a:pt x="213" y="216"/>
                </a:cubicBezTo>
                <a:cubicBezTo>
                  <a:pt x="215" y="282"/>
                  <a:pt x="217" y="319"/>
                  <a:pt x="225" y="376"/>
                </a:cubicBezTo>
                <a:cubicBezTo>
                  <a:pt x="224" y="399"/>
                  <a:pt x="224" y="421"/>
                  <a:pt x="221" y="444"/>
                </a:cubicBezTo>
                <a:cubicBezTo>
                  <a:pt x="220" y="452"/>
                  <a:pt x="213" y="468"/>
                  <a:pt x="213" y="468"/>
                </a:cubicBezTo>
                <a:cubicBezTo>
                  <a:pt x="207" y="564"/>
                  <a:pt x="209" y="508"/>
                  <a:pt x="209" y="636"/>
                </a:cubicBezTo>
                <a:cubicBezTo>
                  <a:pt x="213" y="623"/>
                  <a:pt x="222" y="582"/>
                  <a:pt x="221" y="596"/>
                </a:cubicBezTo>
                <a:cubicBezTo>
                  <a:pt x="208" y="724"/>
                  <a:pt x="231" y="865"/>
                  <a:pt x="173" y="980"/>
                </a:cubicBezTo>
                <a:cubicBezTo>
                  <a:pt x="151" y="1024"/>
                  <a:pt x="74" y="983"/>
                  <a:pt x="25" y="984"/>
                </a:cubicBezTo>
                <a:close/>
              </a:path>
            </a:pathLst>
          </a:custGeom>
          <a:solidFill>
            <a:srgbClr val="FF0000"/>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272" name="Google Shape;1272;p76"/>
          <p:cNvCxnSpPr/>
          <p:nvPr/>
        </p:nvCxnSpPr>
        <p:spPr>
          <a:xfrm>
            <a:off x="2516188" y="3321050"/>
            <a:ext cx="0" cy="1371600"/>
          </a:xfrm>
          <a:prstGeom prst="straightConnector1">
            <a:avLst/>
          </a:prstGeom>
          <a:noFill/>
          <a:ln w="63500" cap="flat" cmpd="sng">
            <a:solidFill>
              <a:srgbClr val="FF0000"/>
            </a:solidFill>
            <a:prstDash val="solid"/>
            <a:round/>
            <a:headEnd type="none" w="med" len="med"/>
            <a:tailEnd type="none" w="med" len="med"/>
          </a:ln>
        </p:spPr>
      </p:cxnSp>
      <p:cxnSp>
        <p:nvCxnSpPr>
          <p:cNvPr id="1273" name="Google Shape;1273;p76"/>
          <p:cNvCxnSpPr/>
          <p:nvPr/>
        </p:nvCxnSpPr>
        <p:spPr>
          <a:xfrm>
            <a:off x="2211388" y="3092450"/>
            <a:ext cx="0" cy="1600200"/>
          </a:xfrm>
          <a:prstGeom prst="straightConnector1">
            <a:avLst/>
          </a:prstGeom>
          <a:noFill/>
          <a:ln w="31750" cap="flat" cmpd="sng">
            <a:solidFill>
              <a:schemeClr val="dk1"/>
            </a:solidFill>
            <a:prstDash val="solid"/>
            <a:round/>
            <a:headEnd type="none" w="med" len="med"/>
            <a:tailEnd type="none" w="med" len="med"/>
          </a:ln>
        </p:spPr>
      </p:cxnSp>
      <p:sp>
        <p:nvSpPr>
          <p:cNvPr id="1274" name="Google Shape;1274;p76"/>
          <p:cNvSpPr/>
          <p:nvPr/>
        </p:nvSpPr>
        <p:spPr>
          <a:xfrm>
            <a:off x="2246313" y="3048000"/>
            <a:ext cx="1635125" cy="1573213"/>
          </a:xfrm>
          <a:custGeom>
            <a:avLst/>
            <a:gdLst/>
            <a:ahLst/>
            <a:cxnLst/>
            <a:rect l="l" t="t" r="r" b="b"/>
            <a:pathLst>
              <a:path w="1030" h="991" extrusionOk="0">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75" name="Google Shape;1275;p76"/>
          <p:cNvSpPr/>
          <p:nvPr/>
        </p:nvSpPr>
        <p:spPr>
          <a:xfrm>
            <a:off x="609600" y="3048000"/>
            <a:ext cx="1638300" cy="1573213"/>
          </a:xfrm>
          <a:custGeom>
            <a:avLst/>
            <a:gdLst/>
            <a:ahLst/>
            <a:cxnLst/>
            <a:rect l="l" t="t" r="r" b="b"/>
            <a:pathLst>
              <a:path w="1032" h="991" extrusionOk="0">
                <a:moveTo>
                  <a:pt x="0" y="990"/>
                </a:moveTo>
                <a:lnTo>
                  <a:pt x="108" y="980"/>
                </a:lnTo>
                <a:lnTo>
                  <a:pt x="163" y="967"/>
                </a:lnTo>
                <a:lnTo>
                  <a:pt x="218" y="952"/>
                </a:lnTo>
                <a:lnTo>
                  <a:pt x="271" y="929"/>
                </a:lnTo>
                <a:lnTo>
                  <a:pt x="326" y="897"/>
                </a:lnTo>
                <a:lnTo>
                  <a:pt x="381" y="857"/>
                </a:lnTo>
                <a:lnTo>
                  <a:pt x="488" y="743"/>
                </a:lnTo>
                <a:lnTo>
                  <a:pt x="596" y="581"/>
                </a:lnTo>
                <a:lnTo>
                  <a:pt x="706" y="386"/>
                </a:lnTo>
                <a:lnTo>
                  <a:pt x="759" y="287"/>
                </a:lnTo>
                <a:lnTo>
                  <a:pt x="814" y="196"/>
                </a:lnTo>
                <a:lnTo>
                  <a:pt x="868" y="116"/>
                </a:lnTo>
                <a:lnTo>
                  <a:pt x="921" y="53"/>
                </a:lnTo>
                <a:lnTo>
                  <a:pt x="976" y="13"/>
                </a:lnTo>
                <a:lnTo>
                  <a:pt x="1031"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76" name="Google Shape;1276;p76"/>
          <p:cNvSpPr/>
          <p:nvPr/>
        </p:nvSpPr>
        <p:spPr>
          <a:xfrm>
            <a:off x="592138" y="4703763"/>
            <a:ext cx="3289300" cy="7937"/>
          </a:xfrm>
          <a:custGeom>
            <a:avLst/>
            <a:gdLst/>
            <a:ahLst/>
            <a:cxnLst/>
            <a:rect l="l" t="t" r="r" b="b"/>
            <a:pathLst>
              <a:path w="2072" h="5" extrusionOk="0">
                <a:moveTo>
                  <a:pt x="0" y="5"/>
                </a:moveTo>
                <a:lnTo>
                  <a:pt x="12" y="0"/>
                </a:lnTo>
                <a:lnTo>
                  <a:pt x="2072" y="0"/>
                </a:lnTo>
              </a:path>
            </a:pathLst>
          </a:custGeom>
          <a:noFill/>
          <a:ln w="508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77" name="Google Shape;1277;p76"/>
          <p:cNvSpPr/>
          <p:nvPr/>
        </p:nvSpPr>
        <p:spPr>
          <a:xfrm>
            <a:off x="3810000" y="4648200"/>
            <a:ext cx="381000"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x</a:t>
            </a:r>
            <a:endParaRPr/>
          </a:p>
        </p:txBody>
      </p:sp>
      <p:sp>
        <p:nvSpPr>
          <p:cNvPr id="1278" name="Google Shape;1278;p76"/>
          <p:cNvSpPr/>
          <p:nvPr/>
        </p:nvSpPr>
        <p:spPr>
          <a:xfrm>
            <a:off x="2362200" y="4724400"/>
            <a:ext cx="498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8.6</a:t>
            </a:r>
            <a:endParaRPr sz="2400" b="1">
              <a:solidFill>
                <a:schemeClr val="dk1"/>
              </a:solidFill>
              <a:latin typeface="Arial"/>
              <a:ea typeface="Arial"/>
              <a:cs typeface="Arial"/>
              <a:sym typeface="Arial"/>
            </a:endParaRPr>
          </a:p>
        </p:txBody>
      </p:sp>
      <p:sp>
        <p:nvSpPr>
          <p:cNvPr id="1279" name="Google Shape;1279;p76"/>
          <p:cNvSpPr/>
          <p:nvPr/>
        </p:nvSpPr>
        <p:spPr>
          <a:xfrm>
            <a:off x="1981200" y="4724400"/>
            <a:ext cx="371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 8</a:t>
            </a:r>
            <a:endParaRPr sz="2400" b="1">
              <a:solidFill>
                <a:schemeClr val="dk1"/>
              </a:solidFill>
              <a:latin typeface="Arial"/>
              <a:ea typeface="Arial"/>
              <a:cs typeface="Arial"/>
              <a:sym typeface="Arial"/>
            </a:endParaRPr>
          </a:p>
        </p:txBody>
      </p:sp>
      <p:sp>
        <p:nvSpPr>
          <p:cNvPr id="1280" name="Google Shape;1280;p76"/>
          <p:cNvSpPr txBox="1"/>
          <p:nvPr/>
        </p:nvSpPr>
        <p:spPr>
          <a:xfrm>
            <a:off x="1066800" y="5334000"/>
            <a:ext cx="25908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lt2"/>
                </a:solidFill>
                <a:latin typeface="Arial"/>
                <a:ea typeface="Arial"/>
                <a:cs typeface="Arial"/>
                <a:sym typeface="Arial"/>
              </a:rPr>
              <a:t>   P(8 &lt; x &lt; 8.6)</a:t>
            </a:r>
            <a:endParaRPr/>
          </a:p>
        </p:txBody>
      </p:sp>
      <p:sp>
        <p:nvSpPr>
          <p:cNvPr id="1281" name="Google Shape;1281;p76"/>
          <p:cNvSpPr txBox="1"/>
          <p:nvPr/>
        </p:nvSpPr>
        <p:spPr>
          <a:xfrm>
            <a:off x="2743200" y="3048000"/>
            <a:ext cx="1219200" cy="822325"/>
          </a:xfrm>
          <a:prstGeom prst="rect">
            <a:avLst/>
          </a:prstGeom>
          <a:noFill/>
          <a:ln>
            <a:noFill/>
          </a:ln>
        </p:spPr>
        <p:txBody>
          <a:bodyPr spcFirstLastPara="1" wrap="square" lIns="91425" tIns="45700" rIns="91425" bIns="45700" anchor="t" anchorCtr="0">
            <a:spAutoFit/>
          </a:bodyPr>
          <a:lstStyle/>
          <a:p>
            <a:pPr marL="0" marR="0" lvl="0" indent="-152400" algn="ctr" rtl="0">
              <a:spcBef>
                <a:spcPts val="0"/>
              </a:spcBef>
              <a:spcAft>
                <a:spcPts val="0"/>
              </a:spcAft>
              <a:buClr>
                <a:schemeClr val="dk1"/>
              </a:buClr>
              <a:buSzPts val="2400"/>
              <a:buFont typeface="Noto Sans Symbols"/>
              <a:buChar char="μ"/>
            </a:pPr>
            <a:r>
              <a:rPr lang="en-US" sz="2400">
                <a:solidFill>
                  <a:schemeClr val="dk1"/>
                </a:solidFill>
                <a:latin typeface="Arial"/>
                <a:ea typeface="Arial"/>
                <a:cs typeface="Arial"/>
                <a:sym typeface="Arial"/>
              </a:rPr>
              <a:t> = 8</a:t>
            </a:r>
            <a:endParaRPr/>
          </a:p>
          <a:p>
            <a:pPr marL="0" marR="0" lvl="0" indent="0" algn="ctr" rtl="0">
              <a:lnSpc>
                <a:spcPct val="50000"/>
              </a:lnSpc>
              <a:spcBef>
                <a:spcPts val="120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σ = 5</a:t>
            </a:r>
            <a:endParaRPr/>
          </a:p>
        </p:txBody>
      </p:sp>
      <p:sp>
        <p:nvSpPr>
          <p:cNvPr id="1282" name="Google Shape;1282;p76"/>
          <p:cNvSpPr txBox="1"/>
          <p:nvPr/>
        </p:nvSpPr>
        <p:spPr>
          <a:xfrm>
            <a:off x="7010400" y="3048000"/>
            <a:ext cx="1219200" cy="822325"/>
          </a:xfrm>
          <a:prstGeom prst="rect">
            <a:avLst/>
          </a:prstGeom>
          <a:noFill/>
          <a:ln>
            <a:noFill/>
          </a:ln>
        </p:spPr>
        <p:txBody>
          <a:bodyPr spcFirstLastPara="1" wrap="square" lIns="91425" tIns="45700" rIns="91425" bIns="45700" anchor="t" anchorCtr="0">
            <a:spAutoFit/>
          </a:bodyPr>
          <a:lstStyle/>
          <a:p>
            <a:pPr marL="0" marR="0" lvl="0" indent="-152400" algn="ctr" rtl="0">
              <a:spcBef>
                <a:spcPts val="0"/>
              </a:spcBef>
              <a:spcAft>
                <a:spcPts val="0"/>
              </a:spcAft>
              <a:buClr>
                <a:schemeClr val="folHlink"/>
              </a:buClr>
              <a:buSzPts val="2400"/>
              <a:buFont typeface="Noto Sans Symbols"/>
              <a:buChar char="μ"/>
            </a:pPr>
            <a:r>
              <a:rPr lang="en-US" sz="2400">
                <a:solidFill>
                  <a:schemeClr val="folHlink"/>
                </a:solidFill>
                <a:latin typeface="Arial"/>
                <a:ea typeface="Arial"/>
                <a:cs typeface="Arial"/>
                <a:sym typeface="Arial"/>
              </a:rPr>
              <a:t> = 0</a:t>
            </a:r>
            <a:endParaRPr/>
          </a:p>
          <a:p>
            <a:pPr marL="0" marR="0" lvl="0" indent="0" algn="ctr" rtl="0">
              <a:lnSpc>
                <a:spcPct val="50000"/>
              </a:lnSpc>
              <a:spcBef>
                <a:spcPts val="1200"/>
              </a:spcBef>
              <a:spcAft>
                <a:spcPts val="0"/>
              </a:spcAft>
              <a:buClr>
                <a:schemeClr val="folHlink"/>
              </a:buClr>
              <a:buSzPts val="2400"/>
              <a:buFont typeface="Noto Sans Symbols"/>
              <a:buNone/>
            </a:pPr>
            <a:r>
              <a:rPr lang="en-US" sz="2400">
                <a:solidFill>
                  <a:schemeClr val="folHlink"/>
                </a:solidFill>
                <a:latin typeface="Arial"/>
                <a:ea typeface="Arial"/>
                <a:cs typeface="Arial"/>
                <a:sym typeface="Arial"/>
              </a:rPr>
              <a:t>σ = 1</a:t>
            </a:r>
            <a:endParaRPr/>
          </a:p>
        </p:txBody>
      </p:sp>
      <p:grpSp>
        <p:nvGrpSpPr>
          <p:cNvPr id="1283" name="Google Shape;1283;p76"/>
          <p:cNvGrpSpPr/>
          <p:nvPr/>
        </p:nvGrpSpPr>
        <p:grpSpPr>
          <a:xfrm>
            <a:off x="3810000" y="3048000"/>
            <a:ext cx="1903413" cy="612775"/>
            <a:chOff x="1825" y="2398"/>
            <a:chExt cx="1728" cy="793"/>
          </a:xfrm>
        </p:grpSpPr>
        <p:sp>
          <p:nvSpPr>
            <p:cNvPr id="1284" name="Google Shape;1284;p76"/>
            <p:cNvSpPr/>
            <p:nvPr/>
          </p:nvSpPr>
          <p:spPr>
            <a:xfrm>
              <a:off x="1827" y="2432"/>
              <a:ext cx="1726" cy="759"/>
            </a:xfrm>
            <a:custGeom>
              <a:avLst/>
              <a:gdLst/>
              <a:ahLst/>
              <a:cxnLst/>
              <a:rect l="l" t="t" r="r" b="b"/>
              <a:pathLst>
                <a:path w="1726" h="759" extrusionOk="0">
                  <a:moveTo>
                    <a:pt x="7" y="425"/>
                  </a:moveTo>
                  <a:lnTo>
                    <a:pt x="0" y="386"/>
                  </a:lnTo>
                  <a:lnTo>
                    <a:pt x="52" y="320"/>
                  </a:lnTo>
                  <a:lnTo>
                    <a:pt x="86" y="282"/>
                  </a:lnTo>
                  <a:lnTo>
                    <a:pt x="122" y="255"/>
                  </a:lnTo>
                  <a:lnTo>
                    <a:pt x="151" y="227"/>
                  </a:lnTo>
                  <a:lnTo>
                    <a:pt x="190" y="200"/>
                  </a:lnTo>
                  <a:lnTo>
                    <a:pt x="224" y="175"/>
                  </a:lnTo>
                  <a:lnTo>
                    <a:pt x="269" y="153"/>
                  </a:lnTo>
                  <a:lnTo>
                    <a:pt x="304" y="134"/>
                  </a:lnTo>
                  <a:lnTo>
                    <a:pt x="341" y="113"/>
                  </a:lnTo>
                  <a:lnTo>
                    <a:pt x="394" y="93"/>
                  </a:lnTo>
                  <a:lnTo>
                    <a:pt x="443" y="75"/>
                  </a:lnTo>
                  <a:lnTo>
                    <a:pt x="502" y="57"/>
                  </a:lnTo>
                  <a:lnTo>
                    <a:pt x="581" y="34"/>
                  </a:lnTo>
                  <a:lnTo>
                    <a:pt x="646" y="20"/>
                  </a:lnTo>
                  <a:lnTo>
                    <a:pt x="700" y="14"/>
                  </a:lnTo>
                  <a:lnTo>
                    <a:pt x="778" y="6"/>
                  </a:lnTo>
                  <a:lnTo>
                    <a:pt x="837" y="0"/>
                  </a:lnTo>
                  <a:lnTo>
                    <a:pt x="896" y="2"/>
                  </a:lnTo>
                  <a:lnTo>
                    <a:pt x="958" y="4"/>
                  </a:lnTo>
                  <a:lnTo>
                    <a:pt x="1021" y="14"/>
                  </a:lnTo>
                  <a:lnTo>
                    <a:pt x="1076" y="22"/>
                  </a:lnTo>
                  <a:lnTo>
                    <a:pt x="1132" y="36"/>
                  </a:lnTo>
                  <a:lnTo>
                    <a:pt x="1185" y="57"/>
                  </a:lnTo>
                  <a:lnTo>
                    <a:pt x="1236" y="79"/>
                  </a:lnTo>
                  <a:lnTo>
                    <a:pt x="1290" y="108"/>
                  </a:lnTo>
                  <a:lnTo>
                    <a:pt x="1342" y="147"/>
                  </a:lnTo>
                  <a:lnTo>
                    <a:pt x="1382" y="181"/>
                  </a:lnTo>
                  <a:lnTo>
                    <a:pt x="1426" y="225"/>
                  </a:lnTo>
                  <a:lnTo>
                    <a:pt x="1457" y="258"/>
                  </a:lnTo>
                  <a:lnTo>
                    <a:pt x="1472" y="277"/>
                  </a:lnTo>
                  <a:lnTo>
                    <a:pt x="1582" y="46"/>
                  </a:lnTo>
                  <a:lnTo>
                    <a:pt x="1594" y="94"/>
                  </a:lnTo>
                  <a:lnTo>
                    <a:pt x="1594" y="147"/>
                  </a:lnTo>
                  <a:lnTo>
                    <a:pt x="1596" y="197"/>
                  </a:lnTo>
                  <a:lnTo>
                    <a:pt x="1600" y="247"/>
                  </a:lnTo>
                  <a:lnTo>
                    <a:pt x="1605" y="300"/>
                  </a:lnTo>
                  <a:lnTo>
                    <a:pt x="1615" y="354"/>
                  </a:lnTo>
                  <a:lnTo>
                    <a:pt x="1624" y="398"/>
                  </a:lnTo>
                  <a:lnTo>
                    <a:pt x="1637" y="450"/>
                  </a:lnTo>
                  <a:lnTo>
                    <a:pt x="1651" y="499"/>
                  </a:lnTo>
                  <a:lnTo>
                    <a:pt x="1671" y="561"/>
                  </a:lnTo>
                  <a:lnTo>
                    <a:pt x="1706" y="627"/>
                  </a:lnTo>
                  <a:lnTo>
                    <a:pt x="1725" y="698"/>
                  </a:lnTo>
                  <a:lnTo>
                    <a:pt x="1685" y="685"/>
                  </a:lnTo>
                  <a:lnTo>
                    <a:pt x="1646" y="676"/>
                  </a:lnTo>
                  <a:lnTo>
                    <a:pt x="1601" y="667"/>
                  </a:lnTo>
                  <a:lnTo>
                    <a:pt x="1559" y="663"/>
                  </a:lnTo>
                  <a:lnTo>
                    <a:pt x="1534" y="664"/>
                  </a:lnTo>
                  <a:lnTo>
                    <a:pt x="1507" y="666"/>
                  </a:lnTo>
                  <a:lnTo>
                    <a:pt x="1469" y="671"/>
                  </a:lnTo>
                  <a:lnTo>
                    <a:pt x="1434" y="681"/>
                  </a:lnTo>
                  <a:lnTo>
                    <a:pt x="1403" y="690"/>
                  </a:lnTo>
                  <a:lnTo>
                    <a:pt x="1367" y="707"/>
                  </a:lnTo>
                  <a:lnTo>
                    <a:pt x="1330" y="723"/>
                  </a:lnTo>
                  <a:lnTo>
                    <a:pt x="1277" y="758"/>
                  </a:lnTo>
                  <a:lnTo>
                    <a:pt x="1259" y="687"/>
                  </a:lnTo>
                  <a:lnTo>
                    <a:pt x="1362" y="500"/>
                  </a:lnTo>
                  <a:lnTo>
                    <a:pt x="1345" y="482"/>
                  </a:lnTo>
                  <a:lnTo>
                    <a:pt x="1286" y="434"/>
                  </a:lnTo>
                  <a:lnTo>
                    <a:pt x="1237" y="396"/>
                  </a:lnTo>
                  <a:lnTo>
                    <a:pt x="1172" y="350"/>
                  </a:lnTo>
                  <a:lnTo>
                    <a:pt x="1131" y="328"/>
                  </a:lnTo>
                  <a:lnTo>
                    <a:pt x="1092" y="305"/>
                  </a:lnTo>
                  <a:lnTo>
                    <a:pt x="1036" y="277"/>
                  </a:lnTo>
                  <a:lnTo>
                    <a:pt x="982" y="251"/>
                  </a:lnTo>
                  <a:lnTo>
                    <a:pt x="921" y="232"/>
                  </a:lnTo>
                  <a:lnTo>
                    <a:pt x="868" y="219"/>
                  </a:lnTo>
                  <a:lnTo>
                    <a:pt x="811" y="209"/>
                  </a:lnTo>
                  <a:lnTo>
                    <a:pt x="753" y="197"/>
                  </a:lnTo>
                  <a:lnTo>
                    <a:pt x="707" y="195"/>
                  </a:lnTo>
                  <a:lnTo>
                    <a:pt x="647" y="196"/>
                  </a:lnTo>
                  <a:lnTo>
                    <a:pt x="587" y="201"/>
                  </a:lnTo>
                  <a:lnTo>
                    <a:pt x="531" y="204"/>
                  </a:lnTo>
                  <a:lnTo>
                    <a:pt x="470" y="211"/>
                  </a:lnTo>
                  <a:lnTo>
                    <a:pt x="401" y="222"/>
                  </a:lnTo>
                  <a:lnTo>
                    <a:pt x="334" y="232"/>
                  </a:lnTo>
                  <a:lnTo>
                    <a:pt x="273" y="254"/>
                  </a:lnTo>
                  <a:lnTo>
                    <a:pt x="231" y="266"/>
                  </a:lnTo>
                  <a:lnTo>
                    <a:pt x="189" y="284"/>
                  </a:lnTo>
                  <a:lnTo>
                    <a:pt x="158" y="301"/>
                  </a:lnTo>
                  <a:lnTo>
                    <a:pt x="126" y="322"/>
                  </a:lnTo>
                  <a:lnTo>
                    <a:pt x="97" y="343"/>
                  </a:lnTo>
                  <a:lnTo>
                    <a:pt x="7" y="425"/>
                  </a:lnTo>
                </a:path>
              </a:pathLst>
            </a:custGeom>
            <a:solidFill>
              <a:srgbClr val="66FFFF"/>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85" name="Google Shape;1285;p76"/>
            <p:cNvSpPr/>
            <p:nvPr/>
          </p:nvSpPr>
          <p:spPr>
            <a:xfrm>
              <a:off x="1825" y="2398"/>
              <a:ext cx="1708" cy="718"/>
            </a:xfrm>
            <a:custGeom>
              <a:avLst/>
              <a:gdLst/>
              <a:ahLst/>
              <a:cxnLst/>
              <a:rect l="l" t="t" r="r" b="b"/>
              <a:pathLst>
                <a:path w="1708" h="718" extrusionOk="0">
                  <a:moveTo>
                    <a:pt x="0" y="421"/>
                  </a:moveTo>
                  <a:lnTo>
                    <a:pt x="57" y="326"/>
                  </a:lnTo>
                  <a:lnTo>
                    <a:pt x="84" y="296"/>
                  </a:lnTo>
                  <a:lnTo>
                    <a:pt x="117" y="264"/>
                  </a:lnTo>
                  <a:lnTo>
                    <a:pt x="146" y="239"/>
                  </a:lnTo>
                  <a:lnTo>
                    <a:pt x="183" y="210"/>
                  </a:lnTo>
                  <a:lnTo>
                    <a:pt x="219" y="183"/>
                  </a:lnTo>
                  <a:lnTo>
                    <a:pt x="263" y="156"/>
                  </a:lnTo>
                  <a:lnTo>
                    <a:pt x="299" y="137"/>
                  </a:lnTo>
                  <a:lnTo>
                    <a:pt x="336" y="117"/>
                  </a:lnTo>
                  <a:lnTo>
                    <a:pt x="388" y="95"/>
                  </a:lnTo>
                  <a:lnTo>
                    <a:pt x="438" y="79"/>
                  </a:lnTo>
                  <a:lnTo>
                    <a:pt x="496" y="61"/>
                  </a:lnTo>
                  <a:lnTo>
                    <a:pt x="575" y="37"/>
                  </a:lnTo>
                  <a:lnTo>
                    <a:pt x="640" y="23"/>
                  </a:lnTo>
                  <a:lnTo>
                    <a:pt x="694" y="16"/>
                  </a:lnTo>
                  <a:lnTo>
                    <a:pt x="771" y="6"/>
                  </a:lnTo>
                  <a:lnTo>
                    <a:pt x="831" y="0"/>
                  </a:lnTo>
                  <a:lnTo>
                    <a:pt x="889" y="1"/>
                  </a:lnTo>
                  <a:lnTo>
                    <a:pt x="951" y="2"/>
                  </a:lnTo>
                  <a:lnTo>
                    <a:pt x="1013" y="10"/>
                  </a:lnTo>
                  <a:lnTo>
                    <a:pt x="1069" y="17"/>
                  </a:lnTo>
                  <a:lnTo>
                    <a:pt x="1124" y="30"/>
                  </a:lnTo>
                  <a:lnTo>
                    <a:pt x="1176" y="49"/>
                  </a:lnTo>
                  <a:lnTo>
                    <a:pt x="1228" y="69"/>
                  </a:lnTo>
                  <a:lnTo>
                    <a:pt x="1280" y="96"/>
                  </a:lnTo>
                  <a:lnTo>
                    <a:pt x="1332" y="132"/>
                  </a:lnTo>
                  <a:lnTo>
                    <a:pt x="1371" y="164"/>
                  </a:lnTo>
                  <a:lnTo>
                    <a:pt x="1414" y="205"/>
                  </a:lnTo>
                  <a:lnTo>
                    <a:pt x="1445" y="236"/>
                  </a:lnTo>
                  <a:lnTo>
                    <a:pt x="1488" y="281"/>
                  </a:lnTo>
                  <a:lnTo>
                    <a:pt x="1583" y="78"/>
                  </a:lnTo>
                  <a:lnTo>
                    <a:pt x="1582" y="129"/>
                  </a:lnTo>
                  <a:lnTo>
                    <a:pt x="1583" y="176"/>
                  </a:lnTo>
                  <a:lnTo>
                    <a:pt x="1587" y="224"/>
                  </a:lnTo>
                  <a:lnTo>
                    <a:pt x="1592" y="274"/>
                  </a:lnTo>
                  <a:lnTo>
                    <a:pt x="1601" y="326"/>
                  </a:lnTo>
                  <a:lnTo>
                    <a:pt x="1609" y="368"/>
                  </a:lnTo>
                  <a:lnTo>
                    <a:pt x="1622" y="417"/>
                  </a:lnTo>
                  <a:lnTo>
                    <a:pt x="1635" y="464"/>
                  </a:lnTo>
                  <a:lnTo>
                    <a:pt x="1655" y="523"/>
                  </a:lnTo>
                  <a:lnTo>
                    <a:pt x="1674" y="576"/>
                  </a:lnTo>
                  <a:lnTo>
                    <a:pt x="1689" y="611"/>
                  </a:lnTo>
                  <a:lnTo>
                    <a:pt x="1707" y="656"/>
                  </a:lnTo>
                  <a:lnTo>
                    <a:pt x="1668" y="643"/>
                  </a:lnTo>
                  <a:lnTo>
                    <a:pt x="1628" y="634"/>
                  </a:lnTo>
                  <a:lnTo>
                    <a:pt x="1583" y="626"/>
                  </a:lnTo>
                  <a:lnTo>
                    <a:pt x="1542" y="623"/>
                  </a:lnTo>
                  <a:lnTo>
                    <a:pt x="1516" y="623"/>
                  </a:lnTo>
                  <a:lnTo>
                    <a:pt x="1491" y="626"/>
                  </a:lnTo>
                  <a:lnTo>
                    <a:pt x="1452" y="632"/>
                  </a:lnTo>
                  <a:lnTo>
                    <a:pt x="1417" y="641"/>
                  </a:lnTo>
                  <a:lnTo>
                    <a:pt x="1386" y="650"/>
                  </a:lnTo>
                  <a:lnTo>
                    <a:pt x="1350" y="668"/>
                  </a:lnTo>
                  <a:lnTo>
                    <a:pt x="1313" y="684"/>
                  </a:lnTo>
                  <a:lnTo>
                    <a:pt x="1260" y="717"/>
                  </a:lnTo>
                  <a:lnTo>
                    <a:pt x="1381" y="493"/>
                  </a:lnTo>
                  <a:lnTo>
                    <a:pt x="1332" y="453"/>
                  </a:lnTo>
                  <a:lnTo>
                    <a:pt x="1274" y="408"/>
                  </a:lnTo>
                  <a:lnTo>
                    <a:pt x="1224" y="372"/>
                  </a:lnTo>
                  <a:lnTo>
                    <a:pt x="1160" y="330"/>
                  </a:lnTo>
                  <a:lnTo>
                    <a:pt x="1119" y="308"/>
                  </a:lnTo>
                  <a:lnTo>
                    <a:pt x="1081" y="287"/>
                  </a:lnTo>
                  <a:lnTo>
                    <a:pt x="1026" y="261"/>
                  </a:lnTo>
                  <a:lnTo>
                    <a:pt x="972" y="238"/>
                  </a:lnTo>
                  <a:lnTo>
                    <a:pt x="911" y="220"/>
                  </a:lnTo>
                  <a:lnTo>
                    <a:pt x="859" y="209"/>
                  </a:lnTo>
                  <a:lnTo>
                    <a:pt x="802" y="200"/>
                  </a:lnTo>
                  <a:lnTo>
                    <a:pt x="744" y="190"/>
                  </a:lnTo>
                  <a:lnTo>
                    <a:pt x="699" y="189"/>
                  </a:lnTo>
                  <a:lnTo>
                    <a:pt x="640" y="191"/>
                  </a:lnTo>
                  <a:lnTo>
                    <a:pt x="579" y="196"/>
                  </a:lnTo>
                  <a:lnTo>
                    <a:pt x="523" y="200"/>
                  </a:lnTo>
                  <a:lnTo>
                    <a:pt x="462" y="208"/>
                  </a:lnTo>
                  <a:lnTo>
                    <a:pt x="393" y="218"/>
                  </a:lnTo>
                  <a:lnTo>
                    <a:pt x="327" y="230"/>
                  </a:lnTo>
                  <a:lnTo>
                    <a:pt x="267" y="252"/>
                  </a:lnTo>
                  <a:lnTo>
                    <a:pt x="224" y="263"/>
                  </a:lnTo>
                  <a:lnTo>
                    <a:pt x="182" y="281"/>
                  </a:lnTo>
                  <a:lnTo>
                    <a:pt x="148" y="299"/>
                  </a:lnTo>
                  <a:lnTo>
                    <a:pt x="117" y="317"/>
                  </a:lnTo>
                  <a:lnTo>
                    <a:pt x="91" y="340"/>
                  </a:lnTo>
                  <a:lnTo>
                    <a:pt x="0" y="421"/>
                  </a:lnTo>
                </a:path>
              </a:pathLst>
            </a:custGeom>
            <a:solidFill>
              <a:srgbClr val="66FFFF"/>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289"/>
        <p:cNvGrpSpPr/>
        <p:nvPr/>
      </p:nvGrpSpPr>
      <p:grpSpPr>
        <a:xfrm>
          <a:off x="0" y="0"/>
          <a:ext cx="0" cy="0"/>
          <a:chOff x="0" y="0"/>
          <a:chExt cx="0" cy="0"/>
        </a:xfrm>
      </p:grpSpPr>
      <p:sp>
        <p:nvSpPr>
          <p:cNvPr id="1290" name="Google Shape;1290;p77"/>
          <p:cNvSpPr/>
          <p:nvPr/>
        </p:nvSpPr>
        <p:spPr>
          <a:xfrm>
            <a:off x="6288088" y="4997450"/>
            <a:ext cx="320675" cy="242888"/>
          </a:xfrm>
          <a:custGeom>
            <a:avLst/>
            <a:gdLst/>
            <a:ahLst/>
            <a:cxnLst/>
            <a:rect l="l" t="t" r="r" b="b"/>
            <a:pathLst>
              <a:path w="202" h="153" extrusionOk="0">
                <a:moveTo>
                  <a:pt x="12" y="141"/>
                </a:moveTo>
                <a:cubicBezTo>
                  <a:pt x="39" y="153"/>
                  <a:pt x="79" y="146"/>
                  <a:pt x="105" y="145"/>
                </a:cubicBezTo>
                <a:cubicBezTo>
                  <a:pt x="127" y="143"/>
                  <a:pt x="135" y="143"/>
                  <a:pt x="162" y="144"/>
                </a:cubicBezTo>
                <a:cubicBezTo>
                  <a:pt x="172" y="148"/>
                  <a:pt x="181" y="148"/>
                  <a:pt x="192" y="147"/>
                </a:cubicBezTo>
                <a:cubicBezTo>
                  <a:pt x="200" y="136"/>
                  <a:pt x="198" y="142"/>
                  <a:pt x="201" y="132"/>
                </a:cubicBezTo>
                <a:cubicBezTo>
                  <a:pt x="200" y="102"/>
                  <a:pt x="202" y="55"/>
                  <a:pt x="187" y="24"/>
                </a:cubicBezTo>
                <a:cubicBezTo>
                  <a:pt x="185" y="7"/>
                  <a:pt x="165" y="1"/>
                  <a:pt x="150" y="0"/>
                </a:cubicBezTo>
                <a:cubicBezTo>
                  <a:pt x="116" y="2"/>
                  <a:pt x="102" y="41"/>
                  <a:pt x="70" y="46"/>
                </a:cubicBezTo>
                <a:cubicBezTo>
                  <a:pt x="63" y="49"/>
                  <a:pt x="58" y="51"/>
                  <a:pt x="51" y="52"/>
                </a:cubicBezTo>
                <a:cubicBezTo>
                  <a:pt x="43" y="55"/>
                  <a:pt x="36" y="56"/>
                  <a:pt x="27" y="57"/>
                </a:cubicBezTo>
                <a:cubicBezTo>
                  <a:pt x="19" y="62"/>
                  <a:pt x="14" y="67"/>
                  <a:pt x="7" y="73"/>
                </a:cubicBezTo>
                <a:cubicBezTo>
                  <a:pt x="0" y="87"/>
                  <a:pt x="2" y="81"/>
                  <a:pt x="0" y="90"/>
                </a:cubicBezTo>
                <a:cubicBezTo>
                  <a:pt x="0" y="104"/>
                  <a:pt x="0" y="119"/>
                  <a:pt x="1" y="133"/>
                </a:cubicBezTo>
                <a:cubicBezTo>
                  <a:pt x="1" y="138"/>
                  <a:pt x="8" y="147"/>
                  <a:pt x="12" y="141"/>
                </a:cubicBezTo>
                <a:close/>
              </a:path>
            </a:pathLst>
          </a:custGeom>
          <a:solidFill>
            <a:srgbClr val="FF0000"/>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91" name="Google Shape;1291;p77"/>
          <p:cNvSpPr/>
          <p:nvPr/>
        </p:nvSpPr>
        <p:spPr>
          <a:xfrm>
            <a:off x="6248400" y="3581400"/>
            <a:ext cx="366713" cy="1625600"/>
          </a:xfrm>
          <a:custGeom>
            <a:avLst/>
            <a:gdLst/>
            <a:ahLst/>
            <a:cxnLst/>
            <a:rect l="l" t="t" r="r" b="b"/>
            <a:pathLst>
              <a:path w="231" h="1024" extrusionOk="0">
                <a:moveTo>
                  <a:pt x="25" y="984"/>
                </a:moveTo>
                <a:cubicBezTo>
                  <a:pt x="28" y="847"/>
                  <a:pt x="34" y="709"/>
                  <a:pt x="37" y="572"/>
                </a:cubicBezTo>
                <a:cubicBezTo>
                  <a:pt x="33" y="476"/>
                  <a:pt x="30" y="440"/>
                  <a:pt x="33" y="340"/>
                </a:cubicBezTo>
                <a:cubicBezTo>
                  <a:pt x="30" y="269"/>
                  <a:pt x="25" y="210"/>
                  <a:pt x="29" y="140"/>
                </a:cubicBezTo>
                <a:cubicBezTo>
                  <a:pt x="28" y="100"/>
                  <a:pt x="0" y="32"/>
                  <a:pt x="41" y="4"/>
                </a:cubicBezTo>
                <a:cubicBezTo>
                  <a:pt x="122" y="9"/>
                  <a:pt x="91" y="0"/>
                  <a:pt x="133" y="28"/>
                </a:cubicBezTo>
                <a:cubicBezTo>
                  <a:pt x="156" y="62"/>
                  <a:pt x="125" y="22"/>
                  <a:pt x="153" y="44"/>
                </a:cubicBezTo>
                <a:cubicBezTo>
                  <a:pt x="157" y="47"/>
                  <a:pt x="158" y="53"/>
                  <a:pt x="161" y="56"/>
                </a:cubicBezTo>
                <a:cubicBezTo>
                  <a:pt x="164" y="59"/>
                  <a:pt x="169" y="61"/>
                  <a:pt x="173" y="64"/>
                </a:cubicBezTo>
                <a:cubicBezTo>
                  <a:pt x="185" y="82"/>
                  <a:pt x="194" y="97"/>
                  <a:pt x="209" y="112"/>
                </a:cubicBezTo>
                <a:cubicBezTo>
                  <a:pt x="212" y="120"/>
                  <a:pt x="221" y="127"/>
                  <a:pt x="221" y="136"/>
                </a:cubicBezTo>
                <a:cubicBezTo>
                  <a:pt x="221" y="163"/>
                  <a:pt x="213" y="216"/>
                  <a:pt x="213" y="216"/>
                </a:cubicBezTo>
                <a:cubicBezTo>
                  <a:pt x="215" y="282"/>
                  <a:pt x="217" y="319"/>
                  <a:pt x="225" y="376"/>
                </a:cubicBezTo>
                <a:cubicBezTo>
                  <a:pt x="224" y="399"/>
                  <a:pt x="224" y="421"/>
                  <a:pt x="221" y="444"/>
                </a:cubicBezTo>
                <a:cubicBezTo>
                  <a:pt x="220" y="452"/>
                  <a:pt x="213" y="468"/>
                  <a:pt x="213" y="468"/>
                </a:cubicBezTo>
                <a:cubicBezTo>
                  <a:pt x="207" y="564"/>
                  <a:pt x="209" y="508"/>
                  <a:pt x="209" y="636"/>
                </a:cubicBezTo>
                <a:cubicBezTo>
                  <a:pt x="213" y="623"/>
                  <a:pt x="222" y="582"/>
                  <a:pt x="221" y="596"/>
                </a:cubicBezTo>
                <a:cubicBezTo>
                  <a:pt x="208" y="724"/>
                  <a:pt x="231" y="865"/>
                  <a:pt x="173" y="980"/>
                </a:cubicBezTo>
                <a:cubicBezTo>
                  <a:pt x="151" y="1024"/>
                  <a:pt x="74" y="983"/>
                  <a:pt x="25" y="984"/>
                </a:cubicBezTo>
                <a:close/>
              </a:path>
            </a:pathLst>
          </a:custGeom>
          <a:solidFill>
            <a:srgbClr val="FF0000"/>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292" name="Google Shape;1292;p77"/>
          <p:cNvCxnSpPr/>
          <p:nvPr/>
        </p:nvCxnSpPr>
        <p:spPr>
          <a:xfrm>
            <a:off x="6599238" y="3841750"/>
            <a:ext cx="0" cy="1371600"/>
          </a:xfrm>
          <a:prstGeom prst="straightConnector1">
            <a:avLst/>
          </a:prstGeom>
          <a:noFill/>
          <a:ln w="63500" cap="flat" cmpd="sng">
            <a:solidFill>
              <a:srgbClr val="FF0000"/>
            </a:solidFill>
            <a:prstDash val="solid"/>
            <a:round/>
            <a:headEnd type="none" w="med" len="med"/>
            <a:tailEnd type="none" w="med" len="med"/>
          </a:ln>
        </p:spPr>
      </p:cxnSp>
      <p:cxnSp>
        <p:nvCxnSpPr>
          <p:cNvPr id="1293" name="Google Shape;1293;p77"/>
          <p:cNvCxnSpPr/>
          <p:nvPr/>
        </p:nvCxnSpPr>
        <p:spPr>
          <a:xfrm>
            <a:off x="6294438" y="3613150"/>
            <a:ext cx="0" cy="1600200"/>
          </a:xfrm>
          <a:prstGeom prst="straightConnector1">
            <a:avLst/>
          </a:prstGeom>
          <a:noFill/>
          <a:ln w="31750" cap="flat" cmpd="sng">
            <a:solidFill>
              <a:schemeClr val="dk1"/>
            </a:solidFill>
            <a:prstDash val="solid"/>
            <a:round/>
            <a:headEnd type="none" w="med" len="med"/>
            <a:tailEnd type="none" w="med" len="med"/>
          </a:ln>
        </p:spPr>
      </p:cxnSp>
      <p:sp>
        <p:nvSpPr>
          <p:cNvPr id="1294" name="Google Shape;1294;p77"/>
          <p:cNvSpPr/>
          <p:nvPr/>
        </p:nvSpPr>
        <p:spPr>
          <a:xfrm>
            <a:off x="6329363" y="3568700"/>
            <a:ext cx="1635125" cy="1573213"/>
          </a:xfrm>
          <a:custGeom>
            <a:avLst/>
            <a:gdLst/>
            <a:ahLst/>
            <a:cxnLst/>
            <a:rect l="l" t="t" r="r" b="b"/>
            <a:pathLst>
              <a:path w="1030" h="991" extrusionOk="0">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95" name="Google Shape;1295;p77"/>
          <p:cNvSpPr/>
          <p:nvPr/>
        </p:nvSpPr>
        <p:spPr>
          <a:xfrm>
            <a:off x="4692650" y="3568700"/>
            <a:ext cx="1638300" cy="1573213"/>
          </a:xfrm>
          <a:custGeom>
            <a:avLst/>
            <a:gdLst/>
            <a:ahLst/>
            <a:cxnLst/>
            <a:rect l="l" t="t" r="r" b="b"/>
            <a:pathLst>
              <a:path w="1032" h="991" extrusionOk="0">
                <a:moveTo>
                  <a:pt x="0" y="990"/>
                </a:moveTo>
                <a:lnTo>
                  <a:pt x="108" y="980"/>
                </a:lnTo>
                <a:lnTo>
                  <a:pt x="163" y="967"/>
                </a:lnTo>
                <a:lnTo>
                  <a:pt x="218" y="952"/>
                </a:lnTo>
                <a:lnTo>
                  <a:pt x="271" y="929"/>
                </a:lnTo>
                <a:lnTo>
                  <a:pt x="326" y="897"/>
                </a:lnTo>
                <a:lnTo>
                  <a:pt x="381" y="857"/>
                </a:lnTo>
                <a:lnTo>
                  <a:pt x="488" y="743"/>
                </a:lnTo>
                <a:lnTo>
                  <a:pt x="596" y="581"/>
                </a:lnTo>
                <a:lnTo>
                  <a:pt x="706" y="386"/>
                </a:lnTo>
                <a:lnTo>
                  <a:pt x="759" y="287"/>
                </a:lnTo>
                <a:lnTo>
                  <a:pt x="814" y="196"/>
                </a:lnTo>
                <a:lnTo>
                  <a:pt x="868" y="116"/>
                </a:lnTo>
                <a:lnTo>
                  <a:pt x="921" y="53"/>
                </a:lnTo>
                <a:lnTo>
                  <a:pt x="976" y="13"/>
                </a:lnTo>
                <a:lnTo>
                  <a:pt x="1031"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96" name="Google Shape;1296;p77"/>
          <p:cNvSpPr/>
          <p:nvPr/>
        </p:nvSpPr>
        <p:spPr>
          <a:xfrm>
            <a:off x="4675188" y="5224463"/>
            <a:ext cx="3289300" cy="7937"/>
          </a:xfrm>
          <a:custGeom>
            <a:avLst/>
            <a:gdLst/>
            <a:ahLst/>
            <a:cxnLst/>
            <a:rect l="l" t="t" r="r" b="b"/>
            <a:pathLst>
              <a:path w="2072" h="5" extrusionOk="0">
                <a:moveTo>
                  <a:pt x="0" y="5"/>
                </a:moveTo>
                <a:lnTo>
                  <a:pt x="12" y="0"/>
                </a:lnTo>
                <a:lnTo>
                  <a:pt x="2072" y="0"/>
                </a:lnTo>
              </a:path>
            </a:pathLst>
          </a:custGeom>
          <a:noFill/>
          <a:ln w="508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97" name="Google Shape;1297;p77"/>
          <p:cNvSpPr/>
          <p:nvPr/>
        </p:nvSpPr>
        <p:spPr>
          <a:xfrm>
            <a:off x="7970838" y="5213350"/>
            <a:ext cx="381000"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Z</a:t>
            </a:r>
            <a:endParaRPr/>
          </a:p>
        </p:txBody>
      </p:sp>
      <p:sp>
        <p:nvSpPr>
          <p:cNvPr id="1298" name="Google Shape;1298;p77"/>
          <p:cNvSpPr/>
          <p:nvPr/>
        </p:nvSpPr>
        <p:spPr>
          <a:xfrm>
            <a:off x="6342063" y="5516563"/>
            <a:ext cx="184150" cy="920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299" name="Google Shape;1299;p77"/>
          <p:cNvSpPr/>
          <p:nvPr/>
        </p:nvSpPr>
        <p:spPr>
          <a:xfrm>
            <a:off x="7832725" y="3319463"/>
            <a:ext cx="184150" cy="920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00" name="Google Shape;1300;p77"/>
          <p:cNvSpPr/>
          <p:nvPr/>
        </p:nvSpPr>
        <p:spPr>
          <a:xfrm>
            <a:off x="6446838" y="5822950"/>
            <a:ext cx="625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rgbClr val="339933"/>
                </a:solidFill>
                <a:latin typeface="Arial"/>
                <a:ea typeface="Arial"/>
                <a:cs typeface="Arial"/>
                <a:sym typeface="Arial"/>
              </a:rPr>
              <a:t>0.12</a:t>
            </a:r>
            <a:endParaRPr sz="2400" b="1">
              <a:solidFill>
                <a:srgbClr val="339933"/>
              </a:solidFill>
              <a:latin typeface="Arial"/>
              <a:ea typeface="Arial"/>
              <a:cs typeface="Arial"/>
              <a:sym typeface="Arial"/>
            </a:endParaRPr>
          </a:p>
        </p:txBody>
      </p:sp>
      <p:sp>
        <p:nvSpPr>
          <p:cNvPr id="1301" name="Google Shape;1301;p77"/>
          <p:cNvSpPr/>
          <p:nvPr/>
        </p:nvSpPr>
        <p:spPr>
          <a:xfrm>
            <a:off x="989013" y="2736850"/>
            <a:ext cx="6350" cy="642938"/>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02" name="Google Shape;1302;p77"/>
          <p:cNvSpPr/>
          <p:nvPr/>
        </p:nvSpPr>
        <p:spPr>
          <a:xfrm>
            <a:off x="1903413" y="2736850"/>
            <a:ext cx="6350" cy="642938"/>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03" name="Google Shape;1303;p77"/>
          <p:cNvSpPr/>
          <p:nvPr/>
        </p:nvSpPr>
        <p:spPr>
          <a:xfrm>
            <a:off x="2876550" y="2736850"/>
            <a:ext cx="6350" cy="642938"/>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04" name="Google Shape;1304;p77"/>
          <p:cNvSpPr/>
          <p:nvPr/>
        </p:nvSpPr>
        <p:spPr>
          <a:xfrm>
            <a:off x="388938" y="2736850"/>
            <a:ext cx="590550" cy="635000"/>
          </a:xfrm>
          <a:prstGeom prst="rect">
            <a:avLst/>
          </a:prstGeom>
          <a:solidFill>
            <a:srgbClr val="A0C7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05" name="Google Shape;1305;p77"/>
          <p:cNvSpPr/>
          <p:nvPr/>
        </p:nvSpPr>
        <p:spPr>
          <a:xfrm>
            <a:off x="474663" y="2809875"/>
            <a:ext cx="339725" cy="469900"/>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500">
                <a:solidFill>
                  <a:schemeClr val="dk1"/>
                </a:solidFill>
                <a:latin typeface="Arial"/>
                <a:ea typeface="Arial"/>
                <a:cs typeface="Arial"/>
                <a:sym typeface="Arial"/>
              </a:rPr>
              <a:t>z</a:t>
            </a:r>
            <a:endParaRPr/>
          </a:p>
        </p:txBody>
      </p:sp>
      <p:sp>
        <p:nvSpPr>
          <p:cNvPr id="1306" name="Google Shape;1306;p77"/>
          <p:cNvSpPr/>
          <p:nvPr/>
        </p:nvSpPr>
        <p:spPr>
          <a:xfrm>
            <a:off x="388938" y="3379788"/>
            <a:ext cx="590550" cy="1587"/>
          </a:xfrm>
          <a:prstGeom prst="rect">
            <a:avLst/>
          </a:prstGeom>
          <a:solidFill>
            <a:srgbClr val="A64C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07" name="Google Shape;1307;p77"/>
          <p:cNvSpPr/>
          <p:nvPr/>
        </p:nvSpPr>
        <p:spPr>
          <a:xfrm>
            <a:off x="1006475" y="2736850"/>
            <a:ext cx="887413" cy="635000"/>
          </a:xfrm>
          <a:prstGeom prst="rect">
            <a:avLst/>
          </a:prstGeom>
          <a:solidFill>
            <a:srgbClr val="A0C7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08" name="Google Shape;1308;p77"/>
          <p:cNvSpPr/>
          <p:nvPr/>
        </p:nvSpPr>
        <p:spPr>
          <a:xfrm>
            <a:off x="1108075" y="2809875"/>
            <a:ext cx="622300" cy="469900"/>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500">
                <a:solidFill>
                  <a:schemeClr val="dk1"/>
                </a:solidFill>
                <a:latin typeface="Arial"/>
                <a:ea typeface="Arial"/>
                <a:cs typeface="Arial"/>
                <a:sym typeface="Arial"/>
              </a:rPr>
              <a:t>.00</a:t>
            </a:r>
            <a:endParaRPr/>
          </a:p>
        </p:txBody>
      </p:sp>
      <p:sp>
        <p:nvSpPr>
          <p:cNvPr id="1309" name="Google Shape;1309;p77"/>
          <p:cNvSpPr/>
          <p:nvPr/>
        </p:nvSpPr>
        <p:spPr>
          <a:xfrm>
            <a:off x="1006475" y="3379788"/>
            <a:ext cx="887413" cy="1587"/>
          </a:xfrm>
          <a:prstGeom prst="rect">
            <a:avLst/>
          </a:prstGeom>
          <a:solidFill>
            <a:srgbClr val="A64C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10" name="Google Shape;1310;p77"/>
          <p:cNvSpPr/>
          <p:nvPr/>
        </p:nvSpPr>
        <p:spPr>
          <a:xfrm>
            <a:off x="1919288" y="2736850"/>
            <a:ext cx="947737" cy="635000"/>
          </a:xfrm>
          <a:prstGeom prst="rect">
            <a:avLst/>
          </a:prstGeom>
          <a:solidFill>
            <a:srgbClr val="A0C7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11" name="Google Shape;1311;p77"/>
          <p:cNvSpPr/>
          <p:nvPr/>
        </p:nvSpPr>
        <p:spPr>
          <a:xfrm>
            <a:off x="2052638" y="2809875"/>
            <a:ext cx="622300" cy="469900"/>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500">
                <a:solidFill>
                  <a:schemeClr val="dk1"/>
                </a:solidFill>
                <a:latin typeface="Arial"/>
                <a:ea typeface="Arial"/>
                <a:cs typeface="Arial"/>
                <a:sym typeface="Arial"/>
              </a:rPr>
              <a:t>.01</a:t>
            </a:r>
            <a:endParaRPr/>
          </a:p>
        </p:txBody>
      </p:sp>
      <p:sp>
        <p:nvSpPr>
          <p:cNvPr id="1312" name="Google Shape;1312;p77"/>
          <p:cNvSpPr/>
          <p:nvPr/>
        </p:nvSpPr>
        <p:spPr>
          <a:xfrm>
            <a:off x="1919288" y="3379788"/>
            <a:ext cx="947737" cy="1587"/>
          </a:xfrm>
          <a:prstGeom prst="rect">
            <a:avLst/>
          </a:prstGeom>
          <a:solidFill>
            <a:srgbClr val="A64C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13" name="Google Shape;1313;p77"/>
          <p:cNvSpPr/>
          <p:nvPr/>
        </p:nvSpPr>
        <p:spPr>
          <a:xfrm>
            <a:off x="2894013" y="2736850"/>
            <a:ext cx="944562" cy="642938"/>
          </a:xfrm>
          <a:prstGeom prst="rect">
            <a:avLst/>
          </a:prstGeom>
          <a:solidFill>
            <a:srgbClr val="96969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14" name="Google Shape;1314;p77"/>
          <p:cNvSpPr/>
          <p:nvPr/>
        </p:nvSpPr>
        <p:spPr>
          <a:xfrm>
            <a:off x="385763" y="3389313"/>
            <a:ext cx="593725"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15" name="Google Shape;1315;p77"/>
          <p:cNvSpPr/>
          <p:nvPr/>
        </p:nvSpPr>
        <p:spPr>
          <a:xfrm>
            <a:off x="989013" y="3389313"/>
            <a:ext cx="6350"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16" name="Google Shape;1316;p77"/>
          <p:cNvSpPr/>
          <p:nvPr/>
        </p:nvSpPr>
        <p:spPr>
          <a:xfrm>
            <a:off x="1006475" y="3389313"/>
            <a:ext cx="887413"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17" name="Google Shape;1317;p77"/>
          <p:cNvSpPr/>
          <p:nvPr/>
        </p:nvSpPr>
        <p:spPr>
          <a:xfrm>
            <a:off x="1903413" y="3389313"/>
            <a:ext cx="6350"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18" name="Google Shape;1318;p77"/>
          <p:cNvSpPr/>
          <p:nvPr/>
        </p:nvSpPr>
        <p:spPr>
          <a:xfrm>
            <a:off x="1919288" y="3389313"/>
            <a:ext cx="947737"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19" name="Google Shape;1319;p77"/>
          <p:cNvSpPr/>
          <p:nvPr/>
        </p:nvSpPr>
        <p:spPr>
          <a:xfrm>
            <a:off x="2876550" y="3389313"/>
            <a:ext cx="6350"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20" name="Google Shape;1320;p77"/>
          <p:cNvSpPr/>
          <p:nvPr/>
        </p:nvSpPr>
        <p:spPr>
          <a:xfrm>
            <a:off x="2894013" y="3389313"/>
            <a:ext cx="944562"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21" name="Google Shape;1321;p77"/>
          <p:cNvSpPr/>
          <p:nvPr/>
        </p:nvSpPr>
        <p:spPr>
          <a:xfrm>
            <a:off x="989013" y="3406775"/>
            <a:ext cx="6350" cy="63500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22" name="Google Shape;1322;p77"/>
          <p:cNvSpPr/>
          <p:nvPr/>
        </p:nvSpPr>
        <p:spPr>
          <a:xfrm>
            <a:off x="1903413" y="3406775"/>
            <a:ext cx="6350" cy="63500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23" name="Google Shape;1323;p77"/>
          <p:cNvSpPr/>
          <p:nvPr/>
        </p:nvSpPr>
        <p:spPr>
          <a:xfrm>
            <a:off x="2876550" y="3406775"/>
            <a:ext cx="6350" cy="63500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24" name="Google Shape;1324;p77"/>
          <p:cNvSpPr/>
          <p:nvPr/>
        </p:nvSpPr>
        <p:spPr>
          <a:xfrm>
            <a:off x="388938" y="3406775"/>
            <a:ext cx="590550" cy="635000"/>
          </a:xfrm>
          <a:prstGeom prst="rect">
            <a:avLst/>
          </a:prstGeom>
          <a:solidFill>
            <a:srgbClr val="A0C7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25" name="Google Shape;1325;p77"/>
          <p:cNvSpPr/>
          <p:nvPr/>
        </p:nvSpPr>
        <p:spPr>
          <a:xfrm>
            <a:off x="349250" y="3479800"/>
            <a:ext cx="622300" cy="469900"/>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500">
                <a:solidFill>
                  <a:schemeClr val="dk1"/>
                </a:solidFill>
                <a:latin typeface="Arial"/>
                <a:ea typeface="Arial"/>
                <a:cs typeface="Arial"/>
                <a:sym typeface="Arial"/>
              </a:rPr>
              <a:t>0.0</a:t>
            </a:r>
            <a:endParaRPr/>
          </a:p>
        </p:txBody>
      </p:sp>
      <p:sp>
        <p:nvSpPr>
          <p:cNvPr id="1326" name="Google Shape;1326;p77"/>
          <p:cNvSpPr/>
          <p:nvPr/>
        </p:nvSpPr>
        <p:spPr>
          <a:xfrm>
            <a:off x="958850" y="3473450"/>
            <a:ext cx="974725" cy="469900"/>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500">
                <a:solidFill>
                  <a:schemeClr val="dk1"/>
                </a:solidFill>
                <a:latin typeface="Arial"/>
                <a:ea typeface="Arial"/>
                <a:cs typeface="Arial"/>
                <a:sym typeface="Arial"/>
              </a:rPr>
              <a:t>.0000</a:t>
            </a:r>
            <a:endParaRPr/>
          </a:p>
        </p:txBody>
      </p:sp>
      <p:sp>
        <p:nvSpPr>
          <p:cNvPr id="1327" name="Google Shape;1327;p77"/>
          <p:cNvSpPr/>
          <p:nvPr/>
        </p:nvSpPr>
        <p:spPr>
          <a:xfrm>
            <a:off x="1874838" y="3479800"/>
            <a:ext cx="974725" cy="469900"/>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500">
                <a:solidFill>
                  <a:schemeClr val="dk1"/>
                </a:solidFill>
                <a:latin typeface="Arial"/>
                <a:ea typeface="Arial"/>
                <a:cs typeface="Arial"/>
                <a:sym typeface="Arial"/>
              </a:rPr>
              <a:t>.0040</a:t>
            </a:r>
            <a:endParaRPr/>
          </a:p>
        </p:txBody>
      </p:sp>
      <p:sp>
        <p:nvSpPr>
          <p:cNvPr id="1328" name="Google Shape;1328;p77"/>
          <p:cNvSpPr/>
          <p:nvPr/>
        </p:nvSpPr>
        <p:spPr>
          <a:xfrm>
            <a:off x="2843213" y="3479800"/>
            <a:ext cx="974725" cy="469900"/>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500">
                <a:solidFill>
                  <a:schemeClr val="dk1"/>
                </a:solidFill>
                <a:latin typeface="Arial"/>
                <a:ea typeface="Arial"/>
                <a:cs typeface="Arial"/>
                <a:sym typeface="Arial"/>
              </a:rPr>
              <a:t>.0080</a:t>
            </a:r>
            <a:endParaRPr/>
          </a:p>
        </p:txBody>
      </p:sp>
      <p:sp>
        <p:nvSpPr>
          <p:cNvPr id="1329" name="Google Shape;1329;p77"/>
          <p:cNvSpPr/>
          <p:nvPr/>
        </p:nvSpPr>
        <p:spPr>
          <a:xfrm>
            <a:off x="385763" y="4051300"/>
            <a:ext cx="593725"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30" name="Google Shape;1330;p77"/>
          <p:cNvSpPr/>
          <p:nvPr/>
        </p:nvSpPr>
        <p:spPr>
          <a:xfrm>
            <a:off x="989013" y="4051300"/>
            <a:ext cx="6350"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31" name="Google Shape;1331;p77"/>
          <p:cNvSpPr/>
          <p:nvPr/>
        </p:nvSpPr>
        <p:spPr>
          <a:xfrm>
            <a:off x="1006475" y="4051300"/>
            <a:ext cx="887413"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32" name="Google Shape;1332;p77"/>
          <p:cNvSpPr/>
          <p:nvPr/>
        </p:nvSpPr>
        <p:spPr>
          <a:xfrm>
            <a:off x="1903413" y="4051300"/>
            <a:ext cx="6350"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33" name="Google Shape;1333;p77"/>
          <p:cNvSpPr/>
          <p:nvPr/>
        </p:nvSpPr>
        <p:spPr>
          <a:xfrm>
            <a:off x="1919288" y="4051300"/>
            <a:ext cx="947737"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34" name="Google Shape;1334;p77"/>
          <p:cNvSpPr/>
          <p:nvPr/>
        </p:nvSpPr>
        <p:spPr>
          <a:xfrm>
            <a:off x="2876550" y="4051300"/>
            <a:ext cx="6350"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35" name="Google Shape;1335;p77"/>
          <p:cNvSpPr/>
          <p:nvPr/>
        </p:nvSpPr>
        <p:spPr>
          <a:xfrm>
            <a:off x="2894013" y="4051300"/>
            <a:ext cx="944562"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36" name="Google Shape;1336;p77"/>
          <p:cNvSpPr/>
          <p:nvPr/>
        </p:nvSpPr>
        <p:spPr>
          <a:xfrm>
            <a:off x="989013" y="4067175"/>
            <a:ext cx="6350" cy="642938"/>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37" name="Google Shape;1337;p77"/>
          <p:cNvSpPr/>
          <p:nvPr/>
        </p:nvSpPr>
        <p:spPr>
          <a:xfrm>
            <a:off x="1903413" y="4067175"/>
            <a:ext cx="6350" cy="642938"/>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38" name="Google Shape;1338;p77"/>
          <p:cNvSpPr/>
          <p:nvPr/>
        </p:nvSpPr>
        <p:spPr>
          <a:xfrm>
            <a:off x="2876550" y="4067175"/>
            <a:ext cx="6350" cy="642938"/>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39" name="Google Shape;1339;p77"/>
          <p:cNvSpPr/>
          <p:nvPr/>
        </p:nvSpPr>
        <p:spPr>
          <a:xfrm>
            <a:off x="388938" y="4067175"/>
            <a:ext cx="590550" cy="635000"/>
          </a:xfrm>
          <a:prstGeom prst="rect">
            <a:avLst/>
          </a:prstGeom>
          <a:solidFill>
            <a:srgbClr val="96969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40" name="Google Shape;1340;p77"/>
          <p:cNvSpPr/>
          <p:nvPr/>
        </p:nvSpPr>
        <p:spPr>
          <a:xfrm>
            <a:off x="388938" y="4710113"/>
            <a:ext cx="590550" cy="1587"/>
          </a:xfrm>
          <a:prstGeom prst="rect">
            <a:avLst/>
          </a:prstGeom>
          <a:solidFill>
            <a:srgbClr val="A64C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41" name="Google Shape;1341;p77"/>
          <p:cNvSpPr/>
          <p:nvPr/>
        </p:nvSpPr>
        <p:spPr>
          <a:xfrm>
            <a:off x="930275" y="4140200"/>
            <a:ext cx="974725" cy="469900"/>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500">
                <a:solidFill>
                  <a:schemeClr val="dk1"/>
                </a:solidFill>
                <a:latin typeface="Arial"/>
                <a:ea typeface="Arial"/>
                <a:cs typeface="Arial"/>
                <a:sym typeface="Arial"/>
              </a:rPr>
              <a:t>.0398</a:t>
            </a:r>
            <a:endParaRPr/>
          </a:p>
        </p:txBody>
      </p:sp>
      <p:sp>
        <p:nvSpPr>
          <p:cNvPr id="1342" name="Google Shape;1342;p77"/>
          <p:cNvSpPr/>
          <p:nvPr/>
        </p:nvSpPr>
        <p:spPr>
          <a:xfrm>
            <a:off x="1873250" y="4159250"/>
            <a:ext cx="974725" cy="469900"/>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500">
                <a:solidFill>
                  <a:schemeClr val="dk1"/>
                </a:solidFill>
                <a:latin typeface="Arial"/>
                <a:ea typeface="Arial"/>
                <a:cs typeface="Arial"/>
                <a:sym typeface="Arial"/>
              </a:rPr>
              <a:t>.0438</a:t>
            </a:r>
            <a:endParaRPr/>
          </a:p>
        </p:txBody>
      </p:sp>
      <p:sp>
        <p:nvSpPr>
          <p:cNvPr id="1343" name="Google Shape;1343;p77"/>
          <p:cNvSpPr/>
          <p:nvPr/>
        </p:nvSpPr>
        <p:spPr>
          <a:xfrm>
            <a:off x="2894013" y="4067175"/>
            <a:ext cx="944562" cy="64293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44" name="Google Shape;1344;p77"/>
          <p:cNvSpPr/>
          <p:nvPr/>
        </p:nvSpPr>
        <p:spPr>
          <a:xfrm>
            <a:off x="385763" y="4719638"/>
            <a:ext cx="593725"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45" name="Google Shape;1345;p77"/>
          <p:cNvSpPr/>
          <p:nvPr/>
        </p:nvSpPr>
        <p:spPr>
          <a:xfrm>
            <a:off x="989013" y="4719638"/>
            <a:ext cx="6350"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46" name="Google Shape;1346;p77"/>
          <p:cNvSpPr/>
          <p:nvPr/>
        </p:nvSpPr>
        <p:spPr>
          <a:xfrm>
            <a:off x="1006475" y="4719638"/>
            <a:ext cx="887413"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47" name="Google Shape;1347;p77"/>
          <p:cNvSpPr/>
          <p:nvPr/>
        </p:nvSpPr>
        <p:spPr>
          <a:xfrm>
            <a:off x="1903413" y="4719638"/>
            <a:ext cx="6350"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48" name="Google Shape;1348;p77"/>
          <p:cNvSpPr/>
          <p:nvPr/>
        </p:nvSpPr>
        <p:spPr>
          <a:xfrm>
            <a:off x="1919288" y="4719638"/>
            <a:ext cx="947737"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49" name="Google Shape;1349;p77"/>
          <p:cNvSpPr/>
          <p:nvPr/>
        </p:nvSpPr>
        <p:spPr>
          <a:xfrm>
            <a:off x="2876550" y="4719638"/>
            <a:ext cx="6350"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50" name="Google Shape;1350;p77"/>
          <p:cNvSpPr/>
          <p:nvPr/>
        </p:nvSpPr>
        <p:spPr>
          <a:xfrm>
            <a:off x="2894013" y="4719638"/>
            <a:ext cx="944562"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51" name="Google Shape;1351;p77"/>
          <p:cNvSpPr/>
          <p:nvPr/>
        </p:nvSpPr>
        <p:spPr>
          <a:xfrm>
            <a:off x="989013" y="4737100"/>
            <a:ext cx="6350" cy="63500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52" name="Google Shape;1352;p77"/>
          <p:cNvSpPr/>
          <p:nvPr/>
        </p:nvSpPr>
        <p:spPr>
          <a:xfrm>
            <a:off x="1903413" y="4737100"/>
            <a:ext cx="6350" cy="63500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53" name="Google Shape;1353;p77"/>
          <p:cNvSpPr/>
          <p:nvPr/>
        </p:nvSpPr>
        <p:spPr>
          <a:xfrm>
            <a:off x="2876550" y="4737100"/>
            <a:ext cx="6350" cy="63500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54" name="Google Shape;1354;p77"/>
          <p:cNvSpPr/>
          <p:nvPr/>
        </p:nvSpPr>
        <p:spPr>
          <a:xfrm>
            <a:off x="388938" y="4737100"/>
            <a:ext cx="590550" cy="635000"/>
          </a:xfrm>
          <a:prstGeom prst="rect">
            <a:avLst/>
          </a:prstGeom>
          <a:solidFill>
            <a:srgbClr val="A0C7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55" name="Google Shape;1355;p77"/>
          <p:cNvSpPr/>
          <p:nvPr/>
        </p:nvSpPr>
        <p:spPr>
          <a:xfrm>
            <a:off x="349250" y="4810125"/>
            <a:ext cx="622300" cy="469900"/>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500">
                <a:solidFill>
                  <a:schemeClr val="dk1"/>
                </a:solidFill>
                <a:latin typeface="Arial"/>
                <a:ea typeface="Arial"/>
                <a:cs typeface="Arial"/>
                <a:sym typeface="Arial"/>
              </a:rPr>
              <a:t>0.2</a:t>
            </a:r>
            <a:endParaRPr/>
          </a:p>
        </p:txBody>
      </p:sp>
      <p:sp>
        <p:nvSpPr>
          <p:cNvPr id="1356" name="Google Shape;1356;p77"/>
          <p:cNvSpPr/>
          <p:nvPr/>
        </p:nvSpPr>
        <p:spPr>
          <a:xfrm>
            <a:off x="930275" y="4810125"/>
            <a:ext cx="974725" cy="469900"/>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500">
                <a:solidFill>
                  <a:schemeClr val="dk1"/>
                </a:solidFill>
                <a:latin typeface="Arial"/>
                <a:ea typeface="Arial"/>
                <a:cs typeface="Arial"/>
                <a:sym typeface="Arial"/>
              </a:rPr>
              <a:t>.0793</a:t>
            </a:r>
            <a:endParaRPr/>
          </a:p>
        </p:txBody>
      </p:sp>
      <p:sp>
        <p:nvSpPr>
          <p:cNvPr id="1357" name="Google Shape;1357;p77"/>
          <p:cNvSpPr/>
          <p:nvPr/>
        </p:nvSpPr>
        <p:spPr>
          <a:xfrm>
            <a:off x="1874838" y="4810125"/>
            <a:ext cx="974725" cy="469900"/>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500">
                <a:solidFill>
                  <a:schemeClr val="dk1"/>
                </a:solidFill>
                <a:latin typeface="Arial"/>
                <a:ea typeface="Arial"/>
                <a:cs typeface="Arial"/>
                <a:sym typeface="Arial"/>
              </a:rPr>
              <a:t>.0832</a:t>
            </a:r>
            <a:endParaRPr/>
          </a:p>
        </p:txBody>
      </p:sp>
      <p:sp>
        <p:nvSpPr>
          <p:cNvPr id="1358" name="Google Shape;1358;p77"/>
          <p:cNvSpPr/>
          <p:nvPr/>
        </p:nvSpPr>
        <p:spPr>
          <a:xfrm>
            <a:off x="2843213" y="4810125"/>
            <a:ext cx="974725" cy="469900"/>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500">
                <a:solidFill>
                  <a:schemeClr val="dk1"/>
                </a:solidFill>
                <a:latin typeface="Arial"/>
                <a:ea typeface="Arial"/>
                <a:cs typeface="Arial"/>
                <a:sym typeface="Arial"/>
              </a:rPr>
              <a:t>.0871</a:t>
            </a:r>
            <a:endParaRPr/>
          </a:p>
        </p:txBody>
      </p:sp>
      <p:sp>
        <p:nvSpPr>
          <p:cNvPr id="1359" name="Google Shape;1359;p77"/>
          <p:cNvSpPr/>
          <p:nvPr/>
        </p:nvSpPr>
        <p:spPr>
          <a:xfrm>
            <a:off x="385763" y="5381625"/>
            <a:ext cx="593725"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60" name="Google Shape;1360;p77"/>
          <p:cNvSpPr/>
          <p:nvPr/>
        </p:nvSpPr>
        <p:spPr>
          <a:xfrm>
            <a:off x="989013" y="5381625"/>
            <a:ext cx="6350"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61" name="Google Shape;1361;p77"/>
          <p:cNvSpPr/>
          <p:nvPr/>
        </p:nvSpPr>
        <p:spPr>
          <a:xfrm>
            <a:off x="1006475" y="5381625"/>
            <a:ext cx="887413"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62" name="Google Shape;1362;p77"/>
          <p:cNvSpPr/>
          <p:nvPr/>
        </p:nvSpPr>
        <p:spPr>
          <a:xfrm>
            <a:off x="1903413" y="5381625"/>
            <a:ext cx="6350"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63" name="Google Shape;1363;p77"/>
          <p:cNvSpPr/>
          <p:nvPr/>
        </p:nvSpPr>
        <p:spPr>
          <a:xfrm>
            <a:off x="1919288" y="5381625"/>
            <a:ext cx="947737"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64" name="Google Shape;1364;p77"/>
          <p:cNvSpPr/>
          <p:nvPr/>
        </p:nvSpPr>
        <p:spPr>
          <a:xfrm>
            <a:off x="2876550" y="5381625"/>
            <a:ext cx="6350"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65" name="Google Shape;1365;p77"/>
          <p:cNvSpPr/>
          <p:nvPr/>
        </p:nvSpPr>
        <p:spPr>
          <a:xfrm>
            <a:off x="2894013" y="5381625"/>
            <a:ext cx="944562" cy="635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66" name="Google Shape;1366;p77"/>
          <p:cNvSpPr/>
          <p:nvPr/>
        </p:nvSpPr>
        <p:spPr>
          <a:xfrm>
            <a:off x="989013" y="5397500"/>
            <a:ext cx="6350" cy="63500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67" name="Google Shape;1367;p77"/>
          <p:cNvSpPr/>
          <p:nvPr/>
        </p:nvSpPr>
        <p:spPr>
          <a:xfrm>
            <a:off x="1903413" y="5397500"/>
            <a:ext cx="6350" cy="63500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68" name="Google Shape;1368;p77"/>
          <p:cNvSpPr/>
          <p:nvPr/>
        </p:nvSpPr>
        <p:spPr>
          <a:xfrm>
            <a:off x="2876550" y="5397500"/>
            <a:ext cx="6350" cy="635000"/>
          </a:xfrm>
          <a:prstGeom prst="rect">
            <a:avLst/>
          </a:prstGeom>
          <a:solidFill>
            <a:srgbClr val="D989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69" name="Google Shape;1369;p77"/>
          <p:cNvSpPr/>
          <p:nvPr/>
        </p:nvSpPr>
        <p:spPr>
          <a:xfrm>
            <a:off x="388938" y="5397500"/>
            <a:ext cx="590550" cy="635000"/>
          </a:xfrm>
          <a:prstGeom prst="rect">
            <a:avLst/>
          </a:prstGeom>
          <a:solidFill>
            <a:srgbClr val="A0C7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70" name="Google Shape;1370;p77"/>
          <p:cNvSpPr/>
          <p:nvPr/>
        </p:nvSpPr>
        <p:spPr>
          <a:xfrm>
            <a:off x="349250" y="5470525"/>
            <a:ext cx="622300" cy="469900"/>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500">
                <a:solidFill>
                  <a:schemeClr val="dk1"/>
                </a:solidFill>
                <a:latin typeface="Arial"/>
                <a:ea typeface="Arial"/>
                <a:cs typeface="Arial"/>
                <a:sym typeface="Arial"/>
              </a:rPr>
              <a:t>0.3</a:t>
            </a:r>
            <a:endParaRPr/>
          </a:p>
        </p:txBody>
      </p:sp>
      <p:sp>
        <p:nvSpPr>
          <p:cNvPr id="1371" name="Google Shape;1371;p77"/>
          <p:cNvSpPr/>
          <p:nvPr/>
        </p:nvSpPr>
        <p:spPr>
          <a:xfrm>
            <a:off x="930275" y="5470525"/>
            <a:ext cx="974725" cy="469900"/>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500">
                <a:solidFill>
                  <a:schemeClr val="dk1"/>
                </a:solidFill>
                <a:latin typeface="Arial"/>
                <a:ea typeface="Arial"/>
                <a:cs typeface="Arial"/>
                <a:sym typeface="Arial"/>
              </a:rPr>
              <a:t>.1179</a:t>
            </a:r>
            <a:endParaRPr/>
          </a:p>
        </p:txBody>
      </p:sp>
      <p:sp>
        <p:nvSpPr>
          <p:cNvPr id="1372" name="Google Shape;1372;p77"/>
          <p:cNvSpPr/>
          <p:nvPr/>
        </p:nvSpPr>
        <p:spPr>
          <a:xfrm>
            <a:off x="1874838" y="5470525"/>
            <a:ext cx="974725" cy="469900"/>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500">
                <a:solidFill>
                  <a:schemeClr val="dk1"/>
                </a:solidFill>
                <a:latin typeface="Arial"/>
                <a:ea typeface="Arial"/>
                <a:cs typeface="Arial"/>
                <a:sym typeface="Arial"/>
              </a:rPr>
              <a:t>.1217</a:t>
            </a:r>
            <a:endParaRPr/>
          </a:p>
        </p:txBody>
      </p:sp>
      <p:sp>
        <p:nvSpPr>
          <p:cNvPr id="1373" name="Google Shape;1373;p77"/>
          <p:cNvSpPr/>
          <p:nvPr/>
        </p:nvSpPr>
        <p:spPr>
          <a:xfrm>
            <a:off x="2843213" y="5470525"/>
            <a:ext cx="974725" cy="469900"/>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500">
                <a:solidFill>
                  <a:schemeClr val="dk1"/>
                </a:solidFill>
                <a:latin typeface="Arial"/>
                <a:ea typeface="Arial"/>
                <a:cs typeface="Arial"/>
                <a:sym typeface="Arial"/>
              </a:rPr>
              <a:t>.1255</a:t>
            </a:r>
            <a:endParaRPr/>
          </a:p>
        </p:txBody>
      </p:sp>
      <p:sp>
        <p:nvSpPr>
          <p:cNvPr id="1374" name="Google Shape;1374;p77"/>
          <p:cNvSpPr txBox="1">
            <a:spLocks noGrp="1"/>
          </p:cNvSpPr>
          <p:nvPr>
            <p:ph type="title"/>
          </p:nvPr>
        </p:nvSpPr>
        <p:spPr>
          <a:xfrm>
            <a:off x="1143000" y="304800"/>
            <a:ext cx="7848600" cy="1143000"/>
          </a:xfrm>
          <a:prstGeom prst="rect">
            <a:avLst/>
          </a:prstGeom>
          <a:noFill/>
          <a:ln>
            <a:noFill/>
          </a:ln>
        </p:spPr>
        <p:txBody>
          <a:bodyPr spcFirstLastPara="1" wrap="square" lIns="90475" tIns="44450" rIns="90475" bIns="44450" anchor="ctr" anchorCtr="1">
            <a:noAutofit/>
          </a:bodyPr>
          <a:lstStyle/>
          <a:p>
            <a:pPr marL="0" lvl="0" indent="0" algn="ctr" rtl="0">
              <a:lnSpc>
                <a:spcPct val="95000"/>
              </a:lnSpc>
              <a:spcBef>
                <a:spcPts val="0"/>
              </a:spcBef>
              <a:spcAft>
                <a:spcPts val="0"/>
              </a:spcAft>
              <a:buNone/>
            </a:pPr>
            <a:r>
              <a:rPr lang="en-US" sz="4000"/>
              <a:t>Solution: Finding P(0 &lt; z &lt; 0.12)</a:t>
            </a:r>
            <a:endParaRPr/>
          </a:p>
        </p:txBody>
      </p:sp>
      <p:sp>
        <p:nvSpPr>
          <p:cNvPr id="1375" name="Google Shape;1375;p77"/>
          <p:cNvSpPr/>
          <p:nvPr/>
        </p:nvSpPr>
        <p:spPr>
          <a:xfrm>
            <a:off x="7010400" y="2895600"/>
            <a:ext cx="1206500" cy="454025"/>
          </a:xfrm>
          <a:prstGeom prst="rect">
            <a:avLst/>
          </a:prstGeom>
          <a:solidFill>
            <a:srgbClr val="CCFFCC"/>
          </a:solidFill>
          <a:ln>
            <a:noFill/>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400">
                <a:solidFill>
                  <a:srgbClr val="FF0000"/>
                </a:solidFill>
                <a:latin typeface="Arial"/>
                <a:ea typeface="Arial"/>
                <a:cs typeface="Arial"/>
                <a:sym typeface="Arial"/>
              </a:rPr>
              <a:t>.0478</a:t>
            </a:r>
            <a:endParaRPr/>
          </a:p>
        </p:txBody>
      </p:sp>
      <p:sp>
        <p:nvSpPr>
          <p:cNvPr id="1376" name="Google Shape;1376;p77"/>
          <p:cNvSpPr/>
          <p:nvPr/>
        </p:nvSpPr>
        <p:spPr>
          <a:xfrm>
            <a:off x="3016250" y="2741613"/>
            <a:ext cx="1130300" cy="623887"/>
          </a:xfrm>
          <a:prstGeom prst="rect">
            <a:avLst/>
          </a:prstGeom>
          <a:noFill/>
          <a:ln>
            <a:noFill/>
          </a:ln>
        </p:spPr>
        <p:txBody>
          <a:bodyPr spcFirstLastPara="1" wrap="square" lIns="92075" tIns="92075" rIns="92075" bIns="92075" anchor="t" anchorCtr="0">
            <a:noAutofit/>
          </a:bodyPr>
          <a:lstStyle/>
          <a:p>
            <a:pPr marL="0" marR="0" lvl="0" indent="0" algn="l" rtl="0">
              <a:spcBef>
                <a:spcPts val="0"/>
              </a:spcBef>
              <a:spcAft>
                <a:spcPts val="0"/>
              </a:spcAft>
              <a:buNone/>
            </a:pPr>
            <a:r>
              <a:rPr lang="en-US" sz="2800" b="1">
                <a:solidFill>
                  <a:srgbClr val="00FF00"/>
                </a:solidFill>
                <a:latin typeface="Arial"/>
                <a:ea typeface="Arial"/>
                <a:cs typeface="Arial"/>
                <a:sym typeface="Arial"/>
              </a:rPr>
              <a:t>.02</a:t>
            </a:r>
            <a:endParaRPr/>
          </a:p>
        </p:txBody>
      </p:sp>
      <p:sp>
        <p:nvSpPr>
          <p:cNvPr id="1377" name="Google Shape;1377;p77"/>
          <p:cNvSpPr/>
          <p:nvPr/>
        </p:nvSpPr>
        <p:spPr>
          <a:xfrm>
            <a:off x="304800" y="4191000"/>
            <a:ext cx="1066800" cy="473075"/>
          </a:xfrm>
          <a:prstGeom prst="rect">
            <a:avLst/>
          </a:prstGeom>
          <a:noFill/>
          <a:ln>
            <a:noFill/>
          </a:ln>
        </p:spPr>
        <p:txBody>
          <a:bodyPr spcFirstLastPara="1" wrap="square" lIns="92075" tIns="0" rIns="92075" bIns="0" anchor="ctr" anchorCtr="0">
            <a:noAutofit/>
          </a:bodyPr>
          <a:lstStyle/>
          <a:p>
            <a:pPr marL="0" marR="0" lvl="0" indent="0" algn="l" rtl="0">
              <a:spcBef>
                <a:spcPts val="0"/>
              </a:spcBef>
              <a:spcAft>
                <a:spcPts val="0"/>
              </a:spcAft>
              <a:buNone/>
            </a:pPr>
            <a:r>
              <a:rPr lang="en-US" sz="2800" b="1">
                <a:solidFill>
                  <a:srgbClr val="00FF00"/>
                </a:solidFill>
                <a:latin typeface="Arial"/>
                <a:ea typeface="Arial"/>
                <a:cs typeface="Arial"/>
                <a:sym typeface="Arial"/>
              </a:rPr>
              <a:t>0.1</a:t>
            </a:r>
            <a:endParaRPr/>
          </a:p>
        </p:txBody>
      </p:sp>
      <p:sp>
        <p:nvSpPr>
          <p:cNvPr id="1378" name="Google Shape;1378;p77"/>
          <p:cNvSpPr/>
          <p:nvPr/>
        </p:nvSpPr>
        <p:spPr>
          <a:xfrm>
            <a:off x="2863850" y="4159250"/>
            <a:ext cx="1054100" cy="500063"/>
          </a:xfrm>
          <a:prstGeom prst="rect">
            <a:avLst/>
          </a:prstGeom>
          <a:solidFill>
            <a:srgbClr val="CCFFCC"/>
          </a:solid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700" b="1">
                <a:solidFill>
                  <a:srgbClr val="FF0000"/>
                </a:solidFill>
                <a:latin typeface="Arial"/>
                <a:ea typeface="Arial"/>
                <a:cs typeface="Arial"/>
                <a:sym typeface="Arial"/>
              </a:rPr>
              <a:t>.</a:t>
            </a:r>
            <a:r>
              <a:rPr lang="en-US" sz="2400">
                <a:solidFill>
                  <a:srgbClr val="FF0000"/>
                </a:solidFill>
                <a:latin typeface="Arial"/>
                <a:ea typeface="Arial"/>
                <a:cs typeface="Arial"/>
                <a:sym typeface="Arial"/>
              </a:rPr>
              <a:t>0478</a:t>
            </a:r>
            <a:endParaRPr/>
          </a:p>
        </p:txBody>
      </p:sp>
      <p:sp>
        <p:nvSpPr>
          <p:cNvPr id="1379" name="Google Shape;1379;p77"/>
          <p:cNvSpPr/>
          <p:nvPr/>
        </p:nvSpPr>
        <p:spPr>
          <a:xfrm>
            <a:off x="381000" y="1905000"/>
            <a:ext cx="4070350" cy="7826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Standard Normal Probability </a:t>
            </a:r>
            <a:endParaRPr/>
          </a:p>
          <a:p>
            <a:pPr marL="0" marR="0" lvl="0" indent="0" algn="l" rtl="0">
              <a:lnSpc>
                <a:spcPct val="40000"/>
              </a:lnSpc>
              <a:spcBef>
                <a:spcPts val="1200"/>
              </a:spcBef>
              <a:spcAft>
                <a:spcPts val="0"/>
              </a:spcAft>
              <a:buNone/>
            </a:pPr>
            <a:r>
              <a:rPr lang="en-US" sz="2400">
                <a:solidFill>
                  <a:schemeClr val="dk1"/>
                </a:solidFill>
                <a:latin typeface="Arial"/>
                <a:ea typeface="Arial"/>
                <a:cs typeface="Arial"/>
                <a:sym typeface="Arial"/>
              </a:rPr>
              <a:t>Table (Portion)</a:t>
            </a:r>
            <a:endParaRPr sz="2400">
              <a:solidFill>
                <a:schemeClr val="dk1"/>
              </a:solidFill>
              <a:latin typeface="Times New Roman"/>
              <a:ea typeface="Times New Roman"/>
              <a:cs typeface="Times New Roman"/>
              <a:sym typeface="Times New Roman"/>
            </a:endParaRPr>
          </a:p>
        </p:txBody>
      </p:sp>
      <p:sp>
        <p:nvSpPr>
          <p:cNvPr id="1380" name="Google Shape;1380;p77"/>
          <p:cNvSpPr/>
          <p:nvPr/>
        </p:nvSpPr>
        <p:spPr>
          <a:xfrm>
            <a:off x="6065838" y="5441950"/>
            <a:ext cx="625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0.00</a:t>
            </a:r>
            <a:endParaRPr sz="2400" b="1">
              <a:solidFill>
                <a:schemeClr val="dk1"/>
              </a:solidFill>
              <a:latin typeface="Arial"/>
              <a:ea typeface="Arial"/>
              <a:cs typeface="Arial"/>
              <a:sym typeface="Arial"/>
            </a:endParaRPr>
          </a:p>
        </p:txBody>
      </p:sp>
      <p:cxnSp>
        <p:nvCxnSpPr>
          <p:cNvPr id="1381" name="Google Shape;1381;p77"/>
          <p:cNvCxnSpPr/>
          <p:nvPr/>
        </p:nvCxnSpPr>
        <p:spPr>
          <a:xfrm rot="10800000">
            <a:off x="6294438" y="5213350"/>
            <a:ext cx="0" cy="228600"/>
          </a:xfrm>
          <a:prstGeom prst="straightConnector1">
            <a:avLst/>
          </a:prstGeom>
          <a:noFill/>
          <a:ln w="12700" cap="flat" cmpd="sng">
            <a:solidFill>
              <a:schemeClr val="dk1"/>
            </a:solidFill>
            <a:prstDash val="solid"/>
            <a:round/>
            <a:headEnd type="none" w="med" len="med"/>
            <a:tailEnd type="triangle" w="med" len="med"/>
          </a:ln>
        </p:spPr>
      </p:cxnSp>
      <p:cxnSp>
        <p:nvCxnSpPr>
          <p:cNvPr id="1382" name="Google Shape;1382;p77"/>
          <p:cNvCxnSpPr/>
          <p:nvPr/>
        </p:nvCxnSpPr>
        <p:spPr>
          <a:xfrm rot="10800000">
            <a:off x="6675438" y="5213350"/>
            <a:ext cx="0" cy="685800"/>
          </a:xfrm>
          <a:prstGeom prst="straightConnector1">
            <a:avLst/>
          </a:prstGeom>
          <a:noFill/>
          <a:ln w="12700" cap="flat" cmpd="sng">
            <a:solidFill>
              <a:schemeClr val="dk1"/>
            </a:solidFill>
            <a:prstDash val="solid"/>
            <a:round/>
            <a:headEnd type="none" w="med" len="med"/>
            <a:tailEnd type="triangle" w="med" len="med"/>
          </a:ln>
        </p:spPr>
      </p:cxnSp>
      <p:cxnSp>
        <p:nvCxnSpPr>
          <p:cNvPr id="1383" name="Google Shape;1383;p77"/>
          <p:cNvCxnSpPr/>
          <p:nvPr/>
        </p:nvCxnSpPr>
        <p:spPr>
          <a:xfrm flipH="1">
            <a:off x="6477000" y="3352800"/>
            <a:ext cx="762000" cy="838200"/>
          </a:xfrm>
          <a:prstGeom prst="straightConnector1">
            <a:avLst/>
          </a:prstGeom>
          <a:noFill/>
          <a:ln w="12700" cap="flat" cmpd="sng">
            <a:solidFill>
              <a:schemeClr val="dk1"/>
            </a:solidFill>
            <a:prstDash val="solid"/>
            <a:round/>
            <a:headEnd type="none" w="med" len="med"/>
            <a:tailEnd type="triangle" w="med" len="med"/>
          </a:ln>
        </p:spPr>
      </p:cxnSp>
      <p:sp>
        <p:nvSpPr>
          <p:cNvPr id="1384" name="Google Shape;1384;p77"/>
          <p:cNvSpPr/>
          <p:nvPr/>
        </p:nvSpPr>
        <p:spPr>
          <a:xfrm>
            <a:off x="6423025" y="2362200"/>
            <a:ext cx="2460625" cy="457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a:solidFill>
                  <a:schemeClr val="folHlink"/>
                </a:solidFill>
                <a:latin typeface="Arial"/>
                <a:ea typeface="Arial"/>
                <a:cs typeface="Arial"/>
                <a:sym typeface="Arial"/>
              </a:rPr>
              <a:t>= P(0 &lt; z &lt; 0.12)</a:t>
            </a:r>
            <a:endParaRPr/>
          </a:p>
        </p:txBody>
      </p:sp>
      <p:sp>
        <p:nvSpPr>
          <p:cNvPr id="1385" name="Google Shape;1385;p77"/>
          <p:cNvSpPr/>
          <p:nvPr/>
        </p:nvSpPr>
        <p:spPr>
          <a:xfrm>
            <a:off x="6629400" y="1981200"/>
            <a:ext cx="2028825" cy="457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a:solidFill>
                  <a:schemeClr val="lt2"/>
                </a:solidFill>
                <a:latin typeface="Arial"/>
                <a:ea typeface="Arial"/>
                <a:cs typeface="Arial"/>
                <a:sym typeface="Arial"/>
              </a:rPr>
              <a:t>P(8 &lt; x &lt; 8.6)</a:t>
            </a:r>
            <a:endParaRPr/>
          </a:p>
        </p:txBody>
      </p:sp>
      <p:sp>
        <p:nvSpPr>
          <p:cNvPr id="1386" name="Google Shape;1386;p77"/>
          <p:cNvSpPr/>
          <p:nvPr/>
        </p:nvSpPr>
        <p:spPr>
          <a:xfrm>
            <a:off x="6400800" y="1905000"/>
            <a:ext cx="2514600" cy="1447800"/>
          </a:xfrm>
          <a:prstGeom prst="rect">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390"/>
        <p:cNvGrpSpPr/>
        <p:nvPr/>
      </p:nvGrpSpPr>
      <p:grpSpPr>
        <a:xfrm>
          <a:off x="0" y="0"/>
          <a:ext cx="0" cy="0"/>
          <a:chOff x="0" y="0"/>
          <a:chExt cx="0" cy="0"/>
        </a:xfrm>
      </p:grpSpPr>
      <p:sp>
        <p:nvSpPr>
          <p:cNvPr id="1391" name="Google Shape;1391;p78"/>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Finding Normal Probabilities</a:t>
            </a:r>
            <a:endParaRPr/>
          </a:p>
        </p:txBody>
      </p:sp>
      <p:sp>
        <p:nvSpPr>
          <p:cNvPr id="1392" name="Google Shape;1392;p78"/>
          <p:cNvSpPr txBox="1">
            <a:spLocks noGrp="1"/>
          </p:cNvSpPr>
          <p:nvPr>
            <p:ph type="body" idx="1"/>
          </p:nvPr>
        </p:nvSpPr>
        <p:spPr>
          <a:xfrm>
            <a:off x="762000" y="1600200"/>
            <a:ext cx="8077200" cy="4114800"/>
          </a:xfrm>
          <a:prstGeom prst="rect">
            <a:avLst/>
          </a:prstGeom>
          <a:noFill/>
          <a:ln>
            <a:noFill/>
          </a:ln>
        </p:spPr>
        <p:txBody>
          <a:bodyPr spcFirstLastPara="1" wrap="square" lIns="85325" tIns="42650" rIns="85325" bIns="42650" anchor="t" anchorCtr="0">
            <a:noAutofit/>
          </a:bodyPr>
          <a:lstStyle/>
          <a:p>
            <a:pPr marL="320675" lvl="0" indent="-320675" algn="l" rtl="0">
              <a:spcBef>
                <a:spcPts val="0"/>
              </a:spcBef>
              <a:spcAft>
                <a:spcPts val="0"/>
              </a:spcAft>
              <a:buSzPts val="2040"/>
              <a:buChar char="■"/>
            </a:pPr>
            <a:r>
              <a:rPr lang="en-US" sz="3400"/>
              <a:t>Suppose  x  is normal with mean 8.0 and standard deviation 5.0.  </a:t>
            </a:r>
            <a:endParaRPr/>
          </a:p>
          <a:p>
            <a:pPr marL="320675" lvl="0" indent="-320675" algn="l" rtl="0">
              <a:spcBef>
                <a:spcPts val="680"/>
              </a:spcBef>
              <a:spcAft>
                <a:spcPts val="0"/>
              </a:spcAft>
              <a:buSzPts val="2040"/>
              <a:buChar char="■"/>
            </a:pPr>
            <a:r>
              <a:rPr lang="en-US" sz="3400">
                <a:solidFill>
                  <a:schemeClr val="folHlink"/>
                </a:solidFill>
              </a:rPr>
              <a:t>Now Find P(x &lt; 8.6)</a:t>
            </a:r>
            <a:endParaRPr/>
          </a:p>
        </p:txBody>
      </p:sp>
      <p:sp>
        <p:nvSpPr>
          <p:cNvPr id="1393" name="Google Shape;1393;p78"/>
          <p:cNvSpPr/>
          <p:nvPr/>
        </p:nvSpPr>
        <p:spPr>
          <a:xfrm>
            <a:off x="3467100" y="3924300"/>
            <a:ext cx="1562100" cy="1657350"/>
          </a:xfrm>
          <a:custGeom>
            <a:avLst/>
            <a:gdLst/>
            <a:ahLst/>
            <a:cxnLst/>
            <a:rect l="l" t="t" r="r" b="b"/>
            <a:pathLst>
              <a:path w="984" h="1044" extrusionOk="0">
                <a:moveTo>
                  <a:pt x="984" y="1032"/>
                </a:moveTo>
                <a:lnTo>
                  <a:pt x="981" y="0"/>
                </a:lnTo>
                <a:lnTo>
                  <a:pt x="888" y="72"/>
                </a:lnTo>
                <a:lnTo>
                  <a:pt x="792" y="168"/>
                </a:lnTo>
                <a:lnTo>
                  <a:pt x="726" y="304"/>
                </a:lnTo>
                <a:lnTo>
                  <a:pt x="638" y="452"/>
                </a:lnTo>
                <a:lnTo>
                  <a:pt x="586" y="552"/>
                </a:lnTo>
                <a:lnTo>
                  <a:pt x="522" y="657"/>
                </a:lnTo>
                <a:lnTo>
                  <a:pt x="456" y="744"/>
                </a:lnTo>
                <a:lnTo>
                  <a:pt x="360" y="852"/>
                </a:lnTo>
                <a:lnTo>
                  <a:pt x="204" y="948"/>
                </a:lnTo>
                <a:lnTo>
                  <a:pt x="0" y="984"/>
                </a:lnTo>
                <a:lnTo>
                  <a:pt x="3" y="1044"/>
                </a:lnTo>
                <a:lnTo>
                  <a:pt x="984" y="1032"/>
                </a:lnTo>
                <a:close/>
              </a:path>
            </a:pathLst>
          </a:custGeom>
          <a:solidFill>
            <a:srgbClr val="FF0000"/>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394" name="Google Shape;1394;p78"/>
          <p:cNvSpPr/>
          <p:nvPr/>
        </p:nvSpPr>
        <p:spPr>
          <a:xfrm>
            <a:off x="5022850" y="5346700"/>
            <a:ext cx="320675" cy="242888"/>
          </a:xfrm>
          <a:custGeom>
            <a:avLst/>
            <a:gdLst/>
            <a:ahLst/>
            <a:cxnLst/>
            <a:rect l="l" t="t" r="r" b="b"/>
            <a:pathLst>
              <a:path w="202" h="153" extrusionOk="0">
                <a:moveTo>
                  <a:pt x="12" y="141"/>
                </a:moveTo>
                <a:cubicBezTo>
                  <a:pt x="39" y="153"/>
                  <a:pt x="79" y="146"/>
                  <a:pt x="105" y="145"/>
                </a:cubicBezTo>
                <a:cubicBezTo>
                  <a:pt x="127" y="143"/>
                  <a:pt x="135" y="143"/>
                  <a:pt x="162" y="144"/>
                </a:cubicBezTo>
                <a:cubicBezTo>
                  <a:pt x="172" y="148"/>
                  <a:pt x="181" y="148"/>
                  <a:pt x="192" y="147"/>
                </a:cubicBezTo>
                <a:cubicBezTo>
                  <a:pt x="200" y="136"/>
                  <a:pt x="198" y="142"/>
                  <a:pt x="201" y="132"/>
                </a:cubicBezTo>
                <a:cubicBezTo>
                  <a:pt x="200" y="102"/>
                  <a:pt x="202" y="55"/>
                  <a:pt x="187" y="24"/>
                </a:cubicBezTo>
                <a:cubicBezTo>
                  <a:pt x="185" y="7"/>
                  <a:pt x="165" y="1"/>
                  <a:pt x="150" y="0"/>
                </a:cubicBezTo>
                <a:cubicBezTo>
                  <a:pt x="116" y="2"/>
                  <a:pt x="102" y="41"/>
                  <a:pt x="70" y="46"/>
                </a:cubicBezTo>
                <a:cubicBezTo>
                  <a:pt x="63" y="49"/>
                  <a:pt x="58" y="51"/>
                  <a:pt x="51" y="52"/>
                </a:cubicBezTo>
                <a:cubicBezTo>
                  <a:pt x="43" y="55"/>
                  <a:pt x="36" y="56"/>
                  <a:pt x="27" y="57"/>
                </a:cubicBezTo>
                <a:cubicBezTo>
                  <a:pt x="19" y="62"/>
                  <a:pt x="14" y="67"/>
                  <a:pt x="7" y="73"/>
                </a:cubicBezTo>
                <a:cubicBezTo>
                  <a:pt x="0" y="87"/>
                  <a:pt x="2" y="81"/>
                  <a:pt x="0" y="90"/>
                </a:cubicBezTo>
                <a:cubicBezTo>
                  <a:pt x="0" y="104"/>
                  <a:pt x="0" y="119"/>
                  <a:pt x="1" y="133"/>
                </a:cubicBezTo>
                <a:cubicBezTo>
                  <a:pt x="1" y="138"/>
                  <a:pt x="8" y="147"/>
                  <a:pt x="12" y="141"/>
                </a:cubicBezTo>
                <a:close/>
              </a:path>
            </a:pathLst>
          </a:custGeom>
          <a:solidFill>
            <a:srgbClr val="FF0000"/>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395" name="Google Shape;1395;p78"/>
          <p:cNvSpPr/>
          <p:nvPr/>
        </p:nvSpPr>
        <p:spPr>
          <a:xfrm>
            <a:off x="4983163" y="3930650"/>
            <a:ext cx="366712" cy="1625600"/>
          </a:xfrm>
          <a:custGeom>
            <a:avLst/>
            <a:gdLst/>
            <a:ahLst/>
            <a:cxnLst/>
            <a:rect l="l" t="t" r="r" b="b"/>
            <a:pathLst>
              <a:path w="231" h="1024" extrusionOk="0">
                <a:moveTo>
                  <a:pt x="25" y="984"/>
                </a:moveTo>
                <a:cubicBezTo>
                  <a:pt x="28" y="847"/>
                  <a:pt x="34" y="709"/>
                  <a:pt x="37" y="572"/>
                </a:cubicBezTo>
                <a:cubicBezTo>
                  <a:pt x="33" y="476"/>
                  <a:pt x="30" y="440"/>
                  <a:pt x="33" y="340"/>
                </a:cubicBezTo>
                <a:cubicBezTo>
                  <a:pt x="30" y="269"/>
                  <a:pt x="25" y="210"/>
                  <a:pt x="29" y="140"/>
                </a:cubicBezTo>
                <a:cubicBezTo>
                  <a:pt x="28" y="100"/>
                  <a:pt x="0" y="32"/>
                  <a:pt x="41" y="4"/>
                </a:cubicBezTo>
                <a:cubicBezTo>
                  <a:pt x="122" y="9"/>
                  <a:pt x="91" y="0"/>
                  <a:pt x="133" y="28"/>
                </a:cubicBezTo>
                <a:cubicBezTo>
                  <a:pt x="156" y="62"/>
                  <a:pt x="125" y="22"/>
                  <a:pt x="153" y="44"/>
                </a:cubicBezTo>
                <a:cubicBezTo>
                  <a:pt x="157" y="47"/>
                  <a:pt x="158" y="53"/>
                  <a:pt x="161" y="56"/>
                </a:cubicBezTo>
                <a:cubicBezTo>
                  <a:pt x="164" y="59"/>
                  <a:pt x="169" y="61"/>
                  <a:pt x="173" y="64"/>
                </a:cubicBezTo>
                <a:cubicBezTo>
                  <a:pt x="185" y="82"/>
                  <a:pt x="194" y="97"/>
                  <a:pt x="209" y="112"/>
                </a:cubicBezTo>
                <a:cubicBezTo>
                  <a:pt x="212" y="120"/>
                  <a:pt x="227" y="134"/>
                  <a:pt x="227" y="143"/>
                </a:cubicBezTo>
                <a:cubicBezTo>
                  <a:pt x="227" y="170"/>
                  <a:pt x="213" y="216"/>
                  <a:pt x="213" y="216"/>
                </a:cubicBezTo>
                <a:cubicBezTo>
                  <a:pt x="215" y="282"/>
                  <a:pt x="217" y="319"/>
                  <a:pt x="225" y="376"/>
                </a:cubicBezTo>
                <a:cubicBezTo>
                  <a:pt x="224" y="399"/>
                  <a:pt x="224" y="421"/>
                  <a:pt x="221" y="444"/>
                </a:cubicBezTo>
                <a:cubicBezTo>
                  <a:pt x="220" y="452"/>
                  <a:pt x="213" y="468"/>
                  <a:pt x="213" y="468"/>
                </a:cubicBezTo>
                <a:cubicBezTo>
                  <a:pt x="207" y="564"/>
                  <a:pt x="209" y="508"/>
                  <a:pt x="209" y="636"/>
                </a:cubicBezTo>
                <a:cubicBezTo>
                  <a:pt x="213" y="623"/>
                  <a:pt x="222" y="582"/>
                  <a:pt x="221" y="596"/>
                </a:cubicBezTo>
                <a:cubicBezTo>
                  <a:pt x="208" y="724"/>
                  <a:pt x="231" y="865"/>
                  <a:pt x="173" y="980"/>
                </a:cubicBezTo>
                <a:cubicBezTo>
                  <a:pt x="151" y="1024"/>
                  <a:pt x="74" y="983"/>
                  <a:pt x="25" y="984"/>
                </a:cubicBezTo>
                <a:close/>
              </a:path>
            </a:pathLst>
          </a:custGeom>
          <a:solidFill>
            <a:srgbClr val="FF0000"/>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396" name="Google Shape;1396;p78"/>
          <p:cNvCxnSpPr/>
          <p:nvPr/>
        </p:nvCxnSpPr>
        <p:spPr>
          <a:xfrm>
            <a:off x="5334000" y="4191000"/>
            <a:ext cx="0" cy="1371600"/>
          </a:xfrm>
          <a:prstGeom prst="straightConnector1">
            <a:avLst/>
          </a:prstGeom>
          <a:noFill/>
          <a:ln w="63500" cap="flat" cmpd="sng">
            <a:solidFill>
              <a:srgbClr val="FF0000"/>
            </a:solidFill>
            <a:prstDash val="solid"/>
            <a:round/>
            <a:headEnd type="none" w="med" len="med"/>
            <a:tailEnd type="none" w="med" len="med"/>
          </a:ln>
        </p:spPr>
      </p:cxnSp>
      <p:cxnSp>
        <p:nvCxnSpPr>
          <p:cNvPr id="1397" name="Google Shape;1397;p78"/>
          <p:cNvCxnSpPr/>
          <p:nvPr/>
        </p:nvCxnSpPr>
        <p:spPr>
          <a:xfrm>
            <a:off x="5029200" y="3962400"/>
            <a:ext cx="0" cy="1600200"/>
          </a:xfrm>
          <a:prstGeom prst="straightConnector1">
            <a:avLst/>
          </a:prstGeom>
          <a:noFill/>
          <a:ln w="31750" cap="flat" cmpd="sng">
            <a:solidFill>
              <a:schemeClr val="dk1"/>
            </a:solidFill>
            <a:prstDash val="solid"/>
            <a:round/>
            <a:headEnd type="none" w="med" len="med"/>
            <a:tailEnd type="none" w="med" len="med"/>
          </a:ln>
        </p:spPr>
      </p:cxnSp>
      <p:sp>
        <p:nvSpPr>
          <p:cNvPr id="1398" name="Google Shape;1398;p78"/>
          <p:cNvSpPr/>
          <p:nvPr/>
        </p:nvSpPr>
        <p:spPr>
          <a:xfrm>
            <a:off x="5064125" y="3917950"/>
            <a:ext cx="1635125" cy="1573213"/>
          </a:xfrm>
          <a:custGeom>
            <a:avLst/>
            <a:gdLst/>
            <a:ahLst/>
            <a:cxnLst/>
            <a:rect l="l" t="t" r="r" b="b"/>
            <a:pathLst>
              <a:path w="1030" h="991" extrusionOk="0">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399" name="Google Shape;1399;p78"/>
          <p:cNvSpPr/>
          <p:nvPr/>
        </p:nvSpPr>
        <p:spPr>
          <a:xfrm>
            <a:off x="3427413" y="3917950"/>
            <a:ext cx="1638300" cy="1573213"/>
          </a:xfrm>
          <a:custGeom>
            <a:avLst/>
            <a:gdLst/>
            <a:ahLst/>
            <a:cxnLst/>
            <a:rect l="l" t="t" r="r" b="b"/>
            <a:pathLst>
              <a:path w="1032" h="991" extrusionOk="0">
                <a:moveTo>
                  <a:pt x="0" y="990"/>
                </a:moveTo>
                <a:lnTo>
                  <a:pt x="108" y="980"/>
                </a:lnTo>
                <a:lnTo>
                  <a:pt x="163" y="967"/>
                </a:lnTo>
                <a:lnTo>
                  <a:pt x="218" y="952"/>
                </a:lnTo>
                <a:lnTo>
                  <a:pt x="271" y="929"/>
                </a:lnTo>
                <a:lnTo>
                  <a:pt x="326" y="897"/>
                </a:lnTo>
                <a:lnTo>
                  <a:pt x="381" y="857"/>
                </a:lnTo>
                <a:lnTo>
                  <a:pt x="488" y="743"/>
                </a:lnTo>
                <a:lnTo>
                  <a:pt x="596" y="581"/>
                </a:lnTo>
                <a:lnTo>
                  <a:pt x="706" y="386"/>
                </a:lnTo>
                <a:lnTo>
                  <a:pt x="759" y="287"/>
                </a:lnTo>
                <a:lnTo>
                  <a:pt x="814" y="196"/>
                </a:lnTo>
                <a:lnTo>
                  <a:pt x="868" y="116"/>
                </a:lnTo>
                <a:lnTo>
                  <a:pt x="921" y="53"/>
                </a:lnTo>
                <a:lnTo>
                  <a:pt x="976" y="13"/>
                </a:lnTo>
                <a:lnTo>
                  <a:pt x="1031"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00" name="Google Shape;1400;p78"/>
          <p:cNvSpPr/>
          <p:nvPr/>
        </p:nvSpPr>
        <p:spPr>
          <a:xfrm>
            <a:off x="3409950" y="5573713"/>
            <a:ext cx="3289300" cy="7937"/>
          </a:xfrm>
          <a:custGeom>
            <a:avLst/>
            <a:gdLst/>
            <a:ahLst/>
            <a:cxnLst/>
            <a:rect l="l" t="t" r="r" b="b"/>
            <a:pathLst>
              <a:path w="2072" h="5" extrusionOk="0">
                <a:moveTo>
                  <a:pt x="0" y="5"/>
                </a:moveTo>
                <a:lnTo>
                  <a:pt x="12" y="0"/>
                </a:lnTo>
                <a:lnTo>
                  <a:pt x="2072" y="0"/>
                </a:lnTo>
              </a:path>
            </a:pathLst>
          </a:custGeom>
          <a:noFill/>
          <a:ln w="508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01" name="Google Shape;1401;p78"/>
          <p:cNvSpPr/>
          <p:nvPr/>
        </p:nvSpPr>
        <p:spPr>
          <a:xfrm>
            <a:off x="6705600" y="5562600"/>
            <a:ext cx="381000"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Z</a:t>
            </a:r>
            <a:endParaRPr/>
          </a:p>
        </p:txBody>
      </p:sp>
      <p:sp>
        <p:nvSpPr>
          <p:cNvPr id="1402" name="Google Shape;1402;p78"/>
          <p:cNvSpPr/>
          <p:nvPr/>
        </p:nvSpPr>
        <p:spPr>
          <a:xfrm>
            <a:off x="6567488" y="3821113"/>
            <a:ext cx="184150" cy="920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403" name="Google Shape;1403;p78"/>
          <p:cNvSpPr/>
          <p:nvPr/>
        </p:nvSpPr>
        <p:spPr>
          <a:xfrm>
            <a:off x="5181600" y="6172200"/>
            <a:ext cx="498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rgbClr val="339933"/>
                </a:solidFill>
                <a:latin typeface="Arial"/>
                <a:ea typeface="Arial"/>
                <a:cs typeface="Arial"/>
                <a:sym typeface="Arial"/>
              </a:rPr>
              <a:t>8.6</a:t>
            </a:r>
            <a:endParaRPr sz="2400" b="1">
              <a:solidFill>
                <a:srgbClr val="339933"/>
              </a:solidFill>
              <a:latin typeface="Arial"/>
              <a:ea typeface="Arial"/>
              <a:cs typeface="Arial"/>
              <a:sym typeface="Arial"/>
            </a:endParaRPr>
          </a:p>
        </p:txBody>
      </p:sp>
      <p:sp>
        <p:nvSpPr>
          <p:cNvPr id="1404" name="Google Shape;1404;p78"/>
          <p:cNvSpPr/>
          <p:nvPr/>
        </p:nvSpPr>
        <p:spPr>
          <a:xfrm>
            <a:off x="4800600" y="5791200"/>
            <a:ext cx="498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8.0</a:t>
            </a:r>
            <a:endParaRPr sz="2400" b="1">
              <a:solidFill>
                <a:schemeClr val="dk1"/>
              </a:solidFill>
              <a:latin typeface="Arial"/>
              <a:ea typeface="Arial"/>
              <a:cs typeface="Arial"/>
              <a:sym typeface="Arial"/>
            </a:endParaRPr>
          </a:p>
        </p:txBody>
      </p:sp>
      <p:cxnSp>
        <p:nvCxnSpPr>
          <p:cNvPr id="1405" name="Google Shape;1405;p78"/>
          <p:cNvCxnSpPr/>
          <p:nvPr/>
        </p:nvCxnSpPr>
        <p:spPr>
          <a:xfrm rot="10800000">
            <a:off x="5029200" y="5562600"/>
            <a:ext cx="0" cy="228600"/>
          </a:xfrm>
          <a:prstGeom prst="straightConnector1">
            <a:avLst/>
          </a:prstGeom>
          <a:noFill/>
          <a:ln w="12700" cap="flat" cmpd="sng">
            <a:solidFill>
              <a:schemeClr val="dk1"/>
            </a:solidFill>
            <a:prstDash val="solid"/>
            <a:round/>
            <a:headEnd type="none" w="med" len="med"/>
            <a:tailEnd type="triangle" w="med" len="med"/>
          </a:ln>
        </p:spPr>
      </p:cxnSp>
      <p:cxnSp>
        <p:nvCxnSpPr>
          <p:cNvPr id="1406" name="Google Shape;1406;p78"/>
          <p:cNvCxnSpPr/>
          <p:nvPr/>
        </p:nvCxnSpPr>
        <p:spPr>
          <a:xfrm rot="10800000">
            <a:off x="5410200" y="5562600"/>
            <a:ext cx="0" cy="685800"/>
          </a:xfrm>
          <a:prstGeom prst="straightConnector1">
            <a:avLst/>
          </a:prstGeom>
          <a:noFill/>
          <a:ln w="12700" cap="flat" cmpd="sng">
            <a:solidFill>
              <a:schemeClr val="dk1"/>
            </a:solidFill>
            <a:prstDash val="solid"/>
            <a:round/>
            <a:headEnd type="none" w="med" len="med"/>
            <a:tailEnd type="triangle" w="med" len="med"/>
          </a:ln>
        </p:spPr>
      </p:cxn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410"/>
        <p:cNvGrpSpPr/>
        <p:nvPr/>
      </p:nvGrpSpPr>
      <p:grpSpPr>
        <a:xfrm>
          <a:off x="0" y="0"/>
          <a:ext cx="0" cy="0"/>
          <a:chOff x="0" y="0"/>
          <a:chExt cx="0" cy="0"/>
        </a:xfrm>
      </p:grpSpPr>
      <p:sp>
        <p:nvSpPr>
          <p:cNvPr id="1411" name="Google Shape;1411;p79"/>
          <p:cNvSpPr/>
          <p:nvPr/>
        </p:nvSpPr>
        <p:spPr>
          <a:xfrm>
            <a:off x="2667000" y="5486400"/>
            <a:ext cx="838200" cy="533400"/>
          </a:xfrm>
          <a:prstGeom prst="rect">
            <a:avLst/>
          </a:prstGeom>
          <a:solidFill>
            <a:srgbClr val="B8FAC8"/>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412" name="Google Shape;1412;p79"/>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Finding Normal Probabilities</a:t>
            </a:r>
            <a:endParaRPr/>
          </a:p>
        </p:txBody>
      </p:sp>
      <p:sp>
        <p:nvSpPr>
          <p:cNvPr id="1413" name="Google Shape;1413;p79"/>
          <p:cNvSpPr txBox="1">
            <a:spLocks noGrp="1"/>
          </p:cNvSpPr>
          <p:nvPr>
            <p:ph type="body" idx="1"/>
          </p:nvPr>
        </p:nvSpPr>
        <p:spPr>
          <a:xfrm>
            <a:off x="762000" y="1600200"/>
            <a:ext cx="8077200" cy="4114800"/>
          </a:xfrm>
          <a:prstGeom prst="rect">
            <a:avLst/>
          </a:prstGeom>
          <a:noFill/>
          <a:ln>
            <a:noFill/>
          </a:ln>
        </p:spPr>
        <p:txBody>
          <a:bodyPr spcFirstLastPara="1" wrap="square" lIns="85325" tIns="42650" rIns="85325" bIns="42650" anchor="t" anchorCtr="0">
            <a:noAutofit/>
          </a:bodyPr>
          <a:lstStyle/>
          <a:p>
            <a:pPr marL="320675" lvl="0" indent="-320675" algn="l" rtl="0">
              <a:spcBef>
                <a:spcPts val="0"/>
              </a:spcBef>
              <a:spcAft>
                <a:spcPts val="0"/>
              </a:spcAft>
              <a:buSzPts val="2040"/>
              <a:buChar char="■"/>
            </a:pPr>
            <a:r>
              <a:rPr lang="en-US" sz="3400"/>
              <a:t>Suppose  x  is normal with mean 8.0 and standard deviation 5.0.  </a:t>
            </a:r>
            <a:endParaRPr/>
          </a:p>
          <a:p>
            <a:pPr marL="320675" lvl="0" indent="-320675" algn="l" rtl="0">
              <a:spcBef>
                <a:spcPts val="680"/>
              </a:spcBef>
              <a:spcAft>
                <a:spcPts val="0"/>
              </a:spcAft>
              <a:buSzPts val="2040"/>
              <a:buChar char="■"/>
            </a:pPr>
            <a:r>
              <a:rPr lang="en-US" sz="3400">
                <a:solidFill>
                  <a:schemeClr val="folHlink"/>
                </a:solidFill>
              </a:rPr>
              <a:t>Now Find P(x &lt; 8.6)</a:t>
            </a:r>
            <a:endParaRPr/>
          </a:p>
        </p:txBody>
      </p:sp>
      <p:sp>
        <p:nvSpPr>
          <p:cNvPr id="1414" name="Google Shape;1414;p79"/>
          <p:cNvSpPr/>
          <p:nvPr/>
        </p:nvSpPr>
        <p:spPr>
          <a:xfrm>
            <a:off x="5295900" y="4086225"/>
            <a:ext cx="1562100" cy="1647825"/>
          </a:xfrm>
          <a:custGeom>
            <a:avLst/>
            <a:gdLst/>
            <a:ahLst/>
            <a:cxnLst/>
            <a:rect l="l" t="t" r="r" b="b"/>
            <a:pathLst>
              <a:path w="984" h="1038" extrusionOk="0">
                <a:moveTo>
                  <a:pt x="984" y="1026"/>
                </a:moveTo>
                <a:lnTo>
                  <a:pt x="978" y="0"/>
                </a:lnTo>
                <a:lnTo>
                  <a:pt x="886" y="54"/>
                </a:lnTo>
                <a:lnTo>
                  <a:pt x="796" y="170"/>
                </a:lnTo>
                <a:lnTo>
                  <a:pt x="714" y="322"/>
                </a:lnTo>
                <a:lnTo>
                  <a:pt x="636" y="466"/>
                </a:lnTo>
                <a:lnTo>
                  <a:pt x="588" y="544"/>
                </a:lnTo>
                <a:lnTo>
                  <a:pt x="522" y="644"/>
                </a:lnTo>
                <a:lnTo>
                  <a:pt x="456" y="738"/>
                </a:lnTo>
                <a:lnTo>
                  <a:pt x="360" y="846"/>
                </a:lnTo>
                <a:lnTo>
                  <a:pt x="204" y="942"/>
                </a:lnTo>
                <a:lnTo>
                  <a:pt x="0" y="978"/>
                </a:lnTo>
                <a:lnTo>
                  <a:pt x="12" y="1038"/>
                </a:lnTo>
                <a:lnTo>
                  <a:pt x="984" y="1026"/>
                </a:lnTo>
                <a:close/>
              </a:path>
            </a:pathLst>
          </a:custGeom>
          <a:solidFill>
            <a:srgbClr val="FF0000"/>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15" name="Google Shape;1415;p79"/>
          <p:cNvSpPr/>
          <p:nvPr/>
        </p:nvSpPr>
        <p:spPr>
          <a:xfrm>
            <a:off x="6851650" y="5499100"/>
            <a:ext cx="320675" cy="242888"/>
          </a:xfrm>
          <a:custGeom>
            <a:avLst/>
            <a:gdLst/>
            <a:ahLst/>
            <a:cxnLst/>
            <a:rect l="l" t="t" r="r" b="b"/>
            <a:pathLst>
              <a:path w="202" h="153" extrusionOk="0">
                <a:moveTo>
                  <a:pt x="12" y="141"/>
                </a:moveTo>
                <a:cubicBezTo>
                  <a:pt x="39" y="153"/>
                  <a:pt x="79" y="146"/>
                  <a:pt x="105" y="145"/>
                </a:cubicBezTo>
                <a:cubicBezTo>
                  <a:pt x="127" y="143"/>
                  <a:pt x="135" y="143"/>
                  <a:pt x="162" y="144"/>
                </a:cubicBezTo>
                <a:cubicBezTo>
                  <a:pt x="172" y="148"/>
                  <a:pt x="181" y="148"/>
                  <a:pt x="192" y="147"/>
                </a:cubicBezTo>
                <a:cubicBezTo>
                  <a:pt x="200" y="136"/>
                  <a:pt x="198" y="142"/>
                  <a:pt x="201" y="132"/>
                </a:cubicBezTo>
                <a:cubicBezTo>
                  <a:pt x="200" y="102"/>
                  <a:pt x="202" y="55"/>
                  <a:pt x="187" y="24"/>
                </a:cubicBezTo>
                <a:cubicBezTo>
                  <a:pt x="185" y="7"/>
                  <a:pt x="165" y="1"/>
                  <a:pt x="150" y="0"/>
                </a:cubicBezTo>
                <a:cubicBezTo>
                  <a:pt x="116" y="2"/>
                  <a:pt x="102" y="41"/>
                  <a:pt x="70" y="46"/>
                </a:cubicBezTo>
                <a:cubicBezTo>
                  <a:pt x="63" y="49"/>
                  <a:pt x="58" y="51"/>
                  <a:pt x="51" y="52"/>
                </a:cubicBezTo>
                <a:cubicBezTo>
                  <a:pt x="43" y="55"/>
                  <a:pt x="36" y="56"/>
                  <a:pt x="27" y="57"/>
                </a:cubicBezTo>
                <a:cubicBezTo>
                  <a:pt x="19" y="62"/>
                  <a:pt x="14" y="67"/>
                  <a:pt x="7" y="73"/>
                </a:cubicBezTo>
                <a:cubicBezTo>
                  <a:pt x="0" y="87"/>
                  <a:pt x="2" y="81"/>
                  <a:pt x="0" y="90"/>
                </a:cubicBezTo>
                <a:cubicBezTo>
                  <a:pt x="0" y="104"/>
                  <a:pt x="0" y="119"/>
                  <a:pt x="1" y="133"/>
                </a:cubicBezTo>
                <a:cubicBezTo>
                  <a:pt x="1" y="138"/>
                  <a:pt x="8" y="147"/>
                  <a:pt x="12" y="141"/>
                </a:cubicBezTo>
                <a:close/>
              </a:path>
            </a:pathLst>
          </a:custGeom>
          <a:solidFill>
            <a:srgbClr val="FF0000"/>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16" name="Google Shape;1416;p79"/>
          <p:cNvSpPr/>
          <p:nvPr/>
        </p:nvSpPr>
        <p:spPr>
          <a:xfrm>
            <a:off x="6811963" y="4083050"/>
            <a:ext cx="366712" cy="1625600"/>
          </a:xfrm>
          <a:custGeom>
            <a:avLst/>
            <a:gdLst/>
            <a:ahLst/>
            <a:cxnLst/>
            <a:rect l="l" t="t" r="r" b="b"/>
            <a:pathLst>
              <a:path w="231" h="1024" extrusionOk="0">
                <a:moveTo>
                  <a:pt x="25" y="984"/>
                </a:moveTo>
                <a:cubicBezTo>
                  <a:pt x="28" y="847"/>
                  <a:pt x="34" y="709"/>
                  <a:pt x="37" y="572"/>
                </a:cubicBezTo>
                <a:cubicBezTo>
                  <a:pt x="33" y="476"/>
                  <a:pt x="30" y="440"/>
                  <a:pt x="33" y="340"/>
                </a:cubicBezTo>
                <a:cubicBezTo>
                  <a:pt x="30" y="269"/>
                  <a:pt x="25" y="210"/>
                  <a:pt x="29" y="140"/>
                </a:cubicBezTo>
                <a:cubicBezTo>
                  <a:pt x="28" y="100"/>
                  <a:pt x="0" y="32"/>
                  <a:pt x="41" y="4"/>
                </a:cubicBezTo>
                <a:cubicBezTo>
                  <a:pt x="122" y="9"/>
                  <a:pt x="91" y="0"/>
                  <a:pt x="133" y="28"/>
                </a:cubicBezTo>
                <a:cubicBezTo>
                  <a:pt x="156" y="62"/>
                  <a:pt x="125" y="22"/>
                  <a:pt x="153" y="44"/>
                </a:cubicBezTo>
                <a:cubicBezTo>
                  <a:pt x="157" y="47"/>
                  <a:pt x="158" y="53"/>
                  <a:pt x="161" y="56"/>
                </a:cubicBezTo>
                <a:cubicBezTo>
                  <a:pt x="164" y="59"/>
                  <a:pt x="169" y="61"/>
                  <a:pt x="173" y="64"/>
                </a:cubicBezTo>
                <a:cubicBezTo>
                  <a:pt x="185" y="82"/>
                  <a:pt x="194" y="97"/>
                  <a:pt x="209" y="112"/>
                </a:cubicBezTo>
                <a:cubicBezTo>
                  <a:pt x="212" y="120"/>
                  <a:pt x="230" y="128"/>
                  <a:pt x="230" y="137"/>
                </a:cubicBezTo>
                <a:cubicBezTo>
                  <a:pt x="230" y="164"/>
                  <a:pt x="213" y="216"/>
                  <a:pt x="213" y="216"/>
                </a:cubicBezTo>
                <a:cubicBezTo>
                  <a:pt x="215" y="282"/>
                  <a:pt x="217" y="319"/>
                  <a:pt x="225" y="376"/>
                </a:cubicBezTo>
                <a:cubicBezTo>
                  <a:pt x="224" y="399"/>
                  <a:pt x="224" y="421"/>
                  <a:pt x="221" y="444"/>
                </a:cubicBezTo>
                <a:cubicBezTo>
                  <a:pt x="220" y="452"/>
                  <a:pt x="213" y="468"/>
                  <a:pt x="213" y="468"/>
                </a:cubicBezTo>
                <a:cubicBezTo>
                  <a:pt x="207" y="564"/>
                  <a:pt x="209" y="508"/>
                  <a:pt x="209" y="636"/>
                </a:cubicBezTo>
                <a:cubicBezTo>
                  <a:pt x="213" y="623"/>
                  <a:pt x="222" y="582"/>
                  <a:pt x="221" y="596"/>
                </a:cubicBezTo>
                <a:cubicBezTo>
                  <a:pt x="208" y="724"/>
                  <a:pt x="231" y="865"/>
                  <a:pt x="173" y="980"/>
                </a:cubicBezTo>
                <a:cubicBezTo>
                  <a:pt x="151" y="1024"/>
                  <a:pt x="74" y="983"/>
                  <a:pt x="25" y="984"/>
                </a:cubicBezTo>
                <a:close/>
              </a:path>
            </a:pathLst>
          </a:custGeom>
          <a:solidFill>
            <a:srgbClr val="FF0000"/>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417" name="Google Shape;1417;p79"/>
          <p:cNvCxnSpPr/>
          <p:nvPr/>
        </p:nvCxnSpPr>
        <p:spPr>
          <a:xfrm>
            <a:off x="7162800" y="4343400"/>
            <a:ext cx="0" cy="1371600"/>
          </a:xfrm>
          <a:prstGeom prst="straightConnector1">
            <a:avLst/>
          </a:prstGeom>
          <a:noFill/>
          <a:ln w="63500" cap="flat" cmpd="sng">
            <a:solidFill>
              <a:srgbClr val="FF0000"/>
            </a:solidFill>
            <a:prstDash val="solid"/>
            <a:round/>
            <a:headEnd type="none" w="med" len="med"/>
            <a:tailEnd type="none" w="med" len="med"/>
          </a:ln>
        </p:spPr>
      </p:cxnSp>
      <p:cxnSp>
        <p:nvCxnSpPr>
          <p:cNvPr id="1418" name="Google Shape;1418;p79"/>
          <p:cNvCxnSpPr/>
          <p:nvPr/>
        </p:nvCxnSpPr>
        <p:spPr>
          <a:xfrm>
            <a:off x="6858000" y="4114800"/>
            <a:ext cx="0" cy="1600200"/>
          </a:xfrm>
          <a:prstGeom prst="straightConnector1">
            <a:avLst/>
          </a:prstGeom>
          <a:noFill/>
          <a:ln w="31750" cap="flat" cmpd="sng">
            <a:solidFill>
              <a:schemeClr val="dk1"/>
            </a:solidFill>
            <a:prstDash val="solid"/>
            <a:round/>
            <a:headEnd type="none" w="med" len="med"/>
            <a:tailEnd type="none" w="med" len="med"/>
          </a:ln>
        </p:spPr>
      </p:cxnSp>
      <p:sp>
        <p:nvSpPr>
          <p:cNvPr id="1419" name="Google Shape;1419;p79"/>
          <p:cNvSpPr/>
          <p:nvPr/>
        </p:nvSpPr>
        <p:spPr>
          <a:xfrm>
            <a:off x="6892925" y="4070350"/>
            <a:ext cx="1635125" cy="1573213"/>
          </a:xfrm>
          <a:custGeom>
            <a:avLst/>
            <a:gdLst/>
            <a:ahLst/>
            <a:cxnLst/>
            <a:rect l="l" t="t" r="r" b="b"/>
            <a:pathLst>
              <a:path w="1030" h="991" extrusionOk="0">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20" name="Google Shape;1420;p79"/>
          <p:cNvSpPr/>
          <p:nvPr/>
        </p:nvSpPr>
        <p:spPr>
          <a:xfrm>
            <a:off x="5256213" y="4070350"/>
            <a:ext cx="1638300" cy="1573213"/>
          </a:xfrm>
          <a:custGeom>
            <a:avLst/>
            <a:gdLst/>
            <a:ahLst/>
            <a:cxnLst/>
            <a:rect l="l" t="t" r="r" b="b"/>
            <a:pathLst>
              <a:path w="1032" h="991" extrusionOk="0">
                <a:moveTo>
                  <a:pt x="0" y="990"/>
                </a:moveTo>
                <a:lnTo>
                  <a:pt x="108" y="980"/>
                </a:lnTo>
                <a:lnTo>
                  <a:pt x="163" y="967"/>
                </a:lnTo>
                <a:lnTo>
                  <a:pt x="218" y="952"/>
                </a:lnTo>
                <a:lnTo>
                  <a:pt x="271" y="929"/>
                </a:lnTo>
                <a:lnTo>
                  <a:pt x="326" y="897"/>
                </a:lnTo>
                <a:lnTo>
                  <a:pt x="381" y="857"/>
                </a:lnTo>
                <a:lnTo>
                  <a:pt x="488" y="743"/>
                </a:lnTo>
                <a:lnTo>
                  <a:pt x="596" y="581"/>
                </a:lnTo>
                <a:lnTo>
                  <a:pt x="706" y="386"/>
                </a:lnTo>
                <a:lnTo>
                  <a:pt x="759" y="287"/>
                </a:lnTo>
                <a:lnTo>
                  <a:pt x="814" y="196"/>
                </a:lnTo>
                <a:lnTo>
                  <a:pt x="868" y="116"/>
                </a:lnTo>
                <a:lnTo>
                  <a:pt x="921" y="53"/>
                </a:lnTo>
                <a:lnTo>
                  <a:pt x="976" y="13"/>
                </a:lnTo>
                <a:lnTo>
                  <a:pt x="1031"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21" name="Google Shape;1421;p79"/>
          <p:cNvSpPr/>
          <p:nvPr/>
        </p:nvSpPr>
        <p:spPr>
          <a:xfrm>
            <a:off x="5238750" y="5726113"/>
            <a:ext cx="3289300" cy="7937"/>
          </a:xfrm>
          <a:custGeom>
            <a:avLst/>
            <a:gdLst/>
            <a:ahLst/>
            <a:cxnLst/>
            <a:rect l="l" t="t" r="r" b="b"/>
            <a:pathLst>
              <a:path w="2072" h="5" extrusionOk="0">
                <a:moveTo>
                  <a:pt x="0" y="5"/>
                </a:moveTo>
                <a:lnTo>
                  <a:pt x="12" y="0"/>
                </a:lnTo>
                <a:lnTo>
                  <a:pt x="2072" y="0"/>
                </a:lnTo>
              </a:path>
            </a:pathLst>
          </a:custGeom>
          <a:noFill/>
          <a:ln w="508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422" name="Google Shape;1422;p79"/>
          <p:cNvCxnSpPr/>
          <p:nvPr/>
        </p:nvCxnSpPr>
        <p:spPr>
          <a:xfrm>
            <a:off x="8526463" y="5661025"/>
            <a:ext cx="0" cy="1588"/>
          </a:xfrm>
          <a:prstGeom prst="straightConnector1">
            <a:avLst/>
          </a:prstGeom>
          <a:noFill/>
          <a:ln w="25400" cap="flat" cmpd="sng">
            <a:solidFill>
              <a:srgbClr val="CDCDCD"/>
            </a:solidFill>
            <a:prstDash val="solid"/>
            <a:round/>
            <a:headEnd type="none" w="med" len="med"/>
            <a:tailEnd type="none" w="med" len="med"/>
          </a:ln>
        </p:spPr>
      </p:cxnSp>
      <p:sp>
        <p:nvSpPr>
          <p:cNvPr id="1423" name="Google Shape;1423;p79"/>
          <p:cNvSpPr/>
          <p:nvPr/>
        </p:nvSpPr>
        <p:spPr>
          <a:xfrm>
            <a:off x="8534400" y="5715000"/>
            <a:ext cx="381000"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Z</a:t>
            </a:r>
            <a:endParaRPr/>
          </a:p>
        </p:txBody>
      </p:sp>
      <p:sp>
        <p:nvSpPr>
          <p:cNvPr id="1424" name="Google Shape;1424;p79"/>
          <p:cNvSpPr/>
          <p:nvPr/>
        </p:nvSpPr>
        <p:spPr>
          <a:xfrm>
            <a:off x="6905625" y="6018213"/>
            <a:ext cx="184150" cy="920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425" name="Google Shape;1425;p79"/>
          <p:cNvSpPr/>
          <p:nvPr/>
        </p:nvSpPr>
        <p:spPr>
          <a:xfrm>
            <a:off x="8396288" y="3973513"/>
            <a:ext cx="184150" cy="920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426" name="Google Shape;1426;p79"/>
          <p:cNvSpPr/>
          <p:nvPr/>
        </p:nvSpPr>
        <p:spPr>
          <a:xfrm>
            <a:off x="7010400" y="6324600"/>
            <a:ext cx="625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rgbClr val="339933"/>
                </a:solidFill>
                <a:latin typeface="Arial"/>
                <a:ea typeface="Arial"/>
                <a:cs typeface="Arial"/>
                <a:sym typeface="Arial"/>
              </a:rPr>
              <a:t>0.12</a:t>
            </a:r>
            <a:endParaRPr sz="2400" b="1">
              <a:solidFill>
                <a:srgbClr val="339933"/>
              </a:solidFill>
              <a:latin typeface="Arial"/>
              <a:ea typeface="Arial"/>
              <a:cs typeface="Arial"/>
              <a:sym typeface="Arial"/>
            </a:endParaRPr>
          </a:p>
        </p:txBody>
      </p:sp>
      <p:sp>
        <p:nvSpPr>
          <p:cNvPr id="1427" name="Google Shape;1427;p79"/>
          <p:cNvSpPr/>
          <p:nvPr/>
        </p:nvSpPr>
        <p:spPr>
          <a:xfrm>
            <a:off x="7543800" y="3733800"/>
            <a:ext cx="1206500" cy="454025"/>
          </a:xfrm>
          <a:prstGeom prst="rect">
            <a:avLst/>
          </a:prstGeom>
          <a:solidFill>
            <a:srgbClr val="CCFFCC"/>
          </a:solidFill>
          <a:ln>
            <a:noFill/>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400">
                <a:solidFill>
                  <a:srgbClr val="FF0000"/>
                </a:solidFill>
                <a:latin typeface="Arial"/>
                <a:ea typeface="Arial"/>
                <a:cs typeface="Arial"/>
                <a:sym typeface="Arial"/>
              </a:rPr>
              <a:t>.0478</a:t>
            </a:r>
            <a:endParaRPr/>
          </a:p>
        </p:txBody>
      </p:sp>
      <p:cxnSp>
        <p:nvCxnSpPr>
          <p:cNvPr id="1428" name="Google Shape;1428;p79"/>
          <p:cNvCxnSpPr/>
          <p:nvPr/>
        </p:nvCxnSpPr>
        <p:spPr>
          <a:xfrm>
            <a:off x="5943600" y="4267200"/>
            <a:ext cx="533400" cy="762000"/>
          </a:xfrm>
          <a:prstGeom prst="straightConnector1">
            <a:avLst/>
          </a:prstGeom>
          <a:noFill/>
          <a:ln w="12700" cap="flat" cmpd="sng">
            <a:solidFill>
              <a:schemeClr val="dk1"/>
            </a:solidFill>
            <a:prstDash val="solid"/>
            <a:round/>
            <a:headEnd type="none" w="med" len="med"/>
            <a:tailEnd type="triangle" w="med" len="med"/>
          </a:ln>
        </p:spPr>
      </p:cxnSp>
      <p:sp>
        <p:nvSpPr>
          <p:cNvPr id="1429" name="Google Shape;1429;p79"/>
          <p:cNvSpPr/>
          <p:nvPr/>
        </p:nvSpPr>
        <p:spPr>
          <a:xfrm>
            <a:off x="6629400" y="5943600"/>
            <a:ext cx="625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0.00</a:t>
            </a:r>
            <a:endParaRPr sz="2400" b="1">
              <a:solidFill>
                <a:schemeClr val="dk1"/>
              </a:solidFill>
              <a:latin typeface="Arial"/>
              <a:ea typeface="Arial"/>
              <a:cs typeface="Arial"/>
              <a:sym typeface="Arial"/>
            </a:endParaRPr>
          </a:p>
        </p:txBody>
      </p:sp>
      <p:cxnSp>
        <p:nvCxnSpPr>
          <p:cNvPr id="1430" name="Google Shape;1430;p79"/>
          <p:cNvCxnSpPr/>
          <p:nvPr/>
        </p:nvCxnSpPr>
        <p:spPr>
          <a:xfrm rot="10800000">
            <a:off x="6858000" y="5715000"/>
            <a:ext cx="0" cy="228600"/>
          </a:xfrm>
          <a:prstGeom prst="straightConnector1">
            <a:avLst/>
          </a:prstGeom>
          <a:noFill/>
          <a:ln w="12700" cap="flat" cmpd="sng">
            <a:solidFill>
              <a:schemeClr val="dk1"/>
            </a:solidFill>
            <a:prstDash val="solid"/>
            <a:round/>
            <a:headEnd type="none" w="med" len="med"/>
            <a:tailEnd type="triangle" w="med" len="med"/>
          </a:ln>
        </p:spPr>
      </p:cxnSp>
      <p:cxnSp>
        <p:nvCxnSpPr>
          <p:cNvPr id="1431" name="Google Shape;1431;p79"/>
          <p:cNvCxnSpPr/>
          <p:nvPr/>
        </p:nvCxnSpPr>
        <p:spPr>
          <a:xfrm rot="10800000">
            <a:off x="7239000" y="5715000"/>
            <a:ext cx="0" cy="685800"/>
          </a:xfrm>
          <a:prstGeom prst="straightConnector1">
            <a:avLst/>
          </a:prstGeom>
          <a:noFill/>
          <a:ln w="12700" cap="flat" cmpd="sng">
            <a:solidFill>
              <a:schemeClr val="dk1"/>
            </a:solidFill>
            <a:prstDash val="solid"/>
            <a:round/>
            <a:headEnd type="none" w="med" len="med"/>
            <a:tailEnd type="triangle" w="med" len="med"/>
          </a:ln>
        </p:spPr>
      </p:cxnSp>
      <p:sp>
        <p:nvSpPr>
          <p:cNvPr id="1432" name="Google Shape;1432;p79"/>
          <p:cNvSpPr/>
          <p:nvPr/>
        </p:nvSpPr>
        <p:spPr>
          <a:xfrm>
            <a:off x="5105400" y="3810000"/>
            <a:ext cx="1206500" cy="454025"/>
          </a:xfrm>
          <a:prstGeom prst="rect">
            <a:avLst/>
          </a:prstGeom>
          <a:solidFill>
            <a:srgbClr val="CCFFCC"/>
          </a:solidFill>
          <a:ln>
            <a:noFill/>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400">
                <a:solidFill>
                  <a:srgbClr val="FF0000"/>
                </a:solidFill>
                <a:latin typeface="Arial"/>
                <a:ea typeface="Arial"/>
                <a:cs typeface="Arial"/>
                <a:sym typeface="Arial"/>
              </a:rPr>
              <a:t>.5000</a:t>
            </a:r>
            <a:endParaRPr/>
          </a:p>
        </p:txBody>
      </p:sp>
      <p:cxnSp>
        <p:nvCxnSpPr>
          <p:cNvPr id="1433" name="Google Shape;1433;p79"/>
          <p:cNvCxnSpPr/>
          <p:nvPr/>
        </p:nvCxnSpPr>
        <p:spPr>
          <a:xfrm flipH="1">
            <a:off x="7086600" y="4191000"/>
            <a:ext cx="685800" cy="685800"/>
          </a:xfrm>
          <a:prstGeom prst="straightConnector1">
            <a:avLst/>
          </a:prstGeom>
          <a:noFill/>
          <a:ln w="12700" cap="flat" cmpd="sng">
            <a:solidFill>
              <a:schemeClr val="dk1"/>
            </a:solidFill>
            <a:prstDash val="solid"/>
            <a:round/>
            <a:headEnd type="none" w="med" len="med"/>
            <a:tailEnd type="triangle" w="med" len="med"/>
          </a:ln>
        </p:spPr>
      </p:cxnSp>
      <p:sp>
        <p:nvSpPr>
          <p:cNvPr id="1434" name="Google Shape;1434;p79"/>
          <p:cNvSpPr txBox="1"/>
          <p:nvPr/>
        </p:nvSpPr>
        <p:spPr>
          <a:xfrm>
            <a:off x="609600" y="3886200"/>
            <a:ext cx="3962400" cy="21002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   P(x &lt; 8.6) </a:t>
            </a:r>
            <a:endParaRPr/>
          </a:p>
          <a:p>
            <a:pPr marL="0" marR="0" lvl="0" indent="0" algn="l" rtl="0">
              <a:spcBef>
                <a:spcPts val="1200"/>
              </a:spcBef>
              <a:spcAft>
                <a:spcPts val="0"/>
              </a:spcAft>
              <a:buNone/>
            </a:pPr>
            <a:r>
              <a:rPr lang="en-US" sz="2400">
                <a:solidFill>
                  <a:schemeClr val="dk1"/>
                </a:solidFill>
                <a:latin typeface="Arial"/>
                <a:ea typeface="Arial"/>
                <a:cs typeface="Arial"/>
                <a:sym typeface="Arial"/>
              </a:rPr>
              <a:t>= P(z &lt; 0.12)</a:t>
            </a:r>
            <a:endParaRPr/>
          </a:p>
          <a:p>
            <a:pPr marL="0" marR="0" lvl="0" indent="0" algn="l" rtl="0">
              <a:spcBef>
                <a:spcPts val="1200"/>
              </a:spcBef>
              <a:spcAft>
                <a:spcPts val="0"/>
              </a:spcAft>
              <a:buNone/>
            </a:pPr>
            <a:r>
              <a:rPr lang="en-US" sz="2400">
                <a:solidFill>
                  <a:schemeClr val="dk1"/>
                </a:solidFill>
                <a:latin typeface="Arial"/>
                <a:ea typeface="Arial"/>
                <a:cs typeface="Arial"/>
                <a:sym typeface="Arial"/>
              </a:rPr>
              <a:t>= P(z &lt; 0) + P(0 &lt; z &lt; 0.12)</a:t>
            </a:r>
            <a:endParaRPr/>
          </a:p>
          <a:p>
            <a:pPr marL="0" marR="0" lvl="0" indent="0" algn="l" rtl="0">
              <a:spcBef>
                <a:spcPts val="1200"/>
              </a:spcBef>
              <a:spcAft>
                <a:spcPts val="0"/>
              </a:spcAft>
              <a:buNone/>
            </a:pPr>
            <a:r>
              <a:rPr lang="en-US" sz="2400">
                <a:solidFill>
                  <a:schemeClr val="dk1"/>
                </a:solidFill>
                <a:latin typeface="Arial"/>
                <a:ea typeface="Arial"/>
                <a:cs typeface="Arial"/>
                <a:sym typeface="Arial"/>
              </a:rPr>
              <a:t>= .5 + .0478 = </a:t>
            </a:r>
            <a:r>
              <a:rPr lang="en-US" sz="2400">
                <a:solidFill>
                  <a:schemeClr val="hlink"/>
                </a:solidFill>
                <a:latin typeface="Arial"/>
                <a:ea typeface="Arial"/>
                <a:cs typeface="Arial"/>
                <a:sym typeface="Arial"/>
              </a:rPr>
              <a:t>.5478</a:t>
            </a:r>
            <a:endParaRPr/>
          </a:p>
        </p:txBody>
      </p:sp>
      <p:sp>
        <p:nvSpPr>
          <p:cNvPr id="1435" name="Google Shape;1435;p79"/>
          <p:cNvSpPr/>
          <p:nvPr/>
        </p:nvSpPr>
        <p:spPr>
          <a:xfrm>
            <a:off x="457200" y="3810000"/>
            <a:ext cx="4267200" cy="2438400"/>
          </a:xfrm>
          <a:prstGeom prst="rect">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439"/>
        <p:cNvGrpSpPr/>
        <p:nvPr/>
      </p:nvGrpSpPr>
      <p:grpSpPr>
        <a:xfrm>
          <a:off x="0" y="0"/>
          <a:ext cx="0" cy="0"/>
          <a:chOff x="0" y="0"/>
          <a:chExt cx="0" cy="0"/>
        </a:xfrm>
      </p:grpSpPr>
      <p:sp>
        <p:nvSpPr>
          <p:cNvPr id="1440" name="Google Shape;1440;p80"/>
          <p:cNvSpPr txBox="1">
            <a:spLocks noGrp="1"/>
          </p:cNvSpPr>
          <p:nvPr>
            <p:ph type="title"/>
          </p:nvPr>
        </p:nvSpPr>
        <p:spPr>
          <a:xfrm>
            <a:off x="990600" y="381000"/>
            <a:ext cx="7793038" cy="8382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sz="3700"/>
              <a:t/>
            </a:r>
            <a:br>
              <a:rPr lang="en-US" sz="3700"/>
            </a:br>
            <a:r>
              <a:rPr lang="en-US" sz="4000"/>
              <a:t>Upper Tail Probabilities</a:t>
            </a:r>
            <a:endParaRPr/>
          </a:p>
        </p:txBody>
      </p:sp>
      <p:sp>
        <p:nvSpPr>
          <p:cNvPr id="1441" name="Google Shape;1441;p80"/>
          <p:cNvSpPr txBox="1">
            <a:spLocks noGrp="1"/>
          </p:cNvSpPr>
          <p:nvPr>
            <p:ph type="body" idx="1"/>
          </p:nvPr>
        </p:nvSpPr>
        <p:spPr>
          <a:xfrm>
            <a:off x="762000" y="1600200"/>
            <a:ext cx="8077200" cy="4114800"/>
          </a:xfrm>
          <a:prstGeom prst="rect">
            <a:avLst/>
          </a:prstGeom>
          <a:noFill/>
          <a:ln>
            <a:noFill/>
          </a:ln>
        </p:spPr>
        <p:txBody>
          <a:bodyPr spcFirstLastPara="1" wrap="square" lIns="85325" tIns="42650" rIns="85325" bIns="42650" anchor="t" anchorCtr="0">
            <a:noAutofit/>
          </a:bodyPr>
          <a:lstStyle/>
          <a:p>
            <a:pPr marL="320675" lvl="0" indent="-320675" algn="l" rtl="0">
              <a:spcBef>
                <a:spcPts val="0"/>
              </a:spcBef>
              <a:spcAft>
                <a:spcPts val="0"/>
              </a:spcAft>
              <a:buSzPts val="2040"/>
              <a:buChar char="■"/>
            </a:pPr>
            <a:r>
              <a:rPr lang="en-US" sz="3400"/>
              <a:t>Suppose  x  is normal with mean 8.0 and standard deviation 5.0.  </a:t>
            </a:r>
            <a:endParaRPr/>
          </a:p>
          <a:p>
            <a:pPr marL="320675" lvl="0" indent="-320675" algn="l" rtl="0">
              <a:spcBef>
                <a:spcPts val="680"/>
              </a:spcBef>
              <a:spcAft>
                <a:spcPts val="0"/>
              </a:spcAft>
              <a:buSzPts val="2040"/>
              <a:buChar char="■"/>
            </a:pPr>
            <a:r>
              <a:rPr lang="en-US" sz="3400">
                <a:solidFill>
                  <a:schemeClr val="folHlink"/>
                </a:solidFill>
              </a:rPr>
              <a:t>Now Find P(x &gt; 8.6)</a:t>
            </a:r>
            <a:endParaRPr/>
          </a:p>
        </p:txBody>
      </p:sp>
      <p:sp>
        <p:nvSpPr>
          <p:cNvPr id="1442" name="Google Shape;1442;p80"/>
          <p:cNvSpPr/>
          <p:nvPr/>
        </p:nvSpPr>
        <p:spPr>
          <a:xfrm>
            <a:off x="5391150" y="4176713"/>
            <a:ext cx="1314450" cy="1404937"/>
          </a:xfrm>
          <a:custGeom>
            <a:avLst/>
            <a:gdLst/>
            <a:ahLst/>
            <a:cxnLst/>
            <a:rect l="l" t="t" r="r" b="b"/>
            <a:pathLst>
              <a:path w="828" h="885" extrusionOk="0">
                <a:moveTo>
                  <a:pt x="3" y="882"/>
                </a:moveTo>
                <a:lnTo>
                  <a:pt x="0" y="0"/>
                </a:lnTo>
                <a:lnTo>
                  <a:pt x="27" y="72"/>
                </a:lnTo>
                <a:lnTo>
                  <a:pt x="81" y="159"/>
                </a:lnTo>
                <a:lnTo>
                  <a:pt x="117" y="237"/>
                </a:lnTo>
                <a:lnTo>
                  <a:pt x="156" y="297"/>
                </a:lnTo>
                <a:lnTo>
                  <a:pt x="201" y="384"/>
                </a:lnTo>
                <a:lnTo>
                  <a:pt x="273" y="495"/>
                </a:lnTo>
                <a:lnTo>
                  <a:pt x="339" y="585"/>
                </a:lnTo>
                <a:lnTo>
                  <a:pt x="442" y="693"/>
                </a:lnTo>
                <a:lnTo>
                  <a:pt x="609" y="789"/>
                </a:lnTo>
                <a:lnTo>
                  <a:pt x="828" y="825"/>
                </a:lnTo>
                <a:lnTo>
                  <a:pt x="825" y="885"/>
                </a:lnTo>
                <a:lnTo>
                  <a:pt x="3" y="882"/>
                </a:lnTo>
                <a:close/>
              </a:path>
            </a:pathLst>
          </a:custGeom>
          <a:solidFill>
            <a:srgbClr val="FF0000"/>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43" name="Google Shape;1443;p80"/>
          <p:cNvSpPr/>
          <p:nvPr/>
        </p:nvSpPr>
        <p:spPr>
          <a:xfrm>
            <a:off x="5064125" y="3917950"/>
            <a:ext cx="1635125" cy="1573213"/>
          </a:xfrm>
          <a:custGeom>
            <a:avLst/>
            <a:gdLst/>
            <a:ahLst/>
            <a:cxnLst/>
            <a:rect l="l" t="t" r="r" b="b"/>
            <a:pathLst>
              <a:path w="1030" h="991" extrusionOk="0">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44" name="Google Shape;1444;p80"/>
          <p:cNvSpPr/>
          <p:nvPr/>
        </p:nvSpPr>
        <p:spPr>
          <a:xfrm>
            <a:off x="3427413" y="3917950"/>
            <a:ext cx="1638300" cy="1573213"/>
          </a:xfrm>
          <a:custGeom>
            <a:avLst/>
            <a:gdLst/>
            <a:ahLst/>
            <a:cxnLst/>
            <a:rect l="l" t="t" r="r" b="b"/>
            <a:pathLst>
              <a:path w="1032" h="991" extrusionOk="0">
                <a:moveTo>
                  <a:pt x="0" y="990"/>
                </a:moveTo>
                <a:lnTo>
                  <a:pt x="108" y="980"/>
                </a:lnTo>
                <a:lnTo>
                  <a:pt x="163" y="967"/>
                </a:lnTo>
                <a:lnTo>
                  <a:pt x="218" y="952"/>
                </a:lnTo>
                <a:lnTo>
                  <a:pt x="271" y="929"/>
                </a:lnTo>
                <a:lnTo>
                  <a:pt x="326" y="897"/>
                </a:lnTo>
                <a:lnTo>
                  <a:pt x="381" y="857"/>
                </a:lnTo>
                <a:lnTo>
                  <a:pt x="488" y="743"/>
                </a:lnTo>
                <a:lnTo>
                  <a:pt x="596" y="581"/>
                </a:lnTo>
                <a:lnTo>
                  <a:pt x="706" y="386"/>
                </a:lnTo>
                <a:lnTo>
                  <a:pt x="759" y="287"/>
                </a:lnTo>
                <a:lnTo>
                  <a:pt x="814" y="196"/>
                </a:lnTo>
                <a:lnTo>
                  <a:pt x="868" y="116"/>
                </a:lnTo>
                <a:lnTo>
                  <a:pt x="921" y="53"/>
                </a:lnTo>
                <a:lnTo>
                  <a:pt x="976" y="13"/>
                </a:lnTo>
                <a:lnTo>
                  <a:pt x="1031"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45" name="Google Shape;1445;p80"/>
          <p:cNvSpPr/>
          <p:nvPr/>
        </p:nvSpPr>
        <p:spPr>
          <a:xfrm>
            <a:off x="3409950" y="5573713"/>
            <a:ext cx="3289300" cy="7937"/>
          </a:xfrm>
          <a:custGeom>
            <a:avLst/>
            <a:gdLst/>
            <a:ahLst/>
            <a:cxnLst/>
            <a:rect l="l" t="t" r="r" b="b"/>
            <a:pathLst>
              <a:path w="2072" h="5" extrusionOk="0">
                <a:moveTo>
                  <a:pt x="0" y="5"/>
                </a:moveTo>
                <a:lnTo>
                  <a:pt x="12" y="0"/>
                </a:lnTo>
                <a:lnTo>
                  <a:pt x="2072" y="0"/>
                </a:lnTo>
              </a:path>
            </a:pathLst>
          </a:custGeom>
          <a:noFill/>
          <a:ln w="508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46" name="Google Shape;1446;p80"/>
          <p:cNvSpPr/>
          <p:nvPr/>
        </p:nvSpPr>
        <p:spPr>
          <a:xfrm>
            <a:off x="6705600" y="5562600"/>
            <a:ext cx="381000"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Z</a:t>
            </a:r>
            <a:endParaRPr/>
          </a:p>
        </p:txBody>
      </p:sp>
      <p:sp>
        <p:nvSpPr>
          <p:cNvPr id="1447" name="Google Shape;1447;p80"/>
          <p:cNvSpPr/>
          <p:nvPr/>
        </p:nvSpPr>
        <p:spPr>
          <a:xfrm>
            <a:off x="6567488" y="3821113"/>
            <a:ext cx="184150" cy="920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448" name="Google Shape;1448;p80"/>
          <p:cNvSpPr/>
          <p:nvPr/>
        </p:nvSpPr>
        <p:spPr>
          <a:xfrm>
            <a:off x="5181600" y="6172200"/>
            <a:ext cx="498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rgbClr val="339933"/>
                </a:solidFill>
                <a:latin typeface="Arial"/>
                <a:ea typeface="Arial"/>
                <a:cs typeface="Arial"/>
                <a:sym typeface="Arial"/>
              </a:rPr>
              <a:t>8.6</a:t>
            </a:r>
            <a:endParaRPr sz="2400" b="1">
              <a:solidFill>
                <a:srgbClr val="339933"/>
              </a:solidFill>
              <a:latin typeface="Arial"/>
              <a:ea typeface="Arial"/>
              <a:cs typeface="Arial"/>
              <a:sym typeface="Arial"/>
            </a:endParaRPr>
          </a:p>
        </p:txBody>
      </p:sp>
      <p:sp>
        <p:nvSpPr>
          <p:cNvPr id="1449" name="Google Shape;1449;p80"/>
          <p:cNvSpPr/>
          <p:nvPr/>
        </p:nvSpPr>
        <p:spPr>
          <a:xfrm>
            <a:off x="4800600" y="5791200"/>
            <a:ext cx="498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8.0</a:t>
            </a:r>
            <a:endParaRPr sz="2400" b="1">
              <a:solidFill>
                <a:schemeClr val="dk1"/>
              </a:solidFill>
              <a:latin typeface="Arial"/>
              <a:ea typeface="Arial"/>
              <a:cs typeface="Arial"/>
              <a:sym typeface="Arial"/>
            </a:endParaRPr>
          </a:p>
        </p:txBody>
      </p:sp>
      <p:cxnSp>
        <p:nvCxnSpPr>
          <p:cNvPr id="1450" name="Google Shape;1450;p80"/>
          <p:cNvCxnSpPr/>
          <p:nvPr/>
        </p:nvCxnSpPr>
        <p:spPr>
          <a:xfrm rot="10800000">
            <a:off x="5410200" y="5562600"/>
            <a:ext cx="0" cy="685800"/>
          </a:xfrm>
          <a:prstGeom prst="straightConnector1">
            <a:avLst/>
          </a:prstGeom>
          <a:noFill/>
          <a:ln w="12700" cap="flat" cmpd="sng">
            <a:solidFill>
              <a:schemeClr val="dk1"/>
            </a:solidFill>
            <a:prstDash val="solid"/>
            <a:round/>
            <a:headEnd type="none" w="med" len="med"/>
            <a:tailEnd type="triangle" w="med" len="med"/>
          </a:ln>
        </p:spPr>
      </p:cxnSp>
      <p:cxnSp>
        <p:nvCxnSpPr>
          <p:cNvPr id="1451" name="Google Shape;1451;p80"/>
          <p:cNvCxnSpPr/>
          <p:nvPr/>
        </p:nvCxnSpPr>
        <p:spPr>
          <a:xfrm>
            <a:off x="5029200" y="3962400"/>
            <a:ext cx="0" cy="1600200"/>
          </a:xfrm>
          <a:prstGeom prst="straightConnector1">
            <a:avLst/>
          </a:prstGeom>
          <a:noFill/>
          <a:ln w="19050" cap="rnd" cmpd="sng">
            <a:solidFill>
              <a:schemeClr val="dk1"/>
            </a:solidFill>
            <a:prstDash val="dot"/>
            <a:round/>
            <a:headEnd type="none" w="med" len="med"/>
            <a:tailEnd type="none" w="med" len="med"/>
          </a:ln>
        </p:spPr>
      </p:cxn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455"/>
        <p:cNvGrpSpPr/>
        <p:nvPr/>
      </p:nvGrpSpPr>
      <p:grpSpPr>
        <a:xfrm>
          <a:off x="0" y="0"/>
          <a:ext cx="0" cy="0"/>
          <a:chOff x="0" y="0"/>
          <a:chExt cx="0" cy="0"/>
        </a:xfrm>
      </p:grpSpPr>
      <p:cxnSp>
        <p:nvCxnSpPr>
          <p:cNvPr id="1456" name="Google Shape;1456;p81"/>
          <p:cNvCxnSpPr/>
          <p:nvPr/>
        </p:nvCxnSpPr>
        <p:spPr>
          <a:xfrm>
            <a:off x="6248400" y="3886200"/>
            <a:ext cx="0" cy="1600200"/>
          </a:xfrm>
          <a:prstGeom prst="straightConnector1">
            <a:avLst/>
          </a:prstGeom>
          <a:noFill/>
          <a:ln w="31750" cap="flat" cmpd="sng">
            <a:solidFill>
              <a:srgbClr val="D5F7FB"/>
            </a:solidFill>
            <a:prstDash val="solid"/>
            <a:round/>
            <a:headEnd type="none" w="med" len="med"/>
            <a:tailEnd type="none" w="med" len="med"/>
          </a:ln>
        </p:spPr>
      </p:cxnSp>
      <p:sp>
        <p:nvSpPr>
          <p:cNvPr id="1457" name="Google Shape;1457;p81"/>
          <p:cNvSpPr/>
          <p:nvPr/>
        </p:nvSpPr>
        <p:spPr>
          <a:xfrm>
            <a:off x="6211888" y="5302250"/>
            <a:ext cx="417512" cy="260350"/>
          </a:xfrm>
          <a:custGeom>
            <a:avLst/>
            <a:gdLst/>
            <a:ahLst/>
            <a:cxnLst/>
            <a:rect l="l" t="t" r="r" b="b"/>
            <a:pathLst>
              <a:path w="202" h="153" extrusionOk="0">
                <a:moveTo>
                  <a:pt x="12" y="141"/>
                </a:moveTo>
                <a:cubicBezTo>
                  <a:pt x="39" y="153"/>
                  <a:pt x="79" y="146"/>
                  <a:pt x="105" y="145"/>
                </a:cubicBezTo>
                <a:cubicBezTo>
                  <a:pt x="127" y="143"/>
                  <a:pt x="135" y="143"/>
                  <a:pt x="162" y="144"/>
                </a:cubicBezTo>
                <a:cubicBezTo>
                  <a:pt x="172" y="148"/>
                  <a:pt x="181" y="148"/>
                  <a:pt x="192" y="147"/>
                </a:cubicBezTo>
                <a:cubicBezTo>
                  <a:pt x="200" y="136"/>
                  <a:pt x="198" y="142"/>
                  <a:pt x="201" y="132"/>
                </a:cubicBezTo>
                <a:cubicBezTo>
                  <a:pt x="200" y="102"/>
                  <a:pt x="202" y="55"/>
                  <a:pt x="187" y="24"/>
                </a:cubicBezTo>
                <a:cubicBezTo>
                  <a:pt x="185" y="7"/>
                  <a:pt x="165" y="1"/>
                  <a:pt x="150" y="0"/>
                </a:cubicBezTo>
                <a:cubicBezTo>
                  <a:pt x="116" y="2"/>
                  <a:pt x="102" y="41"/>
                  <a:pt x="70" y="46"/>
                </a:cubicBezTo>
                <a:cubicBezTo>
                  <a:pt x="63" y="49"/>
                  <a:pt x="58" y="51"/>
                  <a:pt x="51" y="52"/>
                </a:cubicBezTo>
                <a:cubicBezTo>
                  <a:pt x="43" y="55"/>
                  <a:pt x="36" y="56"/>
                  <a:pt x="27" y="57"/>
                </a:cubicBezTo>
                <a:cubicBezTo>
                  <a:pt x="19" y="62"/>
                  <a:pt x="14" y="67"/>
                  <a:pt x="7" y="73"/>
                </a:cubicBezTo>
                <a:cubicBezTo>
                  <a:pt x="0" y="87"/>
                  <a:pt x="2" y="81"/>
                  <a:pt x="0" y="90"/>
                </a:cubicBezTo>
                <a:cubicBezTo>
                  <a:pt x="0" y="104"/>
                  <a:pt x="0" y="119"/>
                  <a:pt x="1" y="133"/>
                </a:cubicBezTo>
                <a:cubicBezTo>
                  <a:pt x="1" y="138"/>
                  <a:pt x="8" y="147"/>
                  <a:pt x="12" y="141"/>
                </a:cubicBezTo>
                <a:close/>
              </a:path>
            </a:pathLst>
          </a:custGeom>
          <a:solidFill>
            <a:srgbClr val="D5F7FB"/>
          </a:solidFill>
          <a:ln w="12700" cap="flat" cmpd="sng">
            <a:solidFill>
              <a:srgbClr val="D5F7F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458" name="Google Shape;1458;p81"/>
          <p:cNvCxnSpPr/>
          <p:nvPr/>
        </p:nvCxnSpPr>
        <p:spPr>
          <a:xfrm>
            <a:off x="6553200" y="4114800"/>
            <a:ext cx="0" cy="1371600"/>
          </a:xfrm>
          <a:prstGeom prst="straightConnector1">
            <a:avLst/>
          </a:prstGeom>
          <a:noFill/>
          <a:ln w="76200" cap="flat" cmpd="sng">
            <a:solidFill>
              <a:srgbClr val="D5F7FB"/>
            </a:solidFill>
            <a:prstDash val="solid"/>
            <a:round/>
            <a:headEnd type="none" w="med" len="med"/>
            <a:tailEnd type="none" w="med" len="med"/>
          </a:ln>
        </p:spPr>
      </p:cxnSp>
      <p:sp>
        <p:nvSpPr>
          <p:cNvPr id="1459" name="Google Shape;1459;p81"/>
          <p:cNvSpPr/>
          <p:nvPr/>
        </p:nvSpPr>
        <p:spPr>
          <a:xfrm>
            <a:off x="6172200" y="3886200"/>
            <a:ext cx="412750" cy="1619250"/>
          </a:xfrm>
          <a:custGeom>
            <a:avLst/>
            <a:gdLst/>
            <a:ahLst/>
            <a:cxnLst/>
            <a:rect l="l" t="t" r="r" b="b"/>
            <a:pathLst>
              <a:path w="260" h="1020" extrusionOk="0">
                <a:moveTo>
                  <a:pt x="25" y="984"/>
                </a:moveTo>
                <a:cubicBezTo>
                  <a:pt x="28" y="847"/>
                  <a:pt x="34" y="709"/>
                  <a:pt x="37" y="572"/>
                </a:cubicBezTo>
                <a:cubicBezTo>
                  <a:pt x="33" y="476"/>
                  <a:pt x="30" y="440"/>
                  <a:pt x="33" y="340"/>
                </a:cubicBezTo>
                <a:cubicBezTo>
                  <a:pt x="30" y="269"/>
                  <a:pt x="25" y="210"/>
                  <a:pt x="29" y="140"/>
                </a:cubicBezTo>
                <a:cubicBezTo>
                  <a:pt x="28" y="100"/>
                  <a:pt x="0" y="32"/>
                  <a:pt x="41" y="4"/>
                </a:cubicBezTo>
                <a:cubicBezTo>
                  <a:pt x="122" y="9"/>
                  <a:pt x="91" y="0"/>
                  <a:pt x="133" y="28"/>
                </a:cubicBezTo>
                <a:cubicBezTo>
                  <a:pt x="156" y="62"/>
                  <a:pt x="125" y="22"/>
                  <a:pt x="153" y="44"/>
                </a:cubicBezTo>
                <a:cubicBezTo>
                  <a:pt x="157" y="47"/>
                  <a:pt x="158" y="53"/>
                  <a:pt x="161" y="56"/>
                </a:cubicBezTo>
                <a:cubicBezTo>
                  <a:pt x="164" y="59"/>
                  <a:pt x="169" y="61"/>
                  <a:pt x="173" y="64"/>
                </a:cubicBezTo>
                <a:cubicBezTo>
                  <a:pt x="185" y="82"/>
                  <a:pt x="194" y="97"/>
                  <a:pt x="209" y="112"/>
                </a:cubicBezTo>
                <a:cubicBezTo>
                  <a:pt x="212" y="120"/>
                  <a:pt x="230" y="128"/>
                  <a:pt x="230" y="137"/>
                </a:cubicBezTo>
                <a:cubicBezTo>
                  <a:pt x="230" y="164"/>
                  <a:pt x="213" y="216"/>
                  <a:pt x="213" y="216"/>
                </a:cubicBezTo>
                <a:cubicBezTo>
                  <a:pt x="215" y="282"/>
                  <a:pt x="217" y="319"/>
                  <a:pt x="225" y="376"/>
                </a:cubicBezTo>
                <a:cubicBezTo>
                  <a:pt x="224" y="399"/>
                  <a:pt x="224" y="421"/>
                  <a:pt x="221" y="444"/>
                </a:cubicBezTo>
                <a:cubicBezTo>
                  <a:pt x="220" y="452"/>
                  <a:pt x="224" y="476"/>
                  <a:pt x="224" y="476"/>
                </a:cubicBezTo>
                <a:cubicBezTo>
                  <a:pt x="218" y="572"/>
                  <a:pt x="226" y="506"/>
                  <a:pt x="226" y="634"/>
                </a:cubicBezTo>
                <a:cubicBezTo>
                  <a:pt x="230" y="621"/>
                  <a:pt x="231" y="584"/>
                  <a:pt x="230" y="598"/>
                </a:cubicBezTo>
                <a:cubicBezTo>
                  <a:pt x="217" y="726"/>
                  <a:pt x="260" y="861"/>
                  <a:pt x="202" y="976"/>
                </a:cubicBezTo>
                <a:cubicBezTo>
                  <a:pt x="180" y="1020"/>
                  <a:pt x="74" y="983"/>
                  <a:pt x="25" y="984"/>
                </a:cubicBezTo>
                <a:close/>
              </a:path>
            </a:pathLst>
          </a:custGeom>
          <a:solidFill>
            <a:srgbClr val="D5F7FB"/>
          </a:solidFill>
          <a:ln w="12700" cap="flat" cmpd="sng">
            <a:solidFill>
              <a:srgbClr val="D5F7F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60" name="Google Shape;1460;p81"/>
          <p:cNvSpPr/>
          <p:nvPr/>
        </p:nvSpPr>
        <p:spPr>
          <a:xfrm>
            <a:off x="6324600" y="2667000"/>
            <a:ext cx="914400" cy="533400"/>
          </a:xfrm>
          <a:prstGeom prst="rect">
            <a:avLst/>
          </a:prstGeom>
          <a:solidFill>
            <a:srgbClr val="B8FAC8"/>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461" name="Google Shape;1461;p81"/>
          <p:cNvSpPr/>
          <p:nvPr/>
        </p:nvSpPr>
        <p:spPr>
          <a:xfrm>
            <a:off x="6575425" y="4144963"/>
            <a:ext cx="1314450" cy="1404937"/>
          </a:xfrm>
          <a:custGeom>
            <a:avLst/>
            <a:gdLst/>
            <a:ahLst/>
            <a:cxnLst/>
            <a:rect l="l" t="t" r="r" b="b"/>
            <a:pathLst>
              <a:path w="828" h="885" extrusionOk="0">
                <a:moveTo>
                  <a:pt x="3" y="882"/>
                </a:moveTo>
                <a:lnTo>
                  <a:pt x="0" y="0"/>
                </a:lnTo>
                <a:lnTo>
                  <a:pt x="27" y="72"/>
                </a:lnTo>
                <a:lnTo>
                  <a:pt x="81" y="159"/>
                </a:lnTo>
                <a:lnTo>
                  <a:pt x="117" y="237"/>
                </a:lnTo>
                <a:lnTo>
                  <a:pt x="156" y="297"/>
                </a:lnTo>
                <a:lnTo>
                  <a:pt x="201" y="384"/>
                </a:lnTo>
                <a:lnTo>
                  <a:pt x="273" y="495"/>
                </a:lnTo>
                <a:lnTo>
                  <a:pt x="339" y="585"/>
                </a:lnTo>
                <a:lnTo>
                  <a:pt x="442" y="693"/>
                </a:lnTo>
                <a:lnTo>
                  <a:pt x="609" y="789"/>
                </a:lnTo>
                <a:lnTo>
                  <a:pt x="828" y="825"/>
                </a:lnTo>
                <a:lnTo>
                  <a:pt x="825" y="885"/>
                </a:lnTo>
                <a:lnTo>
                  <a:pt x="3" y="882"/>
                </a:lnTo>
                <a:close/>
              </a:path>
            </a:pathLst>
          </a:custGeom>
          <a:solidFill>
            <a:srgbClr val="FF0000"/>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462" name="Google Shape;1462;p81"/>
          <p:cNvCxnSpPr/>
          <p:nvPr/>
        </p:nvCxnSpPr>
        <p:spPr>
          <a:xfrm flipH="1">
            <a:off x="6858000" y="4572000"/>
            <a:ext cx="533400" cy="609600"/>
          </a:xfrm>
          <a:prstGeom prst="straightConnector1">
            <a:avLst/>
          </a:prstGeom>
          <a:noFill/>
          <a:ln w="12700" cap="flat" cmpd="sng">
            <a:solidFill>
              <a:schemeClr val="dk1"/>
            </a:solidFill>
            <a:prstDash val="solid"/>
            <a:round/>
            <a:headEnd type="none" w="med" len="med"/>
            <a:tailEnd type="triangle" w="med" len="med"/>
          </a:ln>
        </p:spPr>
      </p:cxnSp>
      <p:cxnSp>
        <p:nvCxnSpPr>
          <p:cNvPr id="1463" name="Google Shape;1463;p81"/>
          <p:cNvCxnSpPr/>
          <p:nvPr/>
        </p:nvCxnSpPr>
        <p:spPr>
          <a:xfrm>
            <a:off x="5791200" y="3886200"/>
            <a:ext cx="609600" cy="533400"/>
          </a:xfrm>
          <a:prstGeom prst="straightConnector1">
            <a:avLst/>
          </a:prstGeom>
          <a:noFill/>
          <a:ln w="12700" cap="flat" cmpd="sng">
            <a:solidFill>
              <a:schemeClr val="dk1"/>
            </a:solidFill>
            <a:prstDash val="solid"/>
            <a:round/>
            <a:headEnd type="none" w="med" len="med"/>
            <a:tailEnd type="triangle" w="med" len="med"/>
          </a:ln>
        </p:spPr>
      </p:cxnSp>
      <p:sp>
        <p:nvSpPr>
          <p:cNvPr id="1464" name="Google Shape;1464;p81"/>
          <p:cNvSpPr txBox="1">
            <a:spLocks noGrp="1"/>
          </p:cNvSpPr>
          <p:nvPr>
            <p:ph type="body" idx="1"/>
          </p:nvPr>
        </p:nvSpPr>
        <p:spPr>
          <a:xfrm>
            <a:off x="1066800" y="1524000"/>
            <a:ext cx="5257800" cy="685800"/>
          </a:xfrm>
          <a:prstGeom prst="rect">
            <a:avLst/>
          </a:prstGeom>
          <a:noFill/>
          <a:ln>
            <a:noFill/>
          </a:ln>
        </p:spPr>
        <p:txBody>
          <a:bodyPr spcFirstLastPara="1" wrap="square" lIns="85325" tIns="42650" rIns="85325" bIns="42650" anchor="t" anchorCtr="0">
            <a:noAutofit/>
          </a:bodyPr>
          <a:lstStyle/>
          <a:p>
            <a:pPr marL="320675" lvl="0" indent="-320675" algn="l" rtl="0">
              <a:spcBef>
                <a:spcPts val="0"/>
              </a:spcBef>
              <a:spcAft>
                <a:spcPts val="0"/>
              </a:spcAft>
              <a:buSzPts val="2040"/>
              <a:buChar char="■"/>
            </a:pPr>
            <a:r>
              <a:rPr lang="en-US" sz="3400">
                <a:solidFill>
                  <a:schemeClr val="folHlink"/>
                </a:solidFill>
              </a:rPr>
              <a:t>Now Find P(x &gt; 8.6)…</a:t>
            </a:r>
            <a:endParaRPr/>
          </a:p>
        </p:txBody>
      </p:sp>
      <p:sp>
        <p:nvSpPr>
          <p:cNvPr id="1465" name="Google Shape;1465;p81"/>
          <p:cNvSpPr/>
          <p:nvPr/>
        </p:nvSpPr>
        <p:spPr>
          <a:xfrm>
            <a:off x="6248400" y="3886200"/>
            <a:ext cx="1635125" cy="1573213"/>
          </a:xfrm>
          <a:custGeom>
            <a:avLst/>
            <a:gdLst/>
            <a:ahLst/>
            <a:cxnLst/>
            <a:rect l="l" t="t" r="r" b="b"/>
            <a:pathLst>
              <a:path w="1030" h="991" extrusionOk="0">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66" name="Google Shape;1466;p81"/>
          <p:cNvSpPr/>
          <p:nvPr/>
        </p:nvSpPr>
        <p:spPr>
          <a:xfrm>
            <a:off x="4611688" y="3886200"/>
            <a:ext cx="1638300" cy="1573213"/>
          </a:xfrm>
          <a:custGeom>
            <a:avLst/>
            <a:gdLst/>
            <a:ahLst/>
            <a:cxnLst/>
            <a:rect l="l" t="t" r="r" b="b"/>
            <a:pathLst>
              <a:path w="1032" h="991" extrusionOk="0">
                <a:moveTo>
                  <a:pt x="0" y="990"/>
                </a:moveTo>
                <a:lnTo>
                  <a:pt x="108" y="980"/>
                </a:lnTo>
                <a:lnTo>
                  <a:pt x="163" y="967"/>
                </a:lnTo>
                <a:lnTo>
                  <a:pt x="218" y="952"/>
                </a:lnTo>
                <a:lnTo>
                  <a:pt x="271" y="929"/>
                </a:lnTo>
                <a:lnTo>
                  <a:pt x="326" y="897"/>
                </a:lnTo>
                <a:lnTo>
                  <a:pt x="381" y="857"/>
                </a:lnTo>
                <a:lnTo>
                  <a:pt x="488" y="743"/>
                </a:lnTo>
                <a:lnTo>
                  <a:pt x="596" y="581"/>
                </a:lnTo>
                <a:lnTo>
                  <a:pt x="706" y="386"/>
                </a:lnTo>
                <a:lnTo>
                  <a:pt x="759" y="287"/>
                </a:lnTo>
                <a:lnTo>
                  <a:pt x="814" y="196"/>
                </a:lnTo>
                <a:lnTo>
                  <a:pt x="868" y="116"/>
                </a:lnTo>
                <a:lnTo>
                  <a:pt x="921" y="53"/>
                </a:lnTo>
                <a:lnTo>
                  <a:pt x="976" y="13"/>
                </a:lnTo>
                <a:lnTo>
                  <a:pt x="1031"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67" name="Google Shape;1467;p81"/>
          <p:cNvSpPr/>
          <p:nvPr/>
        </p:nvSpPr>
        <p:spPr>
          <a:xfrm>
            <a:off x="7889875" y="5530850"/>
            <a:ext cx="381000"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Z</a:t>
            </a:r>
            <a:endParaRPr/>
          </a:p>
        </p:txBody>
      </p:sp>
      <p:sp>
        <p:nvSpPr>
          <p:cNvPr id="1468" name="Google Shape;1468;p81"/>
          <p:cNvSpPr/>
          <p:nvPr/>
        </p:nvSpPr>
        <p:spPr>
          <a:xfrm>
            <a:off x="6365875" y="6140450"/>
            <a:ext cx="625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rgbClr val="339933"/>
                </a:solidFill>
                <a:latin typeface="Arial"/>
                <a:ea typeface="Arial"/>
                <a:cs typeface="Arial"/>
                <a:sym typeface="Arial"/>
              </a:rPr>
              <a:t>0.12</a:t>
            </a:r>
            <a:endParaRPr sz="2400" b="1">
              <a:solidFill>
                <a:srgbClr val="339933"/>
              </a:solidFill>
              <a:latin typeface="Arial"/>
              <a:ea typeface="Arial"/>
              <a:cs typeface="Arial"/>
              <a:sym typeface="Arial"/>
            </a:endParaRPr>
          </a:p>
        </p:txBody>
      </p:sp>
      <p:sp>
        <p:nvSpPr>
          <p:cNvPr id="1469" name="Google Shape;1469;p81"/>
          <p:cNvSpPr/>
          <p:nvPr/>
        </p:nvSpPr>
        <p:spPr>
          <a:xfrm>
            <a:off x="5984875" y="5759450"/>
            <a:ext cx="371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 0</a:t>
            </a:r>
            <a:endParaRPr sz="2400" b="1">
              <a:solidFill>
                <a:schemeClr val="dk1"/>
              </a:solidFill>
              <a:latin typeface="Arial"/>
              <a:ea typeface="Arial"/>
              <a:cs typeface="Arial"/>
              <a:sym typeface="Arial"/>
            </a:endParaRPr>
          </a:p>
        </p:txBody>
      </p:sp>
      <p:cxnSp>
        <p:nvCxnSpPr>
          <p:cNvPr id="1470" name="Google Shape;1470;p81"/>
          <p:cNvCxnSpPr/>
          <p:nvPr/>
        </p:nvCxnSpPr>
        <p:spPr>
          <a:xfrm rot="10800000">
            <a:off x="6594475" y="5530850"/>
            <a:ext cx="0" cy="685800"/>
          </a:xfrm>
          <a:prstGeom prst="straightConnector1">
            <a:avLst/>
          </a:prstGeom>
          <a:noFill/>
          <a:ln w="12700" cap="flat" cmpd="sng">
            <a:solidFill>
              <a:schemeClr val="dk1"/>
            </a:solidFill>
            <a:prstDash val="solid"/>
            <a:round/>
            <a:headEnd type="none" w="med" len="med"/>
            <a:tailEnd type="triangle" w="med" len="med"/>
          </a:ln>
        </p:spPr>
      </p:cxnSp>
      <p:cxnSp>
        <p:nvCxnSpPr>
          <p:cNvPr id="1471" name="Google Shape;1471;p81"/>
          <p:cNvCxnSpPr/>
          <p:nvPr/>
        </p:nvCxnSpPr>
        <p:spPr>
          <a:xfrm>
            <a:off x="6213475" y="3930650"/>
            <a:ext cx="0" cy="1600200"/>
          </a:xfrm>
          <a:prstGeom prst="straightConnector1">
            <a:avLst/>
          </a:prstGeom>
          <a:noFill/>
          <a:ln w="19050" cap="rnd" cmpd="sng">
            <a:solidFill>
              <a:schemeClr val="dk1"/>
            </a:solidFill>
            <a:prstDash val="dot"/>
            <a:round/>
            <a:headEnd type="none" w="med" len="med"/>
            <a:tailEnd type="none" w="med" len="med"/>
          </a:ln>
        </p:spPr>
      </p:cxnSp>
      <p:sp>
        <p:nvSpPr>
          <p:cNvPr id="1472" name="Google Shape;1472;p81"/>
          <p:cNvSpPr/>
          <p:nvPr/>
        </p:nvSpPr>
        <p:spPr>
          <a:xfrm>
            <a:off x="2362200" y="3929063"/>
            <a:ext cx="1676400" cy="1638300"/>
          </a:xfrm>
          <a:custGeom>
            <a:avLst/>
            <a:gdLst/>
            <a:ahLst/>
            <a:cxnLst/>
            <a:rect l="l" t="t" r="r" b="b"/>
            <a:pathLst>
              <a:path w="1056" h="1032" extrusionOk="0">
                <a:moveTo>
                  <a:pt x="0" y="1029"/>
                </a:moveTo>
                <a:lnTo>
                  <a:pt x="3" y="0"/>
                </a:lnTo>
                <a:lnTo>
                  <a:pt x="84" y="15"/>
                </a:lnTo>
                <a:lnTo>
                  <a:pt x="216" y="150"/>
                </a:lnTo>
                <a:lnTo>
                  <a:pt x="300" y="303"/>
                </a:lnTo>
                <a:lnTo>
                  <a:pt x="378" y="450"/>
                </a:lnTo>
                <a:lnTo>
                  <a:pt x="429" y="543"/>
                </a:lnTo>
                <a:lnTo>
                  <a:pt x="501" y="654"/>
                </a:lnTo>
                <a:lnTo>
                  <a:pt x="567" y="741"/>
                </a:lnTo>
                <a:lnTo>
                  <a:pt x="670" y="849"/>
                </a:lnTo>
                <a:lnTo>
                  <a:pt x="837" y="945"/>
                </a:lnTo>
                <a:lnTo>
                  <a:pt x="1056" y="981"/>
                </a:lnTo>
                <a:lnTo>
                  <a:pt x="1056" y="1032"/>
                </a:lnTo>
                <a:lnTo>
                  <a:pt x="0" y="1029"/>
                </a:lnTo>
                <a:close/>
              </a:path>
            </a:pathLst>
          </a:custGeom>
          <a:solidFill>
            <a:srgbClr val="FF0000"/>
          </a:solidFill>
          <a:ln w="127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473" name="Google Shape;1473;p81"/>
          <p:cNvCxnSpPr/>
          <p:nvPr/>
        </p:nvCxnSpPr>
        <p:spPr>
          <a:xfrm>
            <a:off x="2362200" y="3962400"/>
            <a:ext cx="0" cy="1600200"/>
          </a:xfrm>
          <a:prstGeom prst="straightConnector1">
            <a:avLst/>
          </a:prstGeom>
          <a:noFill/>
          <a:ln w="31750" cap="flat" cmpd="sng">
            <a:solidFill>
              <a:schemeClr val="dk1"/>
            </a:solidFill>
            <a:prstDash val="solid"/>
            <a:round/>
            <a:headEnd type="none" w="med" len="med"/>
            <a:tailEnd type="none" w="med" len="med"/>
          </a:ln>
        </p:spPr>
      </p:cxnSp>
      <p:sp>
        <p:nvSpPr>
          <p:cNvPr id="1474" name="Google Shape;1474;p81"/>
          <p:cNvSpPr/>
          <p:nvPr/>
        </p:nvSpPr>
        <p:spPr>
          <a:xfrm>
            <a:off x="2397125" y="3917950"/>
            <a:ext cx="1635125" cy="1573213"/>
          </a:xfrm>
          <a:custGeom>
            <a:avLst/>
            <a:gdLst/>
            <a:ahLst/>
            <a:cxnLst/>
            <a:rect l="l" t="t" r="r" b="b"/>
            <a:pathLst>
              <a:path w="1030" h="991" extrusionOk="0">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75" name="Google Shape;1475;p81"/>
          <p:cNvSpPr/>
          <p:nvPr/>
        </p:nvSpPr>
        <p:spPr>
          <a:xfrm>
            <a:off x="760413" y="3917950"/>
            <a:ext cx="1638300" cy="1573213"/>
          </a:xfrm>
          <a:custGeom>
            <a:avLst/>
            <a:gdLst/>
            <a:ahLst/>
            <a:cxnLst/>
            <a:rect l="l" t="t" r="r" b="b"/>
            <a:pathLst>
              <a:path w="1032" h="991" extrusionOk="0">
                <a:moveTo>
                  <a:pt x="0" y="990"/>
                </a:moveTo>
                <a:lnTo>
                  <a:pt x="108" y="980"/>
                </a:lnTo>
                <a:lnTo>
                  <a:pt x="163" y="967"/>
                </a:lnTo>
                <a:lnTo>
                  <a:pt x="218" y="952"/>
                </a:lnTo>
                <a:lnTo>
                  <a:pt x="271" y="929"/>
                </a:lnTo>
                <a:lnTo>
                  <a:pt x="326" y="897"/>
                </a:lnTo>
                <a:lnTo>
                  <a:pt x="381" y="857"/>
                </a:lnTo>
                <a:lnTo>
                  <a:pt x="488" y="743"/>
                </a:lnTo>
                <a:lnTo>
                  <a:pt x="596" y="581"/>
                </a:lnTo>
                <a:lnTo>
                  <a:pt x="706" y="386"/>
                </a:lnTo>
                <a:lnTo>
                  <a:pt x="759" y="287"/>
                </a:lnTo>
                <a:lnTo>
                  <a:pt x="814" y="196"/>
                </a:lnTo>
                <a:lnTo>
                  <a:pt x="868" y="116"/>
                </a:lnTo>
                <a:lnTo>
                  <a:pt x="921" y="53"/>
                </a:lnTo>
                <a:lnTo>
                  <a:pt x="976" y="13"/>
                </a:lnTo>
                <a:lnTo>
                  <a:pt x="1031"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76" name="Google Shape;1476;p81"/>
          <p:cNvSpPr/>
          <p:nvPr/>
        </p:nvSpPr>
        <p:spPr>
          <a:xfrm>
            <a:off x="742950" y="5573713"/>
            <a:ext cx="3289300" cy="7937"/>
          </a:xfrm>
          <a:custGeom>
            <a:avLst/>
            <a:gdLst/>
            <a:ahLst/>
            <a:cxnLst/>
            <a:rect l="l" t="t" r="r" b="b"/>
            <a:pathLst>
              <a:path w="2072" h="5" extrusionOk="0">
                <a:moveTo>
                  <a:pt x="0" y="5"/>
                </a:moveTo>
                <a:lnTo>
                  <a:pt x="12" y="0"/>
                </a:lnTo>
                <a:lnTo>
                  <a:pt x="2072" y="0"/>
                </a:lnTo>
              </a:path>
            </a:pathLst>
          </a:custGeom>
          <a:noFill/>
          <a:ln w="508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477" name="Google Shape;1477;p81"/>
          <p:cNvCxnSpPr/>
          <p:nvPr/>
        </p:nvCxnSpPr>
        <p:spPr>
          <a:xfrm>
            <a:off x="4030663" y="5508625"/>
            <a:ext cx="0" cy="1588"/>
          </a:xfrm>
          <a:prstGeom prst="straightConnector1">
            <a:avLst/>
          </a:prstGeom>
          <a:noFill/>
          <a:ln w="25400" cap="flat" cmpd="sng">
            <a:solidFill>
              <a:srgbClr val="CDCDCD"/>
            </a:solidFill>
            <a:prstDash val="solid"/>
            <a:round/>
            <a:headEnd type="none" w="med" len="med"/>
            <a:tailEnd type="none" w="med" len="med"/>
          </a:ln>
        </p:spPr>
      </p:cxnSp>
      <p:sp>
        <p:nvSpPr>
          <p:cNvPr id="1478" name="Google Shape;1478;p81"/>
          <p:cNvSpPr/>
          <p:nvPr/>
        </p:nvSpPr>
        <p:spPr>
          <a:xfrm>
            <a:off x="4038600" y="5562600"/>
            <a:ext cx="381000"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Z</a:t>
            </a:r>
            <a:endParaRPr/>
          </a:p>
        </p:txBody>
      </p:sp>
      <p:sp>
        <p:nvSpPr>
          <p:cNvPr id="1479" name="Google Shape;1479;p81"/>
          <p:cNvSpPr/>
          <p:nvPr/>
        </p:nvSpPr>
        <p:spPr>
          <a:xfrm>
            <a:off x="2409825" y="5865813"/>
            <a:ext cx="184150" cy="920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480" name="Google Shape;1480;p81"/>
          <p:cNvSpPr/>
          <p:nvPr/>
        </p:nvSpPr>
        <p:spPr>
          <a:xfrm>
            <a:off x="3900488" y="3821113"/>
            <a:ext cx="184150" cy="920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481" name="Google Shape;1481;p81"/>
          <p:cNvSpPr/>
          <p:nvPr/>
        </p:nvSpPr>
        <p:spPr>
          <a:xfrm>
            <a:off x="2514600" y="6172200"/>
            <a:ext cx="625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rgbClr val="339933"/>
                </a:solidFill>
                <a:latin typeface="Arial"/>
                <a:ea typeface="Arial"/>
                <a:cs typeface="Arial"/>
                <a:sym typeface="Arial"/>
              </a:rPr>
              <a:t>0.12</a:t>
            </a:r>
            <a:endParaRPr sz="2400" b="1">
              <a:solidFill>
                <a:srgbClr val="339933"/>
              </a:solidFill>
              <a:latin typeface="Arial"/>
              <a:ea typeface="Arial"/>
              <a:cs typeface="Arial"/>
              <a:sym typeface="Arial"/>
            </a:endParaRPr>
          </a:p>
        </p:txBody>
      </p:sp>
      <p:sp>
        <p:nvSpPr>
          <p:cNvPr id="1482" name="Google Shape;1482;p81"/>
          <p:cNvSpPr/>
          <p:nvPr/>
        </p:nvSpPr>
        <p:spPr>
          <a:xfrm>
            <a:off x="4876800" y="3581400"/>
            <a:ext cx="1054100" cy="454025"/>
          </a:xfrm>
          <a:prstGeom prst="rect">
            <a:avLst/>
          </a:prstGeom>
          <a:solidFill>
            <a:srgbClr val="CCFFCC"/>
          </a:solidFill>
          <a:ln>
            <a:noFill/>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400">
                <a:solidFill>
                  <a:srgbClr val="FF0000"/>
                </a:solidFill>
                <a:latin typeface="Arial"/>
                <a:ea typeface="Arial"/>
                <a:cs typeface="Arial"/>
                <a:sym typeface="Arial"/>
              </a:rPr>
              <a:t>.0478</a:t>
            </a:r>
            <a:endParaRPr/>
          </a:p>
        </p:txBody>
      </p:sp>
      <p:cxnSp>
        <p:nvCxnSpPr>
          <p:cNvPr id="1483" name="Google Shape;1483;p81"/>
          <p:cNvCxnSpPr/>
          <p:nvPr/>
        </p:nvCxnSpPr>
        <p:spPr>
          <a:xfrm flipH="1">
            <a:off x="2743200" y="4191000"/>
            <a:ext cx="457200" cy="609600"/>
          </a:xfrm>
          <a:prstGeom prst="straightConnector1">
            <a:avLst/>
          </a:prstGeom>
          <a:noFill/>
          <a:ln w="12700" cap="flat" cmpd="sng">
            <a:solidFill>
              <a:schemeClr val="dk1"/>
            </a:solidFill>
            <a:prstDash val="solid"/>
            <a:round/>
            <a:headEnd type="none" w="med" len="med"/>
            <a:tailEnd type="triangle" w="med" len="med"/>
          </a:ln>
        </p:spPr>
      </p:cxnSp>
      <p:sp>
        <p:nvSpPr>
          <p:cNvPr id="1484" name="Google Shape;1484;p81"/>
          <p:cNvSpPr/>
          <p:nvPr/>
        </p:nvSpPr>
        <p:spPr>
          <a:xfrm>
            <a:off x="2133600" y="5791200"/>
            <a:ext cx="371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 0</a:t>
            </a:r>
            <a:endParaRPr sz="2400" b="1">
              <a:solidFill>
                <a:schemeClr val="dk1"/>
              </a:solidFill>
              <a:latin typeface="Arial"/>
              <a:ea typeface="Arial"/>
              <a:cs typeface="Arial"/>
              <a:sym typeface="Arial"/>
            </a:endParaRPr>
          </a:p>
        </p:txBody>
      </p:sp>
      <p:cxnSp>
        <p:nvCxnSpPr>
          <p:cNvPr id="1485" name="Google Shape;1485;p81"/>
          <p:cNvCxnSpPr/>
          <p:nvPr/>
        </p:nvCxnSpPr>
        <p:spPr>
          <a:xfrm rot="10800000">
            <a:off x="2362200" y="5562600"/>
            <a:ext cx="0" cy="228600"/>
          </a:xfrm>
          <a:prstGeom prst="straightConnector1">
            <a:avLst/>
          </a:prstGeom>
          <a:noFill/>
          <a:ln w="12700" cap="flat" cmpd="sng">
            <a:solidFill>
              <a:schemeClr val="dk1"/>
            </a:solidFill>
            <a:prstDash val="solid"/>
            <a:round/>
            <a:headEnd type="none" w="med" len="med"/>
            <a:tailEnd type="triangle" w="med" len="med"/>
          </a:ln>
        </p:spPr>
      </p:cxnSp>
      <p:cxnSp>
        <p:nvCxnSpPr>
          <p:cNvPr id="1486" name="Google Shape;1486;p81"/>
          <p:cNvCxnSpPr/>
          <p:nvPr/>
        </p:nvCxnSpPr>
        <p:spPr>
          <a:xfrm rot="10800000">
            <a:off x="2743200" y="5562600"/>
            <a:ext cx="0" cy="685800"/>
          </a:xfrm>
          <a:prstGeom prst="straightConnector1">
            <a:avLst/>
          </a:prstGeom>
          <a:noFill/>
          <a:ln w="12700" cap="flat" cmpd="sng">
            <a:solidFill>
              <a:schemeClr val="dk1"/>
            </a:solidFill>
            <a:prstDash val="solid"/>
            <a:round/>
            <a:headEnd type="none" w="med" len="med"/>
            <a:tailEnd type="triangle" w="med" len="med"/>
          </a:ln>
        </p:spPr>
      </p:cxnSp>
      <p:sp>
        <p:nvSpPr>
          <p:cNvPr id="1487" name="Google Shape;1487;p81"/>
          <p:cNvSpPr/>
          <p:nvPr/>
        </p:nvSpPr>
        <p:spPr>
          <a:xfrm>
            <a:off x="3124200" y="3810000"/>
            <a:ext cx="1206500" cy="454025"/>
          </a:xfrm>
          <a:prstGeom prst="rect">
            <a:avLst/>
          </a:prstGeom>
          <a:solidFill>
            <a:srgbClr val="CCFFCC"/>
          </a:solidFill>
          <a:ln>
            <a:noFill/>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400">
                <a:solidFill>
                  <a:srgbClr val="FF0000"/>
                </a:solidFill>
                <a:latin typeface="Arial"/>
                <a:ea typeface="Arial"/>
                <a:cs typeface="Arial"/>
                <a:sym typeface="Arial"/>
              </a:rPr>
              <a:t>.5000</a:t>
            </a:r>
            <a:endParaRPr/>
          </a:p>
        </p:txBody>
      </p:sp>
      <p:sp>
        <p:nvSpPr>
          <p:cNvPr id="1488" name="Google Shape;1488;p81"/>
          <p:cNvSpPr/>
          <p:nvPr/>
        </p:nvSpPr>
        <p:spPr>
          <a:xfrm>
            <a:off x="7315200" y="3886200"/>
            <a:ext cx="1676400" cy="819150"/>
          </a:xfrm>
          <a:prstGeom prst="rect">
            <a:avLst/>
          </a:prstGeom>
          <a:solidFill>
            <a:srgbClr val="CCFFCC"/>
          </a:solidFill>
          <a:ln>
            <a:noFill/>
          </a:ln>
        </p:spPr>
        <p:txBody>
          <a:bodyPr spcFirstLastPara="1" wrap="square" lIns="90475" tIns="44450" rIns="90475" bIns="44450" anchor="t" anchorCtr="0">
            <a:noAutofit/>
          </a:bodyPr>
          <a:lstStyle/>
          <a:p>
            <a:pPr marL="0" marR="0" lvl="0" indent="0" algn="ctr" rtl="0">
              <a:spcBef>
                <a:spcPts val="0"/>
              </a:spcBef>
              <a:spcAft>
                <a:spcPts val="0"/>
              </a:spcAft>
              <a:buNone/>
            </a:pPr>
            <a:r>
              <a:rPr lang="en-US" sz="2400">
                <a:solidFill>
                  <a:srgbClr val="FF0000"/>
                </a:solidFill>
                <a:latin typeface="Arial"/>
                <a:ea typeface="Arial"/>
                <a:cs typeface="Arial"/>
                <a:sym typeface="Arial"/>
              </a:rPr>
              <a:t>.50 - .0478 = .4522</a:t>
            </a:r>
            <a:endParaRPr/>
          </a:p>
        </p:txBody>
      </p:sp>
      <p:sp>
        <p:nvSpPr>
          <p:cNvPr id="1489" name="Google Shape;1489;p81"/>
          <p:cNvSpPr txBox="1"/>
          <p:nvPr/>
        </p:nvSpPr>
        <p:spPr>
          <a:xfrm>
            <a:off x="838200" y="2133600"/>
            <a:ext cx="7696200" cy="10048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   P(x &gt; 8.6) = P(z &gt; 0.12) = P(z &gt; 0) - P(0 &lt; z &lt; 0.12)</a:t>
            </a:r>
            <a:endParaRPr/>
          </a:p>
          <a:p>
            <a:pPr marL="0" marR="0" lvl="0" indent="0" algn="l" rtl="0">
              <a:spcBef>
                <a:spcPts val="1200"/>
              </a:spcBef>
              <a:spcAft>
                <a:spcPts val="0"/>
              </a:spcAft>
              <a:buNone/>
            </a:pPr>
            <a:r>
              <a:rPr lang="en-US" sz="2400">
                <a:solidFill>
                  <a:schemeClr val="dk1"/>
                </a:solidFill>
                <a:latin typeface="Arial"/>
                <a:ea typeface="Arial"/>
                <a:cs typeface="Arial"/>
                <a:sym typeface="Arial"/>
              </a:rPr>
              <a:t>                                          = .5 - .0478 = </a:t>
            </a:r>
            <a:r>
              <a:rPr lang="en-US" sz="2400">
                <a:solidFill>
                  <a:schemeClr val="hlink"/>
                </a:solidFill>
                <a:latin typeface="Arial"/>
                <a:ea typeface="Arial"/>
                <a:cs typeface="Arial"/>
                <a:sym typeface="Arial"/>
              </a:rPr>
              <a:t>.4522</a:t>
            </a:r>
            <a:endParaRPr/>
          </a:p>
        </p:txBody>
      </p:sp>
      <p:cxnSp>
        <p:nvCxnSpPr>
          <p:cNvPr id="1490" name="Google Shape;1490;p81"/>
          <p:cNvCxnSpPr/>
          <p:nvPr/>
        </p:nvCxnSpPr>
        <p:spPr>
          <a:xfrm rot="10800000">
            <a:off x="6218238" y="5518150"/>
            <a:ext cx="0" cy="228600"/>
          </a:xfrm>
          <a:prstGeom prst="straightConnector1">
            <a:avLst/>
          </a:prstGeom>
          <a:noFill/>
          <a:ln w="12700" cap="flat" cmpd="sng">
            <a:solidFill>
              <a:schemeClr val="dk1"/>
            </a:solidFill>
            <a:prstDash val="solid"/>
            <a:round/>
            <a:headEnd type="none" w="med" len="med"/>
            <a:tailEnd type="triangle" w="med" len="med"/>
          </a:ln>
        </p:spPr>
      </p:cxnSp>
      <p:sp>
        <p:nvSpPr>
          <p:cNvPr id="1491" name="Google Shape;1491;p81"/>
          <p:cNvSpPr/>
          <p:nvPr/>
        </p:nvSpPr>
        <p:spPr>
          <a:xfrm>
            <a:off x="4594225" y="5541963"/>
            <a:ext cx="3289300" cy="7937"/>
          </a:xfrm>
          <a:custGeom>
            <a:avLst/>
            <a:gdLst/>
            <a:ahLst/>
            <a:cxnLst/>
            <a:rect l="l" t="t" r="r" b="b"/>
            <a:pathLst>
              <a:path w="2072" h="5" extrusionOk="0">
                <a:moveTo>
                  <a:pt x="0" y="5"/>
                </a:moveTo>
                <a:lnTo>
                  <a:pt x="12" y="0"/>
                </a:lnTo>
                <a:lnTo>
                  <a:pt x="2072" y="0"/>
                </a:lnTo>
              </a:path>
            </a:pathLst>
          </a:custGeom>
          <a:noFill/>
          <a:ln w="508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92" name="Google Shape;1492;p81"/>
          <p:cNvSpPr/>
          <p:nvPr/>
        </p:nvSpPr>
        <p:spPr>
          <a:xfrm>
            <a:off x="990600" y="2133600"/>
            <a:ext cx="7239000" cy="1143000"/>
          </a:xfrm>
          <a:prstGeom prst="rect">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493" name="Google Shape;1493;p81"/>
          <p:cNvSpPr txBox="1">
            <a:spLocks noGrp="1"/>
          </p:cNvSpPr>
          <p:nvPr>
            <p:ph type="title"/>
          </p:nvPr>
        </p:nvSpPr>
        <p:spPr>
          <a:xfrm>
            <a:off x="1676400" y="381000"/>
            <a:ext cx="71072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
            </a:r>
            <a:br>
              <a:rPr lang="en-US"/>
            </a:br>
            <a:r>
              <a:rPr lang="en-US" sz="4000"/>
              <a:t>Upper Tail Probabilities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497"/>
        <p:cNvGrpSpPr/>
        <p:nvPr/>
      </p:nvGrpSpPr>
      <p:grpSpPr>
        <a:xfrm>
          <a:off x="0" y="0"/>
          <a:ext cx="0" cy="0"/>
          <a:chOff x="0" y="0"/>
          <a:chExt cx="0" cy="0"/>
        </a:xfrm>
      </p:grpSpPr>
      <p:sp>
        <p:nvSpPr>
          <p:cNvPr id="1498" name="Google Shape;1498;p82"/>
          <p:cNvSpPr/>
          <p:nvPr/>
        </p:nvSpPr>
        <p:spPr>
          <a:xfrm>
            <a:off x="4711700" y="3962400"/>
            <a:ext cx="317500" cy="1600200"/>
          </a:xfrm>
          <a:custGeom>
            <a:avLst/>
            <a:gdLst/>
            <a:ahLst/>
            <a:cxnLst/>
            <a:rect l="l" t="t" r="r" b="b"/>
            <a:pathLst>
              <a:path w="200" h="1008" extrusionOk="0">
                <a:moveTo>
                  <a:pt x="8" y="1008"/>
                </a:moveTo>
                <a:lnTo>
                  <a:pt x="0" y="166"/>
                </a:lnTo>
                <a:lnTo>
                  <a:pt x="26" y="126"/>
                </a:lnTo>
                <a:lnTo>
                  <a:pt x="64" y="76"/>
                </a:lnTo>
                <a:lnTo>
                  <a:pt x="96" y="42"/>
                </a:lnTo>
                <a:lnTo>
                  <a:pt x="126" y="22"/>
                </a:lnTo>
                <a:lnTo>
                  <a:pt x="152" y="0"/>
                </a:lnTo>
                <a:lnTo>
                  <a:pt x="200" y="0"/>
                </a:lnTo>
                <a:lnTo>
                  <a:pt x="200" y="1008"/>
                </a:lnTo>
                <a:lnTo>
                  <a:pt x="8" y="1008"/>
                </a:lnTo>
                <a:close/>
              </a:path>
            </a:pathLst>
          </a:custGeom>
          <a:solidFill>
            <a:schemeClr val="hlink"/>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499" name="Google Shape;1499;p82"/>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Lower Tail Probabilities</a:t>
            </a:r>
            <a:endParaRPr/>
          </a:p>
        </p:txBody>
      </p:sp>
      <p:sp>
        <p:nvSpPr>
          <p:cNvPr id="1500" name="Google Shape;1500;p82"/>
          <p:cNvSpPr txBox="1">
            <a:spLocks noGrp="1"/>
          </p:cNvSpPr>
          <p:nvPr>
            <p:ph type="body" idx="1"/>
          </p:nvPr>
        </p:nvSpPr>
        <p:spPr>
          <a:xfrm>
            <a:off x="762000" y="1600200"/>
            <a:ext cx="8077200" cy="4114800"/>
          </a:xfrm>
          <a:prstGeom prst="rect">
            <a:avLst/>
          </a:prstGeom>
          <a:noFill/>
          <a:ln>
            <a:noFill/>
          </a:ln>
        </p:spPr>
        <p:txBody>
          <a:bodyPr spcFirstLastPara="1" wrap="square" lIns="85325" tIns="42650" rIns="85325" bIns="42650" anchor="t" anchorCtr="0">
            <a:noAutofit/>
          </a:bodyPr>
          <a:lstStyle/>
          <a:p>
            <a:pPr marL="320675" lvl="0" indent="-320675" algn="l" rtl="0">
              <a:spcBef>
                <a:spcPts val="0"/>
              </a:spcBef>
              <a:spcAft>
                <a:spcPts val="0"/>
              </a:spcAft>
              <a:buSzPts val="2040"/>
              <a:buChar char="■"/>
            </a:pPr>
            <a:r>
              <a:rPr lang="en-US" sz="3400"/>
              <a:t>Suppose  x  is normal with mean 8.0 and standard deviation 5.0.  </a:t>
            </a:r>
            <a:endParaRPr/>
          </a:p>
          <a:p>
            <a:pPr marL="320675" lvl="0" indent="-320675" algn="l" rtl="0">
              <a:spcBef>
                <a:spcPts val="680"/>
              </a:spcBef>
              <a:spcAft>
                <a:spcPts val="0"/>
              </a:spcAft>
              <a:buSzPts val="2040"/>
              <a:buChar char="■"/>
            </a:pPr>
            <a:r>
              <a:rPr lang="en-US" sz="3400">
                <a:solidFill>
                  <a:schemeClr val="folHlink"/>
                </a:solidFill>
              </a:rPr>
              <a:t>Now Find P(7.4 &lt; x &lt; 8)</a:t>
            </a:r>
            <a:endParaRPr/>
          </a:p>
        </p:txBody>
      </p:sp>
      <p:cxnSp>
        <p:nvCxnSpPr>
          <p:cNvPr id="1501" name="Google Shape;1501;p82"/>
          <p:cNvCxnSpPr/>
          <p:nvPr/>
        </p:nvCxnSpPr>
        <p:spPr>
          <a:xfrm>
            <a:off x="5029200" y="3962400"/>
            <a:ext cx="0" cy="1600200"/>
          </a:xfrm>
          <a:prstGeom prst="straightConnector1">
            <a:avLst/>
          </a:prstGeom>
          <a:noFill/>
          <a:ln w="31750" cap="flat" cmpd="sng">
            <a:solidFill>
              <a:schemeClr val="dk1"/>
            </a:solidFill>
            <a:prstDash val="solid"/>
            <a:round/>
            <a:headEnd type="none" w="med" len="med"/>
            <a:tailEnd type="none" w="med" len="med"/>
          </a:ln>
        </p:spPr>
      </p:cxnSp>
      <p:sp>
        <p:nvSpPr>
          <p:cNvPr id="1502" name="Google Shape;1502;p82"/>
          <p:cNvSpPr/>
          <p:nvPr/>
        </p:nvSpPr>
        <p:spPr>
          <a:xfrm>
            <a:off x="5105400" y="3962400"/>
            <a:ext cx="1593850" cy="1528763"/>
          </a:xfrm>
          <a:custGeom>
            <a:avLst/>
            <a:gdLst/>
            <a:ahLst/>
            <a:cxnLst/>
            <a:rect l="l" t="t" r="r" b="b"/>
            <a:pathLst>
              <a:path w="1030" h="991" extrusionOk="0">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03" name="Google Shape;1503;p82"/>
          <p:cNvSpPr/>
          <p:nvPr/>
        </p:nvSpPr>
        <p:spPr>
          <a:xfrm>
            <a:off x="3427413" y="3957638"/>
            <a:ext cx="1644650" cy="1531937"/>
          </a:xfrm>
          <a:custGeom>
            <a:avLst/>
            <a:gdLst/>
            <a:ahLst/>
            <a:cxnLst/>
            <a:rect l="l" t="t" r="r" b="b"/>
            <a:pathLst>
              <a:path w="1036" h="965" extrusionOk="0">
                <a:moveTo>
                  <a:pt x="0" y="965"/>
                </a:moveTo>
                <a:lnTo>
                  <a:pt x="108" y="955"/>
                </a:lnTo>
                <a:lnTo>
                  <a:pt x="163" y="942"/>
                </a:lnTo>
                <a:lnTo>
                  <a:pt x="218" y="927"/>
                </a:lnTo>
                <a:lnTo>
                  <a:pt x="271" y="904"/>
                </a:lnTo>
                <a:lnTo>
                  <a:pt x="326" y="872"/>
                </a:lnTo>
                <a:lnTo>
                  <a:pt x="381" y="832"/>
                </a:lnTo>
                <a:lnTo>
                  <a:pt x="488" y="718"/>
                </a:lnTo>
                <a:lnTo>
                  <a:pt x="596" y="556"/>
                </a:lnTo>
                <a:lnTo>
                  <a:pt x="706" y="361"/>
                </a:lnTo>
                <a:lnTo>
                  <a:pt x="759" y="262"/>
                </a:lnTo>
                <a:lnTo>
                  <a:pt x="814" y="171"/>
                </a:lnTo>
                <a:lnTo>
                  <a:pt x="868" y="91"/>
                </a:lnTo>
                <a:lnTo>
                  <a:pt x="919" y="33"/>
                </a:lnTo>
                <a:lnTo>
                  <a:pt x="973" y="9"/>
                </a:lnTo>
                <a:lnTo>
                  <a:pt x="1036"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04" name="Google Shape;1504;p82"/>
          <p:cNvSpPr/>
          <p:nvPr/>
        </p:nvSpPr>
        <p:spPr>
          <a:xfrm>
            <a:off x="3409950" y="5573713"/>
            <a:ext cx="3289300" cy="7937"/>
          </a:xfrm>
          <a:custGeom>
            <a:avLst/>
            <a:gdLst/>
            <a:ahLst/>
            <a:cxnLst/>
            <a:rect l="l" t="t" r="r" b="b"/>
            <a:pathLst>
              <a:path w="2072" h="5" extrusionOk="0">
                <a:moveTo>
                  <a:pt x="0" y="5"/>
                </a:moveTo>
                <a:lnTo>
                  <a:pt x="12" y="0"/>
                </a:lnTo>
                <a:lnTo>
                  <a:pt x="2072" y="0"/>
                </a:lnTo>
              </a:path>
            </a:pathLst>
          </a:custGeom>
          <a:noFill/>
          <a:ln w="508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05" name="Google Shape;1505;p82"/>
          <p:cNvSpPr/>
          <p:nvPr/>
        </p:nvSpPr>
        <p:spPr>
          <a:xfrm>
            <a:off x="6705600" y="5562600"/>
            <a:ext cx="381000"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Z</a:t>
            </a:r>
            <a:endParaRPr/>
          </a:p>
        </p:txBody>
      </p:sp>
      <p:sp>
        <p:nvSpPr>
          <p:cNvPr id="1506" name="Google Shape;1506;p82"/>
          <p:cNvSpPr/>
          <p:nvPr/>
        </p:nvSpPr>
        <p:spPr>
          <a:xfrm>
            <a:off x="6567488" y="3821113"/>
            <a:ext cx="184150" cy="920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507" name="Google Shape;1507;p82"/>
          <p:cNvSpPr/>
          <p:nvPr/>
        </p:nvSpPr>
        <p:spPr>
          <a:xfrm>
            <a:off x="4419600" y="6019800"/>
            <a:ext cx="498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rgbClr val="339933"/>
                </a:solidFill>
                <a:latin typeface="Arial"/>
                <a:ea typeface="Arial"/>
                <a:cs typeface="Arial"/>
                <a:sym typeface="Arial"/>
              </a:rPr>
              <a:t>7.4</a:t>
            </a:r>
            <a:endParaRPr sz="2400" b="1">
              <a:solidFill>
                <a:srgbClr val="339933"/>
              </a:solidFill>
              <a:latin typeface="Arial"/>
              <a:ea typeface="Arial"/>
              <a:cs typeface="Arial"/>
              <a:sym typeface="Arial"/>
            </a:endParaRPr>
          </a:p>
        </p:txBody>
      </p:sp>
      <p:sp>
        <p:nvSpPr>
          <p:cNvPr id="1508" name="Google Shape;1508;p82"/>
          <p:cNvSpPr/>
          <p:nvPr/>
        </p:nvSpPr>
        <p:spPr>
          <a:xfrm>
            <a:off x="4800600" y="5791200"/>
            <a:ext cx="498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8.0</a:t>
            </a:r>
            <a:endParaRPr sz="2400" b="1">
              <a:solidFill>
                <a:schemeClr val="dk1"/>
              </a:solidFill>
              <a:latin typeface="Arial"/>
              <a:ea typeface="Arial"/>
              <a:cs typeface="Arial"/>
              <a:sym typeface="Arial"/>
            </a:endParaRPr>
          </a:p>
        </p:txBody>
      </p:sp>
      <p:cxnSp>
        <p:nvCxnSpPr>
          <p:cNvPr id="1509" name="Google Shape;1509;p82"/>
          <p:cNvCxnSpPr/>
          <p:nvPr/>
        </p:nvCxnSpPr>
        <p:spPr>
          <a:xfrm rot="10800000">
            <a:off x="5029200" y="5562600"/>
            <a:ext cx="0" cy="228600"/>
          </a:xfrm>
          <a:prstGeom prst="straightConnector1">
            <a:avLst/>
          </a:prstGeom>
          <a:noFill/>
          <a:ln w="12700" cap="flat" cmpd="sng">
            <a:solidFill>
              <a:schemeClr val="dk1"/>
            </a:solidFill>
            <a:prstDash val="solid"/>
            <a:round/>
            <a:headEnd type="none" w="med" len="med"/>
            <a:tailEnd type="triangle" w="med" len="med"/>
          </a:ln>
        </p:spPr>
      </p:cxnSp>
      <p:cxnSp>
        <p:nvCxnSpPr>
          <p:cNvPr id="1510" name="Google Shape;1510;p82"/>
          <p:cNvCxnSpPr/>
          <p:nvPr/>
        </p:nvCxnSpPr>
        <p:spPr>
          <a:xfrm rot="10800000">
            <a:off x="4724400" y="5562600"/>
            <a:ext cx="0" cy="457200"/>
          </a:xfrm>
          <a:prstGeom prst="straightConnector1">
            <a:avLst/>
          </a:prstGeom>
          <a:noFill/>
          <a:ln w="12700" cap="flat" cmpd="sng">
            <a:solidFill>
              <a:schemeClr val="dk1"/>
            </a:solidFill>
            <a:prstDash val="solid"/>
            <a:round/>
            <a:headEnd type="none" w="med" len="med"/>
            <a:tailEnd type="triangle" w="med" len="med"/>
          </a:ln>
        </p:spPr>
      </p:cxn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514"/>
        <p:cNvGrpSpPr/>
        <p:nvPr/>
      </p:nvGrpSpPr>
      <p:grpSpPr>
        <a:xfrm>
          <a:off x="0" y="0"/>
          <a:ext cx="0" cy="0"/>
          <a:chOff x="0" y="0"/>
          <a:chExt cx="0" cy="0"/>
        </a:xfrm>
      </p:grpSpPr>
      <p:sp>
        <p:nvSpPr>
          <p:cNvPr id="1515" name="Google Shape;1515;p83"/>
          <p:cNvSpPr/>
          <p:nvPr/>
        </p:nvSpPr>
        <p:spPr>
          <a:xfrm>
            <a:off x="5715000" y="3810000"/>
            <a:ext cx="317500" cy="1600200"/>
          </a:xfrm>
          <a:custGeom>
            <a:avLst/>
            <a:gdLst/>
            <a:ahLst/>
            <a:cxnLst/>
            <a:rect l="l" t="t" r="r" b="b"/>
            <a:pathLst>
              <a:path w="200" h="1008" extrusionOk="0">
                <a:moveTo>
                  <a:pt x="8" y="1008"/>
                </a:moveTo>
                <a:lnTo>
                  <a:pt x="0" y="166"/>
                </a:lnTo>
                <a:lnTo>
                  <a:pt x="26" y="126"/>
                </a:lnTo>
                <a:lnTo>
                  <a:pt x="64" y="76"/>
                </a:lnTo>
                <a:lnTo>
                  <a:pt x="96" y="42"/>
                </a:lnTo>
                <a:lnTo>
                  <a:pt x="126" y="22"/>
                </a:lnTo>
                <a:lnTo>
                  <a:pt x="152" y="0"/>
                </a:lnTo>
                <a:lnTo>
                  <a:pt x="200" y="0"/>
                </a:lnTo>
                <a:lnTo>
                  <a:pt x="200" y="1008"/>
                </a:lnTo>
                <a:lnTo>
                  <a:pt x="8" y="1008"/>
                </a:lnTo>
                <a:close/>
              </a:path>
            </a:pathLst>
          </a:custGeom>
          <a:solidFill>
            <a:schemeClr val="hlink"/>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cxnSp>
        <p:nvCxnSpPr>
          <p:cNvPr id="1516" name="Google Shape;1516;p83"/>
          <p:cNvCxnSpPr/>
          <p:nvPr/>
        </p:nvCxnSpPr>
        <p:spPr>
          <a:xfrm>
            <a:off x="5638800" y="3505200"/>
            <a:ext cx="228600" cy="685800"/>
          </a:xfrm>
          <a:prstGeom prst="straightConnector1">
            <a:avLst/>
          </a:prstGeom>
          <a:noFill/>
          <a:ln w="19050" cap="flat" cmpd="sng">
            <a:solidFill>
              <a:schemeClr val="dk1"/>
            </a:solidFill>
            <a:prstDash val="solid"/>
            <a:round/>
            <a:headEnd type="none" w="med" len="med"/>
            <a:tailEnd type="triangle" w="med" len="med"/>
          </a:ln>
        </p:spPr>
      </p:cxnSp>
      <p:sp>
        <p:nvSpPr>
          <p:cNvPr id="1517" name="Google Shape;1517;p83"/>
          <p:cNvSpPr/>
          <p:nvPr/>
        </p:nvSpPr>
        <p:spPr>
          <a:xfrm>
            <a:off x="1066800" y="5486400"/>
            <a:ext cx="914400" cy="533400"/>
          </a:xfrm>
          <a:prstGeom prst="rect">
            <a:avLst/>
          </a:prstGeom>
          <a:solidFill>
            <a:srgbClr val="B8FAC8"/>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518" name="Google Shape;1518;p83"/>
          <p:cNvSpPr txBox="1">
            <a:spLocks noGrp="1"/>
          </p:cNvSpPr>
          <p:nvPr>
            <p:ph type="title"/>
          </p:nvPr>
        </p:nvSpPr>
        <p:spPr>
          <a:xfrm>
            <a:off x="990600" y="381000"/>
            <a:ext cx="7793038" cy="762000"/>
          </a:xfrm>
          <a:prstGeom prst="rect">
            <a:avLst/>
          </a:prstGeom>
          <a:noFill/>
          <a:ln>
            <a:noFill/>
          </a:ln>
        </p:spPr>
        <p:txBody>
          <a:bodyPr spcFirstLastPara="1" wrap="square" lIns="85325" tIns="42650" rIns="85325" bIns="42650" anchor="b" anchorCtr="0">
            <a:noAutofit/>
          </a:bodyPr>
          <a:lstStyle/>
          <a:p>
            <a:pPr marL="0" lvl="0" indent="0" algn="ctr" rtl="0">
              <a:spcBef>
                <a:spcPts val="0"/>
              </a:spcBef>
              <a:spcAft>
                <a:spcPts val="0"/>
              </a:spcAft>
              <a:buNone/>
            </a:pPr>
            <a:r>
              <a:rPr lang="en-US"/>
              <a:t>Lower Tail Probabilities</a:t>
            </a:r>
            <a:endParaRPr/>
          </a:p>
        </p:txBody>
      </p:sp>
      <p:sp>
        <p:nvSpPr>
          <p:cNvPr id="1519" name="Google Shape;1519;p83"/>
          <p:cNvSpPr txBox="1">
            <a:spLocks noGrp="1"/>
          </p:cNvSpPr>
          <p:nvPr>
            <p:ph type="body" idx="1"/>
          </p:nvPr>
        </p:nvSpPr>
        <p:spPr>
          <a:xfrm>
            <a:off x="762000" y="1600200"/>
            <a:ext cx="8077200" cy="4114800"/>
          </a:xfrm>
          <a:prstGeom prst="rect">
            <a:avLst/>
          </a:prstGeom>
          <a:noFill/>
          <a:ln>
            <a:noFill/>
          </a:ln>
        </p:spPr>
        <p:txBody>
          <a:bodyPr spcFirstLastPara="1" wrap="square" lIns="85325" tIns="42650" rIns="85325" bIns="42650" anchor="t" anchorCtr="0">
            <a:noAutofit/>
          </a:bodyPr>
          <a:lstStyle/>
          <a:p>
            <a:pPr marL="320675" lvl="0" indent="-320675" algn="l" rtl="0">
              <a:spcBef>
                <a:spcPts val="0"/>
              </a:spcBef>
              <a:spcAft>
                <a:spcPts val="0"/>
              </a:spcAft>
              <a:buSzPts val="2040"/>
              <a:buFont typeface="Noto Sans Symbols"/>
              <a:buNone/>
            </a:pPr>
            <a:r>
              <a:rPr lang="en-US" sz="3400">
                <a:solidFill>
                  <a:schemeClr val="folHlink"/>
                </a:solidFill>
              </a:rPr>
              <a:t>   Now Find P(7.4 &lt; x &lt; 8)…</a:t>
            </a:r>
            <a:endParaRPr/>
          </a:p>
        </p:txBody>
      </p:sp>
      <p:cxnSp>
        <p:nvCxnSpPr>
          <p:cNvPr id="1520" name="Google Shape;1520;p83"/>
          <p:cNvCxnSpPr/>
          <p:nvPr/>
        </p:nvCxnSpPr>
        <p:spPr>
          <a:xfrm>
            <a:off x="6019800" y="3810000"/>
            <a:ext cx="0" cy="1600200"/>
          </a:xfrm>
          <a:prstGeom prst="straightConnector1">
            <a:avLst/>
          </a:prstGeom>
          <a:noFill/>
          <a:ln w="31750" cap="flat" cmpd="sng">
            <a:solidFill>
              <a:schemeClr val="dk1"/>
            </a:solidFill>
            <a:prstDash val="solid"/>
            <a:round/>
            <a:headEnd type="none" w="med" len="med"/>
            <a:tailEnd type="none" w="med" len="med"/>
          </a:ln>
        </p:spPr>
      </p:cxnSp>
      <p:sp>
        <p:nvSpPr>
          <p:cNvPr id="1521" name="Google Shape;1521;p83"/>
          <p:cNvSpPr/>
          <p:nvPr/>
        </p:nvSpPr>
        <p:spPr>
          <a:xfrm>
            <a:off x="6096000" y="3810000"/>
            <a:ext cx="1593850" cy="1528763"/>
          </a:xfrm>
          <a:custGeom>
            <a:avLst/>
            <a:gdLst/>
            <a:ahLst/>
            <a:cxnLst/>
            <a:rect l="l" t="t" r="r" b="b"/>
            <a:pathLst>
              <a:path w="1030" h="991" extrusionOk="0">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22" name="Google Shape;1522;p83"/>
          <p:cNvSpPr/>
          <p:nvPr/>
        </p:nvSpPr>
        <p:spPr>
          <a:xfrm>
            <a:off x="4418013" y="3805238"/>
            <a:ext cx="1644650" cy="1531937"/>
          </a:xfrm>
          <a:custGeom>
            <a:avLst/>
            <a:gdLst/>
            <a:ahLst/>
            <a:cxnLst/>
            <a:rect l="l" t="t" r="r" b="b"/>
            <a:pathLst>
              <a:path w="1036" h="965" extrusionOk="0">
                <a:moveTo>
                  <a:pt x="0" y="965"/>
                </a:moveTo>
                <a:lnTo>
                  <a:pt x="108" y="955"/>
                </a:lnTo>
                <a:lnTo>
                  <a:pt x="163" y="942"/>
                </a:lnTo>
                <a:lnTo>
                  <a:pt x="218" y="927"/>
                </a:lnTo>
                <a:lnTo>
                  <a:pt x="271" y="904"/>
                </a:lnTo>
                <a:lnTo>
                  <a:pt x="326" y="872"/>
                </a:lnTo>
                <a:lnTo>
                  <a:pt x="381" y="832"/>
                </a:lnTo>
                <a:lnTo>
                  <a:pt x="488" y="718"/>
                </a:lnTo>
                <a:lnTo>
                  <a:pt x="596" y="556"/>
                </a:lnTo>
                <a:lnTo>
                  <a:pt x="706" y="361"/>
                </a:lnTo>
                <a:lnTo>
                  <a:pt x="759" y="262"/>
                </a:lnTo>
                <a:lnTo>
                  <a:pt x="814" y="171"/>
                </a:lnTo>
                <a:lnTo>
                  <a:pt x="868" y="91"/>
                </a:lnTo>
                <a:lnTo>
                  <a:pt x="919" y="33"/>
                </a:lnTo>
                <a:lnTo>
                  <a:pt x="973" y="9"/>
                </a:lnTo>
                <a:lnTo>
                  <a:pt x="1036" y="0"/>
                </a:lnTo>
              </a:path>
            </a:pathLst>
          </a:custGeom>
          <a:noFill/>
          <a:ln w="50800" cap="rnd" cmpd="sng">
            <a:solidFill>
              <a:srgbClr val="008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23" name="Google Shape;1523;p83"/>
          <p:cNvSpPr/>
          <p:nvPr/>
        </p:nvSpPr>
        <p:spPr>
          <a:xfrm>
            <a:off x="4400550" y="5421313"/>
            <a:ext cx="3289300" cy="7937"/>
          </a:xfrm>
          <a:custGeom>
            <a:avLst/>
            <a:gdLst/>
            <a:ahLst/>
            <a:cxnLst/>
            <a:rect l="l" t="t" r="r" b="b"/>
            <a:pathLst>
              <a:path w="2072" h="5" extrusionOk="0">
                <a:moveTo>
                  <a:pt x="0" y="5"/>
                </a:moveTo>
                <a:lnTo>
                  <a:pt x="12" y="0"/>
                </a:lnTo>
                <a:lnTo>
                  <a:pt x="2072" y="0"/>
                </a:lnTo>
              </a:path>
            </a:pathLst>
          </a:custGeom>
          <a:noFill/>
          <a:ln w="50800" cap="rnd"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24" name="Google Shape;1524;p83"/>
          <p:cNvSpPr/>
          <p:nvPr/>
        </p:nvSpPr>
        <p:spPr>
          <a:xfrm>
            <a:off x="7696200" y="5410200"/>
            <a:ext cx="381000"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Z</a:t>
            </a:r>
            <a:endParaRPr/>
          </a:p>
        </p:txBody>
      </p:sp>
      <p:sp>
        <p:nvSpPr>
          <p:cNvPr id="1525" name="Google Shape;1525;p83"/>
          <p:cNvSpPr/>
          <p:nvPr/>
        </p:nvSpPr>
        <p:spPr>
          <a:xfrm>
            <a:off x="5410200" y="5867400"/>
            <a:ext cx="498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rgbClr val="339933"/>
                </a:solidFill>
                <a:latin typeface="Arial"/>
                <a:ea typeface="Arial"/>
                <a:cs typeface="Arial"/>
                <a:sym typeface="Arial"/>
              </a:rPr>
              <a:t>7.4</a:t>
            </a:r>
            <a:endParaRPr sz="2400" b="1">
              <a:solidFill>
                <a:srgbClr val="339933"/>
              </a:solidFill>
              <a:latin typeface="Arial"/>
              <a:ea typeface="Arial"/>
              <a:cs typeface="Arial"/>
              <a:sym typeface="Arial"/>
            </a:endParaRPr>
          </a:p>
        </p:txBody>
      </p:sp>
      <p:sp>
        <p:nvSpPr>
          <p:cNvPr id="1526" name="Google Shape;1526;p83"/>
          <p:cNvSpPr/>
          <p:nvPr/>
        </p:nvSpPr>
        <p:spPr>
          <a:xfrm>
            <a:off x="5791200" y="5638800"/>
            <a:ext cx="498475" cy="363538"/>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8.0</a:t>
            </a:r>
            <a:endParaRPr sz="2400" b="1">
              <a:solidFill>
                <a:schemeClr val="dk1"/>
              </a:solidFill>
              <a:latin typeface="Arial"/>
              <a:ea typeface="Arial"/>
              <a:cs typeface="Arial"/>
              <a:sym typeface="Arial"/>
            </a:endParaRPr>
          </a:p>
        </p:txBody>
      </p:sp>
      <p:cxnSp>
        <p:nvCxnSpPr>
          <p:cNvPr id="1527" name="Google Shape;1527;p83"/>
          <p:cNvCxnSpPr/>
          <p:nvPr/>
        </p:nvCxnSpPr>
        <p:spPr>
          <a:xfrm rot="10800000">
            <a:off x="5715000" y="5410200"/>
            <a:ext cx="0" cy="457200"/>
          </a:xfrm>
          <a:prstGeom prst="straightConnector1">
            <a:avLst/>
          </a:prstGeom>
          <a:noFill/>
          <a:ln w="12700" cap="flat" cmpd="sng">
            <a:solidFill>
              <a:schemeClr val="dk1"/>
            </a:solidFill>
            <a:prstDash val="solid"/>
            <a:round/>
            <a:headEnd type="none" w="med" len="med"/>
            <a:tailEnd type="triangle" w="med" len="med"/>
          </a:ln>
        </p:spPr>
      </p:cxnSp>
      <p:sp>
        <p:nvSpPr>
          <p:cNvPr id="1528" name="Google Shape;1528;p83"/>
          <p:cNvSpPr txBox="1"/>
          <p:nvPr/>
        </p:nvSpPr>
        <p:spPr>
          <a:xfrm>
            <a:off x="457200" y="3810000"/>
            <a:ext cx="1066800" cy="45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529" name="Google Shape;1529;p83"/>
          <p:cNvSpPr txBox="1"/>
          <p:nvPr/>
        </p:nvSpPr>
        <p:spPr>
          <a:xfrm>
            <a:off x="762000" y="2743200"/>
            <a:ext cx="3962400" cy="31956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   The Normal distribution is symmetric, so we use the same table even if z-values are negative: </a:t>
            </a:r>
            <a:endParaRPr/>
          </a:p>
          <a:p>
            <a:pPr marL="0" marR="0" lvl="0" indent="0" algn="l" rtl="0">
              <a:spcBef>
                <a:spcPts val="1200"/>
              </a:spcBef>
              <a:spcAft>
                <a:spcPts val="0"/>
              </a:spcAft>
              <a:buNone/>
            </a:pPr>
            <a:r>
              <a:rPr lang="en-US" sz="2400">
                <a:solidFill>
                  <a:schemeClr val="dk1"/>
                </a:solidFill>
                <a:latin typeface="Arial"/>
                <a:ea typeface="Arial"/>
                <a:cs typeface="Arial"/>
                <a:sym typeface="Arial"/>
              </a:rPr>
              <a:t>P(7.4 &lt; x &lt; 8) </a:t>
            </a:r>
            <a:endParaRPr/>
          </a:p>
          <a:p>
            <a:pPr marL="0" marR="0" lvl="0" indent="0" algn="l" rtl="0">
              <a:spcBef>
                <a:spcPts val="1200"/>
              </a:spcBef>
              <a:spcAft>
                <a:spcPts val="0"/>
              </a:spcAft>
              <a:buNone/>
            </a:pPr>
            <a:r>
              <a:rPr lang="en-US" sz="2400">
                <a:solidFill>
                  <a:schemeClr val="dk1"/>
                </a:solidFill>
                <a:latin typeface="Arial"/>
                <a:ea typeface="Arial"/>
                <a:cs typeface="Arial"/>
                <a:sym typeface="Arial"/>
              </a:rPr>
              <a:t>= P(-0.12 &lt; z &lt; 0)</a:t>
            </a:r>
            <a:endParaRPr/>
          </a:p>
          <a:p>
            <a:pPr marL="0" marR="0" lvl="0" indent="0" algn="l" rtl="0">
              <a:spcBef>
                <a:spcPts val="1200"/>
              </a:spcBef>
              <a:spcAft>
                <a:spcPts val="0"/>
              </a:spcAft>
              <a:buNone/>
            </a:pPr>
            <a:r>
              <a:rPr lang="en-US" sz="2400">
                <a:solidFill>
                  <a:schemeClr val="dk1"/>
                </a:solidFill>
                <a:latin typeface="Arial"/>
                <a:ea typeface="Arial"/>
                <a:cs typeface="Arial"/>
                <a:sym typeface="Arial"/>
              </a:rPr>
              <a:t>= </a:t>
            </a:r>
            <a:r>
              <a:rPr lang="en-US" sz="2400">
                <a:solidFill>
                  <a:schemeClr val="hlink"/>
                </a:solidFill>
                <a:latin typeface="Arial"/>
                <a:ea typeface="Arial"/>
                <a:cs typeface="Arial"/>
                <a:sym typeface="Arial"/>
              </a:rPr>
              <a:t>.0478</a:t>
            </a:r>
            <a:endParaRPr/>
          </a:p>
        </p:txBody>
      </p:sp>
      <p:sp>
        <p:nvSpPr>
          <p:cNvPr id="1530" name="Google Shape;1530;p83"/>
          <p:cNvSpPr/>
          <p:nvPr/>
        </p:nvSpPr>
        <p:spPr>
          <a:xfrm>
            <a:off x="5181600" y="3124200"/>
            <a:ext cx="947738" cy="457200"/>
          </a:xfrm>
          <a:prstGeom prst="rect">
            <a:avLst/>
          </a:prstGeom>
          <a:solidFill>
            <a:srgbClr val="A0F8B5"/>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a:solidFill>
                  <a:schemeClr val="hlink"/>
                </a:solidFill>
                <a:latin typeface="Arial"/>
                <a:ea typeface="Arial"/>
                <a:cs typeface="Arial"/>
                <a:sym typeface="Arial"/>
              </a:rPr>
              <a:t>.0478</a:t>
            </a:r>
            <a:endParaRPr/>
          </a:p>
        </p:txBody>
      </p:sp>
    </p:spTree>
  </p:cSld>
  <p:clrMapOvr>
    <a:masterClrMapping/>
  </p:clrMapOvr>
</p:sld>
</file>

<file path=ppt/theme/theme1.xml><?xml version="1.0" encoding="utf-8"?>
<a:theme xmlns:a="http://schemas.openxmlformats.org/drawingml/2006/main" name="PrenHall1">
  <a:themeElements>
    <a:clrScheme name="PrenHall1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D60A097DE78448BA6DFD5D0AEC0127" ma:contentTypeVersion="16" ma:contentTypeDescription="Create a new document." ma:contentTypeScope="" ma:versionID="41d01d8641192e1dca331147caddeb7a">
  <xsd:schema xmlns:xsd="http://www.w3.org/2001/XMLSchema" xmlns:xs="http://www.w3.org/2001/XMLSchema" xmlns:p="http://schemas.microsoft.com/office/2006/metadata/properties" xmlns:ns2="3a48d65c-488b-40f3-bfca-8ec0544224e8" xmlns:ns3="0f0b5f46-0ea9-40f4-a01f-2a01ec9df389" targetNamespace="http://schemas.microsoft.com/office/2006/metadata/properties" ma:root="true" ma:fieldsID="200903985babee7f086101c83a44a20a" ns2:_="" ns3:_="">
    <xsd:import namespace="3a48d65c-488b-40f3-bfca-8ec0544224e8"/>
    <xsd:import namespace="0f0b5f46-0ea9-40f4-a01f-2a01ec9df38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a48d65c-488b-40f3-bfca-8ec0544224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234f470-e8b5-4e69-ba45-ff9d62a3c2cc" ma:termSetId="09814cd3-568e-fe90-9814-8d621ff8fb84" ma:anchorId="fba54fb3-c3e1-fe81-a776-ca4b69148c4d" ma:open="true" ma:isKeyword="false">
      <xsd:complexType>
        <xsd:sequence>
          <xsd:element ref="pc:Terms" minOccurs="0" maxOccurs="1"/>
        </xsd:sequence>
      </xsd:complexType>
    </xsd:element>
    <xsd:element name="MediaServiceLocation" ma:index="18"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f0b5f46-0ea9-40f4-a01f-2a01ec9df389"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ef8d81c9-d777-4229-9c17-0475d51dc10a}" ma:internalName="TaxCatchAll" ma:showField="CatchAllData" ma:web="0f0b5f46-0ea9-40f4-a01f-2a01ec9df389">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40C4CB3-E610-44D1-961D-6C8AE902AA67}"/>
</file>

<file path=customXml/itemProps2.xml><?xml version="1.0" encoding="utf-8"?>
<ds:datastoreItem xmlns:ds="http://schemas.openxmlformats.org/officeDocument/2006/customXml" ds:itemID="{A371B1DF-1489-4EEB-952E-B305A2B3D14D}"/>
</file>

<file path=docProps/app.xml><?xml version="1.0" encoding="utf-8"?>
<Properties xmlns="http://schemas.openxmlformats.org/officeDocument/2006/extended-properties" xmlns:vt="http://schemas.openxmlformats.org/officeDocument/2006/docPropsVTypes">
  <TotalTime>0</TotalTime>
  <Words>3277</Words>
  <PresentationFormat>On-screen Show (4:3)</PresentationFormat>
  <Paragraphs>784</Paragraphs>
  <Slides>63</Slides>
  <Notes>63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63</vt:i4>
      </vt:variant>
    </vt:vector>
  </HeadingPairs>
  <TitlesOfParts>
    <vt:vector size="72" baseType="lpstr">
      <vt:lpstr>Arial</vt:lpstr>
      <vt:lpstr>Tahoma</vt:lpstr>
      <vt:lpstr>Noto Sans Symbols</vt:lpstr>
      <vt:lpstr>Times New Roman</vt:lpstr>
      <vt:lpstr>Century</vt:lpstr>
      <vt:lpstr>Trebuchet MS</vt:lpstr>
      <vt:lpstr>Arial Narrow</vt:lpstr>
      <vt:lpstr>Lucida Sans</vt:lpstr>
      <vt:lpstr>PrenHall1</vt:lpstr>
      <vt:lpstr>Discrete and Continuous  Probability Distributions</vt:lpstr>
      <vt:lpstr>Random Variables</vt:lpstr>
      <vt:lpstr>Discrete Probability Distributions</vt:lpstr>
      <vt:lpstr>Continuous Probability Distributions</vt:lpstr>
      <vt:lpstr>Probability functions</vt:lpstr>
      <vt:lpstr>Slide 6</vt:lpstr>
      <vt:lpstr>Slide 7</vt:lpstr>
      <vt:lpstr> Constructing a Discrete Probability Distribution</vt:lpstr>
      <vt:lpstr>Graphing a Discrete Probability Distribution</vt:lpstr>
      <vt:lpstr>Mean</vt:lpstr>
      <vt:lpstr>Variance</vt:lpstr>
      <vt:lpstr>Standard Deviation</vt:lpstr>
      <vt:lpstr>Expected Value</vt:lpstr>
      <vt:lpstr>Expected Value</vt:lpstr>
      <vt:lpstr>Slide 15</vt:lpstr>
      <vt:lpstr>The Binomial Distribution</vt:lpstr>
      <vt:lpstr>Binomial Distribution Settings</vt:lpstr>
      <vt:lpstr>Counting Rule for Combinations</vt:lpstr>
      <vt:lpstr>Binomial Distribution Formula</vt:lpstr>
      <vt:lpstr>Binomial Distribution</vt:lpstr>
      <vt:lpstr>Binomial Distribution Characteristics</vt:lpstr>
      <vt:lpstr>Binomial Characteristics</vt:lpstr>
      <vt:lpstr>Using Binomial Tables</vt:lpstr>
      <vt:lpstr>The Poisson Distribution</vt:lpstr>
      <vt:lpstr>The Poisson Distribution</vt:lpstr>
      <vt:lpstr>Slide 26</vt:lpstr>
      <vt:lpstr>Poisson Distribution</vt:lpstr>
      <vt:lpstr>Slide 28</vt:lpstr>
      <vt:lpstr>The Hypergeometric Distribution</vt:lpstr>
      <vt:lpstr>Slide 30</vt:lpstr>
      <vt:lpstr>Slide 31</vt:lpstr>
      <vt:lpstr>Properties of Probability Density Function</vt:lpstr>
      <vt:lpstr>Slide 33</vt:lpstr>
      <vt:lpstr>Slide 34</vt:lpstr>
      <vt:lpstr>The Exponential Distributions</vt:lpstr>
      <vt:lpstr>The Exponential Distributions</vt:lpstr>
      <vt:lpstr>The Exponential Distributions</vt:lpstr>
      <vt:lpstr>The Exponential Distributions</vt:lpstr>
      <vt:lpstr>Example</vt:lpstr>
      <vt:lpstr>The Normal Distribution</vt:lpstr>
      <vt:lpstr>The Normal Distribution Shape</vt:lpstr>
      <vt:lpstr>Finding Normal Probabilities  </vt:lpstr>
      <vt:lpstr>Probability as  Area Under the Curve</vt:lpstr>
      <vt:lpstr>Empirical Rules</vt:lpstr>
      <vt:lpstr>The Empirical Rule</vt:lpstr>
      <vt:lpstr>Importance of the Rule</vt:lpstr>
      <vt:lpstr>The Standard Normal Distribution</vt:lpstr>
      <vt:lpstr>The Standard Normal</vt:lpstr>
      <vt:lpstr>Translation to the Standard Normal Distribution</vt:lpstr>
      <vt:lpstr>Example</vt:lpstr>
      <vt:lpstr>Comparing  x  and  z  units</vt:lpstr>
      <vt:lpstr>The Standard Normal Table</vt:lpstr>
      <vt:lpstr>The Standard Normal Table</vt:lpstr>
      <vt:lpstr>General Procedure for Finding Probabilities</vt:lpstr>
      <vt:lpstr>Z Table example</vt:lpstr>
      <vt:lpstr>Z Table example</vt:lpstr>
      <vt:lpstr>Solution: Finding P(0 &lt; z &lt; 0.12)</vt:lpstr>
      <vt:lpstr>Finding Normal Probabilities</vt:lpstr>
      <vt:lpstr>Finding Normal Probabilities</vt:lpstr>
      <vt:lpstr> Upper Tail Probabilities</vt:lpstr>
      <vt:lpstr> Upper Tail Probabilities</vt:lpstr>
      <vt:lpstr>Lower Tail Probabilities</vt:lpstr>
      <vt:lpstr>Lower Tail Probabilities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Discrete and Continuous  Probability Distributions</dc:title>
  <cp:lastModifiedBy>CDAC</cp:lastModifiedBy>
  <cp:revision>1</cp:revision>
  <dcterms:modified xsi:type="dcterms:W3CDTF">2022-07-14T05:41:55Z</dcterms:modified>
</cp:coreProperties>
</file>