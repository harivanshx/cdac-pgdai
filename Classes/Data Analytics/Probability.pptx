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embeddedFontLst>
    <p:embeddedFont>
      <p:font typeface="Tahoma" panose="020B0604030504040204" pitchFamily="34" charset="0"/>
      <p:regular r:id="rId35"/>
      <p:bold r:id="rId36"/>
    </p:embeddedFont>
    <p:embeddedFont>
      <p:font typeface="Calibri" panose="020F050202020403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152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Probability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p:nvPr/>
        </p:nvSpPr>
        <p:spPr>
          <a:xfrm>
            <a:off x="0" y="1447800"/>
            <a:ext cx="9144000" cy="4917884"/>
          </a:xfrm>
          <a:prstGeom prst="rect">
            <a:avLst/>
          </a:prstGeom>
          <a:noFill/>
          <a:ln>
            <a:noFill/>
          </a:ln>
        </p:spPr>
        <p:txBody>
          <a:bodyPr spcFirstLastPara="1" wrap="square" lIns="0" tIns="13825" rIns="0" bIns="0" anchor="t" anchorCtr="0">
            <a:spAutoFit/>
          </a:bodyPr>
          <a:lstStyle/>
          <a:p>
            <a:pPr marL="0" marR="0" lvl="0" indent="0" algn="l" rtl="0">
              <a:spcBef>
                <a:spcPts val="0"/>
              </a:spcBef>
              <a:spcAft>
                <a:spcPts val="0"/>
              </a:spcAft>
              <a:buNone/>
            </a:pPr>
            <a:endParaRPr sz="2279" b="0" i="0" u="none" strike="noStrike" cap="none">
              <a:solidFill>
                <a:schemeClr val="dk1"/>
              </a:solidFill>
              <a:latin typeface="Arial"/>
              <a:ea typeface="Arial"/>
              <a:cs typeface="Arial"/>
              <a:sym typeface="Arial"/>
            </a:endParaRPr>
          </a:p>
          <a:p>
            <a:pPr marL="573821" marR="0" lvl="0" indent="0" algn="l" rtl="0">
              <a:spcBef>
                <a:spcPts val="0"/>
              </a:spcBef>
              <a:spcAft>
                <a:spcPts val="0"/>
              </a:spcAft>
              <a:buNone/>
            </a:pPr>
            <a:r>
              <a:rPr lang="en-US" sz="3200" b="0" i="0" u="none" strike="noStrike" cap="none">
                <a:solidFill>
                  <a:schemeClr val="dk1"/>
                </a:solidFill>
                <a:latin typeface="Calibri"/>
                <a:ea typeface="Calibri"/>
                <a:cs typeface="Calibri"/>
                <a:sym typeface="Calibri"/>
              </a:rPr>
              <a:t>Numerical measure of likelihood that an event will occur.</a:t>
            </a:r>
            <a:endParaRPr/>
          </a:p>
          <a:p>
            <a:pPr marL="573821" marR="0" lvl="0" indent="0" algn="l" rtl="0">
              <a:spcBef>
                <a:spcPts val="0"/>
              </a:spcBef>
              <a:spcAft>
                <a:spcPts val="0"/>
              </a:spcAft>
              <a:buNone/>
            </a:pPr>
            <a:endParaRPr sz="3200" b="0" i="0" u="none" strike="noStrike" cap="none">
              <a:solidFill>
                <a:schemeClr val="dk1"/>
              </a:solidFill>
              <a:latin typeface="Calibri"/>
              <a:ea typeface="Calibri"/>
              <a:cs typeface="Calibri"/>
              <a:sym typeface="Calibri"/>
            </a:endParaRPr>
          </a:p>
          <a:p>
            <a:pPr marL="573821" marR="0" lvl="0" indent="0" algn="l" rtl="0">
              <a:spcBef>
                <a:spcPts val="0"/>
              </a:spcBef>
              <a:spcAft>
                <a:spcPts val="0"/>
              </a:spcAft>
              <a:buNone/>
            </a:pPr>
            <a:r>
              <a:rPr lang="en-US" sz="3200" b="0" i="0" u="none" strike="noStrike" cap="none">
                <a:solidFill>
                  <a:schemeClr val="dk1"/>
                </a:solidFill>
                <a:latin typeface="Calibri"/>
                <a:ea typeface="Calibri"/>
                <a:cs typeface="Calibri"/>
                <a:sym typeface="Calibri"/>
              </a:rPr>
              <a:t>The probability of any event must be between 0 and 1, inclusive.</a:t>
            </a:r>
            <a:endParaRPr sz="3200" b="0" i="0" u="none" strike="noStrike" cap="none">
              <a:solidFill>
                <a:schemeClr val="dk1"/>
              </a:solidFill>
              <a:latin typeface="Calibri"/>
              <a:ea typeface="Calibri"/>
              <a:cs typeface="Calibri"/>
              <a:sym typeface="Calibri"/>
            </a:endParaRPr>
          </a:p>
          <a:p>
            <a:pPr marL="573821" marR="0" lvl="0" indent="0" algn="l" rtl="0">
              <a:spcBef>
                <a:spcPts val="0"/>
              </a:spcBef>
              <a:spcAft>
                <a:spcPts val="0"/>
              </a:spcAft>
              <a:buNone/>
            </a:pPr>
            <a:endParaRPr sz="3200" b="0" i="0" u="none" strike="noStrike" cap="none">
              <a:solidFill>
                <a:schemeClr val="dk1"/>
              </a:solidFill>
              <a:latin typeface="Calibri"/>
              <a:ea typeface="Calibri"/>
              <a:cs typeface="Calibri"/>
              <a:sym typeface="Calibri"/>
            </a:endParaRPr>
          </a:p>
          <a:p>
            <a:pPr marL="573821" marR="201341" lvl="0" indent="0" algn="l" rtl="0">
              <a:lnSpc>
                <a:spcPct val="102600"/>
              </a:lnSpc>
              <a:spcBef>
                <a:spcPts val="595"/>
              </a:spcBef>
              <a:spcAft>
                <a:spcPts val="0"/>
              </a:spcAft>
              <a:buNone/>
            </a:pPr>
            <a:r>
              <a:rPr lang="en-US" sz="3200" b="0" i="0" u="none" strike="noStrike" cap="none">
                <a:solidFill>
                  <a:schemeClr val="dk1"/>
                </a:solidFill>
                <a:latin typeface="Calibri"/>
                <a:ea typeface="Calibri"/>
                <a:cs typeface="Calibri"/>
                <a:sym typeface="Calibri"/>
              </a:rPr>
              <a:t>The sum of all probabilities across all events (or integral of the area  under a curve if continuous) must be 1.</a:t>
            </a:r>
            <a:endParaRPr sz="3200" b="0" i="0" u="none" strike="noStrike" cap="none">
              <a:solidFill>
                <a:schemeClr val="dk1"/>
              </a:solidFill>
              <a:latin typeface="Calibri"/>
              <a:ea typeface="Calibri"/>
              <a:cs typeface="Calibri"/>
              <a:sym typeface="Calibri"/>
            </a:endParaRPr>
          </a:p>
        </p:txBody>
      </p:sp>
      <p:sp>
        <p:nvSpPr>
          <p:cNvPr id="90" name="Google Shape;90;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Arial"/>
              <a:buNone/>
            </a:pPr>
            <a:r>
              <a:rPr lang="en-US" sz="3600" b="1">
                <a:latin typeface="Arial"/>
                <a:ea typeface="Arial"/>
                <a:cs typeface="Arial"/>
                <a:sym typeface="Arial"/>
              </a:rPr>
              <a:t>Probability</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228600" y="365126"/>
            <a:ext cx="8915400"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Arial"/>
              <a:buNone/>
            </a:pPr>
            <a:r>
              <a:rPr lang="en-US" sz="3600" b="1">
                <a:latin typeface="Arial"/>
                <a:ea typeface="Arial"/>
                <a:cs typeface="Arial"/>
                <a:sym typeface="Arial"/>
              </a:rPr>
              <a:t>Approaches to Assigning Probabilities</a:t>
            </a:r>
            <a:endParaRPr/>
          </a:p>
        </p:txBody>
      </p:sp>
      <p:sp>
        <p:nvSpPr>
          <p:cNvPr id="96" name="Google Shape;96;p15"/>
          <p:cNvSpPr txBox="1">
            <a:spLocks noGrp="1"/>
          </p:cNvSpPr>
          <p:nvPr>
            <p:ph type="body" idx="1"/>
          </p:nvPr>
        </p:nvSpPr>
        <p:spPr>
          <a:xfrm>
            <a:off x="0" y="1825625"/>
            <a:ext cx="8991600" cy="4351338"/>
          </a:xfrm>
          <a:prstGeom prst="rect">
            <a:avLst/>
          </a:prstGeom>
          <a:noFill/>
          <a:ln>
            <a:noFill/>
          </a:ln>
        </p:spPr>
        <p:txBody>
          <a:bodyPr spcFirstLastPara="1" wrap="square" lIns="91425" tIns="45700" rIns="91425" bIns="45700" anchor="t" anchorCtr="0">
            <a:normAutofit/>
          </a:bodyPr>
          <a:lstStyle/>
          <a:p>
            <a:pPr marL="57150" lvl="0" indent="-57150" algn="l" rtl="0">
              <a:spcBef>
                <a:spcPts val="0"/>
              </a:spcBef>
              <a:spcAft>
                <a:spcPts val="0"/>
              </a:spcAft>
              <a:buClr>
                <a:schemeClr val="dk1"/>
              </a:buClr>
              <a:buSzPts val="3200"/>
              <a:buNone/>
            </a:pPr>
            <a:r>
              <a:rPr lang="en-US"/>
              <a:t>There are three ways to assign a probability, P(O</a:t>
            </a:r>
            <a:r>
              <a:rPr lang="en-US" baseline="-25000"/>
              <a:t>i </a:t>
            </a:r>
            <a:r>
              <a:rPr lang="en-US"/>
              <a:t>), to an outcome, O</a:t>
            </a:r>
            <a:r>
              <a:rPr lang="en-US" baseline="-25000"/>
              <a:t>i</a:t>
            </a:r>
            <a:r>
              <a:rPr lang="en-US"/>
              <a:t> , namely: </a:t>
            </a:r>
            <a:endParaRPr/>
          </a:p>
          <a:p>
            <a:pPr marL="342900" lvl="0" indent="-342900" algn="l" rtl="0">
              <a:spcBef>
                <a:spcPts val="640"/>
              </a:spcBef>
              <a:spcAft>
                <a:spcPts val="0"/>
              </a:spcAft>
              <a:buClr>
                <a:schemeClr val="dk1"/>
              </a:buClr>
              <a:buSzPts val="3200"/>
              <a:buChar char="•"/>
            </a:pPr>
            <a:r>
              <a:rPr lang="en-US"/>
              <a:t>Classical approach: based on equally likely events. </a:t>
            </a:r>
            <a:endParaRPr/>
          </a:p>
          <a:p>
            <a:pPr marL="342900" lvl="0" indent="-342900" algn="l" rtl="0">
              <a:spcBef>
                <a:spcPts val="640"/>
              </a:spcBef>
              <a:spcAft>
                <a:spcPts val="0"/>
              </a:spcAft>
              <a:buClr>
                <a:schemeClr val="dk1"/>
              </a:buClr>
              <a:buSzPts val="3200"/>
              <a:buChar char="•"/>
            </a:pPr>
            <a:r>
              <a:rPr lang="en-US"/>
              <a:t>Relative frequency: assigning probabilities based on experimentation or historical data. </a:t>
            </a:r>
            <a:endParaRPr/>
          </a:p>
          <a:p>
            <a:pPr marL="342900" lvl="0" indent="-342900" algn="l" rtl="0">
              <a:spcBef>
                <a:spcPts val="640"/>
              </a:spcBef>
              <a:spcAft>
                <a:spcPts val="0"/>
              </a:spcAft>
              <a:buClr>
                <a:schemeClr val="dk1"/>
              </a:buClr>
              <a:buSzPts val="3200"/>
              <a:buChar char="•"/>
            </a:pPr>
            <a:r>
              <a:rPr lang="en-US"/>
              <a:t> Subjective approach: Assigning probabilities based on the assignor’s (subjective) judgment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Arial"/>
              <a:buNone/>
            </a:pPr>
            <a:r>
              <a:rPr lang="en-US" sz="3600" b="1">
                <a:latin typeface="Arial"/>
                <a:ea typeface="Arial"/>
                <a:cs typeface="Arial"/>
                <a:sym typeface="Arial"/>
              </a:rPr>
              <a:t>Classical Approach</a:t>
            </a:r>
            <a:br>
              <a:rPr lang="en-US" sz="3600" b="1">
                <a:latin typeface="Arial"/>
                <a:ea typeface="Arial"/>
                <a:cs typeface="Arial"/>
                <a:sym typeface="Arial"/>
              </a:rPr>
            </a:br>
            <a:endParaRPr sz="3600" b="1">
              <a:latin typeface="Arial"/>
              <a:ea typeface="Arial"/>
              <a:cs typeface="Arial"/>
              <a:sym typeface="Arial"/>
            </a:endParaRPr>
          </a:p>
        </p:txBody>
      </p:sp>
      <p:sp>
        <p:nvSpPr>
          <p:cNvPr id="102" name="Google Shape;102;p16"/>
          <p:cNvSpPr txBox="1">
            <a:spLocks noGrp="1"/>
          </p:cNvSpPr>
          <p:nvPr>
            <p:ph type="body" idx="1"/>
          </p:nvPr>
        </p:nvSpPr>
        <p:spPr>
          <a:xfrm>
            <a:off x="152400" y="1600200"/>
            <a:ext cx="8839200" cy="4525963"/>
          </a:xfrm>
          <a:prstGeom prst="rect">
            <a:avLst/>
          </a:prstGeom>
          <a:noFill/>
          <a:ln>
            <a:noFill/>
          </a:ln>
        </p:spPr>
        <p:txBody>
          <a:bodyPr spcFirstLastPara="1" wrap="square" lIns="91425" tIns="45700" rIns="91425" bIns="45700" anchor="t" anchorCtr="0">
            <a:normAutofit/>
          </a:bodyPr>
          <a:lstStyle/>
          <a:p>
            <a:pPr marL="51435" marR="5080" lvl="0" indent="-51435" algn="l" rtl="0">
              <a:lnSpc>
                <a:spcPct val="100000"/>
              </a:lnSpc>
              <a:spcBef>
                <a:spcPts val="0"/>
              </a:spcBef>
              <a:spcAft>
                <a:spcPts val="0"/>
              </a:spcAft>
              <a:buClr>
                <a:schemeClr val="dk1"/>
              </a:buClr>
              <a:buSzPts val="3200"/>
              <a:buChar char="•"/>
            </a:pPr>
            <a:r>
              <a:rPr lang="en-US"/>
              <a:t>If an experiment has n possible outcomes, this method  would assign a probability of 1/n to each outcome. It is  necessary to determine the number of possible outcomes.</a:t>
            </a:r>
            <a:endParaRPr/>
          </a:p>
          <a:p>
            <a:pPr marL="0" marR="5080" lvl="0" indent="203200" algn="l" rtl="0">
              <a:lnSpc>
                <a:spcPct val="120000"/>
              </a:lnSpc>
              <a:spcBef>
                <a:spcPts val="100"/>
              </a:spcBef>
              <a:spcAft>
                <a:spcPts val="0"/>
              </a:spcAft>
              <a:buClr>
                <a:schemeClr val="dk1"/>
              </a:buClr>
              <a:buSzPts val="3200"/>
              <a:buNone/>
            </a:pPr>
            <a:endParaRPr>
              <a:latin typeface="Times New Roman"/>
              <a:ea typeface="Times New Roman"/>
              <a:cs typeface="Times New Roman"/>
              <a:sym typeface="Times New Roman"/>
            </a:endParaRPr>
          </a:p>
        </p:txBody>
      </p:sp>
      <p:sp>
        <p:nvSpPr>
          <p:cNvPr id="103" name="Google Shape;103;p16"/>
          <p:cNvSpPr txBox="1"/>
          <p:nvPr/>
        </p:nvSpPr>
        <p:spPr>
          <a:xfrm>
            <a:off x="762000" y="3810000"/>
            <a:ext cx="2789555" cy="1785617"/>
          </a:xfrm>
          <a:prstGeom prst="rect">
            <a:avLst/>
          </a:prstGeom>
          <a:noFill/>
          <a:ln>
            <a:noFill/>
          </a:ln>
        </p:spPr>
        <p:txBody>
          <a:bodyPr spcFirstLastPara="1" wrap="square" lIns="0" tIns="12700" rIns="0" bIns="0" anchor="t" anchorCtr="0">
            <a:spAutoFit/>
          </a:bodyPr>
          <a:lstStyle/>
          <a:p>
            <a:pPr marL="0" marR="5080" lvl="0" indent="0" algn="l" rtl="0">
              <a:lnSpc>
                <a:spcPct val="120000"/>
              </a:lnSpc>
              <a:spcBef>
                <a:spcPts val="0"/>
              </a:spcBef>
              <a:spcAft>
                <a:spcPts val="0"/>
              </a:spcAft>
              <a:buNone/>
            </a:pPr>
            <a:r>
              <a:rPr lang="en-US" sz="3200" b="0" i="0" u="none" strike="noStrike" cap="none">
                <a:solidFill>
                  <a:schemeClr val="dk1"/>
                </a:solidFill>
                <a:latin typeface="Calibri"/>
                <a:ea typeface="Calibri"/>
                <a:cs typeface="Calibri"/>
                <a:sym typeface="Calibri"/>
              </a:rPr>
              <a:t>Experiment:  Outcomes  Probabilities:</a:t>
            </a:r>
            <a:endParaRPr/>
          </a:p>
        </p:txBody>
      </p:sp>
      <p:sp>
        <p:nvSpPr>
          <p:cNvPr id="104" name="Google Shape;104;p16"/>
          <p:cNvSpPr txBox="1"/>
          <p:nvPr/>
        </p:nvSpPr>
        <p:spPr>
          <a:xfrm>
            <a:off x="3962400" y="3581400"/>
            <a:ext cx="5181600" cy="2445156"/>
          </a:xfrm>
          <a:prstGeom prst="rect">
            <a:avLst/>
          </a:prstGeom>
          <a:noFill/>
          <a:ln>
            <a:noFill/>
          </a:ln>
        </p:spPr>
        <p:txBody>
          <a:bodyPr spcFirstLastPara="1" wrap="square" lIns="0" tIns="55225" rIns="0" bIns="0" anchor="t" anchorCtr="0">
            <a:spAutoFit/>
          </a:bodyPr>
          <a:lstStyle/>
          <a:p>
            <a:pPr marL="0" marR="5080" lvl="0" indent="0" algn="l" rtl="0">
              <a:lnSpc>
                <a:spcPct val="120000"/>
              </a:lnSpc>
              <a:spcBef>
                <a:spcPts val="0"/>
              </a:spcBef>
              <a:spcAft>
                <a:spcPts val="0"/>
              </a:spcAft>
              <a:buNone/>
            </a:pPr>
            <a:r>
              <a:rPr lang="en-US" sz="3200" b="0" i="0" u="none" strike="noStrike" cap="none">
                <a:solidFill>
                  <a:schemeClr val="dk1"/>
                </a:solidFill>
                <a:latin typeface="Calibri"/>
                <a:ea typeface="Calibri"/>
                <a:cs typeface="Calibri"/>
                <a:sym typeface="Calibri"/>
              </a:rPr>
              <a:t>Rolling a die</a:t>
            </a:r>
            <a:endParaRPr/>
          </a:p>
          <a:p>
            <a:pPr marL="0" marR="5080" lvl="0" indent="0" algn="l" rtl="0">
              <a:lnSpc>
                <a:spcPct val="120000"/>
              </a:lnSpc>
              <a:spcBef>
                <a:spcPts val="100"/>
              </a:spcBef>
              <a:spcAft>
                <a:spcPts val="0"/>
              </a:spcAft>
              <a:buNone/>
            </a:pPr>
            <a:r>
              <a:rPr lang="en-US" sz="3200" b="0" i="0" u="none" strike="noStrike" cap="none">
                <a:solidFill>
                  <a:schemeClr val="dk1"/>
                </a:solidFill>
                <a:latin typeface="Calibri"/>
                <a:ea typeface="Calibri"/>
                <a:cs typeface="Calibri"/>
                <a:sym typeface="Calibri"/>
              </a:rPr>
              <a:t>{1, 2, 3, 4, 5, 6}</a:t>
            </a:r>
            <a:endParaRPr/>
          </a:p>
          <a:p>
            <a:pPr marL="0" marR="5080" lvl="0" indent="0" algn="l" rtl="0">
              <a:lnSpc>
                <a:spcPct val="120000"/>
              </a:lnSpc>
              <a:spcBef>
                <a:spcPts val="100"/>
              </a:spcBef>
              <a:spcAft>
                <a:spcPts val="0"/>
              </a:spcAft>
              <a:buNone/>
            </a:pPr>
            <a:r>
              <a:rPr lang="en-US" sz="3200" b="0" i="0" u="none" strike="noStrike" cap="none">
                <a:solidFill>
                  <a:schemeClr val="dk1"/>
                </a:solidFill>
                <a:latin typeface="Calibri"/>
                <a:ea typeface="Calibri"/>
                <a:cs typeface="Calibri"/>
                <a:sym typeface="Calibri"/>
              </a:rPr>
              <a:t>Each sample point has a 1/6 chance of  occurring.</a:t>
            </a: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7"/>
          <p:cNvPicPr preferRelativeResize="0"/>
          <p:nvPr/>
        </p:nvPicPr>
        <p:blipFill rotWithShape="1">
          <a:blip r:embed="rId3">
            <a:alphaModFix/>
          </a:blip>
          <a:srcRect/>
          <a:stretch/>
        </p:blipFill>
        <p:spPr>
          <a:xfrm>
            <a:off x="1066800" y="1752600"/>
            <a:ext cx="2676525" cy="3200400"/>
          </a:xfrm>
          <a:prstGeom prst="rect">
            <a:avLst/>
          </a:prstGeom>
          <a:noFill/>
          <a:ln>
            <a:noFill/>
          </a:ln>
        </p:spPr>
      </p:pic>
      <p:pic>
        <p:nvPicPr>
          <p:cNvPr id="110" name="Google Shape;110;p17"/>
          <p:cNvPicPr preferRelativeResize="0"/>
          <p:nvPr/>
        </p:nvPicPr>
        <p:blipFill rotWithShape="1">
          <a:blip r:embed="rId4">
            <a:alphaModFix/>
          </a:blip>
          <a:srcRect/>
          <a:stretch/>
        </p:blipFill>
        <p:spPr>
          <a:xfrm>
            <a:off x="4953000" y="1676400"/>
            <a:ext cx="3705225" cy="3228975"/>
          </a:xfrm>
          <a:prstGeom prst="rect">
            <a:avLst/>
          </a:prstGeom>
          <a:noFill/>
          <a:ln>
            <a:noFill/>
          </a:ln>
        </p:spPr>
      </p:pic>
      <p:sp>
        <p:nvSpPr>
          <p:cNvPr id="111" name="Google Shape;111;p17"/>
          <p:cNvSpPr/>
          <p:nvPr/>
        </p:nvSpPr>
        <p:spPr>
          <a:xfrm>
            <a:off x="1219200" y="457200"/>
            <a:ext cx="7162800" cy="6463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3600" b="1" i="0" u="none" strike="noStrike" cap="none">
                <a:solidFill>
                  <a:schemeClr val="dk1"/>
                </a:solidFill>
                <a:latin typeface="Arial"/>
                <a:ea typeface="Arial"/>
                <a:cs typeface="Arial"/>
                <a:sym typeface="Arial"/>
              </a:rPr>
              <a:t>Relative Frequency Approach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p:nvPr/>
        </p:nvSpPr>
        <p:spPr>
          <a:xfrm>
            <a:off x="0" y="0"/>
            <a:ext cx="9144000" cy="51937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3600" b="1" i="0" u="none" strike="noStrike" cap="none">
                <a:solidFill>
                  <a:schemeClr val="dk1"/>
                </a:solidFill>
                <a:latin typeface="Arial"/>
                <a:ea typeface="Arial"/>
                <a:cs typeface="Arial"/>
                <a:sym typeface="Arial"/>
              </a:rPr>
              <a:t>Subjective Approach</a:t>
            </a:r>
            <a:endParaRPr sz="3600" b="1" i="0" u="none" strike="noStrike" cap="none">
              <a:solidFill>
                <a:schemeClr val="dk1"/>
              </a:solidFill>
              <a:latin typeface="Arial"/>
              <a:ea typeface="Arial"/>
              <a:cs typeface="Arial"/>
              <a:sym typeface="Arial"/>
            </a:endParaRPr>
          </a:p>
          <a:p>
            <a:pPr marL="51435" marR="19050" lvl="0" indent="0" algn="l" rtl="0">
              <a:lnSpc>
                <a:spcPct val="150000"/>
              </a:lnSpc>
              <a:spcBef>
                <a:spcPts val="875"/>
              </a:spcBef>
              <a:spcAft>
                <a:spcPts val="0"/>
              </a:spcAft>
              <a:buNone/>
            </a:pPr>
            <a:r>
              <a:rPr lang="en-US" sz="1800" b="0" i="0" u="none" strike="noStrike" cap="none">
                <a:solidFill>
                  <a:schemeClr val="dk1"/>
                </a:solidFill>
                <a:latin typeface="Times New Roman"/>
                <a:ea typeface="Times New Roman"/>
                <a:cs typeface="Times New Roman"/>
                <a:sym typeface="Times New Roman"/>
              </a:rPr>
              <a:t>“</a:t>
            </a:r>
            <a:r>
              <a:rPr lang="en-US" sz="3200" b="0" i="0" u="none" strike="noStrike" cap="none">
                <a:solidFill>
                  <a:schemeClr val="dk1"/>
                </a:solidFill>
                <a:latin typeface="Calibri"/>
                <a:ea typeface="Calibri"/>
                <a:cs typeface="Calibri"/>
                <a:sym typeface="Calibri"/>
              </a:rPr>
              <a:t>In the subjective approach we define probability as the  degree of belief that we hold in the occurrence of an event”</a:t>
            </a:r>
            <a:endParaRPr/>
          </a:p>
          <a:p>
            <a:pPr marL="51435" marR="0" lvl="0" indent="0" algn="l" rtl="0">
              <a:lnSpc>
                <a:spcPct val="150000"/>
              </a:lnSpc>
              <a:spcBef>
                <a:spcPts val="0"/>
              </a:spcBef>
              <a:spcAft>
                <a:spcPts val="0"/>
              </a:spcAft>
              <a:buNone/>
            </a:pPr>
            <a:r>
              <a:rPr lang="en-US" sz="3200" b="0" i="0" u="none" strike="noStrike" cap="none">
                <a:solidFill>
                  <a:schemeClr val="dk1"/>
                </a:solidFill>
                <a:latin typeface="Calibri"/>
                <a:ea typeface="Calibri"/>
                <a:cs typeface="Calibri"/>
                <a:sym typeface="Calibri"/>
              </a:rPr>
              <a:t>E.g. weather forecasting’s “P.O.P.”</a:t>
            </a:r>
            <a:endParaRPr sz="3200" b="0" i="0" u="none" strike="noStrike" cap="none">
              <a:solidFill>
                <a:schemeClr val="dk1"/>
              </a:solidFill>
              <a:latin typeface="Calibri"/>
              <a:ea typeface="Calibri"/>
              <a:cs typeface="Calibri"/>
              <a:sym typeface="Calibri"/>
            </a:endParaRPr>
          </a:p>
          <a:p>
            <a:pPr marL="51435" marR="300990" lvl="0" indent="0" algn="l" rtl="0">
              <a:lnSpc>
                <a:spcPct val="150000"/>
              </a:lnSpc>
              <a:spcBef>
                <a:spcPts val="0"/>
              </a:spcBef>
              <a:spcAft>
                <a:spcPts val="0"/>
              </a:spcAft>
              <a:buNone/>
            </a:pPr>
            <a:r>
              <a:rPr lang="en-US" sz="3200" b="0" i="0" u="none" strike="noStrike" cap="none">
                <a:solidFill>
                  <a:schemeClr val="dk1"/>
                </a:solidFill>
                <a:latin typeface="Calibri"/>
                <a:ea typeface="Calibri"/>
                <a:cs typeface="Calibri"/>
                <a:sym typeface="Calibri"/>
              </a:rPr>
              <a:t>POP 60% – based on current conditions, there is a 60%  chance of rain (say).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Terminology</a:t>
            </a:r>
            <a:endParaRPr/>
          </a:p>
        </p:txBody>
      </p:sp>
      <p:sp>
        <p:nvSpPr>
          <p:cNvPr id="122" name="Google Shape;122;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Experiment</a:t>
            </a:r>
            <a:endParaRPr/>
          </a:p>
          <a:p>
            <a:pPr marL="342900" lvl="0" indent="-342900" algn="l" rtl="0">
              <a:spcBef>
                <a:spcPts val="640"/>
              </a:spcBef>
              <a:spcAft>
                <a:spcPts val="0"/>
              </a:spcAft>
              <a:buClr>
                <a:schemeClr val="dk1"/>
              </a:buClr>
              <a:buSzPts val="3200"/>
              <a:buChar char="•"/>
            </a:pPr>
            <a:r>
              <a:rPr lang="en-US"/>
              <a:t>Trial</a:t>
            </a:r>
            <a:endParaRPr/>
          </a:p>
          <a:p>
            <a:pPr marL="342900" lvl="0" indent="-342900" algn="l" rtl="0">
              <a:spcBef>
                <a:spcPts val="640"/>
              </a:spcBef>
              <a:spcAft>
                <a:spcPts val="0"/>
              </a:spcAft>
              <a:buClr>
                <a:schemeClr val="dk1"/>
              </a:buClr>
              <a:buSzPts val="3200"/>
              <a:buChar char="•"/>
            </a:pPr>
            <a:r>
              <a:rPr lang="en-US"/>
              <a:t>Event</a:t>
            </a:r>
            <a:endParaRPr/>
          </a:p>
          <a:p>
            <a:pPr marL="342900" lvl="0" indent="-342900" algn="l" rtl="0">
              <a:spcBef>
                <a:spcPts val="640"/>
              </a:spcBef>
              <a:spcAft>
                <a:spcPts val="0"/>
              </a:spcAft>
              <a:buClr>
                <a:schemeClr val="dk1"/>
              </a:buClr>
              <a:buSzPts val="3200"/>
              <a:buChar char="•"/>
            </a:pPr>
            <a:r>
              <a:rPr lang="en-US"/>
              <a:t>Elementary Event</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Sample space </a:t>
            </a:r>
            <a:endParaRPr/>
          </a:p>
        </p:txBody>
      </p:sp>
      <p:sp>
        <p:nvSpPr>
          <p:cNvPr id="128" name="Google Shape;128;p20"/>
          <p:cNvSpPr txBox="1">
            <a:spLocks noGrp="1"/>
          </p:cNvSpPr>
          <p:nvPr>
            <p:ph type="body" idx="1"/>
          </p:nvPr>
        </p:nvSpPr>
        <p:spPr>
          <a:xfrm>
            <a:off x="0" y="1600200"/>
            <a:ext cx="91440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The set of all elementary events for an experiment is called a sample space.</a:t>
            </a:r>
            <a:endParaRPr/>
          </a:p>
          <a:p>
            <a:pPr marL="342900" lvl="0" indent="-342900" algn="l" rtl="0">
              <a:spcBef>
                <a:spcPts val="640"/>
              </a:spcBef>
              <a:spcAft>
                <a:spcPts val="0"/>
              </a:spcAft>
              <a:buClr>
                <a:schemeClr val="dk1"/>
              </a:buClr>
              <a:buSzPts val="3200"/>
              <a:buChar char="•"/>
            </a:pPr>
            <a:r>
              <a:rPr lang="en-US"/>
              <a:t> Suppose if you roll a die, there are you can get 1 2 3 4 5 6 these are the sample space there are different methods for describing the sample space one is listing tree diagram, set builder notation and Venn diagram, you will see what is that. </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
            </a:r>
            <a:br>
              <a:rPr lang="en-US"/>
            </a:br>
            <a:r>
              <a:rPr lang="en-US"/>
              <a:t> Probabilities of events </a:t>
            </a:r>
            <a:endParaRPr/>
          </a:p>
        </p:txBody>
      </p:sp>
      <p:sp>
        <p:nvSpPr>
          <p:cNvPr id="134" name="Google Shape;134;p21"/>
          <p:cNvSpPr txBox="1">
            <a:spLocks noGrp="1"/>
          </p:cNvSpPr>
          <p:nvPr>
            <p:ph type="body" idx="1"/>
          </p:nvPr>
        </p:nvSpPr>
        <p:spPr>
          <a:xfrm>
            <a:off x="228600" y="1600200"/>
            <a:ext cx="8915400" cy="4525963"/>
          </a:xfrm>
          <a:prstGeom prst="rect">
            <a:avLst/>
          </a:prstGeom>
          <a:noFill/>
          <a:ln>
            <a:noFill/>
          </a:ln>
        </p:spPr>
        <p:txBody>
          <a:bodyPr spcFirstLastPara="1" wrap="square" lIns="91425" tIns="45700" rIns="91425" bIns="45700" anchor="t" anchorCtr="0">
            <a:normAutofit fontScale="77500" lnSpcReduction="20000"/>
          </a:bodyPr>
          <a:lstStyle/>
          <a:p>
            <a:pPr marL="51435" marR="5080" lvl="0" indent="-51435" algn="l" rtl="0">
              <a:lnSpc>
                <a:spcPct val="100000"/>
              </a:lnSpc>
              <a:spcBef>
                <a:spcPts val="0"/>
              </a:spcBef>
              <a:spcAft>
                <a:spcPts val="0"/>
              </a:spcAft>
              <a:buClr>
                <a:schemeClr val="dk1"/>
              </a:buClr>
              <a:buSzPct val="100000"/>
              <a:buChar char="•"/>
            </a:pPr>
            <a:r>
              <a:rPr lang="en-US" sz="3800"/>
              <a:t>We study methods to determine probabilities of events that  result from combining other events in various ways.</a:t>
            </a:r>
            <a:endParaRPr/>
          </a:p>
          <a:p>
            <a:pPr marL="342900" lvl="0" indent="-155892" algn="l" rtl="0">
              <a:lnSpc>
                <a:spcPct val="100000"/>
              </a:lnSpc>
              <a:spcBef>
                <a:spcPts val="50"/>
              </a:spcBef>
              <a:spcAft>
                <a:spcPts val="0"/>
              </a:spcAft>
              <a:buClr>
                <a:schemeClr val="dk1"/>
              </a:buClr>
              <a:buSzPct val="100000"/>
              <a:buNone/>
            </a:pPr>
            <a:endParaRPr sz="3800"/>
          </a:p>
          <a:p>
            <a:pPr marL="51435" marR="106045" lvl="0" indent="-51435" algn="l" rtl="0">
              <a:lnSpc>
                <a:spcPct val="100000"/>
              </a:lnSpc>
              <a:spcBef>
                <a:spcPts val="589"/>
              </a:spcBef>
              <a:spcAft>
                <a:spcPts val="0"/>
              </a:spcAft>
              <a:buClr>
                <a:schemeClr val="dk1"/>
              </a:buClr>
              <a:buSzPct val="100000"/>
              <a:buChar char="•"/>
            </a:pPr>
            <a:r>
              <a:rPr lang="en-US" sz="3800"/>
              <a:t>There are several types of combinations and relationships  between events:</a:t>
            </a:r>
            <a:endParaRPr/>
          </a:p>
          <a:p>
            <a:pPr marL="51435" lvl="0" indent="-51435" algn="l" rtl="0">
              <a:lnSpc>
                <a:spcPct val="100000"/>
              </a:lnSpc>
              <a:spcBef>
                <a:spcPts val="335"/>
              </a:spcBef>
              <a:spcAft>
                <a:spcPts val="0"/>
              </a:spcAft>
              <a:buClr>
                <a:schemeClr val="dk1"/>
              </a:buClr>
              <a:buSzPct val="100000"/>
              <a:buChar char="•"/>
            </a:pPr>
            <a:r>
              <a:rPr lang="en-US" sz="3800"/>
              <a:t>Complement event</a:t>
            </a:r>
            <a:endParaRPr/>
          </a:p>
          <a:p>
            <a:pPr marL="51435" lvl="0" indent="-51435" algn="l" rtl="0">
              <a:lnSpc>
                <a:spcPct val="100000"/>
              </a:lnSpc>
              <a:spcBef>
                <a:spcPts val="335"/>
              </a:spcBef>
              <a:spcAft>
                <a:spcPts val="0"/>
              </a:spcAft>
              <a:buClr>
                <a:schemeClr val="dk1"/>
              </a:buClr>
              <a:buSzPct val="100000"/>
              <a:buChar char="•"/>
            </a:pPr>
            <a:r>
              <a:rPr lang="en-US" sz="3800"/>
              <a:t>Intersection of events</a:t>
            </a:r>
            <a:endParaRPr/>
          </a:p>
          <a:p>
            <a:pPr marL="114300" lvl="0" indent="-173649" algn="l" rtl="0">
              <a:spcBef>
                <a:spcPts val="340"/>
              </a:spcBef>
              <a:spcAft>
                <a:spcPts val="0"/>
              </a:spcAft>
              <a:buClr>
                <a:schemeClr val="dk1"/>
              </a:buClr>
              <a:buSzPct val="92857"/>
              <a:buChar char="•"/>
            </a:pPr>
            <a:r>
              <a:rPr lang="en-US" sz="3800"/>
              <a:t>   Union of events</a:t>
            </a:r>
            <a:endParaRPr/>
          </a:p>
          <a:p>
            <a:pPr marL="51435" lvl="0" indent="-51435" algn="l" rtl="0">
              <a:lnSpc>
                <a:spcPct val="100000"/>
              </a:lnSpc>
              <a:spcBef>
                <a:spcPts val="335"/>
              </a:spcBef>
              <a:spcAft>
                <a:spcPts val="0"/>
              </a:spcAft>
              <a:buClr>
                <a:schemeClr val="dk1"/>
              </a:buClr>
              <a:buSzPct val="100000"/>
              <a:buChar char="•"/>
            </a:pPr>
            <a:r>
              <a:rPr lang="en-US" sz="3800"/>
              <a:t>Mutually exclusive events</a:t>
            </a:r>
            <a:endParaRPr/>
          </a:p>
          <a:p>
            <a:pPr marL="51435" lvl="0" indent="-51435" algn="l" rtl="0">
              <a:lnSpc>
                <a:spcPct val="100000"/>
              </a:lnSpc>
              <a:spcBef>
                <a:spcPts val="335"/>
              </a:spcBef>
              <a:spcAft>
                <a:spcPts val="0"/>
              </a:spcAft>
              <a:buClr>
                <a:schemeClr val="dk1"/>
              </a:buClr>
              <a:buSzPct val="100000"/>
              <a:buChar char="•"/>
            </a:pPr>
            <a:r>
              <a:rPr lang="en-US" sz="3800"/>
              <a:t>Dependent and independent events</a:t>
            </a:r>
            <a:endParaRPr/>
          </a:p>
          <a:p>
            <a:pPr marL="342900" lvl="0" indent="-185420" algn="l" rtl="0">
              <a:spcBef>
                <a:spcPts val="496"/>
              </a:spcBef>
              <a:spcAft>
                <a:spcPts val="0"/>
              </a:spcAft>
              <a:buClr>
                <a:schemeClr val="dk1"/>
              </a:buClr>
              <a:buSzPct val="1000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p:nvPr/>
        </p:nvSpPr>
        <p:spPr>
          <a:xfrm>
            <a:off x="0" y="228600"/>
            <a:ext cx="8534400" cy="3341941"/>
          </a:xfrm>
          <a:prstGeom prst="rect">
            <a:avLst/>
          </a:prstGeom>
          <a:noFill/>
          <a:ln>
            <a:noFill/>
          </a:ln>
        </p:spPr>
        <p:txBody>
          <a:bodyPr spcFirstLastPara="1" wrap="square" lIns="91425" tIns="45700" rIns="91425" bIns="45700" anchor="t" anchorCtr="0">
            <a:noAutofit/>
          </a:bodyPr>
          <a:lstStyle/>
          <a:p>
            <a:pPr marL="25400" marR="0" lvl="0" indent="0" algn="l" rtl="0">
              <a:lnSpc>
                <a:spcPct val="100000"/>
              </a:lnSpc>
              <a:spcBef>
                <a:spcPts val="0"/>
              </a:spcBef>
              <a:spcAft>
                <a:spcPts val="0"/>
              </a:spcAft>
              <a:buNone/>
            </a:pPr>
            <a:r>
              <a:rPr lang="en-US" sz="3200" b="0" i="0" u="none" strike="noStrike" cap="none">
                <a:solidFill>
                  <a:schemeClr val="dk1"/>
                </a:solidFill>
                <a:latin typeface="Arial"/>
                <a:ea typeface="Arial"/>
                <a:cs typeface="Arial"/>
                <a:sym typeface="Arial"/>
              </a:rPr>
              <a:t>Complement of an Event	</a:t>
            </a:r>
            <a:endParaRPr sz="3200" b="0" i="0" u="none" strike="noStrike" cap="none">
              <a:solidFill>
                <a:schemeClr val="dk1"/>
              </a:solidFill>
              <a:latin typeface="Arial"/>
              <a:ea typeface="Arial"/>
              <a:cs typeface="Arial"/>
              <a:sym typeface="Arial"/>
            </a:endParaRPr>
          </a:p>
          <a:p>
            <a:pPr marL="25400" marR="0" lvl="0" indent="0" algn="l" rtl="0">
              <a:lnSpc>
                <a:spcPct val="100000"/>
              </a:lnSpc>
              <a:spcBef>
                <a:spcPts val="1210"/>
              </a:spcBef>
              <a:spcAft>
                <a:spcPts val="0"/>
              </a:spcAft>
              <a:buNone/>
            </a:pPr>
            <a:endParaRPr sz="3200" b="0" i="0" u="none" strike="noStrike" cap="none">
              <a:solidFill>
                <a:schemeClr val="dk1"/>
              </a:solidFill>
              <a:latin typeface="Arial"/>
              <a:ea typeface="Arial"/>
              <a:cs typeface="Arial"/>
              <a:sym typeface="Arial"/>
            </a:endParaRPr>
          </a:p>
          <a:p>
            <a:pPr marL="76835" marR="30480" lvl="0" indent="0" algn="l" rtl="0">
              <a:lnSpc>
                <a:spcPct val="100000"/>
              </a:lnSpc>
              <a:spcBef>
                <a:spcPts val="865"/>
              </a:spcBef>
              <a:spcAft>
                <a:spcPts val="0"/>
              </a:spcAft>
              <a:buNone/>
            </a:pPr>
            <a:r>
              <a:rPr lang="en-US" sz="2000" b="0" i="0" u="none" strike="noStrike" cap="none">
                <a:solidFill>
                  <a:schemeClr val="dk1"/>
                </a:solidFill>
                <a:latin typeface="Times New Roman"/>
                <a:ea typeface="Times New Roman"/>
                <a:cs typeface="Times New Roman"/>
                <a:sym typeface="Times New Roman"/>
              </a:rPr>
              <a:t>The </a:t>
            </a:r>
            <a:r>
              <a:rPr lang="en-US" sz="2000" b="1" i="1" u="none" strike="noStrike" cap="none">
                <a:solidFill>
                  <a:schemeClr val="dk1"/>
                </a:solidFill>
                <a:latin typeface="Times New Roman"/>
                <a:ea typeface="Times New Roman"/>
                <a:cs typeface="Times New Roman"/>
                <a:sym typeface="Times New Roman"/>
              </a:rPr>
              <a:t>complement of event </a:t>
            </a:r>
            <a:r>
              <a:rPr lang="en-US" sz="2000" b="0" i="0" u="none" strike="noStrike" cap="none">
                <a:solidFill>
                  <a:schemeClr val="dk1"/>
                </a:solidFill>
                <a:latin typeface="Times New Roman"/>
                <a:ea typeface="Times New Roman"/>
                <a:cs typeface="Times New Roman"/>
                <a:sym typeface="Times New Roman"/>
              </a:rPr>
              <a:t>A is defined to be the event  consisting of all sample points that are “not in A”.</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5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76835" marR="0" lvl="0" indent="0" algn="l" rtl="0">
              <a:lnSpc>
                <a:spcPct val="100000"/>
              </a:lnSpc>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Complement of A is denoted by A</a:t>
            </a:r>
            <a:r>
              <a:rPr lang="en-US" sz="2000" b="0" i="0" u="none" strike="noStrike" cap="none" baseline="30000">
                <a:solidFill>
                  <a:schemeClr val="dk1"/>
                </a:solidFill>
                <a:latin typeface="Times New Roman"/>
                <a:ea typeface="Times New Roman"/>
                <a:cs typeface="Times New Roman"/>
                <a:sym typeface="Times New Roman"/>
              </a:rPr>
              <a:t>c</a:t>
            </a:r>
            <a:endParaRPr/>
          </a:p>
          <a:p>
            <a:pPr marL="0" marR="0" lvl="0" indent="0" algn="l" rtl="0">
              <a:lnSpc>
                <a:spcPct val="100000"/>
              </a:lnSpc>
              <a:spcBef>
                <a:spcPts val="5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76835" marR="139700" lvl="0" indent="0" algn="l" rtl="0">
              <a:lnSpc>
                <a:spcPct val="100000"/>
              </a:lnSpc>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The Venn diagram below illustrates the concept of a  complement.</a:t>
            </a:r>
            <a:endParaRPr sz="2000" b="0" i="0" u="none" strike="noStrike" cap="none">
              <a:solidFill>
                <a:schemeClr val="dk1"/>
              </a:solidFill>
              <a:latin typeface="Times New Roman"/>
              <a:ea typeface="Times New Roman"/>
              <a:cs typeface="Times New Roman"/>
              <a:sym typeface="Times New Roman"/>
            </a:endParaRPr>
          </a:p>
        </p:txBody>
      </p:sp>
      <p:pic>
        <p:nvPicPr>
          <p:cNvPr id="140" name="Google Shape;140;p22"/>
          <p:cNvPicPr preferRelativeResize="0"/>
          <p:nvPr/>
        </p:nvPicPr>
        <p:blipFill rotWithShape="1">
          <a:blip r:embed="rId3">
            <a:alphaModFix/>
          </a:blip>
          <a:srcRect/>
          <a:stretch/>
        </p:blipFill>
        <p:spPr>
          <a:xfrm>
            <a:off x="1828800" y="3962400"/>
            <a:ext cx="1333500" cy="304800"/>
          </a:xfrm>
          <a:prstGeom prst="rect">
            <a:avLst/>
          </a:prstGeom>
          <a:noFill/>
          <a:ln>
            <a:noFill/>
          </a:ln>
        </p:spPr>
      </p:pic>
      <p:pic>
        <p:nvPicPr>
          <p:cNvPr id="141" name="Google Shape;141;p22"/>
          <p:cNvPicPr preferRelativeResize="0"/>
          <p:nvPr/>
        </p:nvPicPr>
        <p:blipFill rotWithShape="1">
          <a:blip r:embed="rId4">
            <a:alphaModFix/>
          </a:blip>
          <a:srcRect/>
          <a:stretch/>
        </p:blipFill>
        <p:spPr>
          <a:xfrm>
            <a:off x="5943600" y="3505200"/>
            <a:ext cx="1952625" cy="1171575"/>
          </a:xfrm>
          <a:prstGeom prst="rect">
            <a:avLst/>
          </a:prstGeom>
          <a:noFill/>
          <a:ln>
            <a:noFill/>
          </a:ln>
        </p:spPr>
      </p:pic>
      <p:sp>
        <p:nvSpPr>
          <p:cNvPr id="142" name="Google Shape;142;p22"/>
          <p:cNvSpPr/>
          <p:nvPr/>
        </p:nvSpPr>
        <p:spPr>
          <a:xfrm>
            <a:off x="152400" y="4953000"/>
            <a:ext cx="8763000" cy="1746632"/>
          </a:xfrm>
          <a:prstGeom prst="rect">
            <a:avLst/>
          </a:prstGeom>
          <a:noFill/>
          <a:ln>
            <a:noFill/>
          </a:ln>
        </p:spPr>
        <p:txBody>
          <a:bodyPr spcFirstLastPara="1" wrap="square" lIns="91425" tIns="45700" rIns="91425" bIns="45700" anchor="t" anchorCtr="0">
            <a:noAutofit/>
          </a:bodyPr>
          <a:lstStyle/>
          <a:p>
            <a:pPr marL="51435" marR="5080" lvl="0" indent="0" algn="l" rtl="0">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For example, the rectangle stores all the possible tosses of 2  dice {(1,1), 1,2),… (6,6)}</a:t>
            </a:r>
            <a:endParaRPr/>
          </a:p>
          <a:p>
            <a:pPr marL="51435" marR="5080" lvl="0" indent="0" algn="l" rtl="0">
              <a:spcBef>
                <a:spcPts val="865"/>
              </a:spcBef>
              <a:spcAft>
                <a:spcPts val="0"/>
              </a:spcAft>
              <a:buNone/>
            </a:pPr>
            <a:r>
              <a:rPr lang="en-US" sz="2000" b="0" i="0" u="none" strike="noStrike" cap="none">
                <a:solidFill>
                  <a:schemeClr val="dk1"/>
                </a:solidFill>
                <a:latin typeface="Times New Roman"/>
                <a:ea typeface="Times New Roman"/>
                <a:cs typeface="Times New Roman"/>
                <a:sym typeface="Times New Roman"/>
              </a:rPr>
              <a:t> Let A = tosses totaling 7 {(1,6),(2, 5), (3,4), (4,3), (5,2), (6,1)}</a:t>
            </a:r>
            <a:endParaRPr/>
          </a:p>
          <a:p>
            <a:pPr marL="0" marR="0" lvl="0" indent="0" algn="l" rtl="0">
              <a:spcBef>
                <a:spcPts val="1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51435" marR="0" lvl="0" indent="0" algn="l" rtl="0">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P(Total = 7) + P(Total not equal to 7) = 1</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23"/>
          <p:cNvPicPr preferRelativeResize="0"/>
          <p:nvPr/>
        </p:nvPicPr>
        <p:blipFill rotWithShape="1">
          <a:blip r:embed="rId3">
            <a:alphaModFix/>
          </a:blip>
          <a:srcRect/>
          <a:stretch/>
        </p:blipFill>
        <p:spPr>
          <a:xfrm>
            <a:off x="3429000" y="2438400"/>
            <a:ext cx="1714500" cy="1076325"/>
          </a:xfrm>
          <a:prstGeom prst="rect">
            <a:avLst/>
          </a:prstGeom>
          <a:noFill/>
          <a:ln>
            <a:noFill/>
          </a:ln>
        </p:spPr>
      </p:pic>
      <p:sp>
        <p:nvSpPr>
          <p:cNvPr id="148" name="Google Shape;148;p23"/>
          <p:cNvSpPr/>
          <p:nvPr/>
        </p:nvSpPr>
        <p:spPr>
          <a:xfrm>
            <a:off x="152400" y="381000"/>
            <a:ext cx="8991600" cy="19441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3200" b="0" i="0" u="none" strike="noStrike" cap="none">
                <a:solidFill>
                  <a:schemeClr val="dk1"/>
                </a:solidFill>
                <a:latin typeface="Arial"/>
                <a:ea typeface="Arial"/>
                <a:cs typeface="Arial"/>
                <a:sym typeface="Arial"/>
              </a:rPr>
              <a:t>intersection of Two Events</a:t>
            </a:r>
            <a:endParaRPr sz="2400" b="0" i="0" u="none" strike="noStrike" cap="none">
              <a:solidFill>
                <a:schemeClr val="dk1"/>
              </a:solidFill>
              <a:latin typeface="Tahoma"/>
              <a:ea typeface="Tahoma"/>
              <a:cs typeface="Tahoma"/>
              <a:sym typeface="Tahoma"/>
            </a:endParaRPr>
          </a:p>
          <a:p>
            <a:pPr marL="51435" marR="5080" lvl="0" indent="-635" algn="l" rtl="0">
              <a:lnSpc>
                <a:spcPct val="100000"/>
              </a:lnSpc>
              <a:spcBef>
                <a:spcPts val="865"/>
              </a:spcBef>
              <a:spcAft>
                <a:spcPts val="0"/>
              </a:spcAft>
              <a:buNone/>
            </a:pPr>
            <a:r>
              <a:rPr lang="en-US" sz="2000" b="0" i="0" u="none" strike="noStrike" cap="none">
                <a:solidFill>
                  <a:schemeClr val="dk1"/>
                </a:solidFill>
                <a:latin typeface="Times New Roman"/>
                <a:ea typeface="Times New Roman"/>
                <a:cs typeface="Times New Roman"/>
                <a:sym typeface="Times New Roman"/>
              </a:rPr>
              <a:t>The </a:t>
            </a:r>
            <a:r>
              <a:rPr lang="en-US" sz="2000" b="1" i="1" u="none" strike="noStrike" cap="none">
                <a:solidFill>
                  <a:schemeClr val="dk1"/>
                </a:solidFill>
                <a:latin typeface="Times New Roman"/>
                <a:ea typeface="Times New Roman"/>
                <a:cs typeface="Times New Roman"/>
                <a:sym typeface="Times New Roman"/>
              </a:rPr>
              <a:t>intersection of events </a:t>
            </a:r>
            <a:r>
              <a:rPr lang="en-US" sz="2000" b="0" i="0" u="none" strike="noStrike" cap="none">
                <a:solidFill>
                  <a:schemeClr val="dk1"/>
                </a:solidFill>
                <a:latin typeface="Times New Roman"/>
                <a:ea typeface="Times New Roman"/>
                <a:cs typeface="Times New Roman"/>
                <a:sym typeface="Times New Roman"/>
              </a:rPr>
              <a:t>A and B is the set of all sample  points that are in both A </a:t>
            </a:r>
            <a:r>
              <a:rPr lang="en-US" sz="2000" b="0" i="0" u="sng" strike="noStrike" cap="none">
                <a:solidFill>
                  <a:schemeClr val="dk1"/>
                </a:solidFill>
                <a:latin typeface="Times New Roman"/>
                <a:ea typeface="Times New Roman"/>
                <a:cs typeface="Times New Roman"/>
                <a:sym typeface="Times New Roman"/>
              </a:rPr>
              <a:t>and</a:t>
            </a:r>
            <a:r>
              <a:rPr lang="en-US" sz="2000" b="0" i="0" u="none" strike="noStrike" cap="none">
                <a:solidFill>
                  <a:schemeClr val="dk1"/>
                </a:solidFill>
                <a:latin typeface="Times New Roman"/>
                <a:ea typeface="Times New Roman"/>
                <a:cs typeface="Times New Roman"/>
                <a:sym typeface="Times New Roman"/>
              </a:rPr>
              <a:t> B.</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5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51435" marR="0" lvl="0" indent="0" algn="l" rtl="0">
              <a:lnSpc>
                <a:spcPct val="100000"/>
              </a:lnSpc>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The intersection is denoted: </a:t>
            </a:r>
            <a:r>
              <a:rPr lang="en-US" sz="2000" b="1" i="0" u="none" strike="noStrike" cap="none">
                <a:solidFill>
                  <a:schemeClr val="dk1"/>
                </a:solidFill>
                <a:latin typeface="Times New Roman"/>
                <a:ea typeface="Times New Roman"/>
                <a:cs typeface="Times New Roman"/>
                <a:sym typeface="Times New Roman"/>
              </a:rPr>
              <a:t>A and B</a:t>
            </a:r>
            <a:endParaRPr sz="2000" b="0" i="0" u="none" strike="noStrike" cap="none">
              <a:solidFill>
                <a:schemeClr val="dk1"/>
              </a:solidFill>
              <a:latin typeface="Times New Roman"/>
              <a:ea typeface="Times New Roman"/>
              <a:cs typeface="Times New Roman"/>
              <a:sym typeface="Times New Roman"/>
            </a:endParaRPr>
          </a:p>
        </p:txBody>
      </p:sp>
      <p:sp>
        <p:nvSpPr>
          <p:cNvPr id="149" name="Google Shape;149;p23"/>
          <p:cNvSpPr/>
          <p:nvPr/>
        </p:nvSpPr>
        <p:spPr>
          <a:xfrm>
            <a:off x="0" y="4038600"/>
            <a:ext cx="9296400" cy="7078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The joint probability of  A and B is the probability of  the intersection of A and B,i.e. P(A and B)</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p:nvPr/>
        </p:nvSpPr>
        <p:spPr>
          <a:xfrm>
            <a:off x="0" y="838200"/>
            <a:ext cx="8915400" cy="379591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3200" b="0" i="0" u="none" strike="noStrike" cap="none">
                <a:solidFill>
                  <a:schemeClr val="dk1"/>
                </a:solidFill>
                <a:latin typeface="Arial"/>
                <a:ea typeface="Arial"/>
                <a:cs typeface="Arial"/>
                <a:sym typeface="Arial"/>
              </a:rPr>
              <a:t>Union of Two Events	</a:t>
            </a:r>
            <a:r>
              <a:rPr lang="en-US" sz="3200" b="0" i="0" u="none" strike="noStrike" cap="none">
                <a:solidFill>
                  <a:schemeClr val="dk1"/>
                </a:solidFill>
                <a:latin typeface="Calibri"/>
                <a:ea typeface="Calibri"/>
                <a:cs typeface="Calibri"/>
                <a:sym typeface="Calibri"/>
              </a:rPr>
              <a:t> </a:t>
            </a:r>
            <a:endParaRPr/>
          </a:p>
          <a:p>
            <a:pPr marL="0" marR="0" lvl="0" indent="0" algn="l" rtl="0">
              <a:lnSpc>
                <a:spcPct val="100000"/>
              </a:lnSpc>
              <a:spcBef>
                <a:spcPts val="100"/>
              </a:spcBef>
              <a:spcAft>
                <a:spcPts val="0"/>
              </a:spcAft>
              <a:buNone/>
            </a:pPr>
            <a:endParaRPr sz="3200" b="0" i="0" u="none" strike="noStrike" cap="none">
              <a:solidFill>
                <a:schemeClr val="dk1"/>
              </a:solidFill>
              <a:latin typeface="Calibri"/>
              <a:ea typeface="Calibri"/>
              <a:cs typeface="Calibri"/>
              <a:sym typeface="Calibri"/>
            </a:endParaRPr>
          </a:p>
          <a:p>
            <a:pPr marL="0" marR="0" lvl="0" indent="0" algn="l" rtl="0">
              <a:lnSpc>
                <a:spcPct val="100000"/>
              </a:lnSpc>
              <a:spcBef>
                <a:spcPts val="100"/>
              </a:spcBef>
              <a:spcAft>
                <a:spcPts val="0"/>
              </a:spcAft>
              <a:buNone/>
            </a:pPr>
            <a:r>
              <a:rPr lang="en-US" sz="2000" b="0" i="0" u="none" strike="noStrike" cap="none">
                <a:solidFill>
                  <a:schemeClr val="dk1"/>
                </a:solidFill>
                <a:latin typeface="Times New Roman"/>
                <a:ea typeface="Times New Roman"/>
                <a:cs typeface="Times New Roman"/>
                <a:sym typeface="Times New Roman"/>
              </a:rPr>
              <a:t>The union of two events A and B, is the event containing all sample points that are in A or B or both: Union of A and B is denoted: A or B</a:t>
            </a:r>
            <a:endParaRPr/>
          </a:p>
          <a:p>
            <a:pPr marL="51435" marR="88900" lvl="0" indent="0" algn="l" rtl="0">
              <a:lnSpc>
                <a:spcPct val="100000"/>
              </a:lnSpc>
              <a:spcBef>
                <a:spcPts val="870"/>
              </a:spcBef>
              <a:spcAft>
                <a:spcPts val="0"/>
              </a:spcAft>
              <a:buNone/>
            </a:pPr>
            <a:r>
              <a:rPr lang="en-US" sz="2000" b="0" i="0" u="none" strike="noStrike" cap="none">
                <a:solidFill>
                  <a:schemeClr val="dk1"/>
                </a:solidFill>
                <a:latin typeface="Times New Roman"/>
                <a:ea typeface="Times New Roman"/>
                <a:cs typeface="Times New Roman"/>
                <a:sym typeface="Times New Roman"/>
              </a:rPr>
              <a:t>For example, let A = tosses where first toss is 1 {(1,1), (1,2), (1,3),  (1,4), (1,5), (1,6)} and </a:t>
            </a:r>
            <a:endParaRPr/>
          </a:p>
          <a:p>
            <a:pPr marL="51435" marR="88900" lvl="0" indent="0" algn="l" rtl="0">
              <a:lnSpc>
                <a:spcPct val="100000"/>
              </a:lnSpc>
              <a:spcBef>
                <a:spcPts val="870"/>
              </a:spcBef>
              <a:spcAft>
                <a:spcPts val="0"/>
              </a:spcAft>
              <a:buNone/>
            </a:pPr>
            <a:r>
              <a:rPr lang="en-US" sz="2000" b="0" i="0" u="none" strike="noStrike" cap="none">
                <a:solidFill>
                  <a:schemeClr val="dk1"/>
                </a:solidFill>
                <a:latin typeface="Times New Roman"/>
                <a:ea typeface="Times New Roman"/>
                <a:cs typeface="Times New Roman"/>
                <a:sym typeface="Times New Roman"/>
              </a:rPr>
              <a:t>B is the tosses that the second toss is 5 {(1,5), (2,5), (3,5), (4,5),(5,5), (6,5)}</a:t>
            </a:r>
            <a:endParaRPr/>
          </a:p>
          <a:p>
            <a:pPr marL="0" marR="0" lvl="0" indent="0" algn="l" rtl="0">
              <a:lnSpc>
                <a:spcPct val="100000"/>
              </a:lnSpc>
              <a:spcBef>
                <a:spcPts val="5"/>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51435" marR="0" lvl="0" indent="0" algn="l" rtl="0">
              <a:lnSpc>
                <a:spcPct val="100000"/>
              </a:lnSpc>
              <a:spcBef>
                <a:spcPts val="0"/>
              </a:spcBef>
              <a:spcAft>
                <a:spcPts val="0"/>
              </a:spcAft>
              <a:buNone/>
            </a:pPr>
            <a:r>
              <a:rPr lang="en-US" sz="2000" b="0" i="0" u="none" strike="noStrike" cap="none">
                <a:solidFill>
                  <a:schemeClr val="dk1"/>
                </a:solidFill>
                <a:latin typeface="Times New Roman"/>
                <a:ea typeface="Times New Roman"/>
                <a:cs typeface="Times New Roman"/>
                <a:sym typeface="Times New Roman"/>
              </a:rPr>
              <a:t>Union of A and B is {(1,1), (1,2), (1,3), (1,4), (1,5), (1,6),(2,5), (3,5), (4,5), (5,5), (6,5)}</a:t>
            </a:r>
            <a:endParaRPr/>
          </a:p>
        </p:txBody>
      </p:sp>
      <p:pic>
        <p:nvPicPr>
          <p:cNvPr id="155" name="Google Shape;155;p24"/>
          <p:cNvPicPr preferRelativeResize="0"/>
          <p:nvPr/>
        </p:nvPicPr>
        <p:blipFill rotWithShape="1">
          <a:blip r:embed="rId3">
            <a:alphaModFix/>
          </a:blip>
          <a:srcRect/>
          <a:stretch/>
        </p:blipFill>
        <p:spPr>
          <a:xfrm>
            <a:off x="3581400" y="4648200"/>
            <a:ext cx="1981200" cy="990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Arial"/>
              <a:buNone/>
            </a:pPr>
            <a:r>
              <a:rPr lang="en-US" sz="3600">
                <a:latin typeface="Arial"/>
                <a:ea typeface="Arial"/>
                <a:cs typeface="Arial"/>
                <a:sym typeface="Arial"/>
              </a:rPr>
              <a:t>Mutually Exclusive Events      </a:t>
            </a:r>
            <a:r>
              <a:rPr lang="en-US">
                <a:latin typeface="Tahoma"/>
                <a:ea typeface="Tahoma"/>
                <a:cs typeface="Tahoma"/>
                <a:sym typeface="Tahoma"/>
              </a:rPr>
              <a:t/>
            </a:r>
            <a:br>
              <a:rPr lang="en-US">
                <a:latin typeface="Tahoma"/>
                <a:ea typeface="Tahoma"/>
                <a:cs typeface="Tahoma"/>
                <a:sym typeface="Tahoma"/>
              </a:rPr>
            </a:br>
            <a:endParaRPr/>
          </a:p>
        </p:txBody>
      </p:sp>
      <p:sp>
        <p:nvSpPr>
          <p:cNvPr id="161" name="Google Shape;161;p25"/>
          <p:cNvSpPr txBox="1">
            <a:spLocks noGrp="1"/>
          </p:cNvSpPr>
          <p:nvPr>
            <p:ph type="body" idx="1"/>
          </p:nvPr>
        </p:nvSpPr>
        <p:spPr>
          <a:xfrm>
            <a:off x="152400" y="1524000"/>
            <a:ext cx="8229600" cy="4525963"/>
          </a:xfrm>
          <a:prstGeom prst="rect">
            <a:avLst/>
          </a:prstGeom>
          <a:noFill/>
          <a:ln>
            <a:noFill/>
          </a:ln>
        </p:spPr>
        <p:txBody>
          <a:bodyPr spcFirstLastPara="1" wrap="square" lIns="91425" tIns="45700" rIns="91425" bIns="45700" anchor="t" anchorCtr="0">
            <a:normAutofit/>
          </a:bodyPr>
          <a:lstStyle/>
          <a:p>
            <a:pPr marL="51435" marR="5080" lvl="0" indent="-51435" algn="just" rtl="0">
              <a:lnSpc>
                <a:spcPct val="10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When two events are mutually exclusive (that is the two  events cannot occur together), their joint probability is 0,  hence:</a:t>
            </a:r>
            <a:endParaRPr/>
          </a:p>
        </p:txBody>
      </p:sp>
      <p:sp>
        <p:nvSpPr>
          <p:cNvPr id="162" name="Google Shape;162;p25"/>
          <p:cNvSpPr txBox="1"/>
          <p:nvPr/>
        </p:nvSpPr>
        <p:spPr>
          <a:xfrm>
            <a:off x="381000" y="4572000"/>
            <a:ext cx="8305800" cy="1166986"/>
          </a:xfrm>
          <a:prstGeom prst="rect">
            <a:avLst/>
          </a:prstGeom>
          <a:noFill/>
          <a:ln>
            <a:noFill/>
          </a:ln>
        </p:spPr>
        <p:txBody>
          <a:bodyPr spcFirstLastPara="1" wrap="square" lIns="0" tIns="12700" rIns="0" bIns="0" anchor="t" anchorCtr="0">
            <a:spAutoFit/>
          </a:bodyPr>
          <a:lstStyle/>
          <a:p>
            <a:pPr marL="51435" marR="5080" lvl="0" indent="-51435" algn="just" rtl="0">
              <a:spcBef>
                <a:spcPts val="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Mutually exclusive; no points in common…</a:t>
            </a:r>
            <a:endParaRPr/>
          </a:p>
          <a:p>
            <a:pPr marL="51435" marR="5080" lvl="0" indent="-51435" algn="just" rtl="0">
              <a:spcBef>
                <a:spcPts val="865"/>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For example A = tosses totaling 7 and</a:t>
            </a:r>
            <a:endParaRPr/>
          </a:p>
          <a:p>
            <a:pPr marL="51435" marR="5080" lvl="0" indent="-51435" algn="just" rtl="0">
              <a:spcBef>
                <a:spcPts val="865"/>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                      B = tosses totaling 11</a:t>
            </a:r>
            <a:endParaRPr/>
          </a:p>
        </p:txBody>
      </p:sp>
      <p:pic>
        <p:nvPicPr>
          <p:cNvPr id="163" name="Google Shape;163;p25"/>
          <p:cNvPicPr preferRelativeResize="0"/>
          <p:nvPr/>
        </p:nvPicPr>
        <p:blipFill rotWithShape="1">
          <a:blip r:embed="rId3">
            <a:alphaModFix/>
          </a:blip>
          <a:srcRect/>
          <a:stretch/>
        </p:blipFill>
        <p:spPr>
          <a:xfrm>
            <a:off x="2590800" y="3429000"/>
            <a:ext cx="2209800" cy="1095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Example</a:t>
            </a:r>
            <a:endParaRPr/>
          </a:p>
        </p:txBody>
      </p:sp>
      <p:sp>
        <p:nvSpPr>
          <p:cNvPr id="169" name="Google Shape;169;p26"/>
          <p:cNvSpPr txBox="1">
            <a:spLocks noGrp="1"/>
          </p:cNvSpPr>
          <p:nvPr>
            <p:ph type="body" idx="1"/>
          </p:nvPr>
        </p:nvSpPr>
        <p:spPr>
          <a:xfrm>
            <a:off x="0" y="1295400"/>
            <a:ext cx="9144000" cy="4525963"/>
          </a:xfrm>
          <a:prstGeom prst="rect">
            <a:avLst/>
          </a:prstGeom>
          <a:noFill/>
          <a:ln>
            <a:noFill/>
          </a:ln>
        </p:spPr>
        <p:txBody>
          <a:bodyPr spcFirstLastPara="1" wrap="square" lIns="91425" tIns="45700" rIns="91425" bIns="45700" anchor="t" anchorCtr="0">
            <a:normAutofit/>
          </a:bodyPr>
          <a:lstStyle/>
          <a:p>
            <a:pPr marL="159385" marR="48260" lvl="0" indent="-159385" algn="l" rtl="0">
              <a:spcBef>
                <a:spcPts val="0"/>
              </a:spcBef>
              <a:spcAft>
                <a:spcPts val="0"/>
              </a:spcAft>
              <a:buClr>
                <a:srgbClr val="FF0000"/>
              </a:buClr>
              <a:buSzPts val="1800"/>
              <a:buChar char="•"/>
            </a:pPr>
            <a:r>
              <a:rPr lang="en-US" sz="1800" b="1">
                <a:solidFill>
                  <a:srgbClr val="FF0000"/>
                </a:solidFill>
              </a:rPr>
              <a:t>Why are some mutual fund managers more successful than others? One possible factor is where the manager earned his or her MBA. The following table compares mutual fund performance against the ranking of the school where the fund manager earned their MBA:</a:t>
            </a:r>
            <a:endParaRPr sz="1800" b="1">
              <a:solidFill>
                <a:srgbClr val="FF0000"/>
              </a:solidFill>
            </a:endParaRPr>
          </a:p>
        </p:txBody>
      </p:sp>
      <p:pic>
        <p:nvPicPr>
          <p:cNvPr id="170" name="Google Shape;170;p26"/>
          <p:cNvPicPr preferRelativeResize="0"/>
          <p:nvPr/>
        </p:nvPicPr>
        <p:blipFill rotWithShape="1">
          <a:blip r:embed="rId3">
            <a:alphaModFix/>
          </a:blip>
          <a:srcRect/>
          <a:stretch/>
        </p:blipFill>
        <p:spPr>
          <a:xfrm>
            <a:off x="1524000" y="2743200"/>
            <a:ext cx="6400800" cy="2286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None/>
            </a:pPr>
            <a:r>
              <a:rPr lang="en-US" sz="2000"/>
              <a:t>Alternatively, we could introduce shorthand notation to represent the events: </a:t>
            </a:r>
            <a:endParaRPr/>
          </a:p>
          <a:p>
            <a:pPr marL="342900" lvl="0" indent="-342900" algn="l" rtl="0">
              <a:spcBef>
                <a:spcPts val="400"/>
              </a:spcBef>
              <a:spcAft>
                <a:spcPts val="0"/>
              </a:spcAft>
              <a:buClr>
                <a:schemeClr val="dk1"/>
              </a:buClr>
              <a:buSzPts val="2000"/>
              <a:buChar char="•"/>
            </a:pPr>
            <a:r>
              <a:rPr lang="en-US" sz="2000"/>
              <a:t>A1 = Fund manager graduated from a top-20 MBA program</a:t>
            </a:r>
            <a:endParaRPr/>
          </a:p>
          <a:p>
            <a:pPr marL="342900" lvl="0" indent="-342900" algn="l" rtl="0">
              <a:spcBef>
                <a:spcPts val="400"/>
              </a:spcBef>
              <a:spcAft>
                <a:spcPts val="0"/>
              </a:spcAft>
              <a:buClr>
                <a:schemeClr val="dk1"/>
              </a:buClr>
              <a:buSzPts val="2000"/>
              <a:buChar char="•"/>
            </a:pPr>
            <a:r>
              <a:rPr lang="en-US" sz="2000"/>
              <a:t> A2 = Fund manager did not graduate from a top-20 MBA program </a:t>
            </a:r>
            <a:endParaRPr/>
          </a:p>
          <a:p>
            <a:pPr marL="342900" lvl="0" indent="-342900" algn="l" rtl="0">
              <a:spcBef>
                <a:spcPts val="400"/>
              </a:spcBef>
              <a:spcAft>
                <a:spcPts val="0"/>
              </a:spcAft>
              <a:buClr>
                <a:schemeClr val="dk1"/>
              </a:buClr>
              <a:buSzPts val="2000"/>
              <a:buChar char="•"/>
            </a:pPr>
            <a:r>
              <a:rPr lang="en-US" sz="2000"/>
              <a:t>B1 = Fund outperforms the market</a:t>
            </a:r>
            <a:endParaRPr/>
          </a:p>
          <a:p>
            <a:pPr marL="342900" lvl="0" indent="-342900" algn="l" rtl="0">
              <a:spcBef>
                <a:spcPts val="400"/>
              </a:spcBef>
              <a:spcAft>
                <a:spcPts val="0"/>
              </a:spcAft>
              <a:buClr>
                <a:schemeClr val="dk1"/>
              </a:buClr>
              <a:buSzPts val="2000"/>
              <a:buChar char="•"/>
            </a:pPr>
            <a:r>
              <a:rPr lang="en-US" sz="2000"/>
              <a:t> B2 = Fund does not outperform the market</a:t>
            </a:r>
            <a:endParaRPr sz="2000"/>
          </a:p>
        </p:txBody>
      </p:sp>
      <p:pic>
        <p:nvPicPr>
          <p:cNvPr id="176" name="Google Shape;176;p27"/>
          <p:cNvPicPr preferRelativeResize="0"/>
          <p:nvPr/>
        </p:nvPicPr>
        <p:blipFill rotWithShape="1">
          <a:blip r:embed="rId3">
            <a:alphaModFix/>
          </a:blip>
          <a:srcRect/>
          <a:stretch/>
        </p:blipFill>
        <p:spPr>
          <a:xfrm>
            <a:off x="2514600" y="3810000"/>
            <a:ext cx="4293973" cy="1143000"/>
          </a:xfrm>
          <a:prstGeom prst="rect">
            <a:avLst/>
          </a:prstGeom>
          <a:noFill/>
          <a:ln>
            <a:noFill/>
          </a:ln>
        </p:spPr>
      </p:pic>
      <p:sp>
        <p:nvSpPr>
          <p:cNvPr id="177" name="Google Shape;177;p27"/>
          <p:cNvSpPr/>
          <p:nvPr/>
        </p:nvSpPr>
        <p:spPr>
          <a:xfrm>
            <a:off x="381000" y="5181600"/>
            <a:ext cx="8077200" cy="7078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0" u="none" strike="noStrike" cap="none">
                <a:solidFill>
                  <a:schemeClr val="dk1"/>
                </a:solidFill>
                <a:latin typeface="Calibri"/>
                <a:ea typeface="Calibri"/>
                <a:cs typeface="Calibri"/>
                <a:sym typeface="Calibri"/>
              </a:rPr>
              <a:t>E.g. P(A2 and B1) = .06 = the probability a fund outperforms the market and the manager isn’t from a top-20 school.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8"/>
          <p:cNvSpPr txBox="1">
            <a:spLocks noGrp="1"/>
          </p:cNvSpPr>
          <p:nvPr>
            <p:ph type="title" idx="4294967295"/>
          </p:nvPr>
        </p:nvSpPr>
        <p:spPr>
          <a:xfrm>
            <a:off x="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Marginal Probabilities</a:t>
            </a:r>
            <a:endParaRPr/>
          </a:p>
        </p:txBody>
      </p:sp>
      <p:sp>
        <p:nvSpPr>
          <p:cNvPr id="183" name="Google Shape;183;p28"/>
          <p:cNvSpPr/>
          <p:nvPr/>
        </p:nvSpPr>
        <p:spPr>
          <a:xfrm>
            <a:off x="533400" y="1447800"/>
            <a:ext cx="8153400"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Marginal probabilities are computed by adding across rows and down columns; that is they are calculated in the margins of the table:</a:t>
            </a:r>
            <a:endParaRPr/>
          </a:p>
        </p:txBody>
      </p:sp>
      <p:pic>
        <p:nvPicPr>
          <p:cNvPr id="184" name="Google Shape;184;p28"/>
          <p:cNvPicPr preferRelativeResize="0"/>
          <p:nvPr/>
        </p:nvPicPr>
        <p:blipFill rotWithShape="1">
          <a:blip r:embed="rId3">
            <a:alphaModFix/>
          </a:blip>
          <a:srcRect/>
          <a:stretch/>
        </p:blipFill>
        <p:spPr>
          <a:xfrm>
            <a:off x="2057400" y="3276600"/>
            <a:ext cx="4572000" cy="2362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9"/>
          <p:cNvSpPr/>
          <p:nvPr/>
        </p:nvSpPr>
        <p:spPr>
          <a:xfrm>
            <a:off x="228600" y="533400"/>
            <a:ext cx="8686800" cy="227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400">
                <a:solidFill>
                  <a:schemeClr val="dk1"/>
                </a:solidFill>
                <a:latin typeface="Calibri"/>
                <a:ea typeface="Calibri"/>
                <a:cs typeface="Calibri"/>
                <a:sym typeface="Calibri"/>
              </a:rPr>
              <a:t>Conditional Probability</a:t>
            </a:r>
            <a:endParaRPr sz="44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Conditional probability is used to determine how two events are related; that is, we can determine the probability of one event given the occurrence of another related event. Conditional probabilities are written as P(A | B) and read as “the probability of A given B” and is calculated as:</a:t>
            </a:r>
            <a:endParaRPr/>
          </a:p>
        </p:txBody>
      </p:sp>
      <p:grpSp>
        <p:nvGrpSpPr>
          <p:cNvPr id="190" name="Google Shape;190;p29"/>
          <p:cNvGrpSpPr/>
          <p:nvPr/>
        </p:nvGrpSpPr>
        <p:grpSpPr>
          <a:xfrm>
            <a:off x="2209800" y="2895600"/>
            <a:ext cx="3886200" cy="1067022"/>
            <a:chOff x="1491996" y="3362705"/>
            <a:chExt cx="4572000" cy="1222629"/>
          </a:xfrm>
        </p:grpSpPr>
        <p:sp>
          <p:nvSpPr>
            <p:cNvPr id="191" name="Google Shape;191;p29"/>
            <p:cNvSpPr/>
            <p:nvPr/>
          </p:nvSpPr>
          <p:spPr>
            <a:xfrm>
              <a:off x="1491996" y="4579619"/>
              <a:ext cx="4572000" cy="5715"/>
            </a:xfrm>
            <a:custGeom>
              <a:avLst/>
              <a:gdLst/>
              <a:ahLst/>
              <a:cxnLst/>
              <a:rect l="l" t="t" r="r" b="b"/>
              <a:pathLst>
                <a:path w="4572000" h="5714" extrusionOk="0">
                  <a:moveTo>
                    <a:pt x="4572000" y="0"/>
                  </a:moveTo>
                  <a:lnTo>
                    <a:pt x="0" y="0"/>
                  </a:lnTo>
                  <a:lnTo>
                    <a:pt x="0" y="5334"/>
                  </a:lnTo>
                  <a:lnTo>
                    <a:pt x="4572000" y="5334"/>
                  </a:lnTo>
                  <a:lnTo>
                    <a:pt x="4572000"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29"/>
            <p:cNvSpPr/>
            <p:nvPr/>
          </p:nvSpPr>
          <p:spPr>
            <a:xfrm>
              <a:off x="2863596" y="3362705"/>
              <a:ext cx="1937004" cy="59054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93" name="Google Shape;193;p29"/>
          <p:cNvGrpSpPr/>
          <p:nvPr/>
        </p:nvGrpSpPr>
        <p:grpSpPr>
          <a:xfrm>
            <a:off x="1828800" y="4790440"/>
            <a:ext cx="4572000" cy="2067946"/>
            <a:chOff x="1491996" y="7168636"/>
            <a:chExt cx="4572000" cy="2067946"/>
          </a:xfrm>
        </p:grpSpPr>
        <p:sp>
          <p:nvSpPr>
            <p:cNvPr id="194" name="Google Shape;194;p29"/>
            <p:cNvSpPr/>
            <p:nvPr/>
          </p:nvSpPr>
          <p:spPr>
            <a:xfrm>
              <a:off x="2899132" y="7168636"/>
              <a:ext cx="1796578" cy="44589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5" name="Google Shape;195;p29"/>
            <p:cNvSpPr/>
            <p:nvPr/>
          </p:nvSpPr>
          <p:spPr>
            <a:xfrm>
              <a:off x="2933446" y="8064753"/>
              <a:ext cx="1714500" cy="17779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29"/>
            <p:cNvSpPr/>
            <p:nvPr/>
          </p:nvSpPr>
          <p:spPr>
            <a:xfrm>
              <a:off x="3128772" y="7441691"/>
              <a:ext cx="306705" cy="725170"/>
            </a:xfrm>
            <a:custGeom>
              <a:avLst/>
              <a:gdLst/>
              <a:ahLst/>
              <a:cxnLst/>
              <a:rect l="l" t="t" r="r" b="b"/>
              <a:pathLst>
                <a:path w="306704" h="725170" extrusionOk="0">
                  <a:moveTo>
                    <a:pt x="306169" y="717881"/>
                  </a:moveTo>
                  <a:lnTo>
                    <a:pt x="301849" y="720041"/>
                  </a:lnTo>
                  <a:lnTo>
                    <a:pt x="306324" y="724661"/>
                  </a:lnTo>
                  <a:lnTo>
                    <a:pt x="306169" y="717881"/>
                  </a:lnTo>
                  <a:close/>
                </a:path>
                <a:path w="306704" h="725170" extrusionOk="0">
                  <a:moveTo>
                    <a:pt x="301640" y="719825"/>
                  </a:moveTo>
                  <a:lnTo>
                    <a:pt x="301752" y="720089"/>
                  </a:lnTo>
                  <a:lnTo>
                    <a:pt x="301640" y="719825"/>
                  </a:lnTo>
                  <a:close/>
                </a:path>
                <a:path w="306704" h="725170" extrusionOk="0">
                  <a:moveTo>
                    <a:pt x="296662" y="707983"/>
                  </a:moveTo>
                  <a:lnTo>
                    <a:pt x="301640" y="719825"/>
                  </a:lnTo>
                  <a:lnTo>
                    <a:pt x="301849" y="720041"/>
                  </a:lnTo>
                  <a:lnTo>
                    <a:pt x="303276" y="719327"/>
                  </a:lnTo>
                  <a:lnTo>
                    <a:pt x="301752" y="719327"/>
                  </a:lnTo>
                  <a:lnTo>
                    <a:pt x="301595" y="713005"/>
                  </a:lnTo>
                  <a:lnTo>
                    <a:pt x="296662" y="707983"/>
                  </a:lnTo>
                  <a:close/>
                </a:path>
                <a:path w="306704" h="725170" extrusionOk="0">
                  <a:moveTo>
                    <a:pt x="261366" y="672845"/>
                  </a:moveTo>
                  <a:lnTo>
                    <a:pt x="259842" y="672845"/>
                  </a:lnTo>
                  <a:lnTo>
                    <a:pt x="259080" y="675131"/>
                  </a:lnTo>
                  <a:lnTo>
                    <a:pt x="259842" y="676655"/>
                  </a:lnTo>
                  <a:lnTo>
                    <a:pt x="301640" y="719825"/>
                  </a:lnTo>
                  <a:lnTo>
                    <a:pt x="296662" y="707983"/>
                  </a:lnTo>
                  <a:lnTo>
                    <a:pt x="262890" y="673607"/>
                  </a:lnTo>
                  <a:lnTo>
                    <a:pt x="261366" y="672845"/>
                  </a:lnTo>
                  <a:close/>
                </a:path>
                <a:path w="306704" h="725170" extrusionOk="0">
                  <a:moveTo>
                    <a:pt x="301595" y="713005"/>
                  </a:moveTo>
                  <a:lnTo>
                    <a:pt x="301752" y="719327"/>
                  </a:lnTo>
                  <a:lnTo>
                    <a:pt x="305562" y="717041"/>
                  </a:lnTo>
                  <a:lnTo>
                    <a:pt x="301595" y="713005"/>
                  </a:lnTo>
                  <a:close/>
                </a:path>
                <a:path w="306704" h="725170" extrusionOk="0">
                  <a:moveTo>
                    <a:pt x="301427" y="706185"/>
                  </a:moveTo>
                  <a:lnTo>
                    <a:pt x="301595" y="713005"/>
                  </a:lnTo>
                  <a:lnTo>
                    <a:pt x="305562" y="717041"/>
                  </a:lnTo>
                  <a:lnTo>
                    <a:pt x="301752" y="719327"/>
                  </a:lnTo>
                  <a:lnTo>
                    <a:pt x="303276" y="719327"/>
                  </a:lnTo>
                  <a:lnTo>
                    <a:pt x="306169" y="717881"/>
                  </a:lnTo>
                  <a:lnTo>
                    <a:pt x="306159" y="717413"/>
                  </a:lnTo>
                  <a:lnTo>
                    <a:pt x="301427" y="706185"/>
                  </a:lnTo>
                  <a:close/>
                </a:path>
                <a:path w="306704" h="725170" extrusionOk="0">
                  <a:moveTo>
                    <a:pt x="306159" y="717413"/>
                  </a:moveTo>
                  <a:lnTo>
                    <a:pt x="306169" y="717881"/>
                  </a:lnTo>
                  <a:lnTo>
                    <a:pt x="306324" y="717803"/>
                  </a:lnTo>
                  <a:lnTo>
                    <a:pt x="306159" y="717413"/>
                  </a:lnTo>
                  <a:close/>
                </a:path>
                <a:path w="306704" h="725170" extrusionOk="0">
                  <a:moveTo>
                    <a:pt x="302514" y="655319"/>
                  </a:moveTo>
                  <a:lnTo>
                    <a:pt x="300990" y="656081"/>
                  </a:lnTo>
                  <a:lnTo>
                    <a:pt x="300228" y="657605"/>
                  </a:lnTo>
                  <a:lnTo>
                    <a:pt x="301427" y="706185"/>
                  </a:lnTo>
                  <a:lnTo>
                    <a:pt x="306159" y="717413"/>
                  </a:lnTo>
                  <a:lnTo>
                    <a:pt x="304800" y="657605"/>
                  </a:lnTo>
                  <a:lnTo>
                    <a:pt x="304038" y="656081"/>
                  </a:lnTo>
                  <a:lnTo>
                    <a:pt x="302514" y="655319"/>
                  </a:lnTo>
                  <a:close/>
                </a:path>
                <a:path w="306704" h="725170" extrusionOk="0">
                  <a:moveTo>
                    <a:pt x="3810" y="0"/>
                  </a:moveTo>
                  <a:lnTo>
                    <a:pt x="0" y="2285"/>
                  </a:lnTo>
                  <a:lnTo>
                    <a:pt x="296662" y="707983"/>
                  </a:lnTo>
                  <a:lnTo>
                    <a:pt x="301595" y="713005"/>
                  </a:lnTo>
                  <a:lnTo>
                    <a:pt x="301427" y="706185"/>
                  </a:lnTo>
                  <a:lnTo>
                    <a:pt x="3810" y="0"/>
                  </a:lnTo>
                  <a:close/>
                </a:path>
              </a:pathLst>
            </a:custGeom>
            <a:solidFill>
              <a:srgbClr val="0000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29"/>
            <p:cNvSpPr/>
            <p:nvPr/>
          </p:nvSpPr>
          <p:spPr>
            <a:xfrm>
              <a:off x="3130296" y="7441691"/>
              <a:ext cx="307340" cy="725170"/>
            </a:xfrm>
            <a:custGeom>
              <a:avLst/>
              <a:gdLst/>
              <a:ahLst/>
              <a:cxnLst/>
              <a:rect l="l" t="t" r="r" b="b"/>
              <a:pathLst>
                <a:path w="307339" h="725170" extrusionOk="0">
                  <a:moveTo>
                    <a:pt x="4572" y="655319"/>
                  </a:moveTo>
                  <a:lnTo>
                    <a:pt x="3048" y="656081"/>
                  </a:lnTo>
                  <a:lnTo>
                    <a:pt x="2286" y="657605"/>
                  </a:lnTo>
                  <a:lnTo>
                    <a:pt x="0" y="724661"/>
                  </a:lnTo>
                  <a:lnTo>
                    <a:pt x="4774" y="719810"/>
                  </a:lnTo>
                  <a:lnTo>
                    <a:pt x="762" y="717803"/>
                  </a:lnTo>
                  <a:lnTo>
                    <a:pt x="5658" y="706185"/>
                  </a:lnTo>
                  <a:lnTo>
                    <a:pt x="6858" y="657605"/>
                  </a:lnTo>
                  <a:lnTo>
                    <a:pt x="6096" y="656081"/>
                  </a:lnTo>
                  <a:lnTo>
                    <a:pt x="4572" y="655319"/>
                  </a:lnTo>
                  <a:close/>
                </a:path>
                <a:path w="307339" h="725170" extrusionOk="0">
                  <a:moveTo>
                    <a:pt x="5956" y="718609"/>
                  </a:moveTo>
                  <a:lnTo>
                    <a:pt x="5336" y="719239"/>
                  </a:lnTo>
                  <a:lnTo>
                    <a:pt x="4774" y="719810"/>
                  </a:lnTo>
                  <a:lnTo>
                    <a:pt x="5334" y="720089"/>
                  </a:lnTo>
                  <a:lnTo>
                    <a:pt x="5956" y="718609"/>
                  </a:lnTo>
                  <a:close/>
                </a:path>
                <a:path w="307339" h="725170" extrusionOk="0">
                  <a:moveTo>
                    <a:pt x="5658" y="706185"/>
                  </a:moveTo>
                  <a:lnTo>
                    <a:pt x="762" y="717803"/>
                  </a:lnTo>
                  <a:lnTo>
                    <a:pt x="4774" y="719810"/>
                  </a:lnTo>
                  <a:lnTo>
                    <a:pt x="5249" y="719327"/>
                  </a:lnTo>
                  <a:lnTo>
                    <a:pt x="1524" y="717041"/>
                  </a:lnTo>
                  <a:lnTo>
                    <a:pt x="5490" y="713005"/>
                  </a:lnTo>
                  <a:lnTo>
                    <a:pt x="5658" y="706185"/>
                  </a:lnTo>
                  <a:close/>
                </a:path>
                <a:path w="307339" h="725170" extrusionOk="0">
                  <a:moveTo>
                    <a:pt x="5280" y="719296"/>
                  </a:moveTo>
                  <a:close/>
                </a:path>
                <a:path w="307339" h="725170" extrusionOk="0">
                  <a:moveTo>
                    <a:pt x="5490" y="713005"/>
                  </a:moveTo>
                  <a:lnTo>
                    <a:pt x="1524" y="717041"/>
                  </a:lnTo>
                  <a:lnTo>
                    <a:pt x="5280" y="719296"/>
                  </a:lnTo>
                  <a:lnTo>
                    <a:pt x="5390" y="717041"/>
                  </a:lnTo>
                  <a:lnTo>
                    <a:pt x="5490" y="713005"/>
                  </a:lnTo>
                  <a:close/>
                </a:path>
                <a:path w="307339" h="725170" extrusionOk="0">
                  <a:moveTo>
                    <a:pt x="10423" y="707983"/>
                  </a:moveTo>
                  <a:lnTo>
                    <a:pt x="5490" y="713005"/>
                  </a:lnTo>
                  <a:lnTo>
                    <a:pt x="5336" y="719239"/>
                  </a:lnTo>
                  <a:lnTo>
                    <a:pt x="5956" y="718609"/>
                  </a:lnTo>
                  <a:lnTo>
                    <a:pt x="10423" y="707983"/>
                  </a:lnTo>
                  <a:close/>
                </a:path>
                <a:path w="307339" h="725170" extrusionOk="0">
                  <a:moveTo>
                    <a:pt x="47244" y="672845"/>
                  </a:moveTo>
                  <a:lnTo>
                    <a:pt x="45720" y="672845"/>
                  </a:lnTo>
                  <a:lnTo>
                    <a:pt x="44196" y="673607"/>
                  </a:lnTo>
                  <a:lnTo>
                    <a:pt x="10423" y="707983"/>
                  </a:lnTo>
                  <a:lnTo>
                    <a:pt x="5956" y="718609"/>
                  </a:lnTo>
                  <a:lnTo>
                    <a:pt x="47244" y="676655"/>
                  </a:lnTo>
                  <a:lnTo>
                    <a:pt x="48006" y="675131"/>
                  </a:lnTo>
                  <a:lnTo>
                    <a:pt x="47244" y="672845"/>
                  </a:lnTo>
                  <a:close/>
                </a:path>
                <a:path w="307339" h="725170" extrusionOk="0">
                  <a:moveTo>
                    <a:pt x="303276" y="0"/>
                  </a:moveTo>
                  <a:lnTo>
                    <a:pt x="5658" y="706185"/>
                  </a:lnTo>
                  <a:lnTo>
                    <a:pt x="5490" y="713005"/>
                  </a:lnTo>
                  <a:lnTo>
                    <a:pt x="10423" y="707983"/>
                  </a:lnTo>
                  <a:lnTo>
                    <a:pt x="307086" y="2285"/>
                  </a:lnTo>
                  <a:lnTo>
                    <a:pt x="303276"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29"/>
            <p:cNvSpPr/>
            <p:nvPr/>
          </p:nvSpPr>
          <p:spPr>
            <a:xfrm>
              <a:off x="4539996" y="7502651"/>
              <a:ext cx="958215" cy="740410"/>
            </a:xfrm>
            <a:custGeom>
              <a:avLst/>
              <a:gdLst/>
              <a:ahLst/>
              <a:cxnLst/>
              <a:rect l="l" t="t" r="r" b="b"/>
              <a:pathLst>
                <a:path w="958214" h="740409" extrusionOk="0">
                  <a:moveTo>
                    <a:pt x="944117" y="461010"/>
                  </a:moveTo>
                  <a:lnTo>
                    <a:pt x="897570" y="523682"/>
                  </a:lnTo>
                  <a:lnTo>
                    <a:pt x="858856" y="554498"/>
                  </a:lnTo>
                  <a:lnTo>
                    <a:pt x="816518" y="581637"/>
                  </a:lnTo>
                  <a:lnTo>
                    <a:pt x="772813" y="605850"/>
                  </a:lnTo>
                  <a:lnTo>
                    <a:pt x="729995" y="627888"/>
                  </a:lnTo>
                  <a:lnTo>
                    <a:pt x="669035" y="656082"/>
                  </a:lnTo>
                  <a:lnTo>
                    <a:pt x="624002" y="675672"/>
                  </a:lnTo>
                  <a:lnTo>
                    <a:pt x="578610" y="694577"/>
                  </a:lnTo>
                  <a:lnTo>
                    <a:pt x="532910" y="712868"/>
                  </a:lnTo>
                  <a:lnTo>
                    <a:pt x="486955" y="730620"/>
                  </a:lnTo>
                  <a:lnTo>
                    <a:pt x="462166" y="739902"/>
                  </a:lnTo>
                  <a:lnTo>
                    <a:pt x="489105" y="739902"/>
                  </a:lnTo>
                  <a:lnTo>
                    <a:pt x="543031" y="718971"/>
                  </a:lnTo>
                  <a:lnTo>
                    <a:pt x="590683" y="699764"/>
                  </a:lnTo>
                  <a:lnTo>
                    <a:pt x="635392" y="681008"/>
                  </a:lnTo>
                  <a:lnTo>
                    <a:pt x="677165" y="662678"/>
                  </a:lnTo>
                  <a:lnTo>
                    <a:pt x="716010" y="644751"/>
                  </a:lnTo>
                  <a:lnTo>
                    <a:pt x="751932" y="627206"/>
                  </a:lnTo>
                  <a:lnTo>
                    <a:pt x="815037" y="593168"/>
                  </a:lnTo>
                  <a:lnTo>
                    <a:pt x="866538" y="560379"/>
                  </a:lnTo>
                  <a:lnTo>
                    <a:pt x="906488" y="528659"/>
                  </a:lnTo>
                  <a:lnTo>
                    <a:pt x="934943" y="497823"/>
                  </a:lnTo>
                  <a:lnTo>
                    <a:pt x="953645" y="461772"/>
                  </a:lnTo>
                  <a:lnTo>
                    <a:pt x="944117" y="461772"/>
                  </a:lnTo>
                  <a:lnTo>
                    <a:pt x="944117" y="461010"/>
                  </a:lnTo>
                  <a:close/>
                </a:path>
                <a:path w="958214" h="740409" extrusionOk="0">
                  <a:moveTo>
                    <a:pt x="947165" y="448056"/>
                  </a:moveTo>
                  <a:lnTo>
                    <a:pt x="944117" y="461772"/>
                  </a:lnTo>
                  <a:lnTo>
                    <a:pt x="953645" y="461772"/>
                  </a:lnTo>
                  <a:lnTo>
                    <a:pt x="956193" y="452830"/>
                  </a:lnTo>
                  <a:lnTo>
                    <a:pt x="956573" y="448818"/>
                  </a:lnTo>
                  <a:lnTo>
                    <a:pt x="947165" y="448818"/>
                  </a:lnTo>
                  <a:lnTo>
                    <a:pt x="947165" y="448056"/>
                  </a:lnTo>
                  <a:close/>
                </a:path>
                <a:path w="958214" h="740409" extrusionOk="0">
                  <a:moveTo>
                    <a:pt x="957297" y="435102"/>
                  </a:moveTo>
                  <a:lnTo>
                    <a:pt x="947927" y="435102"/>
                  </a:lnTo>
                  <a:lnTo>
                    <a:pt x="947927" y="435864"/>
                  </a:lnTo>
                  <a:lnTo>
                    <a:pt x="947165" y="448818"/>
                  </a:lnTo>
                  <a:lnTo>
                    <a:pt x="956573" y="448818"/>
                  </a:lnTo>
                  <a:lnTo>
                    <a:pt x="957589" y="438078"/>
                  </a:lnTo>
                  <a:lnTo>
                    <a:pt x="957297" y="435102"/>
                  </a:lnTo>
                  <a:close/>
                </a:path>
                <a:path w="958214" h="740409" extrusionOk="0">
                  <a:moveTo>
                    <a:pt x="947899" y="435610"/>
                  </a:moveTo>
                  <a:lnTo>
                    <a:pt x="947885" y="435864"/>
                  </a:lnTo>
                  <a:lnTo>
                    <a:pt x="947899" y="435610"/>
                  </a:lnTo>
                  <a:close/>
                </a:path>
                <a:path w="958214" h="740409" extrusionOk="0">
                  <a:moveTo>
                    <a:pt x="955784" y="422148"/>
                  </a:moveTo>
                  <a:lnTo>
                    <a:pt x="946403" y="422148"/>
                  </a:lnTo>
                  <a:lnTo>
                    <a:pt x="947899" y="435610"/>
                  </a:lnTo>
                  <a:lnTo>
                    <a:pt x="947927" y="435102"/>
                  </a:lnTo>
                  <a:lnTo>
                    <a:pt x="957297" y="435102"/>
                  </a:lnTo>
                  <a:lnTo>
                    <a:pt x="956152" y="423409"/>
                  </a:lnTo>
                  <a:lnTo>
                    <a:pt x="955784" y="422148"/>
                  </a:lnTo>
                  <a:close/>
                </a:path>
                <a:path w="958214" h="740409" extrusionOk="0">
                  <a:moveTo>
                    <a:pt x="952226" y="409956"/>
                  </a:moveTo>
                  <a:lnTo>
                    <a:pt x="941831" y="409956"/>
                  </a:lnTo>
                  <a:lnTo>
                    <a:pt x="946403" y="423672"/>
                  </a:lnTo>
                  <a:lnTo>
                    <a:pt x="946403" y="422148"/>
                  </a:lnTo>
                  <a:lnTo>
                    <a:pt x="955784" y="422148"/>
                  </a:lnTo>
                  <a:lnTo>
                    <a:pt x="952226" y="409956"/>
                  </a:lnTo>
                  <a:close/>
                </a:path>
                <a:path w="958214" h="740409" extrusionOk="0">
                  <a:moveTo>
                    <a:pt x="28768" y="19527"/>
                  </a:moveTo>
                  <a:lnTo>
                    <a:pt x="18746" y="21794"/>
                  </a:lnTo>
                  <a:lnTo>
                    <a:pt x="25516" y="28564"/>
                  </a:lnTo>
                  <a:lnTo>
                    <a:pt x="223022" y="86253"/>
                  </a:lnTo>
                  <a:lnTo>
                    <a:pt x="366509" y="129573"/>
                  </a:lnTo>
                  <a:lnTo>
                    <a:pt x="461845" y="160236"/>
                  </a:lnTo>
                  <a:lnTo>
                    <a:pt x="509270" y="176205"/>
                  </a:lnTo>
                  <a:lnTo>
                    <a:pt x="556468" y="192645"/>
                  </a:lnTo>
                  <a:lnTo>
                    <a:pt x="603389" y="209591"/>
                  </a:lnTo>
                  <a:lnTo>
                    <a:pt x="649985" y="227076"/>
                  </a:lnTo>
                  <a:lnTo>
                    <a:pt x="713993" y="252984"/>
                  </a:lnTo>
                  <a:lnTo>
                    <a:pt x="757616" y="272557"/>
                  </a:lnTo>
                  <a:lnTo>
                    <a:pt x="804068" y="295292"/>
                  </a:lnTo>
                  <a:lnTo>
                    <a:pt x="849892" y="321348"/>
                  </a:lnTo>
                  <a:lnTo>
                    <a:pt x="891631" y="350880"/>
                  </a:lnTo>
                  <a:lnTo>
                    <a:pt x="925829" y="384048"/>
                  </a:lnTo>
                  <a:lnTo>
                    <a:pt x="941831" y="410718"/>
                  </a:lnTo>
                  <a:lnTo>
                    <a:pt x="941831" y="409956"/>
                  </a:lnTo>
                  <a:lnTo>
                    <a:pt x="952226" y="409956"/>
                  </a:lnTo>
                  <a:lnTo>
                    <a:pt x="951890" y="408802"/>
                  </a:lnTo>
                  <a:lnTo>
                    <a:pt x="922220" y="365122"/>
                  </a:lnTo>
                  <a:lnTo>
                    <a:pt x="888440" y="335892"/>
                  </a:lnTo>
                  <a:lnTo>
                    <a:pt x="843523" y="306360"/>
                  </a:lnTo>
                  <a:lnTo>
                    <a:pt x="787525" y="276343"/>
                  </a:lnTo>
                  <a:lnTo>
                    <a:pt x="720502" y="245660"/>
                  </a:lnTo>
                  <a:lnTo>
                    <a:pt x="682873" y="230012"/>
                  </a:lnTo>
                  <a:lnTo>
                    <a:pt x="642508" y="214128"/>
                  </a:lnTo>
                  <a:lnTo>
                    <a:pt x="599415" y="197986"/>
                  </a:lnTo>
                  <a:lnTo>
                    <a:pt x="553600" y="181564"/>
                  </a:lnTo>
                  <a:lnTo>
                    <a:pt x="505069" y="164838"/>
                  </a:lnTo>
                  <a:lnTo>
                    <a:pt x="453831" y="147785"/>
                  </a:lnTo>
                  <a:lnTo>
                    <a:pt x="343257" y="112610"/>
                  </a:lnTo>
                  <a:lnTo>
                    <a:pt x="157258" y="56828"/>
                  </a:lnTo>
                  <a:lnTo>
                    <a:pt x="28768" y="19527"/>
                  </a:lnTo>
                  <a:close/>
                </a:path>
                <a:path w="958214" h="740409" extrusionOk="0">
                  <a:moveTo>
                    <a:pt x="72389" y="0"/>
                  </a:moveTo>
                  <a:lnTo>
                    <a:pt x="0" y="16002"/>
                  </a:lnTo>
                  <a:lnTo>
                    <a:pt x="52577" y="68580"/>
                  </a:lnTo>
                  <a:lnTo>
                    <a:pt x="55625" y="70104"/>
                  </a:lnTo>
                  <a:lnTo>
                    <a:pt x="59435" y="68580"/>
                  </a:lnTo>
                  <a:lnTo>
                    <a:pt x="60959" y="65532"/>
                  </a:lnTo>
                  <a:lnTo>
                    <a:pt x="59435" y="62484"/>
                  </a:lnTo>
                  <a:lnTo>
                    <a:pt x="25516" y="28564"/>
                  </a:lnTo>
                  <a:lnTo>
                    <a:pt x="8381" y="23622"/>
                  </a:lnTo>
                  <a:lnTo>
                    <a:pt x="11429" y="14478"/>
                  </a:lnTo>
                  <a:lnTo>
                    <a:pt x="51094" y="14478"/>
                  </a:lnTo>
                  <a:lnTo>
                    <a:pt x="74675" y="9144"/>
                  </a:lnTo>
                  <a:lnTo>
                    <a:pt x="77723" y="6858"/>
                  </a:lnTo>
                  <a:lnTo>
                    <a:pt x="78485" y="3048"/>
                  </a:lnTo>
                  <a:lnTo>
                    <a:pt x="76199" y="762"/>
                  </a:lnTo>
                  <a:lnTo>
                    <a:pt x="72389" y="0"/>
                  </a:lnTo>
                  <a:close/>
                </a:path>
                <a:path w="958214" h="740409" extrusionOk="0">
                  <a:moveTo>
                    <a:pt x="11429" y="14478"/>
                  </a:moveTo>
                  <a:lnTo>
                    <a:pt x="8381" y="23622"/>
                  </a:lnTo>
                  <a:lnTo>
                    <a:pt x="25516" y="28564"/>
                  </a:lnTo>
                  <a:lnTo>
                    <a:pt x="20573" y="23622"/>
                  </a:lnTo>
                  <a:lnTo>
                    <a:pt x="10667" y="23622"/>
                  </a:lnTo>
                  <a:lnTo>
                    <a:pt x="12953" y="16002"/>
                  </a:lnTo>
                  <a:lnTo>
                    <a:pt x="16662" y="16002"/>
                  </a:lnTo>
                  <a:lnTo>
                    <a:pt x="11429" y="14478"/>
                  </a:lnTo>
                  <a:close/>
                </a:path>
                <a:path w="958214" h="740409" extrusionOk="0">
                  <a:moveTo>
                    <a:pt x="12953" y="16002"/>
                  </a:moveTo>
                  <a:lnTo>
                    <a:pt x="10667" y="23622"/>
                  </a:lnTo>
                  <a:lnTo>
                    <a:pt x="18746" y="21794"/>
                  </a:lnTo>
                  <a:lnTo>
                    <a:pt x="12953" y="16002"/>
                  </a:lnTo>
                  <a:close/>
                </a:path>
                <a:path w="958214" h="740409" extrusionOk="0">
                  <a:moveTo>
                    <a:pt x="18746" y="21794"/>
                  </a:moveTo>
                  <a:lnTo>
                    <a:pt x="10667" y="23622"/>
                  </a:lnTo>
                  <a:lnTo>
                    <a:pt x="20573" y="23622"/>
                  </a:lnTo>
                  <a:lnTo>
                    <a:pt x="18746" y="21794"/>
                  </a:lnTo>
                  <a:close/>
                </a:path>
                <a:path w="958214" h="740409" extrusionOk="0">
                  <a:moveTo>
                    <a:pt x="16662" y="16002"/>
                  </a:moveTo>
                  <a:lnTo>
                    <a:pt x="12953" y="16002"/>
                  </a:lnTo>
                  <a:lnTo>
                    <a:pt x="18746" y="21794"/>
                  </a:lnTo>
                  <a:lnTo>
                    <a:pt x="28768" y="19527"/>
                  </a:lnTo>
                  <a:lnTo>
                    <a:pt x="16662" y="16002"/>
                  </a:lnTo>
                  <a:close/>
                </a:path>
                <a:path w="958214" h="740409" extrusionOk="0">
                  <a:moveTo>
                    <a:pt x="51094" y="14478"/>
                  </a:moveTo>
                  <a:lnTo>
                    <a:pt x="11429" y="14478"/>
                  </a:lnTo>
                  <a:lnTo>
                    <a:pt x="28768" y="19527"/>
                  </a:lnTo>
                  <a:lnTo>
                    <a:pt x="51094" y="14478"/>
                  </a:lnTo>
                  <a:close/>
                </a:path>
              </a:pathLst>
            </a:custGeom>
            <a:solidFill>
              <a:srgbClr val="80008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29"/>
            <p:cNvSpPr/>
            <p:nvPr/>
          </p:nvSpPr>
          <p:spPr>
            <a:xfrm>
              <a:off x="2908046" y="8242553"/>
              <a:ext cx="1758950" cy="268025"/>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29"/>
            <p:cNvSpPr/>
            <p:nvPr/>
          </p:nvSpPr>
          <p:spPr>
            <a:xfrm>
              <a:off x="4578096" y="8242553"/>
              <a:ext cx="451484" cy="166370"/>
            </a:xfrm>
            <a:custGeom>
              <a:avLst/>
              <a:gdLst/>
              <a:ahLst/>
              <a:cxnLst/>
              <a:rect l="l" t="t" r="r" b="b"/>
              <a:pathLst>
                <a:path w="451485" h="166370" extrusionOk="0">
                  <a:moveTo>
                    <a:pt x="53339" y="96773"/>
                  </a:moveTo>
                  <a:lnTo>
                    <a:pt x="50291" y="98297"/>
                  </a:lnTo>
                  <a:lnTo>
                    <a:pt x="0" y="152399"/>
                  </a:lnTo>
                  <a:lnTo>
                    <a:pt x="73151" y="166115"/>
                  </a:lnTo>
                  <a:lnTo>
                    <a:pt x="76961" y="165353"/>
                  </a:lnTo>
                  <a:lnTo>
                    <a:pt x="78485" y="162305"/>
                  </a:lnTo>
                  <a:lnTo>
                    <a:pt x="77723" y="158495"/>
                  </a:lnTo>
                  <a:lnTo>
                    <a:pt x="74675" y="156971"/>
                  </a:lnTo>
                  <a:lnTo>
                    <a:pt x="58673" y="153923"/>
                  </a:lnTo>
                  <a:lnTo>
                    <a:pt x="11429" y="153923"/>
                  </a:lnTo>
                  <a:lnTo>
                    <a:pt x="8381" y="144779"/>
                  </a:lnTo>
                  <a:lnTo>
                    <a:pt x="25892" y="138885"/>
                  </a:lnTo>
                  <a:lnTo>
                    <a:pt x="57149" y="104393"/>
                  </a:lnTo>
                  <a:lnTo>
                    <a:pt x="58673" y="101345"/>
                  </a:lnTo>
                  <a:lnTo>
                    <a:pt x="57149" y="97535"/>
                  </a:lnTo>
                  <a:lnTo>
                    <a:pt x="53339" y="96773"/>
                  </a:lnTo>
                  <a:close/>
                </a:path>
                <a:path w="451485" h="166370" extrusionOk="0">
                  <a:moveTo>
                    <a:pt x="25892" y="138885"/>
                  </a:moveTo>
                  <a:lnTo>
                    <a:pt x="8381" y="144779"/>
                  </a:lnTo>
                  <a:lnTo>
                    <a:pt x="11429" y="153923"/>
                  </a:lnTo>
                  <a:lnTo>
                    <a:pt x="13693" y="153161"/>
                  </a:lnTo>
                  <a:lnTo>
                    <a:pt x="12953" y="153161"/>
                  </a:lnTo>
                  <a:lnTo>
                    <a:pt x="10667" y="144779"/>
                  </a:lnTo>
                  <a:lnTo>
                    <a:pt x="20550" y="144779"/>
                  </a:lnTo>
                  <a:lnTo>
                    <a:pt x="25892" y="138885"/>
                  </a:lnTo>
                  <a:close/>
                </a:path>
                <a:path w="451485" h="166370" extrusionOk="0">
                  <a:moveTo>
                    <a:pt x="28502" y="148176"/>
                  </a:moveTo>
                  <a:lnTo>
                    <a:pt x="11429" y="153923"/>
                  </a:lnTo>
                  <a:lnTo>
                    <a:pt x="58673" y="153923"/>
                  </a:lnTo>
                  <a:lnTo>
                    <a:pt x="28502" y="148176"/>
                  </a:lnTo>
                  <a:close/>
                </a:path>
                <a:path w="451485" h="166370" extrusionOk="0">
                  <a:moveTo>
                    <a:pt x="10667" y="144779"/>
                  </a:moveTo>
                  <a:lnTo>
                    <a:pt x="12953" y="153161"/>
                  </a:lnTo>
                  <a:lnTo>
                    <a:pt x="19095" y="146385"/>
                  </a:lnTo>
                  <a:lnTo>
                    <a:pt x="10667" y="144779"/>
                  </a:lnTo>
                  <a:close/>
                </a:path>
                <a:path w="451485" h="166370" extrusionOk="0">
                  <a:moveTo>
                    <a:pt x="19095" y="146385"/>
                  </a:moveTo>
                  <a:lnTo>
                    <a:pt x="12953" y="153161"/>
                  </a:lnTo>
                  <a:lnTo>
                    <a:pt x="13693" y="153161"/>
                  </a:lnTo>
                  <a:lnTo>
                    <a:pt x="28502" y="148176"/>
                  </a:lnTo>
                  <a:lnTo>
                    <a:pt x="19095" y="146385"/>
                  </a:lnTo>
                  <a:close/>
                </a:path>
                <a:path w="451485" h="166370" extrusionOk="0">
                  <a:moveTo>
                    <a:pt x="451005" y="0"/>
                  </a:moveTo>
                  <a:lnTo>
                    <a:pt x="424066" y="0"/>
                  </a:lnTo>
                  <a:lnTo>
                    <a:pt x="402697" y="8000"/>
                  </a:lnTo>
                  <a:lnTo>
                    <a:pt x="309981" y="41449"/>
                  </a:lnTo>
                  <a:lnTo>
                    <a:pt x="25892" y="138885"/>
                  </a:lnTo>
                  <a:lnTo>
                    <a:pt x="19095" y="146385"/>
                  </a:lnTo>
                  <a:lnTo>
                    <a:pt x="28502" y="148176"/>
                  </a:lnTo>
                  <a:lnTo>
                    <a:pt x="222289" y="82641"/>
                  </a:lnTo>
                  <a:lnTo>
                    <a:pt x="344250" y="39613"/>
                  </a:lnTo>
                  <a:lnTo>
                    <a:pt x="400772" y="18921"/>
                  </a:lnTo>
                  <a:lnTo>
                    <a:pt x="451005" y="0"/>
                  </a:lnTo>
                  <a:close/>
                </a:path>
                <a:path w="451485" h="166370" extrusionOk="0">
                  <a:moveTo>
                    <a:pt x="20550" y="144779"/>
                  </a:moveTo>
                  <a:lnTo>
                    <a:pt x="10667" y="144779"/>
                  </a:lnTo>
                  <a:lnTo>
                    <a:pt x="19095" y="146385"/>
                  </a:lnTo>
                  <a:lnTo>
                    <a:pt x="20550" y="144779"/>
                  </a:lnTo>
                  <a:close/>
                </a:path>
              </a:pathLst>
            </a:custGeom>
            <a:solidFill>
              <a:srgbClr val="80008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29"/>
            <p:cNvSpPr/>
            <p:nvPr/>
          </p:nvSpPr>
          <p:spPr>
            <a:xfrm>
              <a:off x="1491996" y="9230867"/>
              <a:ext cx="4572000" cy="5715"/>
            </a:xfrm>
            <a:custGeom>
              <a:avLst/>
              <a:gdLst/>
              <a:ahLst/>
              <a:cxnLst/>
              <a:rect l="l" t="t" r="r" b="b"/>
              <a:pathLst>
                <a:path w="4572000" h="5715" extrusionOk="0">
                  <a:moveTo>
                    <a:pt x="4572000" y="0"/>
                  </a:moveTo>
                  <a:lnTo>
                    <a:pt x="0" y="0"/>
                  </a:lnTo>
                  <a:lnTo>
                    <a:pt x="0" y="5334"/>
                  </a:lnTo>
                  <a:lnTo>
                    <a:pt x="4572000" y="5334"/>
                  </a:lnTo>
                  <a:lnTo>
                    <a:pt x="4572000"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2" name="Google Shape;202;p29"/>
          <p:cNvSpPr/>
          <p:nvPr/>
        </p:nvSpPr>
        <p:spPr>
          <a:xfrm>
            <a:off x="228600" y="3276600"/>
            <a:ext cx="8458200" cy="707886"/>
          </a:xfrm>
          <a:prstGeom prst="rect">
            <a:avLst/>
          </a:prstGeom>
          <a:noFill/>
          <a:ln>
            <a:noFill/>
          </a:ln>
        </p:spPr>
        <p:txBody>
          <a:bodyPr spcFirstLastPara="1" wrap="square" lIns="91425" tIns="45700" rIns="91425" bIns="45700" anchor="t" anchorCtr="0">
            <a:noAutofit/>
          </a:bodyPr>
          <a:lstStyle/>
          <a:p>
            <a:pPr marL="0" marR="5080" lvl="0" indent="0" algn="l" rtl="0">
              <a:lnSpc>
                <a:spcPct val="100000"/>
              </a:lnSpc>
              <a:spcBef>
                <a:spcPts val="0"/>
              </a:spcBef>
              <a:spcAft>
                <a:spcPts val="0"/>
              </a:spcAft>
              <a:buNone/>
            </a:pPr>
            <a:r>
              <a:rPr lang="en-US" sz="2000">
                <a:solidFill>
                  <a:schemeClr val="dk1"/>
                </a:solidFill>
                <a:latin typeface="Calibri"/>
                <a:ea typeface="Calibri"/>
                <a:cs typeface="Calibri"/>
                <a:sym typeface="Calibri"/>
              </a:rPr>
              <a:t>Again, the probability of an event given that another event  has occurred is called a conditional probability…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0"/>
          <p:cNvSpPr/>
          <p:nvPr/>
        </p:nvSpPr>
        <p:spPr>
          <a:xfrm>
            <a:off x="0" y="228600"/>
            <a:ext cx="8991600" cy="255454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Example What’s the probability that a fund will outperform the market given that the manager graduated from a top-20 MBA program?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Recall: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accent2"/>
                </a:solidFill>
                <a:latin typeface="Calibri"/>
                <a:ea typeface="Calibri"/>
                <a:cs typeface="Calibri"/>
                <a:sym typeface="Calibri"/>
              </a:rPr>
              <a:t>A1 = Fund manager graduated from a top-20 MBA program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A2 = Fund manager did not graduate from a top-20 MBA program</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 B1 = Fund outperforms the market</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 </a:t>
            </a:r>
            <a:r>
              <a:rPr lang="en-US" sz="2000">
                <a:solidFill>
                  <a:schemeClr val="accent2"/>
                </a:solidFill>
                <a:latin typeface="Calibri"/>
                <a:ea typeface="Calibri"/>
                <a:cs typeface="Calibri"/>
                <a:sym typeface="Calibri"/>
              </a:rPr>
              <a:t>B2 = Fund does not outperform the market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Thus, we want to know “what is P(B1 | A1)</a:t>
            </a:r>
            <a:endParaRPr/>
          </a:p>
        </p:txBody>
      </p:sp>
      <p:pic>
        <p:nvPicPr>
          <p:cNvPr id="208" name="Google Shape;208;p30"/>
          <p:cNvPicPr preferRelativeResize="0"/>
          <p:nvPr/>
        </p:nvPicPr>
        <p:blipFill rotWithShape="1">
          <a:blip r:embed="rId3">
            <a:alphaModFix/>
          </a:blip>
          <a:srcRect/>
          <a:stretch/>
        </p:blipFill>
        <p:spPr>
          <a:xfrm>
            <a:off x="1371600" y="2819400"/>
            <a:ext cx="5181600" cy="3143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p:nvPr/>
        </p:nvSpPr>
        <p:spPr>
          <a:xfrm>
            <a:off x="152400" y="304800"/>
            <a:ext cx="8001000" cy="36009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400">
                <a:solidFill>
                  <a:schemeClr val="dk1"/>
                </a:solidFill>
                <a:latin typeface="Calibri"/>
                <a:ea typeface="Calibri"/>
                <a:cs typeface="Calibri"/>
                <a:sym typeface="Calibri"/>
              </a:rPr>
              <a:t>Independence</a:t>
            </a:r>
            <a:endParaRPr/>
          </a:p>
          <a:p>
            <a:pPr marL="0" marR="0" lvl="0" indent="0" algn="l" rtl="0">
              <a:spcBef>
                <a:spcPts val="0"/>
              </a:spcBef>
              <a:spcAft>
                <a:spcPts val="0"/>
              </a:spcAft>
              <a:buNone/>
            </a:pPr>
            <a:endParaRPr sz="44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One of the objectives of calculating conditional probability is to determine whether two events are related.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In particular, we would like to know whether they are independent, that is, if the probability of one event is not affected by the occurrence of the other event.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Two events A and B are said to be independent if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P(A|B) = P(A) or P(B|A) = P(B)</a:t>
            </a:r>
            <a:endParaRPr/>
          </a:p>
        </p:txBody>
      </p:sp>
      <p:sp>
        <p:nvSpPr>
          <p:cNvPr id="214" name="Google Shape;214;p31"/>
          <p:cNvSpPr/>
          <p:nvPr/>
        </p:nvSpPr>
        <p:spPr>
          <a:xfrm>
            <a:off x="152400" y="4191000"/>
            <a:ext cx="8991600" cy="19389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For example, we saw that P(B1 | A1) = .275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The marginal probability for B1 is: P(B1) = 0.17</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 Since P(B1|A1) ≠ P(B1), B1 and A1 are not independent events.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Stated another way, they are dependent.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That is, the probability of one event (B1) is affected by the occurrence of the other event (A1).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2"/>
          <p:cNvSpPr/>
          <p:nvPr/>
        </p:nvSpPr>
        <p:spPr>
          <a:xfrm>
            <a:off x="0" y="609600"/>
            <a:ext cx="9372600" cy="1438855"/>
          </a:xfrm>
          <a:prstGeom prst="rect">
            <a:avLst/>
          </a:prstGeom>
          <a:noFill/>
          <a:ln>
            <a:noFill/>
          </a:ln>
        </p:spPr>
        <p:txBody>
          <a:bodyPr spcFirstLastPara="1" wrap="square" lIns="91425" tIns="45700" rIns="91425" bIns="45700" anchor="t" anchorCtr="0">
            <a:noAutofit/>
          </a:bodyPr>
          <a:lstStyle/>
          <a:p>
            <a:pPr marL="145415" marR="0" lvl="0" indent="0" algn="l" rtl="0">
              <a:lnSpc>
                <a:spcPct val="100000"/>
              </a:lnSpc>
              <a:spcBef>
                <a:spcPts val="0"/>
              </a:spcBef>
              <a:spcAft>
                <a:spcPts val="0"/>
              </a:spcAft>
              <a:buNone/>
            </a:pPr>
            <a:r>
              <a:rPr lang="en-US" sz="4400">
                <a:solidFill>
                  <a:schemeClr val="dk1"/>
                </a:solidFill>
                <a:latin typeface="Calibri"/>
                <a:ea typeface="Calibri"/>
                <a:cs typeface="Calibri"/>
                <a:sym typeface="Calibri"/>
              </a:rPr>
              <a:t>Union Example:</a:t>
            </a:r>
            <a:endParaRPr/>
          </a:p>
          <a:p>
            <a:pPr marL="159385" marR="48260" lvl="0" indent="-159385" algn="l" rtl="0">
              <a:lnSpc>
                <a:spcPct val="100000"/>
              </a:lnSpc>
              <a:spcBef>
                <a:spcPts val="860"/>
              </a:spcBef>
              <a:spcAft>
                <a:spcPts val="0"/>
              </a:spcAft>
              <a:buClr>
                <a:srgbClr val="FF0000"/>
              </a:buClr>
              <a:buSzPts val="1800"/>
              <a:buFont typeface="Arial"/>
              <a:buChar char="•"/>
            </a:pPr>
            <a:r>
              <a:rPr lang="en-US" sz="1800" b="1">
                <a:solidFill>
                  <a:srgbClr val="FF0000"/>
                </a:solidFill>
                <a:latin typeface="Calibri"/>
                <a:ea typeface="Calibri"/>
                <a:cs typeface="Calibri"/>
                <a:sym typeface="Calibri"/>
              </a:rPr>
              <a:t>Determine the probability that a fund outperforms (B1) or the manager graduated from a top-20 MBA program (A1).</a:t>
            </a:r>
            <a:endParaRPr/>
          </a:p>
        </p:txBody>
      </p:sp>
      <p:pic>
        <p:nvPicPr>
          <p:cNvPr id="220" name="Google Shape;220;p32"/>
          <p:cNvPicPr preferRelativeResize="0"/>
          <p:nvPr/>
        </p:nvPicPr>
        <p:blipFill rotWithShape="1">
          <a:blip r:embed="rId3">
            <a:alphaModFix/>
          </a:blip>
          <a:srcRect/>
          <a:stretch/>
        </p:blipFill>
        <p:spPr>
          <a:xfrm>
            <a:off x="457200" y="1981200"/>
            <a:ext cx="5029200" cy="2667000"/>
          </a:xfrm>
          <a:prstGeom prst="rect">
            <a:avLst/>
          </a:prstGeom>
          <a:noFill/>
          <a:ln>
            <a:noFill/>
          </a:ln>
        </p:spPr>
      </p:pic>
      <p:pic>
        <p:nvPicPr>
          <p:cNvPr id="221" name="Google Shape;221;p32"/>
          <p:cNvPicPr preferRelativeResize="0"/>
          <p:nvPr/>
        </p:nvPicPr>
        <p:blipFill rotWithShape="1">
          <a:blip r:embed="rId4">
            <a:alphaModFix/>
          </a:blip>
          <a:srcRect/>
          <a:stretch/>
        </p:blipFill>
        <p:spPr>
          <a:xfrm>
            <a:off x="2743200" y="4000500"/>
            <a:ext cx="5534025" cy="2857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3"/>
          <p:cNvSpPr/>
          <p:nvPr/>
        </p:nvSpPr>
        <p:spPr>
          <a:xfrm>
            <a:off x="762000" y="1044245"/>
            <a:ext cx="7848600" cy="337707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4400">
                <a:solidFill>
                  <a:schemeClr val="dk1"/>
                </a:solidFill>
                <a:latin typeface="Calibri"/>
                <a:ea typeface="Calibri"/>
                <a:cs typeface="Calibri"/>
                <a:sym typeface="Calibri"/>
              </a:rPr>
              <a:t>Probability Rules and Trees	</a:t>
            </a:r>
            <a:endParaRPr/>
          </a:p>
          <a:p>
            <a:pPr marL="51435" marR="5080" lvl="0" indent="0" algn="l" rtl="0">
              <a:lnSpc>
                <a:spcPct val="100000"/>
              </a:lnSpc>
              <a:spcBef>
                <a:spcPts val="865"/>
              </a:spcBef>
              <a:spcAft>
                <a:spcPts val="0"/>
              </a:spcAft>
              <a:buNone/>
            </a:pPr>
            <a:r>
              <a:rPr lang="en-US" sz="1800">
                <a:solidFill>
                  <a:schemeClr val="dk1"/>
                </a:solidFill>
                <a:latin typeface="Times New Roman"/>
                <a:ea typeface="Times New Roman"/>
                <a:cs typeface="Times New Roman"/>
                <a:sym typeface="Times New Roman"/>
              </a:rPr>
              <a:t>We introduce three rules that enable us to calculate the  probability of more complex events from the probability of  simpler events…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50"/>
              </a:spcBef>
              <a:spcAft>
                <a:spcPts val="0"/>
              </a:spcAft>
              <a:buNone/>
            </a:pPr>
            <a:endParaRPr sz="2800">
              <a:solidFill>
                <a:schemeClr val="dk1"/>
              </a:solidFill>
              <a:latin typeface="Times New Roman"/>
              <a:ea typeface="Times New Roman"/>
              <a:cs typeface="Times New Roman"/>
              <a:sym typeface="Times New Roman"/>
            </a:endParaRPr>
          </a:p>
          <a:p>
            <a:pPr marL="51435"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The Complement Rule,</a:t>
            </a:r>
            <a:endParaRPr sz="1800">
              <a:solidFill>
                <a:schemeClr val="dk1"/>
              </a:solidFill>
              <a:latin typeface="Times New Roman"/>
              <a:ea typeface="Times New Roman"/>
              <a:cs typeface="Times New Roman"/>
              <a:sym typeface="Times New Roman"/>
            </a:endParaRPr>
          </a:p>
          <a:p>
            <a:pPr marL="51435" marR="2148840" lvl="0" indent="0" algn="l" rtl="0">
              <a:lnSpc>
                <a:spcPct val="240000"/>
              </a:lnSpc>
              <a:spcBef>
                <a:spcPts val="0"/>
              </a:spcBef>
              <a:spcAft>
                <a:spcPts val="0"/>
              </a:spcAft>
              <a:buNone/>
            </a:pPr>
            <a:r>
              <a:rPr lang="en-US" sz="1800">
                <a:solidFill>
                  <a:schemeClr val="dk1"/>
                </a:solidFill>
                <a:latin typeface="Times New Roman"/>
                <a:ea typeface="Times New Roman"/>
                <a:cs typeface="Times New Roman"/>
                <a:sym typeface="Times New Roman"/>
              </a:rPr>
              <a:t>The Multiplication Rule, and  </a:t>
            </a:r>
            <a:endParaRPr/>
          </a:p>
          <a:p>
            <a:pPr marL="51435" marR="2148840" lvl="0" indent="0" algn="l" rtl="0">
              <a:lnSpc>
                <a:spcPct val="240000"/>
              </a:lnSpc>
              <a:spcBef>
                <a:spcPts val="0"/>
              </a:spcBef>
              <a:spcAft>
                <a:spcPts val="0"/>
              </a:spcAft>
              <a:buNone/>
            </a:pPr>
            <a:r>
              <a:rPr lang="en-US" sz="1800">
                <a:solidFill>
                  <a:schemeClr val="dk1"/>
                </a:solidFill>
                <a:latin typeface="Times New Roman"/>
                <a:ea typeface="Times New Roman"/>
                <a:cs typeface="Times New Roman"/>
                <a:sym typeface="Times New Roman"/>
              </a:rPr>
              <a:t>The Addition Rule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Complement Rule</a:t>
            </a:r>
            <a:endParaRPr/>
          </a:p>
        </p:txBody>
      </p:sp>
      <p:sp>
        <p:nvSpPr>
          <p:cNvPr id="232" name="Google Shape;232;p34"/>
          <p:cNvSpPr txBox="1">
            <a:spLocks noGrp="1"/>
          </p:cNvSpPr>
          <p:nvPr>
            <p:ph type="body" idx="1"/>
          </p:nvPr>
        </p:nvSpPr>
        <p:spPr>
          <a:xfrm>
            <a:off x="457200" y="1600200"/>
            <a:ext cx="8229600" cy="2431435"/>
          </a:xfrm>
          <a:prstGeom prst="rect">
            <a:avLst/>
          </a:prstGeom>
          <a:noFill/>
          <a:ln>
            <a:noFill/>
          </a:ln>
        </p:spPr>
        <p:txBody>
          <a:bodyPr spcFirstLastPara="1" wrap="square" lIns="91425" tIns="45700" rIns="91425" bIns="45700" anchor="t" anchorCtr="0">
            <a:spAutoFit/>
          </a:bodyPr>
          <a:lstStyle/>
          <a:p>
            <a:pPr marL="342900" lvl="0" indent="-342900" algn="l" rtl="0">
              <a:spcBef>
                <a:spcPts val="0"/>
              </a:spcBef>
              <a:spcAft>
                <a:spcPts val="0"/>
              </a:spcAft>
              <a:buClr>
                <a:schemeClr val="dk1"/>
              </a:buClr>
              <a:buSzPts val="2000"/>
              <a:buChar char="•"/>
            </a:pPr>
            <a:r>
              <a:rPr lang="en-US" sz="2000"/>
              <a:t>As we saw earlier with the complement event, the complement rule gives us the probability of an event NOT occurring. </a:t>
            </a:r>
            <a:endParaRPr/>
          </a:p>
          <a:p>
            <a:pPr marL="342900" lvl="0" indent="-342900" algn="l" rtl="0">
              <a:spcBef>
                <a:spcPts val="400"/>
              </a:spcBef>
              <a:spcAft>
                <a:spcPts val="0"/>
              </a:spcAft>
              <a:buClr>
                <a:schemeClr val="dk1"/>
              </a:buClr>
              <a:buSzPts val="2000"/>
              <a:buChar char="•"/>
            </a:pPr>
            <a:r>
              <a:rPr lang="en-US" sz="2000"/>
              <a:t>That is: P(AC) = 1 – P(A) </a:t>
            </a:r>
            <a:endParaRPr/>
          </a:p>
          <a:p>
            <a:pPr marL="342900" lvl="0" indent="-342900" algn="l" rtl="0">
              <a:spcBef>
                <a:spcPts val="400"/>
              </a:spcBef>
              <a:spcAft>
                <a:spcPts val="0"/>
              </a:spcAft>
              <a:buClr>
                <a:schemeClr val="dk1"/>
              </a:buClr>
              <a:buSzPts val="2000"/>
              <a:buChar char="•"/>
            </a:pPr>
            <a:r>
              <a:rPr lang="en-US" sz="2000"/>
              <a:t>For example, in the simple roll of a die, the probability of the number “1” being rolled is 1/6 </a:t>
            </a:r>
            <a:endParaRPr/>
          </a:p>
          <a:p>
            <a:pPr marL="342900" lvl="0" indent="-342900" algn="l" rtl="0">
              <a:spcBef>
                <a:spcPts val="400"/>
              </a:spcBef>
              <a:spcAft>
                <a:spcPts val="0"/>
              </a:spcAft>
              <a:buClr>
                <a:schemeClr val="dk1"/>
              </a:buClr>
              <a:buSzPts val="2000"/>
              <a:buChar char="•"/>
            </a:pPr>
            <a:r>
              <a:rPr lang="en-US" sz="2000"/>
              <a:t>The probability that some number other than “1” will be rolled is 1 – 1/6 = 5/6.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5"/>
          <p:cNvSpPr/>
          <p:nvPr/>
        </p:nvSpPr>
        <p:spPr>
          <a:xfrm>
            <a:off x="609600" y="381000"/>
            <a:ext cx="8001000" cy="52963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4400">
                <a:solidFill>
                  <a:schemeClr val="dk1"/>
                </a:solidFill>
                <a:latin typeface="Calibri"/>
                <a:ea typeface="Calibri"/>
                <a:cs typeface="Calibri"/>
                <a:sym typeface="Calibri"/>
              </a:rPr>
              <a:t>Multiplication Rule</a:t>
            </a:r>
            <a:endParaRPr/>
          </a:p>
          <a:p>
            <a:pPr marL="0" marR="0" lvl="0" indent="0" algn="l" rtl="0">
              <a:spcBef>
                <a:spcPts val="100"/>
              </a:spcBef>
              <a:spcAft>
                <a:spcPts val="0"/>
              </a:spcAft>
              <a:buNone/>
            </a:pPr>
            <a:r>
              <a:rPr lang="en-US" sz="2000">
                <a:solidFill>
                  <a:schemeClr val="dk1"/>
                </a:solidFill>
                <a:latin typeface="Calibri"/>
                <a:ea typeface="Calibri"/>
                <a:cs typeface="Calibri"/>
                <a:sym typeface="Calibri"/>
              </a:rPr>
              <a:t>The multiplication rule is used to calculate the joint  probability of two events. It is based on the formula for  conditional probability defined earlier:</a:t>
            </a:r>
            <a:endParaRPr/>
          </a:p>
          <a:p>
            <a:pPr marL="0" marR="0" lvl="0" indent="0" algn="l" rtl="0">
              <a:lnSpc>
                <a:spcPct val="100000"/>
              </a:lnSpc>
              <a:spcBef>
                <a:spcPts val="100"/>
              </a:spcBef>
              <a:spcAft>
                <a:spcPts val="0"/>
              </a:spcAft>
              <a:buNone/>
            </a:pPr>
            <a:endParaRPr sz="2000">
              <a:solidFill>
                <a:schemeClr val="dk1"/>
              </a:solidFill>
              <a:latin typeface="Calibri"/>
              <a:ea typeface="Calibri"/>
              <a:cs typeface="Calibri"/>
              <a:sym typeface="Calibri"/>
            </a:endParaRPr>
          </a:p>
          <a:p>
            <a:pPr marL="0" marR="0" lvl="0" indent="0" algn="l" rtl="0">
              <a:lnSpc>
                <a:spcPct val="100000"/>
              </a:lnSpc>
              <a:spcBef>
                <a:spcPts val="100"/>
              </a:spcBef>
              <a:spcAft>
                <a:spcPts val="0"/>
              </a:spcAft>
              <a:buNone/>
            </a:pPr>
            <a:endParaRPr sz="2000">
              <a:solidFill>
                <a:schemeClr val="dk1"/>
              </a:solidFill>
              <a:latin typeface="Calibri"/>
              <a:ea typeface="Calibri"/>
              <a:cs typeface="Calibri"/>
              <a:sym typeface="Calibri"/>
            </a:endParaRPr>
          </a:p>
          <a:p>
            <a:pPr marL="0" marR="0" lvl="0" indent="0" algn="l" rtl="0">
              <a:lnSpc>
                <a:spcPct val="100000"/>
              </a:lnSpc>
              <a:spcBef>
                <a:spcPts val="100"/>
              </a:spcBef>
              <a:spcAft>
                <a:spcPts val="0"/>
              </a:spcAft>
              <a:buNone/>
            </a:pPr>
            <a:endParaRPr sz="2000">
              <a:solidFill>
                <a:schemeClr val="dk1"/>
              </a:solidFill>
              <a:latin typeface="Calibri"/>
              <a:ea typeface="Calibri"/>
              <a:cs typeface="Calibri"/>
              <a:sym typeface="Calibri"/>
            </a:endParaRPr>
          </a:p>
          <a:p>
            <a:pPr marL="0" marR="0" lvl="0" indent="0" algn="l" rtl="0">
              <a:lnSpc>
                <a:spcPct val="100000"/>
              </a:lnSpc>
              <a:spcBef>
                <a:spcPts val="100"/>
              </a:spcBef>
              <a:spcAft>
                <a:spcPts val="0"/>
              </a:spcAft>
              <a:buNone/>
            </a:pPr>
            <a:r>
              <a:rPr lang="en-US" sz="2000">
                <a:solidFill>
                  <a:schemeClr val="dk1"/>
                </a:solidFill>
                <a:latin typeface="Calibri"/>
                <a:ea typeface="Calibri"/>
                <a:cs typeface="Calibri"/>
                <a:sym typeface="Calibri"/>
              </a:rPr>
              <a:t>If we multiply both sides of the equation by P(B) we have:</a:t>
            </a:r>
            <a:endParaRPr/>
          </a:p>
          <a:p>
            <a:pPr marL="0" marR="0" lvl="0" indent="0" algn="l" rtl="0">
              <a:lnSpc>
                <a:spcPct val="100000"/>
              </a:lnSpc>
              <a:spcBef>
                <a:spcPts val="0"/>
              </a:spcBef>
              <a:spcAft>
                <a:spcPts val="0"/>
              </a:spcAft>
              <a:buNone/>
            </a:pPr>
            <a:endParaRPr sz="2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2000">
                <a:solidFill>
                  <a:schemeClr val="dk1"/>
                </a:solidFill>
                <a:latin typeface="Calibri"/>
                <a:ea typeface="Calibri"/>
                <a:cs typeface="Calibri"/>
                <a:sym typeface="Calibri"/>
              </a:rPr>
              <a:t>P(A and B) = P(A | B)•P(B)</a:t>
            </a:r>
            <a:endParaRPr/>
          </a:p>
          <a:p>
            <a:pPr marL="0" marR="0" lvl="0" indent="0" algn="l" rtl="0">
              <a:lnSpc>
                <a:spcPct val="100000"/>
              </a:lnSpc>
              <a:spcBef>
                <a:spcPts val="5"/>
              </a:spcBef>
              <a:spcAft>
                <a:spcPts val="0"/>
              </a:spcAft>
              <a:buNone/>
            </a:pPr>
            <a:endParaRPr sz="2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2000">
                <a:solidFill>
                  <a:schemeClr val="dk1"/>
                </a:solidFill>
                <a:latin typeface="Calibri"/>
                <a:ea typeface="Calibri"/>
                <a:cs typeface="Calibri"/>
                <a:sym typeface="Calibri"/>
              </a:rPr>
              <a:t>Likewise, P(A and B) = P(B | A) • P(A)</a:t>
            </a:r>
            <a:endParaRPr/>
          </a:p>
          <a:p>
            <a:pPr marL="0" marR="0" lvl="0" indent="0" algn="l" rtl="0">
              <a:lnSpc>
                <a:spcPct val="100000"/>
              </a:lnSpc>
              <a:spcBef>
                <a:spcPts val="0"/>
              </a:spcBef>
              <a:spcAft>
                <a:spcPts val="0"/>
              </a:spcAft>
              <a:buNone/>
            </a:pPr>
            <a:endParaRPr sz="2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2000">
                <a:solidFill>
                  <a:schemeClr val="dk1"/>
                </a:solidFill>
                <a:latin typeface="Calibri"/>
                <a:ea typeface="Calibri"/>
                <a:cs typeface="Calibri"/>
                <a:sym typeface="Calibri"/>
              </a:rPr>
              <a:t>If A and B are independent events, then P(A and B) = P(A)•P(B)</a:t>
            </a:r>
            <a:endParaRPr/>
          </a:p>
          <a:p>
            <a:pPr marL="0" marR="0" lvl="0" indent="0" algn="l" rtl="0">
              <a:lnSpc>
                <a:spcPct val="100000"/>
              </a:lnSpc>
              <a:spcBef>
                <a:spcPts val="1210"/>
              </a:spcBef>
              <a:spcAft>
                <a:spcPts val="0"/>
              </a:spcAft>
              <a:buNone/>
            </a:pPr>
            <a:r>
              <a:rPr lang="en-US" sz="2000">
                <a:solidFill>
                  <a:schemeClr val="dk1"/>
                </a:solidFill>
                <a:latin typeface="Calibri"/>
                <a:ea typeface="Calibri"/>
                <a:cs typeface="Calibri"/>
                <a:sym typeface="Calibri"/>
              </a:rPr>
              <a:t>	</a:t>
            </a:r>
            <a:endParaRPr/>
          </a:p>
        </p:txBody>
      </p:sp>
      <p:sp>
        <p:nvSpPr>
          <p:cNvPr id="238" name="Google Shape;238;p35"/>
          <p:cNvSpPr/>
          <p:nvPr/>
        </p:nvSpPr>
        <p:spPr>
          <a:xfrm>
            <a:off x="2895600" y="2209800"/>
            <a:ext cx="1797285" cy="45085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Example</a:t>
            </a:r>
            <a:endParaRPr/>
          </a:p>
        </p:txBody>
      </p:sp>
      <p:sp>
        <p:nvSpPr>
          <p:cNvPr id="244" name="Google Shape;244;p36"/>
          <p:cNvSpPr txBox="1">
            <a:spLocks noGrp="1"/>
          </p:cNvSpPr>
          <p:nvPr>
            <p:ph type="body" idx="1"/>
          </p:nvPr>
        </p:nvSpPr>
        <p:spPr>
          <a:xfrm>
            <a:off x="0" y="1600200"/>
            <a:ext cx="9144000" cy="4953000"/>
          </a:xfrm>
          <a:prstGeom prst="rect">
            <a:avLst/>
          </a:prstGeom>
          <a:noFill/>
          <a:ln>
            <a:noFill/>
          </a:ln>
        </p:spPr>
        <p:txBody>
          <a:bodyPr spcFirstLastPara="1" wrap="square" lIns="91425" tIns="45700" rIns="91425" bIns="45700" anchor="t" anchorCtr="0">
            <a:noAutofit/>
          </a:bodyPr>
          <a:lstStyle/>
          <a:p>
            <a:pPr marL="159385" marR="48260" lvl="0" indent="-159385" algn="l" rtl="0">
              <a:spcBef>
                <a:spcPts val="0"/>
              </a:spcBef>
              <a:spcAft>
                <a:spcPts val="0"/>
              </a:spcAft>
              <a:buClr>
                <a:srgbClr val="FF0000"/>
              </a:buClr>
              <a:buSzPts val="1800"/>
              <a:buChar char="•"/>
            </a:pPr>
            <a:r>
              <a:rPr lang="en-US" sz="1800" b="1">
                <a:solidFill>
                  <a:srgbClr val="FF0000"/>
                </a:solidFill>
              </a:rPr>
              <a:t>A graduate statistics course has seven male and three female students. The professor wants to select two students at random to help her conduct a research project. What is the probability that the two students chosen are female? probability that the two students chosen are female?</a:t>
            </a:r>
            <a:endParaRPr/>
          </a:p>
          <a:p>
            <a:pPr marL="51435" marR="158750" lvl="0" indent="-51435" algn="l" rtl="0">
              <a:lnSpc>
                <a:spcPct val="185000"/>
              </a:lnSpc>
              <a:spcBef>
                <a:spcPts val="440"/>
              </a:spcBef>
              <a:spcAft>
                <a:spcPts val="0"/>
              </a:spcAft>
              <a:buClr>
                <a:schemeClr val="dk1"/>
              </a:buClr>
              <a:buSzPts val="2000"/>
              <a:buChar char="•"/>
            </a:pPr>
            <a:r>
              <a:rPr lang="en-US" sz="2000">
                <a:latin typeface="Times New Roman"/>
                <a:ea typeface="Times New Roman"/>
                <a:cs typeface="Times New Roman"/>
                <a:sym typeface="Times New Roman"/>
              </a:rPr>
              <a:t>Let A represent the event that the first student is female  P(A) = 3/10 = .30</a:t>
            </a:r>
            <a:endParaRPr/>
          </a:p>
          <a:p>
            <a:pPr marL="51435" marR="158750" lvl="0" indent="-51435" algn="l" rtl="0">
              <a:lnSpc>
                <a:spcPct val="185000"/>
              </a:lnSpc>
              <a:spcBef>
                <a:spcPts val="440"/>
              </a:spcBef>
              <a:spcAft>
                <a:spcPts val="0"/>
              </a:spcAft>
              <a:buClr>
                <a:schemeClr val="dk1"/>
              </a:buClr>
              <a:buSzPts val="2000"/>
              <a:buChar char="•"/>
            </a:pPr>
            <a:r>
              <a:rPr lang="en-US" sz="2000">
                <a:latin typeface="Times New Roman"/>
                <a:ea typeface="Times New Roman"/>
                <a:cs typeface="Times New Roman"/>
                <a:sym typeface="Times New Roman"/>
              </a:rPr>
              <a:t>Let B represent the event that the second student is female  P(B | A) = 2/9 = .22</a:t>
            </a:r>
            <a:endParaRPr sz="2000">
              <a:latin typeface="Times New Roman"/>
              <a:ea typeface="Times New Roman"/>
              <a:cs typeface="Times New Roman"/>
              <a:sym typeface="Times New Roman"/>
            </a:endParaRPr>
          </a:p>
          <a:p>
            <a:pPr marL="51435" marR="154940" lvl="0" indent="-51435" algn="l" rtl="0">
              <a:lnSpc>
                <a:spcPct val="755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That is, the probability of choosing a female student </a:t>
            </a:r>
            <a:r>
              <a:rPr lang="en-US" sz="2000" b="1" i="1">
                <a:latin typeface="Times New Roman"/>
                <a:ea typeface="Times New Roman"/>
                <a:cs typeface="Times New Roman"/>
                <a:sym typeface="Times New Roman"/>
              </a:rPr>
              <a:t>given  </a:t>
            </a:r>
            <a:r>
              <a:rPr lang="en-US" sz="2000">
                <a:latin typeface="Times New Roman"/>
                <a:ea typeface="Times New Roman"/>
                <a:cs typeface="Times New Roman"/>
                <a:sym typeface="Times New Roman"/>
              </a:rPr>
              <a:t>that the first student </a:t>
            </a:r>
            <a:endParaRPr/>
          </a:p>
          <a:p>
            <a:pPr marL="51435" marR="154940" lvl="0" indent="-51435" algn="l" rtl="0">
              <a:lnSpc>
                <a:spcPct val="75500"/>
              </a:lnSpc>
              <a:spcBef>
                <a:spcPts val="400"/>
              </a:spcBef>
              <a:spcAft>
                <a:spcPts val="0"/>
              </a:spcAft>
              <a:buClr>
                <a:schemeClr val="dk1"/>
              </a:buClr>
              <a:buSzPts val="2000"/>
              <a:buNone/>
            </a:pPr>
            <a:r>
              <a:rPr lang="en-US" sz="2000">
                <a:latin typeface="Times New Roman"/>
                <a:ea typeface="Times New Roman"/>
                <a:cs typeface="Times New Roman"/>
                <a:sym typeface="Times New Roman"/>
              </a:rPr>
              <a:t>chosen is 2 (females) / 9 (remaining  students) = 2/9</a:t>
            </a:r>
            <a:endParaRPr/>
          </a:p>
          <a:p>
            <a:pPr marL="51435" marR="154940" lvl="0" indent="-51435" algn="l" rtl="0">
              <a:lnSpc>
                <a:spcPct val="755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51435" marR="5080" lvl="0" indent="-51435" algn="l" rtl="0">
              <a:lnSpc>
                <a:spcPct val="185000"/>
              </a:lnSpc>
              <a:spcBef>
                <a:spcPts val="440"/>
              </a:spcBef>
              <a:spcAft>
                <a:spcPts val="0"/>
              </a:spcAft>
              <a:buClr>
                <a:schemeClr val="dk1"/>
              </a:buClr>
              <a:buSzPts val="2000"/>
              <a:buChar char="•"/>
            </a:pPr>
            <a:r>
              <a:rPr lang="en-US" sz="2000">
                <a:latin typeface="Times New Roman"/>
                <a:ea typeface="Times New Roman"/>
                <a:cs typeface="Times New Roman"/>
                <a:sym typeface="Times New Roman"/>
              </a:rPr>
              <a:t>Thus, we want to answer the question: what is </a:t>
            </a:r>
            <a:r>
              <a:rPr lang="en-US" sz="2000" b="1">
                <a:latin typeface="Times New Roman"/>
                <a:ea typeface="Times New Roman"/>
                <a:cs typeface="Times New Roman"/>
                <a:sym typeface="Times New Roman"/>
              </a:rPr>
              <a:t>P(A and B) </a:t>
            </a:r>
            <a:r>
              <a:rPr lang="en-US" sz="2000">
                <a:latin typeface="Times New Roman"/>
                <a:ea typeface="Times New Roman"/>
                <a:cs typeface="Times New Roman"/>
                <a:sym typeface="Times New Roman"/>
              </a:rPr>
              <a:t>?  </a:t>
            </a:r>
            <a:endParaRPr/>
          </a:p>
          <a:p>
            <a:pPr marL="51435" marR="5080" lvl="0" indent="-51435" algn="l" rtl="0">
              <a:lnSpc>
                <a:spcPct val="185000"/>
              </a:lnSpc>
              <a:spcBef>
                <a:spcPts val="440"/>
              </a:spcBef>
              <a:spcAft>
                <a:spcPts val="0"/>
              </a:spcAft>
              <a:buClr>
                <a:schemeClr val="dk1"/>
              </a:buClr>
              <a:buSzPts val="2000"/>
              <a:buChar char="•"/>
            </a:pPr>
            <a:r>
              <a:rPr lang="en-US" sz="2000">
                <a:latin typeface="Times New Roman"/>
                <a:ea typeface="Times New Roman"/>
                <a:cs typeface="Times New Roman"/>
                <a:sym typeface="Times New Roman"/>
              </a:rPr>
              <a:t>P(A and B) = P(A)•P(B|A) = (3/10)(2/9) = 6/90 = .067</a:t>
            </a:r>
            <a:endParaRPr sz="2000">
              <a:latin typeface="Times New Roman"/>
              <a:ea typeface="Times New Roman"/>
              <a:cs typeface="Times New Roman"/>
              <a:sym typeface="Times New Roman"/>
            </a:endParaRPr>
          </a:p>
          <a:p>
            <a:pPr marL="342900" lvl="0" indent="-215900" algn="l" rtl="0">
              <a:lnSpc>
                <a:spcPct val="100000"/>
              </a:lnSpc>
              <a:spcBef>
                <a:spcPts val="20"/>
              </a:spcBef>
              <a:spcAft>
                <a:spcPts val="0"/>
              </a:spcAft>
              <a:buClr>
                <a:schemeClr val="dk1"/>
              </a:buClr>
              <a:buSzPts val="2000"/>
              <a:buNone/>
            </a:pPr>
            <a:endParaRPr sz="2000">
              <a:latin typeface="Times New Roman"/>
              <a:ea typeface="Times New Roman"/>
              <a:cs typeface="Times New Roman"/>
              <a:sym typeface="Times New Roman"/>
            </a:endParaRPr>
          </a:p>
          <a:p>
            <a:pPr marL="51435" marR="86995" lvl="0" indent="-51435" algn="l" rtl="0">
              <a:lnSpc>
                <a:spcPct val="755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“There is a 6.7% chance that the professor will choose two  female students from her grad class of 10.”</a:t>
            </a:r>
            <a:endParaRPr/>
          </a:p>
          <a:p>
            <a:pPr marL="51435" marR="154940" lvl="0" indent="-51435" algn="l" rtl="0">
              <a:lnSpc>
                <a:spcPct val="755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215900" algn="just" rtl="0">
              <a:spcBef>
                <a:spcPts val="400"/>
              </a:spcBef>
              <a:spcAft>
                <a:spcPts val="0"/>
              </a:spcAft>
              <a:buClr>
                <a:schemeClr val="dk1"/>
              </a:buClr>
              <a:buSzPts val="2000"/>
              <a:buNone/>
            </a:pP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7"/>
          <p:cNvSpPr txBox="1">
            <a:spLocks noGrp="1"/>
          </p:cNvSpPr>
          <p:nvPr>
            <p:ph type="title" idx="4294967295"/>
          </p:nvPr>
        </p:nvSpPr>
        <p:spPr>
          <a:xfrm>
            <a:off x="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Addition Rule</a:t>
            </a:r>
            <a:endParaRPr/>
          </a:p>
        </p:txBody>
      </p:sp>
      <p:sp>
        <p:nvSpPr>
          <p:cNvPr id="250" name="Google Shape;250;p37"/>
          <p:cNvSpPr/>
          <p:nvPr/>
        </p:nvSpPr>
        <p:spPr>
          <a:xfrm>
            <a:off x="304800" y="1447800"/>
            <a:ext cx="8839200" cy="7078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Recall: the addition rule is used to compute the probability of event A or B or both A and B occurring; i.e. the union of A and B.</a:t>
            </a:r>
            <a:endParaRPr/>
          </a:p>
        </p:txBody>
      </p:sp>
      <p:pic>
        <p:nvPicPr>
          <p:cNvPr id="251" name="Google Shape;251;p37"/>
          <p:cNvPicPr preferRelativeResize="0"/>
          <p:nvPr/>
        </p:nvPicPr>
        <p:blipFill rotWithShape="1">
          <a:blip r:embed="rId3">
            <a:alphaModFix/>
          </a:blip>
          <a:srcRect/>
          <a:stretch/>
        </p:blipFill>
        <p:spPr>
          <a:xfrm>
            <a:off x="2581275" y="2562225"/>
            <a:ext cx="3981450" cy="17335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Example</a:t>
            </a:r>
            <a:endParaRPr/>
          </a:p>
        </p:txBody>
      </p:sp>
      <p:sp>
        <p:nvSpPr>
          <p:cNvPr id="257" name="Google Shape;257;p38"/>
          <p:cNvSpPr txBox="1">
            <a:spLocks noGrp="1"/>
          </p:cNvSpPr>
          <p:nvPr>
            <p:ph type="body" idx="1"/>
          </p:nvPr>
        </p:nvSpPr>
        <p:spPr>
          <a:xfrm>
            <a:off x="0" y="1600200"/>
            <a:ext cx="8686800" cy="4525963"/>
          </a:xfrm>
          <a:prstGeom prst="rect">
            <a:avLst/>
          </a:prstGeom>
          <a:noFill/>
          <a:ln>
            <a:noFill/>
          </a:ln>
        </p:spPr>
        <p:txBody>
          <a:bodyPr spcFirstLastPara="1" wrap="square" lIns="91425" tIns="45700" rIns="91425" bIns="45700" anchor="t" anchorCtr="0">
            <a:normAutofit/>
          </a:bodyPr>
          <a:lstStyle/>
          <a:p>
            <a:pPr marL="159385" marR="48260" lvl="0" indent="-159385" algn="l" rtl="0">
              <a:spcBef>
                <a:spcPts val="0"/>
              </a:spcBef>
              <a:spcAft>
                <a:spcPts val="0"/>
              </a:spcAft>
              <a:buClr>
                <a:srgbClr val="FF0000"/>
              </a:buClr>
              <a:buSzPts val="1800"/>
              <a:buChar char="•"/>
            </a:pPr>
            <a:r>
              <a:rPr lang="en-US" sz="1800" b="1">
                <a:solidFill>
                  <a:srgbClr val="FF0000"/>
                </a:solidFill>
              </a:rPr>
              <a:t>In a large city, two newspapers are published, the Sun and the Post. The circulation departments report that 22% of the city’s households have a subscription to the Sun and 35% subscribe to the Post subscribe to the Post. A survey reveals that 6% of all households subscribe to both newspapers. What proportion of the city’s households subscribe to either newspaper? </a:t>
            </a:r>
            <a:endParaRPr/>
          </a:p>
          <a:p>
            <a:pPr marL="342900" lvl="0" indent="-342900" algn="l" rtl="0">
              <a:spcBef>
                <a:spcPts val="400"/>
              </a:spcBef>
              <a:spcAft>
                <a:spcPts val="0"/>
              </a:spcAft>
              <a:buClr>
                <a:schemeClr val="dk1"/>
              </a:buClr>
              <a:buSzPts val="2000"/>
              <a:buChar char="•"/>
            </a:pPr>
            <a:r>
              <a:rPr lang="en-US" sz="2000"/>
              <a:t>P(Sun or Post) = P(Sun) + P(Post) – P(Sun and Post) </a:t>
            </a:r>
            <a:endParaRPr/>
          </a:p>
          <a:p>
            <a:pPr marL="342900" lvl="0" indent="-342900" algn="l" rtl="0">
              <a:spcBef>
                <a:spcPts val="400"/>
              </a:spcBef>
              <a:spcAft>
                <a:spcPts val="0"/>
              </a:spcAft>
              <a:buClr>
                <a:schemeClr val="dk1"/>
              </a:buClr>
              <a:buSzPts val="2000"/>
              <a:buChar char="•"/>
            </a:pPr>
            <a:r>
              <a:rPr lang="en-US" sz="2000"/>
              <a:t>= .22 + .35 – .06 = .51 </a:t>
            </a:r>
            <a:endParaRPr/>
          </a:p>
          <a:p>
            <a:pPr marL="342900" lvl="0" indent="-342900" algn="l" rtl="0">
              <a:spcBef>
                <a:spcPts val="400"/>
              </a:spcBef>
              <a:spcAft>
                <a:spcPts val="0"/>
              </a:spcAft>
              <a:buClr>
                <a:schemeClr val="dk1"/>
              </a:buClr>
              <a:buSzPts val="2000"/>
              <a:buChar char="•"/>
            </a:pPr>
            <a:r>
              <a:rPr lang="en-US" sz="2000"/>
              <a:t>“There is a 51% probability that a randomly selected household subscribes to one or the other or both papers”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Probability Trees</a:t>
            </a:r>
            <a:endParaRPr/>
          </a:p>
        </p:txBody>
      </p:sp>
      <p:sp>
        <p:nvSpPr>
          <p:cNvPr id="263" name="Google Shape;263;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sz="2000"/>
              <a:t>An effective and simpler method of applying the probability rules is the probability tree, wherein the events in an experiment are represented by lines. The resulting figure resembles a tree, hence the name. We will illustrate the probability tree with several examples, including two that we addressed using the probability rules alone.</a:t>
            </a:r>
            <a:endParaRPr sz="2000"/>
          </a:p>
        </p:txBody>
      </p:sp>
      <p:pic>
        <p:nvPicPr>
          <p:cNvPr id="264" name="Google Shape;264;p39"/>
          <p:cNvPicPr preferRelativeResize="0"/>
          <p:nvPr/>
        </p:nvPicPr>
        <p:blipFill rotWithShape="1">
          <a:blip r:embed="rId3">
            <a:alphaModFix/>
          </a:blip>
          <a:srcRect/>
          <a:stretch/>
        </p:blipFill>
        <p:spPr>
          <a:xfrm>
            <a:off x="304800" y="3962400"/>
            <a:ext cx="4267200" cy="1905000"/>
          </a:xfrm>
          <a:prstGeom prst="rect">
            <a:avLst/>
          </a:prstGeom>
          <a:noFill/>
          <a:ln>
            <a:noFill/>
          </a:ln>
        </p:spPr>
      </p:pic>
      <p:pic>
        <p:nvPicPr>
          <p:cNvPr id="265" name="Google Shape;265;p39"/>
          <p:cNvPicPr preferRelativeResize="0"/>
          <p:nvPr/>
        </p:nvPicPr>
        <p:blipFill rotWithShape="1">
          <a:blip r:embed="rId4">
            <a:alphaModFix/>
          </a:blip>
          <a:srcRect/>
          <a:stretch/>
        </p:blipFill>
        <p:spPr>
          <a:xfrm>
            <a:off x="5029200" y="3733800"/>
            <a:ext cx="3733800" cy="2209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Example </a:t>
            </a:r>
            <a:br>
              <a:rPr lang="en-US"/>
            </a:br>
            <a:endParaRPr/>
          </a:p>
        </p:txBody>
      </p:sp>
      <p:sp>
        <p:nvSpPr>
          <p:cNvPr id="271" name="Google Shape;271;p40"/>
          <p:cNvSpPr txBox="1">
            <a:spLocks noGrp="1"/>
          </p:cNvSpPr>
          <p:nvPr>
            <p:ph type="body" idx="1"/>
          </p:nvPr>
        </p:nvSpPr>
        <p:spPr>
          <a:xfrm>
            <a:off x="152400" y="1600200"/>
            <a:ext cx="8839200" cy="4525963"/>
          </a:xfrm>
          <a:prstGeom prst="rect">
            <a:avLst/>
          </a:prstGeom>
          <a:noFill/>
          <a:ln>
            <a:noFill/>
          </a:ln>
        </p:spPr>
        <p:txBody>
          <a:bodyPr spcFirstLastPara="1" wrap="square" lIns="91425" tIns="45700" rIns="91425" bIns="45700" anchor="t" anchorCtr="0">
            <a:normAutofit/>
          </a:bodyPr>
          <a:lstStyle/>
          <a:p>
            <a:pPr marL="159385" marR="48260" lvl="0" indent="-159385" algn="l" rtl="0">
              <a:lnSpc>
                <a:spcPct val="100000"/>
              </a:lnSpc>
              <a:spcBef>
                <a:spcPts val="0"/>
              </a:spcBef>
              <a:spcAft>
                <a:spcPts val="0"/>
              </a:spcAft>
              <a:buClr>
                <a:srgbClr val="FF0000"/>
              </a:buClr>
              <a:buSzPts val="1800"/>
              <a:buChar char="•"/>
            </a:pPr>
            <a:r>
              <a:rPr lang="en-US" sz="1800" b="1">
                <a:solidFill>
                  <a:srgbClr val="FF0000"/>
                </a:solidFill>
              </a:rPr>
              <a:t>Law school grads must pass a bar exam. Suppose pass rate  for first-time test takers is 72%. They can re-write if they fail  and 88% pass their second attempt. What is the probability  that a randomly grad passes the bar?</a:t>
            </a:r>
            <a:endParaRPr/>
          </a:p>
        </p:txBody>
      </p:sp>
      <p:pic>
        <p:nvPicPr>
          <p:cNvPr id="272" name="Google Shape;272;p40"/>
          <p:cNvPicPr preferRelativeResize="0"/>
          <p:nvPr/>
        </p:nvPicPr>
        <p:blipFill rotWithShape="1">
          <a:blip r:embed="rId3">
            <a:alphaModFix/>
          </a:blip>
          <a:srcRect/>
          <a:stretch/>
        </p:blipFill>
        <p:spPr>
          <a:xfrm>
            <a:off x="2514600" y="3733800"/>
            <a:ext cx="3448050" cy="18954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60020" lvl="0" indent="-160020" algn="l" rtl="0">
              <a:lnSpc>
                <a:spcPct val="10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What is the probability that a randomly grad passes the bar?</a:t>
            </a:r>
            <a:endParaRPr sz="2000">
              <a:latin typeface="Times New Roman"/>
              <a:ea typeface="Times New Roman"/>
              <a:cs typeface="Times New Roman"/>
              <a:sym typeface="Times New Roman"/>
            </a:endParaRPr>
          </a:p>
          <a:p>
            <a:pPr marL="360045" lvl="0" indent="-342900" algn="l" rtl="0">
              <a:lnSpc>
                <a:spcPct val="100000"/>
              </a:lnSpc>
              <a:spcBef>
                <a:spcPts val="335"/>
              </a:spcBef>
              <a:spcAft>
                <a:spcPts val="0"/>
              </a:spcAft>
              <a:buClr>
                <a:schemeClr val="dk1"/>
              </a:buClr>
              <a:buSzPts val="2000"/>
              <a:buChar char="•"/>
            </a:pPr>
            <a:r>
              <a:rPr lang="en-US" sz="2000" b="1" i="1">
                <a:latin typeface="Times New Roman"/>
                <a:ea typeface="Times New Roman"/>
                <a:cs typeface="Times New Roman"/>
                <a:sym typeface="Times New Roman"/>
              </a:rPr>
              <a:t>“There is almost a 97% chance they will pass the bar”</a:t>
            </a:r>
            <a:endParaRPr sz="2000">
              <a:latin typeface="Times New Roman"/>
              <a:ea typeface="Times New Roman"/>
              <a:cs typeface="Times New Roman"/>
              <a:sym typeface="Times New Roman"/>
            </a:endParaRPr>
          </a:p>
          <a:p>
            <a:pPr marL="160020" lvl="0" indent="-160020" algn="l" rtl="0">
              <a:lnSpc>
                <a:spcPct val="100000"/>
              </a:lnSpc>
              <a:spcBef>
                <a:spcPts val="340"/>
              </a:spcBef>
              <a:spcAft>
                <a:spcPts val="0"/>
              </a:spcAft>
              <a:buClr>
                <a:schemeClr val="dk1"/>
              </a:buClr>
              <a:buSzPts val="2000"/>
              <a:buChar char="•"/>
            </a:pPr>
            <a:r>
              <a:rPr lang="en-US" sz="2000">
                <a:latin typeface="Times New Roman"/>
                <a:ea typeface="Times New Roman"/>
                <a:cs typeface="Times New Roman"/>
                <a:sym typeface="Times New Roman"/>
              </a:rPr>
              <a:t>P(Pass) = P(Pass 1</a:t>
            </a:r>
            <a:r>
              <a:rPr lang="en-US" sz="2000" baseline="30000">
                <a:latin typeface="Times New Roman"/>
                <a:ea typeface="Times New Roman"/>
                <a:cs typeface="Times New Roman"/>
                <a:sym typeface="Times New Roman"/>
              </a:rPr>
              <a:t>st</a:t>
            </a:r>
            <a:r>
              <a:rPr lang="en-US" sz="2000">
                <a:latin typeface="Times New Roman"/>
                <a:ea typeface="Times New Roman"/>
                <a:cs typeface="Times New Roman"/>
                <a:sym typeface="Times New Roman"/>
              </a:rPr>
              <a:t>) + P(Fail 1</a:t>
            </a:r>
            <a:r>
              <a:rPr lang="en-US" sz="2000" baseline="30000">
                <a:latin typeface="Times New Roman"/>
                <a:ea typeface="Times New Roman"/>
                <a:cs typeface="Times New Roman"/>
                <a:sym typeface="Times New Roman"/>
              </a:rPr>
              <a:t>st </a:t>
            </a:r>
            <a:r>
              <a:rPr lang="en-US" sz="2000">
                <a:latin typeface="Times New Roman"/>
                <a:ea typeface="Times New Roman"/>
                <a:cs typeface="Times New Roman"/>
                <a:sym typeface="Times New Roman"/>
              </a:rPr>
              <a:t>and Pass 2</a:t>
            </a:r>
            <a:r>
              <a:rPr lang="en-US" sz="2000" baseline="30000">
                <a:latin typeface="Times New Roman"/>
                <a:ea typeface="Times New Roman"/>
                <a:cs typeface="Times New Roman"/>
                <a:sym typeface="Times New Roman"/>
              </a:rPr>
              <a:t>nd</a:t>
            </a:r>
            <a:r>
              <a:rPr lang="en-US" sz="2000">
                <a:latin typeface="Times New Roman"/>
                <a:ea typeface="Times New Roman"/>
                <a:cs typeface="Times New Roman"/>
                <a:sym typeface="Times New Roman"/>
              </a:rPr>
              <a:t>) </a:t>
            </a:r>
            <a:endParaRPr/>
          </a:p>
          <a:p>
            <a:pPr marL="1074420" lvl="0" indent="-342900" algn="l" rtl="0">
              <a:lnSpc>
                <a:spcPct val="61000"/>
              </a:lnSpc>
              <a:spcBef>
                <a:spcPts val="335"/>
              </a:spcBef>
              <a:spcAft>
                <a:spcPts val="0"/>
              </a:spcAft>
              <a:buClr>
                <a:schemeClr val="dk1"/>
              </a:buClr>
              <a:buSzPts val="2000"/>
              <a:buNone/>
            </a:pPr>
            <a:endParaRPr sz="2000">
              <a:latin typeface="Times New Roman"/>
              <a:ea typeface="Times New Roman"/>
              <a:cs typeface="Times New Roman"/>
              <a:sym typeface="Times New Roman"/>
            </a:endParaRPr>
          </a:p>
          <a:p>
            <a:pPr marL="1074420" lvl="0" indent="-342900" algn="l" rtl="0">
              <a:lnSpc>
                <a:spcPct val="61000"/>
              </a:lnSpc>
              <a:spcBef>
                <a:spcPts val="335"/>
              </a:spcBef>
              <a:spcAft>
                <a:spcPts val="0"/>
              </a:spcAft>
              <a:buClr>
                <a:schemeClr val="dk1"/>
              </a:buClr>
              <a:buSzPts val="2000"/>
              <a:buNone/>
            </a:pPr>
            <a:r>
              <a:rPr lang="en-US" sz="2000">
                <a:latin typeface="Times New Roman"/>
                <a:ea typeface="Times New Roman"/>
                <a:cs typeface="Times New Roman"/>
                <a:sym typeface="Times New Roman"/>
              </a:rPr>
              <a:t>        = 0.7200 + 0.2464 = .9664</a:t>
            </a:r>
            <a:endParaRPr sz="2000"/>
          </a:p>
        </p:txBody>
      </p:sp>
      <p:pic>
        <p:nvPicPr>
          <p:cNvPr id="278" name="Google Shape;278;p41"/>
          <p:cNvPicPr preferRelativeResize="0"/>
          <p:nvPr/>
        </p:nvPicPr>
        <p:blipFill rotWithShape="1">
          <a:blip r:embed="rId3">
            <a:alphaModFix/>
          </a:blip>
          <a:srcRect/>
          <a:stretch/>
        </p:blipFill>
        <p:spPr>
          <a:xfrm>
            <a:off x="2209800" y="3581400"/>
            <a:ext cx="3419475" cy="1781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Bayes’ Law	</a:t>
            </a:r>
            <a:br>
              <a:rPr lang="en-US"/>
            </a:br>
            <a:endParaRPr/>
          </a:p>
        </p:txBody>
      </p:sp>
      <p:sp>
        <p:nvSpPr>
          <p:cNvPr id="284" name="Google Shape;284;p42"/>
          <p:cNvSpPr txBox="1">
            <a:spLocks noGrp="1"/>
          </p:cNvSpPr>
          <p:nvPr>
            <p:ph type="body" idx="1"/>
          </p:nvPr>
        </p:nvSpPr>
        <p:spPr>
          <a:xfrm>
            <a:off x="0" y="1600200"/>
            <a:ext cx="8991600" cy="4525963"/>
          </a:xfrm>
          <a:prstGeom prst="rect">
            <a:avLst/>
          </a:prstGeom>
          <a:noFill/>
          <a:ln>
            <a:noFill/>
          </a:ln>
        </p:spPr>
        <p:txBody>
          <a:bodyPr spcFirstLastPara="1" wrap="square" lIns="91425" tIns="45700" rIns="91425" bIns="45700" anchor="t" anchorCtr="0">
            <a:normAutofit/>
          </a:bodyPr>
          <a:lstStyle/>
          <a:p>
            <a:pPr marL="51435" marR="5080" lvl="0" indent="-51435" algn="l" rtl="0">
              <a:lnSpc>
                <a:spcPct val="10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Bayes’ Law is named for Thomas Bayes, an eighteenth  century mathematician.</a:t>
            </a:r>
            <a:endParaRPr sz="2400">
              <a:latin typeface="Times New Roman"/>
              <a:ea typeface="Times New Roman"/>
              <a:cs typeface="Times New Roman"/>
              <a:sym typeface="Times New Roman"/>
            </a:endParaRPr>
          </a:p>
          <a:p>
            <a:pPr marL="51435" lvl="0" indent="-51435" algn="l" rtl="0">
              <a:lnSpc>
                <a:spcPct val="100000"/>
              </a:lnSpc>
              <a:spcBef>
                <a:spcPts val="480"/>
              </a:spcBef>
              <a:spcAft>
                <a:spcPts val="0"/>
              </a:spcAft>
              <a:buClr>
                <a:schemeClr val="dk1"/>
              </a:buClr>
              <a:buSzPts val="2400"/>
              <a:buChar char="•"/>
            </a:pPr>
            <a:r>
              <a:rPr lang="en-US" sz="2400">
                <a:latin typeface="Times New Roman"/>
                <a:ea typeface="Times New Roman"/>
                <a:cs typeface="Times New Roman"/>
                <a:sym typeface="Times New Roman"/>
              </a:rPr>
              <a:t>In its most basic form, if we know P(B | A),</a:t>
            </a:r>
            <a:endParaRPr sz="2400">
              <a:latin typeface="Times New Roman"/>
              <a:ea typeface="Times New Roman"/>
              <a:cs typeface="Times New Roman"/>
              <a:sym typeface="Times New Roman"/>
            </a:endParaRPr>
          </a:p>
          <a:p>
            <a:pPr marL="51435" lvl="0" indent="-51435" algn="l" rtl="0">
              <a:lnSpc>
                <a:spcPct val="100000"/>
              </a:lnSpc>
              <a:spcBef>
                <a:spcPts val="480"/>
              </a:spcBef>
              <a:spcAft>
                <a:spcPts val="0"/>
              </a:spcAft>
              <a:buClr>
                <a:schemeClr val="dk1"/>
              </a:buClr>
              <a:buSzPts val="2400"/>
              <a:buChar char="•"/>
            </a:pPr>
            <a:r>
              <a:rPr lang="en-US" sz="2400">
                <a:latin typeface="Times New Roman"/>
                <a:ea typeface="Times New Roman"/>
                <a:cs typeface="Times New Roman"/>
                <a:sym typeface="Times New Roman"/>
              </a:rPr>
              <a:t>we can apply Bayes’ Law to determine P(A | B)</a:t>
            </a:r>
            <a:endParaRPr sz="240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p>
        </p:txBody>
      </p:sp>
      <p:sp>
        <p:nvSpPr>
          <p:cNvPr id="285" name="Google Shape;285;p42"/>
          <p:cNvSpPr/>
          <p:nvPr/>
        </p:nvSpPr>
        <p:spPr>
          <a:xfrm>
            <a:off x="3048000" y="4648200"/>
            <a:ext cx="1952625" cy="819150"/>
          </a:xfrm>
          <a:prstGeom prst="rect">
            <a:avLst/>
          </a:prstGeom>
          <a:noFill/>
          <a:ln>
            <a:no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body" idx="1"/>
          </p:nvPr>
        </p:nvSpPr>
        <p:spPr>
          <a:xfrm>
            <a:off x="152400" y="1600200"/>
            <a:ext cx="8534400" cy="4525963"/>
          </a:xfrm>
          <a:prstGeom prst="rect">
            <a:avLst/>
          </a:prstGeom>
          <a:noFill/>
          <a:ln>
            <a:noFill/>
          </a:ln>
        </p:spPr>
        <p:txBody>
          <a:bodyPr spcFirstLastPara="1" wrap="square" lIns="91425" tIns="45700" rIns="91425" bIns="45700" anchor="t" anchorCtr="0">
            <a:normAutofit/>
          </a:bodyPr>
          <a:lstStyle/>
          <a:p>
            <a:pPr marL="89535" marR="224790" lvl="0" indent="-89535" algn="just" rtl="0">
              <a:lnSpc>
                <a:spcPct val="100000"/>
              </a:lnSpc>
              <a:spcBef>
                <a:spcPts val="0"/>
              </a:spcBef>
              <a:spcAft>
                <a:spcPts val="0"/>
              </a:spcAft>
              <a:buClr>
                <a:schemeClr val="dk1"/>
              </a:buClr>
              <a:buSzPts val="2500"/>
              <a:buChar char="•"/>
            </a:pPr>
            <a:r>
              <a:rPr lang="en-US" sz="2500"/>
              <a:t>The probabilities P(A) and P(AC) are called prior  probabilities because they are determined prior to the  decision about taking the preparatory course.</a:t>
            </a:r>
            <a:endParaRPr/>
          </a:p>
          <a:p>
            <a:pPr marL="342900" lvl="0" indent="-184150" algn="just" rtl="0">
              <a:lnSpc>
                <a:spcPct val="100000"/>
              </a:lnSpc>
              <a:spcBef>
                <a:spcPts val="50"/>
              </a:spcBef>
              <a:spcAft>
                <a:spcPts val="0"/>
              </a:spcAft>
              <a:buClr>
                <a:schemeClr val="dk1"/>
              </a:buClr>
              <a:buSzPts val="2500"/>
              <a:buNone/>
            </a:pPr>
            <a:endParaRPr sz="2500"/>
          </a:p>
          <a:p>
            <a:pPr marL="89535" marR="17780" lvl="0" indent="-89535" algn="just" rtl="0">
              <a:lnSpc>
                <a:spcPct val="100000"/>
              </a:lnSpc>
              <a:spcBef>
                <a:spcPts val="500"/>
              </a:spcBef>
              <a:spcAft>
                <a:spcPts val="0"/>
              </a:spcAft>
              <a:buClr>
                <a:schemeClr val="dk1"/>
              </a:buClr>
              <a:buSzPts val="2500"/>
              <a:buChar char="•"/>
            </a:pPr>
            <a:r>
              <a:rPr lang="en-US" sz="2500"/>
              <a:t>The conditional probability P(A | B) is called a posterior  probability (or revised probability), because the prior  probability is revised after the decision about taking the  preparatory course.</a:t>
            </a:r>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yes-Theorem-for-Conditional-Probabil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9210"/>
            <a:ext cx="6643388" cy="312239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3"/>
          <a:stretch>
            <a:fillRect/>
          </a:stretch>
        </p:blipFill>
        <p:spPr>
          <a:xfrm>
            <a:off x="141619" y="3060259"/>
            <a:ext cx="9002381" cy="2410161"/>
          </a:xfrm>
          <a:prstGeom prst="rect">
            <a:avLst/>
          </a:prstGeom>
        </p:spPr>
      </p:pic>
    </p:spTree>
    <p:extLst>
      <p:ext uri="{BB962C8B-B14F-4D97-AF65-F5344CB8AC3E}">
        <p14:creationId xmlns:p14="http://schemas.microsoft.com/office/powerpoint/2010/main" val="30522943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1738</Words>
  <Application>Microsoft Office PowerPoint</Application>
  <PresentationFormat>On-screen Show (4:3)</PresentationFormat>
  <Paragraphs>161</Paragraphs>
  <Slides>32</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Tahoma</vt:lpstr>
      <vt:lpstr>Calibri</vt:lpstr>
      <vt:lpstr>Times New Roman</vt:lpstr>
      <vt:lpstr>Office Theme</vt:lpstr>
      <vt:lpstr>Probability</vt:lpstr>
      <vt:lpstr>Probability</vt:lpstr>
      <vt:lpstr>Approaches to Assigning Probabilities</vt:lpstr>
      <vt:lpstr>Classical Approach </vt:lpstr>
      <vt:lpstr>PowerPoint Presentation</vt:lpstr>
      <vt:lpstr>PowerPoint Presentation</vt:lpstr>
      <vt:lpstr>Terminology</vt:lpstr>
      <vt:lpstr>Sample space </vt:lpstr>
      <vt:lpstr>  Probabilities of events </vt:lpstr>
      <vt:lpstr>PowerPoint Presentation</vt:lpstr>
      <vt:lpstr>PowerPoint Presentation</vt:lpstr>
      <vt:lpstr>PowerPoint Presentation</vt:lpstr>
      <vt:lpstr>Mutually Exclusive Events       </vt:lpstr>
      <vt:lpstr>Example</vt:lpstr>
      <vt:lpstr>PowerPoint Presentation</vt:lpstr>
      <vt:lpstr>Marginal Probabilities</vt:lpstr>
      <vt:lpstr>PowerPoint Presentation</vt:lpstr>
      <vt:lpstr>PowerPoint Presentation</vt:lpstr>
      <vt:lpstr>PowerPoint Presentation</vt:lpstr>
      <vt:lpstr>PowerPoint Presentation</vt:lpstr>
      <vt:lpstr>PowerPoint Presentation</vt:lpstr>
      <vt:lpstr>Complement Rule</vt:lpstr>
      <vt:lpstr>PowerPoint Presentation</vt:lpstr>
      <vt:lpstr>Example</vt:lpstr>
      <vt:lpstr>Addition Rule</vt:lpstr>
      <vt:lpstr>Example</vt:lpstr>
      <vt:lpstr>Probability Trees</vt:lpstr>
      <vt:lpstr>Example  </vt:lpstr>
      <vt:lpstr>PowerPoint Presentation</vt:lpstr>
      <vt:lpstr>Bayes’ Law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dc:title>
  <cp:lastModifiedBy>sarutigupta</cp:lastModifiedBy>
  <cp:revision>1</cp:revision>
  <dcterms:modified xsi:type="dcterms:W3CDTF">2025-10-29T04:00:52Z</dcterms:modified>
</cp:coreProperties>
</file>