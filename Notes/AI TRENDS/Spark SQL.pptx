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ags/tag2.xml" ContentType="application/vnd.openxmlformats-officedocument.presentationml.tags+xml"/>
  <Default Extension="jpeg" ContentType="image/jpeg"/>
  <Override PartName="/ppt/tags/tag3.xml" ContentType="application/vnd.openxmlformats-officedocument.presentationml.tags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  <p:sldMasterId id="2147483660" r:id="rId4"/>
  </p:sldMasterIdLst>
  <p:notesMasterIdLst>
    <p:notesMasterId r:id="rId18"/>
  </p:notesMasterIdLst>
  <p:handoutMasterIdLst>
    <p:handoutMasterId r:id="rId19"/>
  </p:handoutMasterIdLst>
  <p:sldIdLst>
    <p:sldId id="488" r:id="rId5"/>
    <p:sldId id="479" r:id="rId6"/>
    <p:sldId id="480" r:id="rId7"/>
    <p:sldId id="465" r:id="rId8"/>
    <p:sldId id="499" r:id="rId9"/>
    <p:sldId id="500" r:id="rId10"/>
    <p:sldId id="502" r:id="rId11"/>
    <p:sldId id="501" r:id="rId12"/>
    <p:sldId id="508" r:id="rId13"/>
    <p:sldId id="509" r:id="rId14"/>
    <p:sldId id="510" r:id="rId15"/>
    <p:sldId id="513" r:id="rId16"/>
    <p:sldId id="514" r:id="rId17"/>
  </p:sldIdLst>
  <p:sldSz cx="9144000" cy="5143500" type="screen16x9"/>
  <p:notesSz cx="6858000" cy="9144000"/>
  <p:custDataLst>
    <p:tags r:id="rId2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4412" autoAdjust="0"/>
    <p:restoredTop sz="84727" autoAdjust="0"/>
  </p:normalViewPr>
  <p:slideViewPr>
    <p:cSldViewPr>
      <p:cViewPr varScale="1">
        <p:scale>
          <a:sx n="74" d="100"/>
          <a:sy n="74" d="100"/>
        </p:scale>
        <p:origin x="-1092" y="-10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0" d="100"/>
          <a:sy n="70" d="100"/>
        </p:scale>
        <p:origin x="3240" y="78"/>
      </p:cViewPr>
      <p:guideLst/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1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19500A-A2B4-48A9-91AC-DFDCB17FB902}" type="datetimeFigureOut">
              <a:rPr lang="en-US" smtClean="0"/>
              <a:pPr/>
              <a:t>5/23/2025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60B3A7-0D66-49DE-A35B-33B194E15F1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706063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576EEE-4B33-435B-8495-4F2A97E865CB}" type="datetimeFigureOut">
              <a:rPr lang="en-US" smtClean="0"/>
              <a:pPr/>
              <a:t>5/23/2025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9BF898-4262-4865-816B-E13729D50B0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74187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9BF898-4262-4865-816B-E13729D50B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6624959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57FEE-044C-457A-B16F-D0679A31381B}" type="datetime1">
              <a:rPr lang="en-US" smtClean="0"/>
              <a:pPr/>
              <a:t>5/23/2025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4AEAE-183F-4396-A09F-3B49F51A8D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9144000" cy="74295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2"/>
                </a:solidFill>
                <a:latin typeface="Cambria" pitchFamily="18" charset="0"/>
              </a:rPr>
              <a:t>System Administration with Linux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002060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000">
                <a:solidFill>
                  <a:srgbClr val="002060"/>
                </a:solidFill>
              </a:defRPr>
            </a:lvl1pPr>
            <a:lvl2pPr>
              <a:defRPr sz="2000">
                <a:solidFill>
                  <a:srgbClr val="002060"/>
                </a:solidFill>
              </a:defRPr>
            </a:lvl2pPr>
            <a:lvl3pPr>
              <a:defRPr sz="2000">
                <a:solidFill>
                  <a:srgbClr val="002060"/>
                </a:solidFill>
              </a:defRPr>
            </a:lvl3pPr>
            <a:lvl4pPr>
              <a:defRPr sz="2000">
                <a:solidFill>
                  <a:srgbClr val="002060"/>
                </a:solidFill>
              </a:defRPr>
            </a:lvl4pPr>
            <a:lvl5pPr>
              <a:defRPr sz="2000"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7650A-308D-433A-B1E1-1FD29EA4D1FA}" type="datetime1">
              <a:rPr lang="en-US" smtClean="0"/>
              <a:pPr/>
              <a:t>5/23/2025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4AEAE-183F-4396-A09F-3B49F51A8D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200" b="1" cap="all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A6B2B-5262-4E9D-B474-3543DA73F248}" type="datetime1">
              <a:rPr lang="en-US" smtClean="0"/>
              <a:pPr/>
              <a:t>5/23/2025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4AEAE-183F-4396-A09F-3B49F51A8D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CFE37-5F58-4531-AC1F-AF0B96970D60}" type="datetime1">
              <a:rPr lang="en-US" smtClean="0"/>
              <a:pPr/>
              <a:t>5/23/2025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1666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Copyright © 2020                                Designed and Developed by CDAC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4AEAE-183F-4396-A09F-3B49F51A8D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ADF4F-1A05-471E-BD38-9ACD62B07629}" type="datetime1">
              <a:rPr lang="en-US" smtClean="0"/>
              <a:pPr/>
              <a:t>5/23/2025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1666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Copyright © 2020                                Designed and Developed by CDAC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4AEAE-183F-4396-A09F-3B49F51A8D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116B6-6C30-4E5D-900E-E12FBD985B79}" type="datetime1">
              <a:rPr lang="en-US" smtClean="0"/>
              <a:pPr/>
              <a:t>5/23/2025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1666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Copyright © 2020                                Designed and Developed by CDAC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4AEAE-183F-4396-A09F-3B49F51A8D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BF1F2-A791-44AD-A2A8-B3AC1547852A}" type="datetime1">
              <a:rPr lang="en-US" smtClean="0"/>
              <a:pPr/>
              <a:t>5/23/2025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1666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Copyright © 2020                                Designed and Developed by CDAC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4AEAE-183F-4396-A09F-3B49F51A8D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D3BF0-6E41-40AD-AB0F-5BB1069990D6}" type="datetime1">
              <a:rPr lang="en-US" smtClean="0"/>
              <a:pPr/>
              <a:t>5/23/2025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1666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Copyright © 2020                                Designed and Developed by CDAC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4AEAE-183F-4396-A09F-3B49F51A8D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19EB1-C12E-4442-9C3D-465D79E26FA9}" type="datetime1">
              <a:rPr lang="en-US" smtClean="0"/>
              <a:pPr/>
              <a:t>5/23/2025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1666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Copyright © 2020                                Designed and Developed by CDAC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4AEAE-183F-4396-A09F-3B49F51A8D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52EEC-9D35-43B7-844A-29C799A03D81}" type="datetime1">
              <a:rPr lang="en-US" smtClean="0"/>
              <a:pPr/>
              <a:t>5/23/2025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1666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Copyright © 2020                                Designed and Developed by CDAC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4AEAE-183F-4396-A09F-3B49F51A8D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9E210-BD6D-4BF8-87BA-C5097374B088}" type="datetime1">
              <a:rPr lang="en-US" smtClean="0"/>
              <a:pPr/>
              <a:t>5/23/2025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1666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Copyright © 2020                                Designed and Developed by CDAC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4AEAE-183F-4396-A09F-3B49F51A8D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lIns="68580" tIns="34290" rIns="68580" bIns="34290"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1E9F4-AF7E-4C1E-A4B5-84144A8ADBD0}" type="datetimeFigureOut">
              <a:rPr lang="en-IN" smtClean="0"/>
              <a:pPr/>
              <a:t>23-05-2025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9E2E6-5D37-490D-BB7B-E26E7A387AB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430140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76585-E504-428E-935C-0905F598B8C2}" type="datetime1">
              <a:rPr lang="en-US" smtClean="0"/>
              <a:pPr/>
              <a:t>5/23/2025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2020                                Designed and Developed by CDAC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666AF-0CB9-40D9-AC55-FD684885F73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0C3C3-1A90-4CEA-8001-F28CFD03FE9E}" type="datetime1">
              <a:rPr lang="en-US" smtClean="0"/>
              <a:pPr/>
              <a:t>5/23/2025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2020                                Designed and Developed by CDAC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666AF-0CB9-40D9-AC55-FD684885F73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79638"/>
            <a:ext cx="7772400" cy="112553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742EE-75FE-4A8B-BB36-E4E2AC84F16C}" type="datetime1">
              <a:rPr lang="en-US" smtClean="0"/>
              <a:pPr/>
              <a:t>5/23/2025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2020                                Designed and Developed by CDAC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666AF-0CB9-40D9-AC55-FD684885F73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D7D47-C83A-4845-949F-2C467DD3A23D}" type="datetime1">
              <a:rPr lang="en-US" smtClean="0"/>
              <a:pPr/>
              <a:t>5/23/2025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2020                                Designed and Developed by CDAC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666AF-0CB9-40D9-AC55-FD684885F73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187AF-EC76-49BB-941F-683803C3E14A}" type="datetime1">
              <a:rPr lang="en-US" smtClean="0"/>
              <a:pPr/>
              <a:t>5/23/2025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2020                                Designed and Developed by CDAC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666AF-0CB9-40D9-AC55-FD684885F73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F251-524B-4B7E-8957-A5285B2ADD95}" type="datetime1">
              <a:rPr lang="en-US" smtClean="0"/>
              <a:pPr/>
              <a:t>5/23/2025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2020                                Designed and Developed by CDAC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666AF-0CB9-40D9-AC55-FD684885F73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02202-6EDB-4478-A66C-60C0B6F89333}" type="datetime1">
              <a:rPr lang="en-US" smtClean="0"/>
              <a:pPr/>
              <a:t>5/23/2025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2020                                Designed and Developed by CDAC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666AF-0CB9-40D9-AC55-FD684885F73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79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1094A-17BD-44EC-AA5C-732403C807C4}" type="datetime1">
              <a:rPr lang="en-US" smtClean="0"/>
              <a:pPr/>
              <a:t>5/23/2025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2020                                Designed and Developed by CDAC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666AF-0CB9-40D9-AC55-FD684885F73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6FDA9-4B38-4F41-A60B-8A43363D9287}" type="datetime1">
              <a:rPr lang="en-US" smtClean="0"/>
              <a:pPr/>
              <a:t>5/23/2025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2020                                Designed and Developed by CDAC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666AF-0CB9-40D9-AC55-FD684885F73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A3F3E-98FB-457B-B224-B784B50CF647}" type="datetime1">
              <a:rPr lang="en-US" smtClean="0"/>
              <a:pPr/>
              <a:t>5/23/2025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2020                                Designed and Developed by CDAC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666AF-0CB9-40D9-AC55-FD684885F73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9457A-ACB4-4C75-9553-4A4AE57315C9}" type="datetime1">
              <a:rPr lang="en-US" smtClean="0"/>
              <a:pPr/>
              <a:t>5/23/2025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2020                                Designed and Developed by CDAC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666AF-0CB9-40D9-AC55-FD684885F73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5AA2A3-96BC-47CE-B7DB-52346AEB5CDF}" type="datetime1">
              <a:rPr lang="en-US" smtClean="0"/>
              <a:pPr/>
              <a:t>5/23/2025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F4AEAE-183F-4396-A09F-3B49F51A8D1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2" r:id="rId12"/>
  </p:sldLayoutIdLst>
  <p:timing>
    <p:tnLst>
      <p:par>
        <p:cTn id="1" dur="indefinite" restart="never" nodeType="tmRoot"/>
      </p:par>
    </p:tnLst>
  </p:timing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80C7A3-6961-45AC-82A5-A834A886C20F}" type="datetime1">
              <a:rPr lang="en-US" smtClean="0"/>
              <a:pPr/>
              <a:t>5/23/2025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© 2020                                Designed and Developed by CDAC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8666AF-0CB9-40D9-AC55-FD684885F73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/>
          <p:cNvSpPr txBox="1">
            <a:spLocks/>
          </p:cNvSpPr>
          <p:nvPr/>
        </p:nvSpPr>
        <p:spPr>
          <a:xfrm>
            <a:off x="0" y="2190750"/>
            <a:ext cx="9144000" cy="609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smtClean="0">
                <a:solidFill>
                  <a:srgbClr val="002060"/>
                </a:solidFill>
                <a:latin typeface="Cambria" pitchFamily="18" charset="0"/>
                <a:cs typeface="Times New Roman" pitchFamily="18" charset="0"/>
              </a:rPr>
              <a:t>Spark SQL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0" y="3028950"/>
            <a:ext cx="9144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  <a:latin typeface="Cambria" pitchFamily="18" charset="0"/>
                <a:cs typeface="Times New Roman" pitchFamily="18" charset="0"/>
              </a:rPr>
              <a:t>by Priti Bhardwaj, CDAC </a:t>
            </a:r>
            <a:r>
              <a:rPr lang="en-US" sz="2000" b="1" dirty="0" smtClean="0">
                <a:solidFill>
                  <a:srgbClr val="002060"/>
                </a:solidFill>
                <a:latin typeface="Cambria" pitchFamily="18" charset="0"/>
                <a:cs typeface="Times New Roman" pitchFamily="18" charset="0"/>
              </a:rPr>
              <a:t>NOIDA, </a:t>
            </a:r>
            <a:r>
              <a:rPr lang="en-US" sz="2000" b="1" dirty="0">
                <a:solidFill>
                  <a:srgbClr val="002060"/>
                </a:solidFill>
                <a:latin typeface="Cambria" pitchFamily="18" charset="0"/>
                <a:cs typeface="Times New Roman" pitchFamily="18" charset="0"/>
              </a:rPr>
              <a:t>India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xmlns="" val="3938540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82058"/>
            <a:ext cx="9144000" cy="570492"/>
          </a:xfrm>
        </p:spPr>
        <p:txBody>
          <a:bodyPr/>
          <a:lstStyle/>
          <a:p>
            <a:r>
              <a:rPr lang="en-US" dirty="0" smtClean="0"/>
              <a:t>Spark SQL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81150"/>
            <a:ext cx="9144000" cy="22860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 smtClean="0"/>
              <a:t>Spark module for structured data processing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 err="1" smtClean="0"/>
              <a:t>DataFrame</a:t>
            </a:r>
            <a:r>
              <a:rPr lang="en-US" dirty="0" smtClean="0"/>
              <a:t>  and Datasets  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 smtClean="0"/>
              <a:t>Spark SQL runs on top of the</a:t>
            </a:r>
            <a:r>
              <a:rPr lang="en-US" b="1" dirty="0" smtClean="0"/>
              <a:t> </a:t>
            </a:r>
            <a:r>
              <a:rPr lang="en-US" dirty="0" smtClean="0"/>
              <a:t>spark core.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97793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89385"/>
            <a:ext cx="9144000" cy="616012"/>
          </a:xfrm>
        </p:spPr>
        <p:txBody>
          <a:bodyPr/>
          <a:lstStyle/>
          <a:p>
            <a:r>
              <a:rPr lang="en-US" dirty="0" smtClean="0"/>
              <a:t>Features of Spark SQL</a:t>
            </a:r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152400" y="2476730"/>
            <a:ext cx="1672223" cy="609600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 smtClean="0">
                <a:solidFill>
                  <a:srgbClr val="002060"/>
                </a:solidFill>
              </a:rPr>
              <a:t>Features</a:t>
            </a:r>
            <a:endParaRPr lang="en-US" sz="2000" b="1" dirty="0">
              <a:solidFill>
                <a:srgbClr val="002060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657600" y="1528174"/>
            <a:ext cx="5334000" cy="323601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002060"/>
                </a:solidFill>
              </a:rPr>
              <a:t>Integrated</a:t>
            </a:r>
            <a:endParaRPr lang="en-US" sz="2000" dirty="0">
              <a:solidFill>
                <a:srgbClr val="002060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657600" y="1962037"/>
            <a:ext cx="5334000" cy="323601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 smtClean="0">
                <a:solidFill>
                  <a:srgbClr val="002060"/>
                </a:solidFill>
              </a:rPr>
              <a:t>Unified data access</a:t>
            </a:r>
            <a:endParaRPr lang="en-US" sz="2000" dirty="0">
              <a:solidFill>
                <a:srgbClr val="002060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657600" y="2395900"/>
            <a:ext cx="5334000" cy="323601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 smtClean="0">
                <a:solidFill>
                  <a:srgbClr val="002060"/>
                </a:solidFill>
              </a:rPr>
              <a:t>High compatibility</a:t>
            </a:r>
            <a:endParaRPr lang="en-US" sz="2000" dirty="0">
              <a:solidFill>
                <a:srgbClr val="002060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3657600" y="2829763"/>
            <a:ext cx="5334000" cy="323601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 smtClean="0">
                <a:solidFill>
                  <a:srgbClr val="002060"/>
                </a:solidFill>
              </a:rPr>
              <a:t>Standard connectivity</a:t>
            </a:r>
            <a:endParaRPr lang="en-US" sz="2000" dirty="0">
              <a:solidFill>
                <a:srgbClr val="002060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657600" y="3257981"/>
            <a:ext cx="5334000" cy="323601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002060"/>
                </a:solidFill>
              </a:rPr>
              <a:t>Scalability</a:t>
            </a:r>
            <a:endParaRPr lang="en-US" sz="2000" dirty="0">
              <a:solidFill>
                <a:srgbClr val="002060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657600" y="3689021"/>
            <a:ext cx="5334000" cy="323601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002060"/>
                </a:solidFill>
              </a:rPr>
              <a:t>Performance optimization</a:t>
            </a:r>
            <a:endParaRPr lang="en-US" sz="2000" dirty="0">
              <a:solidFill>
                <a:srgbClr val="002060"/>
              </a:solidFill>
            </a:endParaRPr>
          </a:p>
        </p:txBody>
      </p:sp>
      <p:cxnSp>
        <p:nvCxnSpPr>
          <p:cNvPr id="32" name="Straight Arrow Connector 31"/>
          <p:cNvCxnSpPr>
            <a:endCxn id="22" idx="1"/>
          </p:cNvCxnSpPr>
          <p:nvPr/>
        </p:nvCxnSpPr>
        <p:spPr>
          <a:xfrm flipV="1">
            <a:off x="1842368" y="1689975"/>
            <a:ext cx="1815232" cy="1091555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20" idx="3"/>
          </p:cNvCxnSpPr>
          <p:nvPr/>
        </p:nvCxnSpPr>
        <p:spPr>
          <a:xfrm flipV="1">
            <a:off x="1824623" y="2112708"/>
            <a:ext cx="1832977" cy="668822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20" idx="3"/>
          </p:cNvCxnSpPr>
          <p:nvPr/>
        </p:nvCxnSpPr>
        <p:spPr>
          <a:xfrm flipV="1">
            <a:off x="1824623" y="2535728"/>
            <a:ext cx="1832977" cy="245802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20" idx="3"/>
          </p:cNvCxnSpPr>
          <p:nvPr/>
        </p:nvCxnSpPr>
        <p:spPr>
          <a:xfrm>
            <a:off x="1824623" y="2781530"/>
            <a:ext cx="1850722" cy="210034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20" idx="3"/>
            <a:endCxn id="30" idx="1"/>
          </p:cNvCxnSpPr>
          <p:nvPr/>
        </p:nvCxnSpPr>
        <p:spPr>
          <a:xfrm>
            <a:off x="1824623" y="2781530"/>
            <a:ext cx="1832977" cy="638252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endCxn id="31" idx="1"/>
          </p:cNvCxnSpPr>
          <p:nvPr/>
        </p:nvCxnSpPr>
        <p:spPr>
          <a:xfrm>
            <a:off x="1851763" y="2795567"/>
            <a:ext cx="1805837" cy="1055255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455436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0" grpId="0" animBg="1"/>
      <p:bldP spid="22" grpId="0" animBg="1"/>
      <p:bldP spid="26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39440"/>
            <a:ext cx="9143999" cy="547656"/>
          </a:xfrm>
        </p:spPr>
        <p:txBody>
          <a:bodyPr/>
          <a:lstStyle/>
          <a:p>
            <a:r>
              <a:rPr lang="en-IN" dirty="0" smtClean="0">
                <a:latin typeface="Cambria" pitchFamily="18" charset="0"/>
                <a:ea typeface="+mn-ea"/>
                <a:cs typeface="Times New Roman" pitchFamily="18" charset="0"/>
              </a:rPr>
              <a:t>Spark SQL Architecture</a:t>
            </a:r>
            <a:endParaRPr lang="en-US" dirty="0">
              <a:latin typeface="Cambria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600200" y="1581150"/>
            <a:ext cx="2895600" cy="381000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 smtClean="0">
                <a:solidFill>
                  <a:srgbClr val="002060"/>
                </a:solidFill>
              </a:rPr>
              <a:t>DataFrame DSL</a:t>
            </a:r>
            <a:endParaRPr lang="en-US" sz="2000" b="1" dirty="0">
              <a:solidFill>
                <a:srgbClr val="00206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600200" y="2190750"/>
            <a:ext cx="5867400" cy="381000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 smtClean="0">
                <a:solidFill>
                  <a:srgbClr val="002060"/>
                </a:solidFill>
              </a:rPr>
              <a:t>DataFrame API</a:t>
            </a:r>
            <a:endParaRPr lang="en-US" sz="2000" b="1" dirty="0">
              <a:solidFill>
                <a:srgbClr val="002060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600200" y="2800350"/>
            <a:ext cx="5867400" cy="381000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 err="1" smtClean="0">
                <a:solidFill>
                  <a:srgbClr val="002060"/>
                </a:solidFill>
              </a:rPr>
              <a:t>DataSource</a:t>
            </a:r>
            <a:r>
              <a:rPr lang="en-IN" sz="2000" b="1" dirty="0" smtClean="0">
                <a:solidFill>
                  <a:srgbClr val="002060"/>
                </a:solidFill>
              </a:rPr>
              <a:t> API</a:t>
            </a:r>
            <a:endParaRPr lang="en-US" sz="2000" b="1" dirty="0">
              <a:solidFill>
                <a:srgbClr val="00206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648200" y="1581150"/>
            <a:ext cx="2819400" cy="381000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 smtClean="0">
                <a:solidFill>
                  <a:srgbClr val="002060"/>
                </a:solidFill>
              </a:rPr>
              <a:t>Spark SQL and HQL</a:t>
            </a:r>
            <a:endParaRPr lang="en-US" sz="2000" b="1" dirty="0">
              <a:solidFill>
                <a:srgbClr val="002060"/>
              </a:solidFill>
            </a:endParaRPr>
          </a:p>
        </p:txBody>
      </p:sp>
      <p:sp>
        <p:nvSpPr>
          <p:cNvPr id="19" name="Flowchart: Magnetic Disk 18"/>
          <p:cNvSpPr/>
          <p:nvPr/>
        </p:nvSpPr>
        <p:spPr>
          <a:xfrm>
            <a:off x="1676400" y="3333750"/>
            <a:ext cx="914400" cy="612648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 smtClean="0">
              <a:solidFill>
                <a:srgbClr val="002060"/>
              </a:solidFill>
            </a:endParaRPr>
          </a:p>
          <a:p>
            <a:pPr algn="ctr"/>
            <a:r>
              <a:rPr lang="en-IN" b="1" dirty="0" smtClean="0">
                <a:solidFill>
                  <a:srgbClr val="002060"/>
                </a:solidFill>
              </a:rPr>
              <a:t>CSV</a:t>
            </a:r>
            <a:endParaRPr lang="en-US" b="1" dirty="0" smtClean="0">
              <a:solidFill>
                <a:srgbClr val="002060"/>
              </a:solidFill>
            </a:endParaRPr>
          </a:p>
          <a:p>
            <a:pPr algn="ctr"/>
            <a:endParaRPr lang="en-US" b="1" dirty="0"/>
          </a:p>
        </p:txBody>
      </p:sp>
      <p:sp>
        <p:nvSpPr>
          <p:cNvPr id="24" name="Flowchart: Magnetic Disk 23"/>
          <p:cNvSpPr/>
          <p:nvPr/>
        </p:nvSpPr>
        <p:spPr>
          <a:xfrm>
            <a:off x="3886200" y="3333750"/>
            <a:ext cx="914400" cy="612648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 smtClean="0">
                <a:solidFill>
                  <a:srgbClr val="002060"/>
                </a:solidFill>
              </a:rPr>
              <a:t>JSON</a:t>
            </a:r>
            <a:endParaRPr lang="en-US" dirty="0"/>
          </a:p>
        </p:txBody>
      </p:sp>
      <p:sp>
        <p:nvSpPr>
          <p:cNvPr id="26" name="Flowchart: Magnetic Disk 25"/>
          <p:cNvSpPr/>
          <p:nvPr/>
        </p:nvSpPr>
        <p:spPr>
          <a:xfrm>
            <a:off x="6248400" y="3333750"/>
            <a:ext cx="914400" cy="612648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 smtClean="0">
                <a:solidFill>
                  <a:srgbClr val="002060"/>
                </a:solidFill>
              </a:rPr>
              <a:t>JDBC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925179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  <p:bldP spid="18" grpId="0" animBg="1"/>
      <p:bldP spid="20" grpId="0" animBg="1"/>
      <p:bldP spid="16" grpId="0" animBg="1"/>
      <p:bldP spid="19" grpId="0" animBg="1"/>
      <p:bldP spid="24" grpId="0" animBg="1"/>
      <p:bldP spid="2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82058"/>
            <a:ext cx="9144000" cy="570492"/>
          </a:xfrm>
        </p:spPr>
        <p:txBody>
          <a:bodyPr/>
          <a:lstStyle/>
          <a:p>
            <a:r>
              <a:rPr lang="en-US" dirty="0" smtClean="0"/>
              <a:t>SQL Context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81150"/>
            <a:ext cx="9144000" cy="22860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 smtClean="0"/>
              <a:t>SQLContext is a class used to initialize functionalities of Spark SQL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 smtClean="0"/>
              <a:t>An entry point to Spark SQL 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 smtClean="0"/>
              <a:t>SparkContext object </a:t>
            </a:r>
            <a:r>
              <a:rPr lang="en-US" b="1" dirty="0" smtClean="0"/>
              <a:t>sc </a:t>
            </a:r>
            <a:r>
              <a:rPr lang="en-US" dirty="0" smtClean="0"/>
              <a:t>is required for initializing SQLContext class. </a:t>
            </a:r>
            <a:endParaRPr lang="en-US" b="1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 smtClean="0"/>
              <a:t>val sqlcontext = new org.apache .spark.sql .SQL Context( sc)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97793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82058"/>
            <a:ext cx="9144000" cy="570492"/>
          </a:xfrm>
        </p:spPr>
        <p:txBody>
          <a:bodyPr/>
          <a:lstStyle/>
          <a:p>
            <a:r>
              <a:rPr lang="en-IN" dirty="0" smtClean="0"/>
              <a:t>DataFrame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81150"/>
            <a:ext cx="9144000" cy="22860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 smtClean="0"/>
              <a:t>A distributed collection of data, which is organized into named columns</a:t>
            </a:r>
          </a:p>
          <a:p>
            <a:pPr>
              <a:lnSpc>
                <a:spcPct val="150000"/>
              </a:lnSpc>
              <a:buNone/>
            </a:pPr>
            <a:endParaRPr lang="en-US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 smtClean="0"/>
              <a:t>A DataFrame can be constructed from an array of different sources such as Hive tables, Structured Data files, external databases, or existing RDDs. </a:t>
            </a:r>
          </a:p>
        </p:txBody>
      </p:sp>
    </p:spTree>
    <p:extLst>
      <p:ext uri="{BB962C8B-B14F-4D97-AF65-F5344CB8AC3E}">
        <p14:creationId xmlns:p14="http://schemas.microsoft.com/office/powerpoint/2010/main" xmlns="" val="1197793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89385"/>
            <a:ext cx="9144000" cy="616012"/>
          </a:xfrm>
        </p:spPr>
        <p:txBody>
          <a:bodyPr/>
          <a:lstStyle/>
          <a:p>
            <a:r>
              <a:rPr lang="en-US" dirty="0" smtClean="0"/>
              <a:t>Features of DataFrames</a:t>
            </a:r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152400" y="2476730"/>
            <a:ext cx="1672223" cy="609600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 smtClean="0">
                <a:solidFill>
                  <a:srgbClr val="002060"/>
                </a:solidFill>
              </a:rPr>
              <a:t>Features</a:t>
            </a:r>
            <a:endParaRPr lang="en-US" sz="2000" b="1" dirty="0">
              <a:solidFill>
                <a:srgbClr val="002060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657600" y="1528174"/>
            <a:ext cx="5334000" cy="323601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 smtClean="0">
                <a:solidFill>
                  <a:srgbClr val="002060"/>
                </a:solidFill>
              </a:rPr>
              <a:t>Ability to process data in size of KB to PB.</a:t>
            </a:r>
            <a:endParaRPr lang="en-US" sz="2000" dirty="0">
              <a:solidFill>
                <a:srgbClr val="002060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657600" y="1962037"/>
            <a:ext cx="5334000" cy="323601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 smtClean="0">
                <a:solidFill>
                  <a:srgbClr val="002060"/>
                </a:solidFill>
              </a:rPr>
              <a:t>Different data formats and storage systems</a:t>
            </a:r>
            <a:endParaRPr lang="en-US" sz="2000" dirty="0">
              <a:solidFill>
                <a:srgbClr val="002060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3657600" y="2829763"/>
            <a:ext cx="5334000" cy="323601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 smtClean="0">
                <a:solidFill>
                  <a:srgbClr val="002060"/>
                </a:solidFill>
              </a:rPr>
              <a:t>Integration with big data tools and frameworks</a:t>
            </a:r>
            <a:endParaRPr lang="en-US" sz="2000" dirty="0">
              <a:solidFill>
                <a:srgbClr val="002060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657600" y="3257981"/>
            <a:ext cx="5334000" cy="323601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 smtClean="0">
                <a:solidFill>
                  <a:srgbClr val="002060"/>
                </a:solidFill>
              </a:rPr>
              <a:t>API for Python, Java ,Scala and R programming</a:t>
            </a:r>
            <a:endParaRPr lang="en-US" sz="2000" dirty="0">
              <a:solidFill>
                <a:srgbClr val="002060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657600" y="3689021"/>
            <a:ext cx="5334000" cy="323601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 smtClean="0">
                <a:solidFill>
                  <a:srgbClr val="002060"/>
                </a:solidFill>
              </a:rPr>
              <a:t>Distributed, lazy evaluation and Immutable </a:t>
            </a:r>
            <a:endParaRPr lang="en-US" sz="2000" dirty="0">
              <a:solidFill>
                <a:srgbClr val="002060"/>
              </a:solidFill>
            </a:endParaRPr>
          </a:p>
        </p:txBody>
      </p:sp>
      <p:cxnSp>
        <p:nvCxnSpPr>
          <p:cNvPr id="32" name="Straight Arrow Connector 31"/>
          <p:cNvCxnSpPr>
            <a:endCxn id="22" idx="1"/>
          </p:cNvCxnSpPr>
          <p:nvPr/>
        </p:nvCxnSpPr>
        <p:spPr>
          <a:xfrm flipV="1">
            <a:off x="1842368" y="1689975"/>
            <a:ext cx="1815232" cy="1091555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20" idx="3"/>
          </p:cNvCxnSpPr>
          <p:nvPr/>
        </p:nvCxnSpPr>
        <p:spPr>
          <a:xfrm flipV="1">
            <a:off x="1824623" y="2112708"/>
            <a:ext cx="1832977" cy="668822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20" idx="3"/>
          </p:cNvCxnSpPr>
          <p:nvPr/>
        </p:nvCxnSpPr>
        <p:spPr>
          <a:xfrm>
            <a:off x="1824623" y="2781530"/>
            <a:ext cx="1850722" cy="210034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20" idx="3"/>
            <a:endCxn id="30" idx="1"/>
          </p:cNvCxnSpPr>
          <p:nvPr/>
        </p:nvCxnSpPr>
        <p:spPr>
          <a:xfrm>
            <a:off x="1824623" y="2781530"/>
            <a:ext cx="1832977" cy="638252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endCxn id="31" idx="1"/>
          </p:cNvCxnSpPr>
          <p:nvPr/>
        </p:nvCxnSpPr>
        <p:spPr>
          <a:xfrm>
            <a:off x="1851763" y="2795567"/>
            <a:ext cx="1805837" cy="1055255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455436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0" grpId="0" animBg="1"/>
      <p:bldP spid="22" grpId="0" animBg="1"/>
      <p:bldP spid="26" grpId="0" animBg="1"/>
      <p:bldP spid="29" grpId="0" animBg="1"/>
      <p:bldP spid="30" grpId="0" animBg="1"/>
      <p:bldP spid="3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82058"/>
            <a:ext cx="9144000" cy="570492"/>
          </a:xfrm>
        </p:spPr>
        <p:txBody>
          <a:bodyPr/>
          <a:lstStyle/>
          <a:p>
            <a:r>
              <a:rPr lang="en-IN" dirty="0" smtClean="0"/>
              <a:t>Create DataFrame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81150"/>
            <a:ext cx="9144000" cy="22860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 smtClean="0"/>
              <a:t>createDataFrame()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 smtClean="0"/>
              <a:t>toDF()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 smtClean="0"/>
              <a:t>Existing RDD, DataFrame, Dataset, List, </a:t>
            </a:r>
            <a:r>
              <a:rPr lang="en-US" dirty="0" err="1" smtClean="0"/>
              <a:t>Seq</a:t>
            </a:r>
            <a:r>
              <a:rPr lang="en-US" dirty="0" smtClean="0"/>
              <a:t> data objects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 smtClean="0"/>
              <a:t>Sources like Text,CSV,JSON,XML, Binary files, RDBMS Tables, Hive</a:t>
            </a:r>
          </a:p>
        </p:txBody>
      </p:sp>
    </p:spTree>
    <p:extLst>
      <p:ext uri="{BB962C8B-B14F-4D97-AF65-F5344CB8AC3E}">
        <p14:creationId xmlns:p14="http://schemas.microsoft.com/office/powerpoint/2010/main" xmlns="" val="1197793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89385"/>
            <a:ext cx="9144000" cy="639365"/>
          </a:xfrm>
        </p:spPr>
        <p:txBody>
          <a:bodyPr/>
          <a:lstStyle/>
          <a:p>
            <a:r>
              <a:rPr lang="en-US" dirty="0" smtClean="0"/>
              <a:t>	Machine Learning Tasks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614801" y="1755130"/>
            <a:ext cx="2241639" cy="457200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 smtClean="0">
                <a:solidFill>
                  <a:srgbClr val="002060"/>
                </a:solidFill>
              </a:rPr>
              <a:t>Machine Learning 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3409950"/>
            <a:ext cx="1600200" cy="533400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 smtClean="0">
                <a:solidFill>
                  <a:srgbClr val="002060"/>
                </a:solidFill>
              </a:rPr>
              <a:t>Supervised</a:t>
            </a:r>
            <a:endParaRPr lang="en-US" b="1" dirty="0">
              <a:solidFill>
                <a:srgbClr val="002060"/>
              </a:solidFill>
            </a:endParaRPr>
          </a:p>
        </p:txBody>
      </p:sp>
      <p:cxnSp>
        <p:nvCxnSpPr>
          <p:cNvPr id="9" name="Straight Arrow Connector 8"/>
          <p:cNvCxnSpPr>
            <a:stCxn id="6" idx="2"/>
            <a:endCxn id="7" idx="0"/>
          </p:cNvCxnSpPr>
          <p:nvPr/>
        </p:nvCxnSpPr>
        <p:spPr>
          <a:xfrm flipH="1">
            <a:off x="1257300" y="2212330"/>
            <a:ext cx="3478321" cy="1197620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781800" y="3486150"/>
            <a:ext cx="1779480" cy="533400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 smtClean="0">
                <a:solidFill>
                  <a:srgbClr val="002060"/>
                </a:solidFill>
              </a:rPr>
              <a:t>Unsupervised</a:t>
            </a:r>
            <a:endParaRPr lang="en-US" b="1" dirty="0">
              <a:solidFill>
                <a:srgbClr val="002060"/>
              </a:solidFill>
            </a:endParaRPr>
          </a:p>
        </p:txBody>
      </p:sp>
      <p:cxnSp>
        <p:nvCxnSpPr>
          <p:cNvPr id="17" name="Straight Arrow Connector 16"/>
          <p:cNvCxnSpPr>
            <a:endCxn id="13" idx="0"/>
          </p:cNvCxnSpPr>
          <p:nvPr/>
        </p:nvCxnSpPr>
        <p:spPr>
          <a:xfrm>
            <a:off x="4730704" y="2190750"/>
            <a:ext cx="2940836" cy="1295400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612181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  <p:bldP spid="7" grpId="0" animBg="1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82058"/>
            <a:ext cx="9144000" cy="570492"/>
          </a:xfrm>
        </p:spPr>
        <p:txBody>
          <a:bodyPr/>
          <a:lstStyle/>
          <a:p>
            <a:r>
              <a:rPr lang="en-US" dirty="0" smtClean="0"/>
              <a:t>Spark MLib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81150"/>
            <a:ext cx="9144000" cy="22860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 smtClean="0"/>
              <a:t>Spark MLlib is used to perform machine learning in Apache Spark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i="1" dirty="0" smtClean="0"/>
              <a:t>spark.ml</a:t>
            </a:r>
            <a:r>
              <a:rPr lang="en-US" dirty="0" smtClean="0"/>
              <a:t>      :higher level API built on top of DataFrames.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xmlns="" val="1197793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0" y="818866"/>
            <a:ext cx="9144000" cy="634621"/>
          </a:xfrm>
        </p:spPr>
        <p:txBody>
          <a:bodyPr/>
          <a:lstStyle/>
          <a:p>
            <a:r>
              <a:rPr lang="en-US" sz="3200" b="1" dirty="0" smtClean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Algorithms and Utilities in Spark MLib</a:t>
            </a:r>
            <a:endParaRPr lang="en-IN" sz="3200" b="1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868119" y="1737360"/>
            <a:ext cx="3407762" cy="474107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r>
              <a:rPr lang="en-IN" sz="1600" b="1" dirty="0" smtClean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Mlib Algorithms</a:t>
            </a:r>
            <a:endParaRPr lang="en-IN" sz="1600" b="1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16" name="Straight Arrow Connector 15"/>
          <p:cNvCxnSpPr>
            <a:endCxn id="17" idx="0"/>
          </p:cNvCxnSpPr>
          <p:nvPr/>
        </p:nvCxnSpPr>
        <p:spPr>
          <a:xfrm flipH="1">
            <a:off x="1003570" y="2211467"/>
            <a:ext cx="3523652" cy="1074173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32342" y="3285640"/>
            <a:ext cx="1342456" cy="657710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r>
              <a:rPr lang="en-IN" sz="1500" b="1" dirty="0" smtClean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Basic Statistics</a:t>
            </a:r>
            <a:endParaRPr lang="en-IN" sz="1500" b="1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18" name="Straight Arrow Connector 17"/>
          <p:cNvCxnSpPr>
            <a:stCxn id="15" idx="2"/>
            <a:endCxn id="22" idx="0"/>
          </p:cNvCxnSpPr>
          <p:nvPr/>
        </p:nvCxnSpPr>
        <p:spPr>
          <a:xfrm flipH="1">
            <a:off x="2833432" y="2211467"/>
            <a:ext cx="1738568" cy="1074173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2162204" y="3285640"/>
            <a:ext cx="1342456" cy="657710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r>
              <a:rPr lang="en-IN" sz="1500" b="1" dirty="0" smtClean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Classification and Regression</a:t>
            </a:r>
            <a:endParaRPr lang="en-IN" sz="1500" b="1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891313" y="3285640"/>
            <a:ext cx="1342456" cy="657710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r>
              <a:rPr lang="en-IN" sz="1500" b="1" dirty="0" smtClean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Clustering</a:t>
            </a:r>
            <a:endParaRPr lang="en-IN" sz="1500" b="1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25" name="Straight Arrow Connector 24"/>
          <p:cNvCxnSpPr>
            <a:stCxn id="15" idx="2"/>
            <a:endCxn id="24" idx="0"/>
          </p:cNvCxnSpPr>
          <p:nvPr/>
        </p:nvCxnSpPr>
        <p:spPr>
          <a:xfrm flipH="1">
            <a:off x="4562541" y="2211467"/>
            <a:ext cx="9459" cy="1074173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5629882" y="3265880"/>
            <a:ext cx="1324670" cy="677470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r>
              <a:rPr lang="en-IN" sz="1500" b="1" dirty="0" smtClean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Dimensionality Reduction</a:t>
            </a:r>
            <a:endParaRPr lang="en-IN" sz="1500" b="1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31" name="Straight Arrow Connector 30"/>
          <p:cNvCxnSpPr>
            <a:stCxn id="15" idx="2"/>
            <a:endCxn id="29" idx="0"/>
          </p:cNvCxnSpPr>
          <p:nvPr/>
        </p:nvCxnSpPr>
        <p:spPr>
          <a:xfrm>
            <a:off x="4572000" y="2211467"/>
            <a:ext cx="1720217" cy="1054413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7350666" y="3265880"/>
            <a:ext cx="1333562" cy="677470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r>
              <a:rPr lang="en-IN" sz="1500" b="1" dirty="0" smtClean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Feature Extraction </a:t>
            </a:r>
            <a:endParaRPr lang="en-US" sz="1500" b="1" dirty="0" smtClean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46" name="Straight Arrow Connector 45"/>
          <p:cNvCxnSpPr>
            <a:endCxn id="33" idx="0"/>
          </p:cNvCxnSpPr>
          <p:nvPr/>
        </p:nvCxnSpPr>
        <p:spPr>
          <a:xfrm>
            <a:off x="4581459" y="2207621"/>
            <a:ext cx="3435988" cy="1058259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806041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5" grpId="0" animBg="1"/>
      <p:bldP spid="17" grpId="0" animBg="1"/>
      <p:bldP spid="22" grpId="0" animBg="1"/>
      <p:bldP spid="24" grpId="0" animBg="1"/>
      <p:bldP spid="29" grpId="0" animBg="1"/>
      <p:bldP spid="3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0" y="818866"/>
            <a:ext cx="9144000" cy="634621"/>
          </a:xfrm>
        </p:spPr>
        <p:txBody>
          <a:bodyPr/>
          <a:lstStyle/>
          <a:p>
            <a:r>
              <a:rPr lang="en-US" sz="3200" b="1" dirty="0" smtClean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Spark Mlib Tools</a:t>
            </a:r>
            <a:endParaRPr lang="en-IN" sz="3200" b="1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868119" y="1737360"/>
            <a:ext cx="3407762" cy="474107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r>
              <a:rPr lang="en-IN" sz="1600" b="1" dirty="0" smtClean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Spark Mlib Tools</a:t>
            </a:r>
            <a:endParaRPr lang="en-IN" sz="1600" b="1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16" name="Straight Arrow Connector 15"/>
          <p:cNvCxnSpPr>
            <a:endCxn id="17" idx="0"/>
          </p:cNvCxnSpPr>
          <p:nvPr/>
        </p:nvCxnSpPr>
        <p:spPr>
          <a:xfrm flipH="1">
            <a:off x="1003570" y="2211467"/>
            <a:ext cx="3523652" cy="1074173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32342" y="3285640"/>
            <a:ext cx="1342456" cy="657710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r>
              <a:rPr lang="en-IN" sz="1600" b="1" dirty="0" smtClean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ML Algorithms</a:t>
            </a:r>
            <a:endParaRPr lang="en-IN" sz="1600" b="1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18" name="Straight Arrow Connector 17"/>
          <p:cNvCxnSpPr>
            <a:stCxn id="15" idx="2"/>
            <a:endCxn id="22" idx="0"/>
          </p:cNvCxnSpPr>
          <p:nvPr/>
        </p:nvCxnSpPr>
        <p:spPr>
          <a:xfrm flipH="1">
            <a:off x="2781030" y="2211467"/>
            <a:ext cx="1790970" cy="1074173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2057400" y="3285640"/>
            <a:ext cx="1447260" cy="657710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r>
              <a:rPr lang="en-IN" sz="1600" b="1" dirty="0" smtClean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Featurization</a:t>
            </a:r>
            <a:endParaRPr lang="en-IN" sz="1600" b="1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891313" y="3285640"/>
            <a:ext cx="1342456" cy="657710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r>
              <a:rPr lang="en-IN" sz="1600" b="1" dirty="0" smtClean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Pipelines</a:t>
            </a:r>
            <a:endParaRPr lang="en-IN" sz="1600" b="1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25" name="Straight Arrow Connector 24"/>
          <p:cNvCxnSpPr>
            <a:stCxn id="15" idx="2"/>
            <a:endCxn id="24" idx="0"/>
          </p:cNvCxnSpPr>
          <p:nvPr/>
        </p:nvCxnSpPr>
        <p:spPr>
          <a:xfrm flipH="1">
            <a:off x="4562541" y="2211467"/>
            <a:ext cx="9459" cy="1074173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5629882" y="3265880"/>
            <a:ext cx="1324670" cy="677470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r>
              <a:rPr lang="en-IN" sz="1600" b="1" dirty="0" smtClean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Persistence</a:t>
            </a:r>
            <a:endParaRPr lang="en-IN" sz="1600" b="1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31" name="Straight Arrow Connector 30"/>
          <p:cNvCxnSpPr>
            <a:stCxn id="15" idx="2"/>
            <a:endCxn id="29" idx="0"/>
          </p:cNvCxnSpPr>
          <p:nvPr/>
        </p:nvCxnSpPr>
        <p:spPr>
          <a:xfrm>
            <a:off x="4572000" y="2211467"/>
            <a:ext cx="1720217" cy="1054413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7350666" y="3265880"/>
            <a:ext cx="1333562" cy="677470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r>
              <a:rPr lang="en-IN" sz="1600" b="1" dirty="0" smtClean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Utilities </a:t>
            </a:r>
            <a:endParaRPr lang="en-US" sz="1600" b="1" dirty="0" smtClean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46" name="Straight Arrow Connector 45"/>
          <p:cNvCxnSpPr>
            <a:endCxn id="33" idx="0"/>
          </p:cNvCxnSpPr>
          <p:nvPr/>
        </p:nvCxnSpPr>
        <p:spPr>
          <a:xfrm>
            <a:off x="4581459" y="2207621"/>
            <a:ext cx="3435988" cy="1058259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806041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5" grpId="0" animBg="1"/>
      <p:bldP spid="17" grpId="0" animBg="1"/>
      <p:bldP spid="22" grpId="0" animBg="1"/>
      <p:bldP spid="24" grpId="0" animBg="1"/>
      <p:bldP spid="29" grpId="0" animBg="1"/>
      <p:bldP spid="3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088" y="2266950"/>
            <a:ext cx="9144000" cy="533400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Cambria" pitchFamily="18" charset="0"/>
                <a:cs typeface="Times New Roman" pitchFamily="18" charset="0"/>
              </a:rPr>
              <a:t>Thank You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xmlns="" val="804603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129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2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DD60A097DE78448BA6DFD5D0AEC0127" ma:contentTypeVersion="14" ma:contentTypeDescription="Create a new document." ma:contentTypeScope="" ma:versionID="d689e8c1f7e8dd0eb0244179feefb6bb">
  <xsd:schema xmlns:xsd="http://www.w3.org/2001/XMLSchema" xmlns:xs="http://www.w3.org/2001/XMLSchema" xmlns:p="http://schemas.microsoft.com/office/2006/metadata/properties" xmlns:ns2="3a48d65c-488b-40f3-bfca-8ec0544224e8" xmlns:ns3="0f0b5f46-0ea9-40f4-a01f-2a01ec9df389" targetNamespace="http://schemas.microsoft.com/office/2006/metadata/properties" ma:root="true" ma:fieldsID="24e2b1d8b4a7fe43d9090dce88d1e9f4" ns2:_="" ns3:_="">
    <xsd:import namespace="3a48d65c-488b-40f3-bfca-8ec0544224e8"/>
    <xsd:import namespace="0f0b5f46-0ea9-40f4-a01f-2a01ec9df38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48d65c-488b-40f3-bfca-8ec0544224e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8234f470-e8b5-4e69-ba45-ff9d62a3c2c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0b5f46-0ea9-40f4-a01f-2a01ec9df389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ef8d81c9-d777-4229-9c17-0475d51dc10a}" ma:internalName="TaxCatchAll" ma:showField="CatchAllData" ma:web="0f0b5f46-0ea9-40f4-a01f-2a01ec9df38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6813760-9E6F-4998-841D-BA3E94DB2EE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6365505-907B-4D61-9FB1-5E7C6A76BA1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a48d65c-488b-40f3-bfca-8ec0544224e8"/>
    <ds:schemaRef ds:uri="0f0b5f46-0ea9-40f4-a01f-2a01ec9df38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15206</TotalTime>
  <Words>226</Words>
  <Application>Microsoft Office PowerPoint</Application>
  <PresentationFormat>On-screen Show (16:9)</PresentationFormat>
  <Paragraphs>68</Paragraphs>
  <Slides>13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Office Theme</vt:lpstr>
      <vt:lpstr>Custom Design</vt:lpstr>
      <vt:lpstr>Slide 1</vt:lpstr>
      <vt:lpstr>Spark SQL</vt:lpstr>
      <vt:lpstr>Features of Spark SQL</vt:lpstr>
      <vt:lpstr>Spark SQL Architecture</vt:lpstr>
      <vt:lpstr>SQL Context</vt:lpstr>
      <vt:lpstr>DataFrame</vt:lpstr>
      <vt:lpstr>Features of DataFrames</vt:lpstr>
      <vt:lpstr>Create DataFrame</vt:lpstr>
      <vt:lpstr> Machine Learning Tasks </vt:lpstr>
      <vt:lpstr>Spark MLib</vt:lpstr>
      <vt:lpstr>Algorithms and Utilities in Spark MLib</vt:lpstr>
      <vt:lpstr>Spark Mlib Tools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dell</dc:creator>
  <cp:lastModifiedBy>CDAC</cp:lastModifiedBy>
  <cp:revision>668</cp:revision>
  <dcterms:created xsi:type="dcterms:W3CDTF">2019-01-21T09:33:03Z</dcterms:created>
  <dcterms:modified xsi:type="dcterms:W3CDTF">2025-05-23T19:01:00Z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2BD3E2C7-5580-4850-91C5-3B405AFAF914</vt:lpwstr>
  </property>
  <property fmtid="{D5CDD505-2E9C-101B-9397-08002B2CF9AE}" pid="3" name="ArticulatePath">
    <vt:lpwstr>Jordan theme - Copy</vt:lpwstr>
  </property>
</Properties>
</file>