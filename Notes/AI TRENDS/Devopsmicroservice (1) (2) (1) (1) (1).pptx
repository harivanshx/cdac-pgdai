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8" d="100"/>
          <a:sy n="88" d="100"/>
        </p:scale>
        <p:origin x="-135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3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netflix.github.io/"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intellipaat.com/blog/tutorial/splunk-tutorial/introduction-of-splunk/" TargetMode="External"/><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Introduction to Microservices &amp; Devops</a:t>
            </a:r>
            <a:br>
              <a:rPr lang="en-US"/>
            </a:br>
            <a:endParaRPr/>
          </a:p>
        </p:txBody>
      </p:sp>
      <p:sp>
        <p:nvSpPr>
          <p:cNvPr id="85" name="Google Shape;85;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Microservices</a:t>
            </a:r>
            <a:endParaRPr/>
          </a:p>
        </p:txBody>
      </p:sp>
      <p:sp>
        <p:nvSpPr>
          <p:cNvPr id="91" name="Google Shape;91;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just" rtl="0">
              <a:spcBef>
                <a:spcPts val="0"/>
              </a:spcBef>
              <a:spcAft>
                <a:spcPts val="0"/>
              </a:spcAft>
              <a:buClr>
                <a:schemeClr val="dk1"/>
              </a:buClr>
              <a:buSzPct val="100000"/>
              <a:buChar char="•"/>
            </a:pPr>
            <a:r>
              <a:rPr lang="en-US"/>
              <a:t>Micro services is a service-oriented architecture pattern wherein applications are built as a collection of various smallest independent service units.</a:t>
            </a:r>
            <a:endParaRPr/>
          </a:p>
          <a:p>
            <a:pPr marL="342900" lvl="0" indent="-342900" algn="just" rtl="0">
              <a:spcBef>
                <a:spcPts val="448"/>
              </a:spcBef>
              <a:spcAft>
                <a:spcPts val="0"/>
              </a:spcAft>
              <a:buClr>
                <a:schemeClr val="dk1"/>
              </a:buClr>
              <a:buSzPct val="100000"/>
              <a:buChar char="•"/>
            </a:pPr>
            <a:r>
              <a:rPr lang="en-US"/>
              <a:t> Microservice Architecture is an architectural development style that allows building an application as a collection of small autonomous services developed for a business domain.</a:t>
            </a:r>
            <a:endParaRPr/>
          </a:p>
          <a:p>
            <a:pPr marL="342900" lvl="0" indent="-342900" algn="just" rtl="0">
              <a:spcBef>
                <a:spcPts val="448"/>
              </a:spcBef>
              <a:spcAft>
                <a:spcPts val="0"/>
              </a:spcAft>
              <a:buClr>
                <a:schemeClr val="dk1"/>
              </a:buClr>
              <a:buSzPct val="100000"/>
              <a:buChar char="•"/>
            </a:pPr>
            <a:r>
              <a:rPr lang="en-US"/>
              <a:t> Monolithic architecture is like a big container in which all the software components of an application are clubbed into a single package .</a:t>
            </a:r>
            <a:endParaRPr/>
          </a:p>
          <a:p>
            <a:pPr marL="342900" lvl="0" indent="-342900" algn="just" rtl="0">
              <a:spcBef>
                <a:spcPts val="448"/>
              </a:spcBef>
              <a:spcAft>
                <a:spcPts val="0"/>
              </a:spcAft>
              <a:buClr>
                <a:schemeClr val="dk1"/>
              </a:buClr>
              <a:buSzPct val="100000"/>
              <a:buChar char="•"/>
            </a:pPr>
            <a:r>
              <a:rPr lang="en-US"/>
              <a:t>In a Microservice, every unit of the entire application should be the smallest, and it should be able to deliver one specific business goal In Monolithic architecture, large code base can slow down the entire development process. New releases can take months. Code maintenance is difficult.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body" idx="4294967295"/>
          </p:nvPr>
        </p:nvSpPr>
        <p:spPr>
          <a:xfrm>
            <a:off x="304800" y="685800"/>
            <a:ext cx="8229600" cy="59436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200"/>
              <a:buChar char="•"/>
            </a:pPr>
            <a:r>
              <a:rPr lang="en-US" sz="2200"/>
              <a:t>Microservice architecture is a form of service-oriented architecture (SOA) whereby software applications are built as a collection of loosely coupled services, as opposed to one monolithic software application.  Each microservice can be created independently from the other, or even in a completely different programming language and run on their own.</a:t>
            </a:r>
            <a:endParaRPr/>
          </a:p>
          <a:p>
            <a:pPr marL="342900" lvl="0" indent="-342900" algn="just" rtl="0">
              <a:spcBef>
                <a:spcPts val="440"/>
              </a:spcBef>
              <a:spcAft>
                <a:spcPts val="0"/>
              </a:spcAft>
              <a:buClr>
                <a:schemeClr val="dk1"/>
              </a:buClr>
              <a:buSzPts val="2200"/>
              <a:buChar char="•"/>
            </a:pPr>
            <a:r>
              <a:rPr lang="en-US" sz="2200"/>
              <a:t>At the core of it all, each microservice tries to satisfy the specific user story or business requirement that you‘re working on. </a:t>
            </a:r>
            <a:endParaRPr/>
          </a:p>
          <a:p>
            <a:pPr marL="342900" lvl="0" indent="-342900" algn="just" rtl="0">
              <a:spcBef>
                <a:spcPts val="440"/>
              </a:spcBef>
              <a:spcAft>
                <a:spcPts val="0"/>
              </a:spcAft>
              <a:buClr>
                <a:schemeClr val="dk1"/>
              </a:buClr>
              <a:buSzPts val="2200"/>
              <a:buChar char="•"/>
            </a:pPr>
            <a:r>
              <a:rPr lang="en-US" sz="2200"/>
              <a:t>A popular way to implement microservices is to use protocols such as HTTP/REST alongside JSON, as an architectural design pattern</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Microservice Architecture</a:t>
            </a:r>
            <a:endParaRPr/>
          </a:p>
        </p:txBody>
      </p:sp>
      <p:pic>
        <p:nvPicPr>
          <p:cNvPr id="102" name="Google Shape;102;p16"/>
          <p:cNvPicPr preferRelativeResize="0">
            <a:picLocks noGrp="1"/>
          </p:cNvPicPr>
          <p:nvPr>
            <p:ph type="body" idx="1"/>
          </p:nvPr>
        </p:nvPicPr>
        <p:blipFill rotWithShape="1">
          <a:blip r:embed="rId3">
            <a:alphaModFix/>
          </a:blip>
          <a:srcRect/>
          <a:stretch/>
        </p:blipFill>
        <p:spPr>
          <a:xfrm>
            <a:off x="1219200" y="1600200"/>
            <a:ext cx="6858000" cy="45664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Benefits of Microservice Architecture</a:t>
            </a:r>
            <a:br>
              <a:rPr lang="en-US" b="1"/>
            </a:br>
            <a:endParaRPr/>
          </a:p>
        </p:txBody>
      </p:sp>
      <p:pic>
        <p:nvPicPr>
          <p:cNvPr id="108" name="Google Shape;108;p17"/>
          <p:cNvPicPr preferRelativeResize="0">
            <a:picLocks noGrp="1"/>
          </p:cNvPicPr>
          <p:nvPr>
            <p:ph type="body" idx="1"/>
          </p:nvPr>
        </p:nvPicPr>
        <p:blipFill rotWithShape="1">
          <a:blip r:embed="rId3">
            <a:alphaModFix/>
          </a:blip>
          <a:srcRect/>
          <a:stretch/>
        </p:blipFill>
        <p:spPr>
          <a:xfrm>
            <a:off x="533400" y="1600200"/>
            <a:ext cx="8458200" cy="4648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API gateway</a:t>
            </a:r>
            <a:endParaRPr/>
          </a:p>
        </p:txBody>
      </p:sp>
      <p:sp>
        <p:nvSpPr>
          <p:cNvPr id="114" name="Google Shape;114;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just" rtl="0">
              <a:spcBef>
                <a:spcPts val="0"/>
              </a:spcBef>
              <a:spcAft>
                <a:spcPts val="0"/>
              </a:spcAft>
              <a:buClr>
                <a:schemeClr val="dk1"/>
              </a:buClr>
              <a:buSzPct val="100000"/>
              <a:buChar char="•"/>
            </a:pPr>
            <a:r>
              <a:rPr lang="en-US" sz="2800"/>
              <a:t>API Gateway. The API gateway is the entry point for clients. Instead of calling services directly, clients call the API gateway, which forwards the call to the appropriate services on the back end.</a:t>
            </a:r>
            <a:endParaRPr/>
          </a:p>
          <a:p>
            <a:pPr marL="342900" lvl="0" indent="-342900" algn="just" rtl="0">
              <a:spcBef>
                <a:spcPts val="476"/>
              </a:spcBef>
              <a:spcAft>
                <a:spcPts val="0"/>
              </a:spcAft>
              <a:buClr>
                <a:schemeClr val="dk1"/>
              </a:buClr>
              <a:buSzPct val="100000"/>
              <a:buChar char="•"/>
            </a:pPr>
            <a:r>
              <a:rPr lang="en-US" sz="2800"/>
              <a:t>Advantages of using an API gateway include:</a:t>
            </a:r>
            <a:endParaRPr/>
          </a:p>
          <a:p>
            <a:pPr marL="342900" lvl="0" indent="-342900" algn="just" rtl="0">
              <a:spcBef>
                <a:spcPts val="476"/>
              </a:spcBef>
              <a:spcAft>
                <a:spcPts val="0"/>
              </a:spcAft>
              <a:buClr>
                <a:schemeClr val="dk1"/>
              </a:buClr>
              <a:buSzPct val="100000"/>
              <a:buChar char="•"/>
            </a:pPr>
            <a:r>
              <a:rPr lang="en-US" sz="2800"/>
              <a:t>It decouples clients from services. Services can be versioned or refactored without needing to update all of the clients.</a:t>
            </a:r>
            <a:endParaRPr/>
          </a:p>
          <a:p>
            <a:pPr marL="342900" lvl="0" indent="-342900" algn="just" rtl="0">
              <a:spcBef>
                <a:spcPts val="476"/>
              </a:spcBef>
              <a:spcAft>
                <a:spcPts val="0"/>
              </a:spcAft>
              <a:buClr>
                <a:schemeClr val="dk1"/>
              </a:buClr>
              <a:buSzPct val="100000"/>
              <a:buChar char="•"/>
            </a:pPr>
            <a:r>
              <a:rPr lang="en-US" sz="2800"/>
              <a:t>Services can use messaging protocols that are not web friendly, such as AMQP.</a:t>
            </a:r>
            <a:endParaRPr/>
          </a:p>
          <a:p>
            <a:pPr marL="342900" lvl="0" indent="-342900" algn="just" rtl="0">
              <a:spcBef>
                <a:spcPts val="476"/>
              </a:spcBef>
              <a:spcAft>
                <a:spcPts val="0"/>
              </a:spcAft>
              <a:buClr>
                <a:schemeClr val="dk1"/>
              </a:buClr>
              <a:buSzPct val="100000"/>
              <a:buChar char="•"/>
            </a:pPr>
            <a:r>
              <a:rPr lang="en-US" sz="2800"/>
              <a:t>The API Gateway can perform other cross-cutting functions such as authentication, logging, SSL termination, and load balancing.</a:t>
            </a:r>
            <a:endParaRPr/>
          </a:p>
          <a:p>
            <a:pPr marL="342900" lvl="0" indent="-170180" algn="l" rtl="0">
              <a:spcBef>
                <a:spcPts val="544"/>
              </a:spcBef>
              <a:spcAft>
                <a:spcPts val="0"/>
              </a:spcAft>
              <a:buClr>
                <a:schemeClr val="dk1"/>
              </a:buClr>
              <a:buSzPct val="1000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p:nvPr/>
        </p:nvSpPr>
        <p:spPr>
          <a:xfrm>
            <a:off x="762000" y="304800"/>
            <a:ext cx="8001000" cy="405649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400" b="1" i="0" u="none" strike="noStrike" cap="none">
                <a:solidFill>
                  <a:schemeClr val="dk1"/>
                </a:solidFill>
                <a:latin typeface="Calibri"/>
                <a:ea typeface="Calibri"/>
                <a:cs typeface="Calibri"/>
                <a:sym typeface="Calibri"/>
              </a:rPr>
              <a:t>Deployment patterns</a:t>
            </a:r>
            <a:endParaRPr/>
          </a:p>
          <a:p>
            <a:pPr marL="342900" marR="0" lvl="0" indent="-342900" algn="just" rtl="0">
              <a:lnSpc>
                <a:spcPct val="90000"/>
              </a:lnSpc>
              <a:spcBef>
                <a:spcPts val="48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Multiple service instances per host - deploy multiple service instances on a host</a:t>
            </a:r>
            <a:endParaRPr/>
          </a:p>
          <a:p>
            <a:pPr marL="342900" marR="0" lvl="0" indent="-342900" algn="just" rtl="0">
              <a:lnSpc>
                <a:spcPct val="90000"/>
              </a:lnSpc>
              <a:spcBef>
                <a:spcPts val="48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Service instance per host - deploy a single service instance on each host</a:t>
            </a:r>
            <a:endParaRPr/>
          </a:p>
          <a:p>
            <a:pPr marL="342900" marR="0" lvl="0" indent="-342900" algn="just" rtl="0">
              <a:lnSpc>
                <a:spcPct val="90000"/>
              </a:lnSpc>
              <a:spcBef>
                <a:spcPts val="48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Service instance per VM - a specialization of the Service Instance per Host pattern where the host is a VM</a:t>
            </a:r>
            <a:endParaRPr/>
          </a:p>
          <a:p>
            <a:pPr marL="342900" marR="0" lvl="0" indent="-342900" algn="just" rtl="0">
              <a:lnSpc>
                <a:spcPct val="90000"/>
              </a:lnSpc>
              <a:spcBef>
                <a:spcPts val="48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Service instance per Container - a specialization of the Service Instance per Host pattern where the host is a container</a:t>
            </a:r>
            <a:endParaRPr sz="24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0"/>
          <p:cNvSpPr txBox="1">
            <a:spLocks noGrp="1"/>
          </p:cNvSpPr>
          <p:nvPr>
            <p:ph type="body" idx="4294967295"/>
          </p:nvPr>
        </p:nvSpPr>
        <p:spPr>
          <a:xfrm>
            <a:off x="381000" y="3048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US" sz="2400"/>
              <a:t>It is a fairly traditional approach where you have a machine which could be physical or virtual and you run multiple service instances on this host. Each service instance could be a process like JVM or Tomcat instance, or each process may be comprised of multiple service instances. For example, each service instance could be a var file and you run multiple var files on one tomcat Some of the benefits of using this pattern are </a:t>
            </a:r>
            <a:endParaRPr/>
          </a:p>
          <a:p>
            <a:pPr marL="342900" lvl="0" indent="-342900" algn="l" rtl="0">
              <a:spcBef>
                <a:spcPts val="480"/>
              </a:spcBef>
              <a:spcAft>
                <a:spcPts val="0"/>
              </a:spcAft>
              <a:buClr>
                <a:schemeClr val="dk1"/>
              </a:buClr>
              <a:buSzPts val="2400"/>
              <a:buChar char="•"/>
            </a:pPr>
            <a:r>
              <a:rPr lang="en-US" sz="2400"/>
              <a:t>Efficient resource utilization: You have one machine with multiple services and the whole resource is shared between these different services </a:t>
            </a:r>
            <a:endParaRPr/>
          </a:p>
          <a:p>
            <a:pPr marL="342900" lvl="0" indent="-342900" algn="l" rtl="0">
              <a:spcBef>
                <a:spcPts val="480"/>
              </a:spcBef>
              <a:spcAft>
                <a:spcPts val="0"/>
              </a:spcAft>
              <a:buClr>
                <a:schemeClr val="dk1"/>
              </a:buClr>
              <a:buSzPts val="2400"/>
              <a:buChar char="•"/>
            </a:pPr>
            <a:r>
              <a:rPr lang="en-US" sz="2400"/>
              <a:t>Fast deployment: In order to deploy a new version of your service you simply have to copy that to the machine and restart the process</a:t>
            </a:r>
            <a:endParaRPr/>
          </a:p>
          <a:p>
            <a:pPr marL="342900" lvl="0" indent="-190500" algn="l" rtl="0">
              <a:spcBef>
                <a:spcPts val="480"/>
              </a:spcBef>
              <a:spcAft>
                <a:spcPts val="0"/>
              </a:spcAft>
              <a:buClr>
                <a:schemeClr val="dk1"/>
              </a:buClr>
              <a:buSzPts val="2400"/>
              <a:buNone/>
            </a:pP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30" name="Google Shape;130;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Some of the drawbacks of using this pattern are :</a:t>
            </a:r>
            <a:endParaRPr/>
          </a:p>
          <a:p>
            <a:pPr marL="342900" lvl="0" indent="-342900" algn="l" rtl="0">
              <a:spcBef>
                <a:spcPts val="480"/>
              </a:spcBef>
              <a:spcAft>
                <a:spcPts val="0"/>
              </a:spcAft>
              <a:buClr>
                <a:schemeClr val="dk1"/>
              </a:buClr>
              <a:buSzPts val="2400"/>
              <a:buChar char="•"/>
            </a:pPr>
            <a:r>
              <a:rPr lang="en-US" sz="2400"/>
              <a:t>You get little to no isolation between various service instances </a:t>
            </a:r>
            <a:endParaRPr/>
          </a:p>
          <a:p>
            <a:pPr marL="342900" lvl="0" indent="-342900" algn="l" rtl="0">
              <a:spcBef>
                <a:spcPts val="480"/>
              </a:spcBef>
              <a:spcAft>
                <a:spcPts val="0"/>
              </a:spcAft>
              <a:buClr>
                <a:schemeClr val="dk1"/>
              </a:buClr>
              <a:buSzPts val="2400"/>
              <a:buChar char="•"/>
            </a:pPr>
            <a:r>
              <a:rPr lang="en-US" sz="2400"/>
              <a:t>Poor visibility on how the services are behaving like memory and CPU utilization</a:t>
            </a:r>
            <a:endParaRPr/>
          </a:p>
          <a:p>
            <a:pPr marL="342900" lvl="0" indent="-342900" algn="l" rtl="0">
              <a:spcBef>
                <a:spcPts val="480"/>
              </a:spcBef>
              <a:spcAft>
                <a:spcPts val="0"/>
              </a:spcAft>
              <a:buClr>
                <a:schemeClr val="dk1"/>
              </a:buClr>
              <a:buSzPts val="2400"/>
              <a:buChar char="•"/>
            </a:pPr>
            <a:r>
              <a:rPr lang="en-US" sz="2400"/>
              <a:t>Difficult to constrain the resources a particular service can use</a:t>
            </a:r>
            <a:endParaRPr/>
          </a:p>
          <a:p>
            <a:pPr marL="342900" lvl="0" indent="-342900" algn="l" rtl="0">
              <a:spcBef>
                <a:spcPts val="480"/>
              </a:spcBef>
              <a:spcAft>
                <a:spcPts val="0"/>
              </a:spcAft>
              <a:buClr>
                <a:schemeClr val="dk1"/>
              </a:buClr>
              <a:buSzPts val="2400"/>
              <a:buChar char="•"/>
            </a:pPr>
            <a:r>
              <a:rPr lang="en-US" sz="2400"/>
              <a:t>Risk of dependency version conflicts </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36" name="Google Shape;136;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To have a greater isolation and manageability we can host a single service instance in a single host at the cost of resource utilization. This pattern can be achieved by two different ways: Service Instance per Virtual Machine and Service Instance per Container</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3"/>
          <p:cNvSpPr txBox="1">
            <a:spLocks noGrp="1"/>
          </p:cNvSpPr>
          <p:nvPr>
            <p:ph type="title"/>
          </p:nvPr>
        </p:nvSpPr>
        <p:spPr>
          <a:xfrm>
            <a:off x="381000" y="0"/>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Service Instance per Virtual Machine</a:t>
            </a:r>
            <a:endParaRPr/>
          </a:p>
        </p:txBody>
      </p:sp>
      <p:sp>
        <p:nvSpPr>
          <p:cNvPr id="142" name="Google Shape;142;p23"/>
          <p:cNvSpPr txBox="1">
            <a:spLocks noGrp="1"/>
          </p:cNvSpPr>
          <p:nvPr>
            <p:ph type="body" idx="1"/>
          </p:nvPr>
        </p:nvSpPr>
        <p:spPr>
          <a:xfrm>
            <a:off x="457200" y="1066800"/>
            <a:ext cx="8229600" cy="5791200"/>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just" rtl="0">
              <a:spcBef>
                <a:spcPts val="0"/>
              </a:spcBef>
              <a:spcAft>
                <a:spcPts val="0"/>
              </a:spcAft>
              <a:buClr>
                <a:schemeClr val="dk1"/>
              </a:buClr>
              <a:buSzPct val="100000"/>
              <a:buNone/>
            </a:pPr>
            <a:r>
              <a:rPr lang="en-US" sz="3400"/>
              <a:t>Some of the benefits of packaging services as virtual machines are :</a:t>
            </a:r>
            <a:endParaRPr/>
          </a:p>
          <a:p>
            <a:pPr marL="342900" lvl="0" indent="-342900" algn="just" rtl="0">
              <a:spcBef>
                <a:spcPts val="425"/>
              </a:spcBef>
              <a:spcAft>
                <a:spcPts val="0"/>
              </a:spcAft>
              <a:buClr>
                <a:schemeClr val="dk1"/>
              </a:buClr>
              <a:buSzPct val="100000"/>
              <a:buNone/>
            </a:pPr>
            <a:r>
              <a:rPr lang="en-US" sz="3400"/>
              <a:t>You get great isolation as the virtual machines are highly isolated with each other </a:t>
            </a:r>
            <a:endParaRPr/>
          </a:p>
          <a:p>
            <a:pPr marL="342900" lvl="0" indent="-342900" algn="just" rtl="0">
              <a:spcBef>
                <a:spcPts val="425"/>
              </a:spcBef>
              <a:spcAft>
                <a:spcPts val="0"/>
              </a:spcAft>
              <a:buClr>
                <a:schemeClr val="dk1"/>
              </a:buClr>
              <a:buSzPct val="100000"/>
              <a:buNone/>
            </a:pPr>
            <a:r>
              <a:rPr lang="en-US" sz="3400"/>
              <a:t>You get greater manageability as virtual machine environment has great tools for management</a:t>
            </a:r>
            <a:endParaRPr/>
          </a:p>
          <a:p>
            <a:pPr marL="342900" lvl="0" indent="-342900" algn="just" rtl="0">
              <a:spcBef>
                <a:spcPts val="425"/>
              </a:spcBef>
              <a:spcAft>
                <a:spcPts val="0"/>
              </a:spcAft>
              <a:buClr>
                <a:schemeClr val="dk1"/>
              </a:buClr>
              <a:buSzPct val="100000"/>
              <a:buNone/>
            </a:pPr>
            <a:r>
              <a:rPr lang="en-US" sz="3400"/>
              <a:t>Virtual machine encapsulates the implementation technology for the microservice. Once you package the service, the API for starting and stopping the service is your virtual machine interface. The deployment team need not to be knowledgeable about the implementation technology</a:t>
            </a:r>
            <a:endParaRPr/>
          </a:p>
          <a:p>
            <a:pPr marL="342900" lvl="0" indent="-342900" algn="just" rtl="0">
              <a:spcBef>
                <a:spcPts val="425"/>
              </a:spcBef>
              <a:spcAft>
                <a:spcPts val="0"/>
              </a:spcAft>
              <a:buClr>
                <a:schemeClr val="dk1"/>
              </a:buClr>
              <a:buSzPct val="100000"/>
              <a:buNone/>
            </a:pPr>
            <a:r>
              <a:rPr lang="en-US" sz="3400"/>
              <a:t>With this pattern you can leverage cloud infrastructure for auto-scaling and load balancing </a:t>
            </a:r>
            <a:endParaRPr/>
          </a:p>
          <a:p>
            <a:pPr marL="342900" lvl="0" indent="-342900" algn="just" rtl="0">
              <a:spcBef>
                <a:spcPts val="425"/>
              </a:spcBef>
              <a:spcAft>
                <a:spcPts val="0"/>
              </a:spcAft>
              <a:buClr>
                <a:schemeClr val="dk1"/>
              </a:buClr>
              <a:buSzPct val="100000"/>
              <a:buNone/>
            </a:pPr>
            <a:r>
              <a:rPr lang="en-US" sz="3400"/>
              <a:t>Some of the drawbacks of using this pattern are :</a:t>
            </a:r>
            <a:endParaRPr/>
          </a:p>
          <a:p>
            <a:pPr marL="342900" lvl="0" indent="-342900" algn="just" rtl="0">
              <a:spcBef>
                <a:spcPts val="425"/>
              </a:spcBef>
              <a:spcAft>
                <a:spcPts val="0"/>
              </a:spcAft>
              <a:buClr>
                <a:schemeClr val="dk1"/>
              </a:buClr>
              <a:buSzPct val="100000"/>
              <a:buNone/>
            </a:pPr>
            <a:r>
              <a:rPr lang="en-US" sz="3400"/>
              <a:t>With virtual machines, we get less efficient resource utilization and thus increases the cost</a:t>
            </a:r>
            <a:endParaRPr/>
          </a:p>
          <a:p>
            <a:pPr marL="342900" lvl="0" indent="-342900" algn="just" rtl="0">
              <a:spcBef>
                <a:spcPts val="425"/>
              </a:spcBef>
              <a:spcAft>
                <a:spcPts val="0"/>
              </a:spcAft>
              <a:buClr>
                <a:schemeClr val="dk1"/>
              </a:buClr>
              <a:buSzPct val="100000"/>
              <a:buNone/>
            </a:pPr>
            <a:r>
              <a:rPr lang="en-US" sz="3400"/>
              <a:t>The process of building a virtual machine image is relatively slow because of the volume of the data needed to be moved around the network and thus slows the deployment process </a:t>
            </a:r>
            <a:endParaRPr/>
          </a:p>
          <a:p>
            <a:pPr marL="342900" lvl="0" indent="-342900" algn="just" rtl="0">
              <a:spcBef>
                <a:spcPts val="400"/>
              </a:spcBef>
              <a:spcAft>
                <a:spcPts val="0"/>
              </a:spcAft>
              <a:buClr>
                <a:schemeClr val="dk1"/>
              </a:buClr>
              <a:buSzPct val="1000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Service Instance per Container</a:t>
            </a:r>
            <a:br>
              <a:rPr lang="en-US"/>
            </a:br>
            <a:endParaRPr/>
          </a:p>
        </p:txBody>
      </p:sp>
      <p:sp>
        <p:nvSpPr>
          <p:cNvPr id="148" name="Google Shape;148;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None/>
            </a:pPr>
            <a:r>
              <a:rPr lang="en-US" sz="3400"/>
              <a:t>Some of the benefits of packaging services as container are :</a:t>
            </a:r>
            <a:endParaRPr/>
          </a:p>
          <a:p>
            <a:pPr marL="342900" lvl="0" indent="-342900" algn="l" rtl="0">
              <a:spcBef>
                <a:spcPts val="425"/>
              </a:spcBef>
              <a:spcAft>
                <a:spcPts val="0"/>
              </a:spcAft>
              <a:buClr>
                <a:schemeClr val="dk1"/>
              </a:buClr>
              <a:buSzPct val="100000"/>
              <a:buNone/>
            </a:pPr>
            <a:endParaRPr sz="3400"/>
          </a:p>
          <a:p>
            <a:pPr marL="342900" lvl="0" indent="-342900" algn="l" rtl="0">
              <a:spcBef>
                <a:spcPts val="425"/>
              </a:spcBef>
              <a:spcAft>
                <a:spcPts val="0"/>
              </a:spcAft>
              <a:buClr>
                <a:schemeClr val="dk1"/>
              </a:buClr>
              <a:buSzPct val="100000"/>
              <a:buNone/>
            </a:pPr>
            <a:r>
              <a:rPr lang="en-US" sz="3400"/>
              <a:t>Greater isolation as each container is highly isolated from each other at OS level</a:t>
            </a:r>
            <a:endParaRPr/>
          </a:p>
          <a:p>
            <a:pPr marL="342900" lvl="0" indent="-342900" algn="l" rtl="0">
              <a:spcBef>
                <a:spcPts val="425"/>
              </a:spcBef>
              <a:spcAft>
                <a:spcPts val="0"/>
              </a:spcAft>
              <a:buClr>
                <a:schemeClr val="dk1"/>
              </a:buClr>
              <a:buSzPct val="100000"/>
              <a:buNone/>
            </a:pPr>
            <a:r>
              <a:rPr lang="en-US" sz="3400"/>
              <a:t>Greater manageability with containers </a:t>
            </a:r>
            <a:endParaRPr/>
          </a:p>
          <a:p>
            <a:pPr marL="342900" lvl="0" indent="-342900" algn="l" rtl="0">
              <a:spcBef>
                <a:spcPts val="425"/>
              </a:spcBef>
              <a:spcAft>
                <a:spcPts val="0"/>
              </a:spcAft>
              <a:buClr>
                <a:schemeClr val="dk1"/>
              </a:buClr>
              <a:buSzPct val="100000"/>
              <a:buNone/>
            </a:pPr>
            <a:r>
              <a:rPr lang="en-US" sz="3400"/>
              <a:t>Container encapsulates the implementation technology </a:t>
            </a:r>
            <a:endParaRPr/>
          </a:p>
          <a:p>
            <a:pPr marL="342900" lvl="0" indent="-342900" algn="l" rtl="0">
              <a:spcBef>
                <a:spcPts val="425"/>
              </a:spcBef>
              <a:spcAft>
                <a:spcPts val="0"/>
              </a:spcAft>
              <a:buClr>
                <a:schemeClr val="dk1"/>
              </a:buClr>
              <a:buSzPct val="100000"/>
              <a:buNone/>
            </a:pPr>
            <a:r>
              <a:rPr lang="en-US" sz="3400"/>
              <a:t>As containers are lightweight and sharing the same resources, it has efficient resource utilization</a:t>
            </a:r>
            <a:endParaRPr/>
          </a:p>
          <a:p>
            <a:pPr marL="342900" lvl="0" indent="-342900" algn="l" rtl="0">
              <a:spcBef>
                <a:spcPts val="425"/>
              </a:spcBef>
              <a:spcAft>
                <a:spcPts val="0"/>
              </a:spcAft>
              <a:buClr>
                <a:schemeClr val="dk1"/>
              </a:buClr>
              <a:buSzPct val="100000"/>
              <a:buNone/>
            </a:pPr>
            <a:r>
              <a:rPr lang="en-US" sz="3400"/>
              <a:t>Fast deployments </a:t>
            </a:r>
            <a:endParaRPr/>
          </a:p>
          <a:p>
            <a:pPr marL="342900" lvl="0" indent="-342900" algn="l" rtl="0">
              <a:spcBef>
                <a:spcPts val="425"/>
              </a:spcBef>
              <a:spcAft>
                <a:spcPts val="0"/>
              </a:spcAft>
              <a:buClr>
                <a:schemeClr val="dk1"/>
              </a:buClr>
              <a:buSzPct val="100000"/>
              <a:buNone/>
            </a:pPr>
            <a:r>
              <a:rPr lang="en-US" sz="3400"/>
              <a:t>Some of the drawbacks of packaging services as container are :</a:t>
            </a:r>
            <a:endParaRPr/>
          </a:p>
          <a:p>
            <a:pPr marL="342900" lvl="0" indent="-342900" algn="l" rtl="0">
              <a:spcBef>
                <a:spcPts val="425"/>
              </a:spcBef>
              <a:spcAft>
                <a:spcPts val="0"/>
              </a:spcAft>
              <a:buClr>
                <a:schemeClr val="dk1"/>
              </a:buClr>
              <a:buSzPct val="100000"/>
              <a:buNone/>
            </a:pPr>
            <a:endParaRPr sz="3400"/>
          </a:p>
          <a:p>
            <a:pPr marL="342900" lvl="0" indent="-342900" algn="l" rtl="0">
              <a:spcBef>
                <a:spcPts val="425"/>
              </a:spcBef>
              <a:spcAft>
                <a:spcPts val="0"/>
              </a:spcAft>
              <a:buClr>
                <a:schemeClr val="dk1"/>
              </a:buClr>
              <a:buSzPct val="100000"/>
              <a:buNone/>
            </a:pPr>
            <a:r>
              <a:rPr lang="en-US" sz="3400"/>
              <a:t>As the container technology is new, it is not that much mature compared to virtual machines.</a:t>
            </a:r>
            <a:endParaRPr/>
          </a:p>
          <a:p>
            <a:pPr marL="342900" lvl="0" indent="-342900" algn="l" rtl="0">
              <a:spcBef>
                <a:spcPts val="425"/>
              </a:spcBef>
              <a:spcAft>
                <a:spcPts val="0"/>
              </a:spcAft>
              <a:buClr>
                <a:schemeClr val="dk1"/>
              </a:buClr>
              <a:buSzPct val="100000"/>
              <a:buNone/>
            </a:pPr>
            <a:r>
              <a:rPr lang="en-US" sz="3400"/>
              <a:t>Containers are not as secured as VMs </a:t>
            </a:r>
            <a:endParaRPr/>
          </a:p>
          <a:p>
            <a:pPr marL="342900" lvl="0" indent="-342900" algn="l" rtl="0">
              <a:spcBef>
                <a:spcPts val="400"/>
              </a:spcBef>
              <a:spcAft>
                <a:spcPts val="0"/>
              </a:spcAft>
              <a:buClr>
                <a:schemeClr val="dk1"/>
              </a:buClr>
              <a:buSzPct val="1000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serverless deployment</a:t>
            </a:r>
            <a:endParaRPr/>
          </a:p>
        </p:txBody>
      </p:sp>
      <p:sp>
        <p:nvSpPr>
          <p:cNvPr id="154" name="Google Shape;154;p25"/>
          <p:cNvSpPr txBox="1">
            <a:spLocks noGrp="1"/>
          </p:cNvSpPr>
          <p:nvPr>
            <p:ph type="body" idx="1"/>
          </p:nvPr>
        </p:nvSpPr>
        <p:spPr>
          <a:xfrm>
            <a:off x="457200" y="1219200"/>
            <a:ext cx="8229600" cy="4906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100"/>
              <a:buNone/>
            </a:pPr>
            <a:r>
              <a:rPr lang="en-US" sz="2100"/>
              <a:t>The serverless deployment hides the underlying infrastructure and it will take your service’s code just run it. It is charged on usage on how many requests it processed and based on how much resources utilized for processing each request.</a:t>
            </a:r>
            <a:endParaRPr/>
          </a:p>
          <a:p>
            <a:pPr marL="342900" lvl="0" indent="-342900" algn="l" rtl="0">
              <a:spcBef>
                <a:spcPts val="420"/>
              </a:spcBef>
              <a:spcAft>
                <a:spcPts val="0"/>
              </a:spcAft>
              <a:buClr>
                <a:schemeClr val="dk1"/>
              </a:buClr>
              <a:buSzPts val="2100"/>
              <a:buNone/>
            </a:pPr>
            <a:r>
              <a:rPr lang="en-US" sz="2100"/>
              <a:t> To use this pattern, you need to package your code and select the desired performance level. Various public cloud providers are offering this service where they use containers or virtual machines to isolate the services which are hidden from you.</a:t>
            </a:r>
            <a:endParaRPr/>
          </a:p>
          <a:p>
            <a:pPr marL="342900" lvl="0" indent="-342900" algn="l" rtl="0">
              <a:spcBef>
                <a:spcPts val="420"/>
              </a:spcBef>
              <a:spcAft>
                <a:spcPts val="0"/>
              </a:spcAft>
              <a:buClr>
                <a:schemeClr val="dk1"/>
              </a:buClr>
              <a:buSzPts val="2100"/>
              <a:buNone/>
            </a:pPr>
            <a:r>
              <a:rPr lang="en-US" sz="2100"/>
              <a:t> In this system, you are not authorized to manage any low-level infrastructure such as servers, operating system, virtual machines or containers. AWS Lambda, Google Cloud Functions, Azure Functions are few serverless deployment environments. </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Service Registry</a:t>
            </a:r>
            <a:endParaRPr/>
          </a:p>
        </p:txBody>
      </p:sp>
      <p:pic>
        <p:nvPicPr>
          <p:cNvPr id="160" name="Google Shape;160;p26"/>
          <p:cNvPicPr preferRelativeResize="0">
            <a:picLocks noGrp="1"/>
          </p:cNvPicPr>
          <p:nvPr>
            <p:ph type="body" idx="1"/>
          </p:nvPr>
        </p:nvPicPr>
        <p:blipFill rotWithShape="1">
          <a:blip r:embed="rId3">
            <a:alphaModFix/>
          </a:blip>
          <a:srcRect/>
          <a:stretch/>
        </p:blipFill>
        <p:spPr>
          <a:xfrm>
            <a:off x="838200" y="1524000"/>
            <a:ext cx="7391399" cy="4572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Service Discovery</a:t>
            </a:r>
            <a:endParaRPr/>
          </a:p>
        </p:txBody>
      </p:sp>
      <p:pic>
        <p:nvPicPr>
          <p:cNvPr id="166" name="Google Shape;166;p27"/>
          <p:cNvPicPr preferRelativeResize="0">
            <a:picLocks noGrp="1"/>
          </p:cNvPicPr>
          <p:nvPr>
            <p:ph type="body" idx="1"/>
          </p:nvPr>
        </p:nvPicPr>
        <p:blipFill rotWithShape="1">
          <a:blip r:embed="rId3">
            <a:alphaModFix/>
          </a:blip>
          <a:srcRect/>
          <a:stretch/>
        </p:blipFill>
        <p:spPr>
          <a:xfrm>
            <a:off x="914400" y="1371600"/>
            <a:ext cx="7315199" cy="5029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72" name="Google Shape;172;p28"/>
          <p:cNvSpPr txBox="1">
            <a:spLocks noGrp="1"/>
          </p:cNvSpPr>
          <p:nvPr>
            <p:ph type="body" idx="1"/>
          </p:nvPr>
        </p:nvSpPr>
        <p:spPr>
          <a:xfrm>
            <a:off x="0" y="1600200"/>
            <a:ext cx="8991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500"/>
              <a:buNone/>
            </a:pPr>
            <a:r>
              <a:rPr lang="en-US" sz="2500"/>
              <a:t>In a microservices application, the set of running service instances changes dynamically. Instances have dynamically assigned network locations. Consequently, in order for a client to make a request to a service it must use a service-discovery mechanism.</a:t>
            </a:r>
            <a:endParaRPr/>
          </a:p>
          <a:p>
            <a:pPr marL="342900" lvl="0" indent="-342900" algn="l" rtl="0">
              <a:spcBef>
                <a:spcPts val="500"/>
              </a:spcBef>
              <a:spcAft>
                <a:spcPts val="0"/>
              </a:spcAft>
              <a:buClr>
                <a:schemeClr val="dk1"/>
              </a:buClr>
              <a:buSzPts val="2500"/>
              <a:buNone/>
            </a:pPr>
            <a:r>
              <a:rPr lang="en-US" sz="2500"/>
              <a:t>A key part of service discovery is the service registry. The service registry is a database of available service instances. The service registry provides a management API and a query API. Service instances are registered with and deregistered from the service registry using the management API. The query API is used by system components to discover available service instances.</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78" name="Google Shape;178;p29"/>
          <p:cNvSpPr txBox="1">
            <a:spLocks noGrp="1"/>
          </p:cNvSpPr>
          <p:nvPr>
            <p:ph type="body" idx="1"/>
          </p:nvPr>
        </p:nvSpPr>
        <p:spPr>
          <a:xfrm>
            <a:off x="0" y="1600200"/>
            <a:ext cx="91440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500"/>
              <a:buNone/>
            </a:pPr>
            <a:r>
              <a:rPr lang="en-US" sz="2500"/>
              <a:t>There are two main service-discovery patterns: client-side discovery and service-side discovery. In systems that use client-side service discovery, clients query the service registry, select an available instance, and make a request. In systems that use server-side discovery, clients make requests via a router, which queries the service registry and forwards the request to an available instance.</a:t>
            </a: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84" name="Google Shape;184;p30"/>
          <p:cNvSpPr txBox="1">
            <a:spLocks noGrp="1"/>
          </p:cNvSpPr>
          <p:nvPr>
            <p:ph type="body" idx="1"/>
          </p:nvPr>
        </p:nvSpPr>
        <p:spPr>
          <a:xfrm>
            <a:off x="0" y="1600200"/>
            <a:ext cx="91440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500"/>
              <a:buNone/>
            </a:pPr>
            <a:r>
              <a:rPr lang="en-US" sz="2500"/>
              <a:t>Netflix OSS provides a great example of the client-side discovery pattern. </a:t>
            </a:r>
            <a:endParaRPr/>
          </a:p>
          <a:p>
            <a:pPr marL="342900" lvl="0" indent="-342900" algn="l" rtl="0">
              <a:spcBef>
                <a:spcPts val="500"/>
              </a:spcBef>
              <a:spcAft>
                <a:spcPts val="0"/>
              </a:spcAft>
              <a:buClr>
                <a:schemeClr val="dk1"/>
              </a:buClr>
              <a:buSzPts val="2500"/>
              <a:buNone/>
            </a:pPr>
            <a:r>
              <a:rPr lang="en-US" sz="2500"/>
              <a:t>The AWS Elastic Load Balancer (ELB) is an example of a server-side discovery router. An ELB is commonly used to load balance external traffic from the Internet. </a:t>
            </a:r>
            <a:endParaRPr sz="25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1"/>
          <p:cNvSpPr txBox="1">
            <a:spLocks noGrp="1"/>
          </p:cNvSpPr>
          <p:nvPr>
            <p:ph type="body" idx="4294967295"/>
          </p:nvPr>
        </p:nvSpPr>
        <p:spPr>
          <a:xfrm>
            <a:off x="0" y="0"/>
            <a:ext cx="9144000" cy="6858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500"/>
              <a:buNone/>
            </a:pPr>
            <a:r>
              <a:rPr lang="en-US" sz="2500"/>
              <a:t>There are two main ways that service instances are registered with and deregistered from the service registry. One option is for service instances to register themselves with the service registry, the self-registration pattern</a:t>
            </a:r>
            <a:r>
              <a:rPr lang="en-US" sz="2500" u="sng">
                <a:solidFill>
                  <a:schemeClr val="hlink"/>
                </a:solidFill>
                <a:hlinkClick r:id="rId3"/>
              </a:rPr>
              <a:t>. </a:t>
            </a:r>
            <a:r>
              <a:rPr lang="en-US" sz="2500"/>
              <a:t>The other option is for some other system component to handle the registration and deregistration on behalf of the service, the third-party registration pattern.</a:t>
            </a:r>
            <a:endParaRPr sz="2500" u="sng">
              <a:solidFill>
                <a:schemeClr val="hlink"/>
              </a:solidFill>
              <a:hlinkClick r:id="rId3"/>
            </a:endParaRPr>
          </a:p>
          <a:p>
            <a:pPr marL="342900" lvl="0" indent="-342900" algn="l" rtl="0">
              <a:spcBef>
                <a:spcPts val="500"/>
              </a:spcBef>
              <a:spcAft>
                <a:spcPts val="0"/>
              </a:spcAft>
              <a:buClr>
                <a:schemeClr val="dk1"/>
              </a:buClr>
              <a:buSzPts val="2500"/>
              <a:buNone/>
            </a:pPr>
            <a:r>
              <a:rPr lang="en-US" sz="2500"/>
              <a:t>In some deployment environments you need to set up your own service-discovery infrastructure using a service registry such as Netflix Eureka, etcd, or Apache Zookeeper. In other deployment environments, service discovery is built in. For example, Kubernetes and Marathon handle service instance registration and deregistration. They also run a proxy on each cluster host that plays the role of server-side discovery router.</a:t>
            </a:r>
            <a:endParaRPr/>
          </a:p>
          <a:p>
            <a:pPr marL="342900" lvl="0" indent="-184150" algn="l" rtl="0">
              <a:spcBef>
                <a:spcPts val="500"/>
              </a:spcBef>
              <a:spcAft>
                <a:spcPts val="0"/>
              </a:spcAft>
              <a:buClr>
                <a:schemeClr val="dk1"/>
              </a:buClr>
              <a:buSzPts val="2500"/>
              <a:buNone/>
            </a:pPr>
            <a:endParaRPr sz="25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32"/>
          <p:cNvPicPr preferRelativeResize="0"/>
          <p:nvPr/>
        </p:nvPicPr>
        <p:blipFill rotWithShape="1">
          <a:blip r:embed="rId3">
            <a:alphaModFix/>
          </a:blip>
          <a:srcRect/>
          <a:stretch/>
        </p:blipFill>
        <p:spPr>
          <a:xfrm>
            <a:off x="323850" y="790575"/>
            <a:ext cx="8496300" cy="5276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33"/>
          <p:cNvPicPr preferRelativeResize="0"/>
          <p:nvPr/>
        </p:nvPicPr>
        <p:blipFill rotWithShape="1">
          <a:blip r:embed="rId3">
            <a:alphaModFix/>
          </a:blip>
          <a:srcRect/>
          <a:stretch/>
        </p:blipFill>
        <p:spPr>
          <a:xfrm>
            <a:off x="214313" y="838201"/>
            <a:ext cx="8715375" cy="430053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Databases</a:t>
            </a:r>
            <a:endParaRPr/>
          </a:p>
        </p:txBody>
      </p:sp>
      <p:sp>
        <p:nvSpPr>
          <p:cNvPr id="205" name="Google Shape;205;p34"/>
          <p:cNvSpPr txBox="1">
            <a:spLocks noGrp="1"/>
          </p:cNvSpPr>
          <p:nvPr>
            <p:ph type="body" idx="1"/>
          </p:nvPr>
        </p:nvSpPr>
        <p:spPr>
          <a:xfrm>
            <a:off x="457200" y="1219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None/>
            </a:pPr>
            <a:r>
              <a:rPr lang="en-US" sz="2400"/>
              <a:t>Each microservice should have its own database and should contain data relevant to that microservice itself. This will allow you to deploy individual services independently. Individual teams can now own the databases for the corresponding microservice.</a:t>
            </a:r>
            <a:endParaRPr/>
          </a:p>
          <a:p>
            <a:pPr marL="342900" lvl="0" indent="-342900" algn="l" rtl="0">
              <a:spcBef>
                <a:spcPts val="480"/>
              </a:spcBef>
              <a:spcAft>
                <a:spcPts val="0"/>
              </a:spcAft>
              <a:buClr>
                <a:schemeClr val="dk1"/>
              </a:buClr>
              <a:buSzPts val="2400"/>
              <a:buNone/>
            </a:pPr>
            <a:r>
              <a:rPr lang="en-US" sz="2400"/>
              <a:t>Microservices should follow Domain Driven Design and have bounded contexts. You need to design your application based on domains, which aligns with the functionality of your application. It's like following the Code First approach over Data First approach - hence you design your models first. This is a fundamentally different approach than the traditional mentality of first designing your database tables when starting to work on a new requirement or greenfield project. You should always try to maintain the integrity of your Business model.</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Databases</a:t>
            </a:r>
            <a:endParaRPr/>
          </a:p>
        </p:txBody>
      </p:sp>
      <p:sp>
        <p:nvSpPr>
          <p:cNvPr id="211" name="Google Shape;211;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b="1"/>
              <a:t>Databases should be treated as private to each microservice.</a:t>
            </a:r>
            <a:r>
              <a:rPr lang="en-US"/>
              <a:t> No other microservice can directly modify data stored inside the database in another microservice.</a:t>
            </a:r>
            <a:endParaRPr/>
          </a:p>
          <a:p>
            <a:pPr marL="342900" lvl="0" indent="-342900" algn="l" rtl="0">
              <a:spcBef>
                <a:spcPts val="448"/>
              </a:spcBef>
              <a:spcAft>
                <a:spcPts val="0"/>
              </a:spcAft>
              <a:buClr>
                <a:schemeClr val="dk1"/>
              </a:buClr>
              <a:buSzPct val="100000"/>
              <a:buChar char="•"/>
            </a:pPr>
            <a:r>
              <a:rPr lang="en-US" b="1"/>
              <a:t>Event-Driven Architecture</a:t>
            </a:r>
            <a:r>
              <a:rPr lang="en-US"/>
              <a:t> is a common pattern to maintain data consistency across different services. Instead of waiting for an ACID transaction to complete processing and taking up system resources, you can make your application more available and performant by offloading the message to a queue. This provides loose coupling between services.</a:t>
            </a:r>
            <a:endParaRPr/>
          </a:p>
          <a:p>
            <a:pPr marL="342900" lvl="0" indent="-342900" algn="l" rtl="0">
              <a:spcBef>
                <a:spcPts val="448"/>
              </a:spcBef>
              <a:spcAft>
                <a:spcPts val="0"/>
              </a:spcAft>
              <a:buClr>
                <a:schemeClr val="dk1"/>
              </a:buClr>
              <a:buSzPct val="100000"/>
              <a:buChar char="•"/>
            </a:pPr>
            <a:r>
              <a:rPr lang="en-US"/>
              <a:t>Messages to the queues can be treated as Events and can follow the </a:t>
            </a:r>
            <a:r>
              <a:rPr lang="en-US" b="1"/>
              <a:t>Pub-Sub model</a:t>
            </a:r>
            <a:r>
              <a:rPr lang="en-US"/>
              <a:t>. Publishers publishes a message and is not aware of the Consumer, who has subscribed to the event stream. Loose coupling between components in your architecture enables to build highly scalable distributed systems.</a:t>
            </a:r>
            <a:endParaRPr/>
          </a:p>
          <a:p>
            <a:pPr marL="342900" lvl="0" indent="-200660" algn="l" rtl="0">
              <a:spcBef>
                <a:spcPts val="448"/>
              </a:spcBef>
              <a:spcAft>
                <a:spcPts val="0"/>
              </a:spcAft>
              <a:buClr>
                <a:schemeClr val="dk1"/>
              </a:buClr>
              <a:buSzPct val="1000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6"/>
          <p:cNvSpPr txBox="1">
            <a:spLocks noGrp="1"/>
          </p:cNvSpPr>
          <p:nvPr>
            <p:ph type="body" idx="4294967295"/>
          </p:nvPr>
        </p:nvSpPr>
        <p:spPr>
          <a:xfrm>
            <a:off x="228600" y="5334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just" rtl="0">
              <a:spcBef>
                <a:spcPts val="0"/>
              </a:spcBef>
              <a:spcAft>
                <a:spcPts val="0"/>
              </a:spcAft>
              <a:buClr>
                <a:schemeClr val="dk1"/>
              </a:buClr>
              <a:buSzPct val="100000"/>
              <a:buChar char="•"/>
            </a:pPr>
            <a:r>
              <a:rPr lang="en-US" sz="3100"/>
              <a:t>A basic principle of microservices is that each service manages its own data. Two services should not share a data store. Instead, each service is responsible for its own private data store, which other services cannot access directly.</a:t>
            </a:r>
            <a:endParaRPr/>
          </a:p>
          <a:p>
            <a:pPr marL="342900" lvl="0" indent="-342900" algn="just" rtl="0">
              <a:spcBef>
                <a:spcPts val="434"/>
              </a:spcBef>
              <a:spcAft>
                <a:spcPts val="0"/>
              </a:spcAft>
              <a:buClr>
                <a:schemeClr val="dk1"/>
              </a:buClr>
              <a:buSzPct val="100000"/>
              <a:buChar char="•"/>
            </a:pPr>
            <a:r>
              <a:rPr lang="en-US" sz="3100"/>
              <a:t>The reason for this rule is to avoid unintentional coupling between services, which can result if services share the same underlying data schemas. If there is a change to the data schema, the change must be coordinated across every service that relies on that database. By isolating each service's data store, we can limit the scope of change, and preserve the agility of truly independent deployments. Another reason is that each microservice may have its own data models, queries, or read/write patterns. Using a shared data store limits each team's ability to optimize data storage for their particular service.</a:t>
            </a:r>
            <a:endParaRPr/>
          </a:p>
          <a:p>
            <a:pPr marL="342900" lvl="0" indent="-200660" algn="l" rtl="0">
              <a:spcBef>
                <a:spcPts val="448"/>
              </a:spcBef>
              <a:spcAft>
                <a:spcPts val="0"/>
              </a:spcAft>
              <a:buClr>
                <a:schemeClr val="dk1"/>
              </a:buClr>
              <a:buSzPct val="1000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INTRODUCTION TO DevOps</a:t>
            </a:r>
            <a:endParaRPr/>
          </a:p>
        </p:txBody>
      </p:sp>
      <p:sp>
        <p:nvSpPr>
          <p:cNvPr id="222" name="Google Shape;222;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spcBef>
                <a:spcPts val="0"/>
              </a:spcBef>
              <a:spcAft>
                <a:spcPts val="0"/>
              </a:spcAft>
              <a:buClr>
                <a:schemeClr val="dk1"/>
              </a:buClr>
              <a:buSzPct val="100000"/>
              <a:buChar char="•"/>
            </a:pPr>
            <a:r>
              <a:rPr lang="en-US"/>
              <a:t>DevOps is a culture which promotes collaboration between Development and Operations Team to deploy code to production faster in an automated &amp; repeatable way. The word 'DevOps' is a combination of two words 'development' and 'operations.' </a:t>
            </a:r>
            <a:endParaRPr/>
          </a:p>
          <a:p>
            <a:pPr marL="342900" lvl="0" indent="-342900" algn="just" rtl="0">
              <a:spcBef>
                <a:spcPts val="592"/>
              </a:spcBef>
              <a:spcAft>
                <a:spcPts val="0"/>
              </a:spcAft>
              <a:buClr>
                <a:schemeClr val="dk1"/>
              </a:buClr>
              <a:buSzPct val="100000"/>
              <a:buChar char="•"/>
            </a:pPr>
            <a:r>
              <a:rPr lang="en-US"/>
              <a:t>DevOps helps to increases an organization's speed to deliver applications and services. It allows organizations to serve their customers better and compete more strongly in the market. </a:t>
            </a:r>
            <a:endParaRPr/>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38"/>
          <p:cNvPicPr preferRelativeResize="0"/>
          <p:nvPr/>
        </p:nvPicPr>
        <p:blipFill rotWithShape="1">
          <a:blip r:embed="rId3">
            <a:alphaModFix/>
          </a:blip>
          <a:srcRect/>
          <a:stretch/>
        </p:blipFill>
        <p:spPr>
          <a:xfrm>
            <a:off x="1004888" y="1228725"/>
            <a:ext cx="7134225" cy="4400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39"/>
          <p:cNvPicPr preferRelativeResize="0"/>
          <p:nvPr/>
        </p:nvPicPr>
        <p:blipFill rotWithShape="1">
          <a:blip r:embed="rId3">
            <a:alphaModFix/>
          </a:blip>
          <a:srcRect/>
          <a:stretch/>
        </p:blipFill>
        <p:spPr>
          <a:xfrm>
            <a:off x="838200" y="1676400"/>
            <a:ext cx="7772400" cy="4572000"/>
          </a:xfrm>
          <a:prstGeom prst="rect">
            <a:avLst/>
          </a:prstGeom>
          <a:noFill/>
          <a:ln>
            <a:noFill/>
          </a:ln>
        </p:spPr>
      </p:pic>
      <p:sp>
        <p:nvSpPr>
          <p:cNvPr id="233" name="Google Shape;233;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Why You Need DevOps?</a:t>
            </a:r>
            <a:endParaRPr/>
          </a:p>
        </p:txBody>
      </p:sp>
      <p:sp>
        <p:nvSpPr>
          <p:cNvPr id="234" name="Google Shape;234;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40" descr="devops phases - devops tools - edureka"/>
          <p:cNvPicPr preferRelativeResize="0"/>
          <p:nvPr/>
        </p:nvPicPr>
        <p:blipFill rotWithShape="1">
          <a:blip r:embed="rId3">
            <a:alphaModFix/>
          </a:blip>
          <a:srcRect/>
          <a:stretch/>
        </p:blipFill>
        <p:spPr>
          <a:xfrm>
            <a:off x="-4549" y="1295400"/>
            <a:ext cx="8769806" cy="4191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DevOps ecosystem</a:t>
            </a:r>
            <a:endParaRPr/>
          </a:p>
        </p:txBody>
      </p:sp>
      <p:sp>
        <p:nvSpPr>
          <p:cNvPr id="245" name="Google Shape;245;p41"/>
          <p:cNvSpPr txBox="1">
            <a:spLocks noGrp="1"/>
          </p:cNvSpPr>
          <p:nvPr>
            <p:ph type="body" idx="1"/>
          </p:nvPr>
        </p:nvSpPr>
        <p:spPr>
          <a:xfrm>
            <a:off x="457200" y="1295400"/>
            <a:ext cx="8458200" cy="4830763"/>
          </a:xfrm>
          <a:prstGeom prst="rect">
            <a:avLst/>
          </a:prstGeom>
          <a:noFill/>
          <a:ln>
            <a:noFill/>
          </a:ln>
        </p:spPr>
        <p:txBody>
          <a:bodyPr spcFirstLastPara="1" wrap="square" lIns="91425" tIns="45700" rIns="91425" bIns="45700" anchor="t" anchorCtr="0">
            <a:normAutofit fontScale="62500" lnSpcReduction="20000"/>
          </a:bodyPr>
          <a:lstStyle/>
          <a:p>
            <a:pPr marL="514350" lvl="0" indent="-514350" algn="l" rtl="0">
              <a:spcBef>
                <a:spcPts val="0"/>
              </a:spcBef>
              <a:spcAft>
                <a:spcPts val="0"/>
              </a:spcAft>
              <a:buClr>
                <a:schemeClr val="dk1"/>
              </a:buClr>
              <a:buSzPct val="100000"/>
              <a:buAutoNum type="arabicPeriod"/>
            </a:pPr>
            <a:r>
              <a:rPr lang="en-US" b="1"/>
              <a:t>Plan</a:t>
            </a:r>
            <a:endParaRPr/>
          </a:p>
          <a:p>
            <a:pPr marL="514350" lvl="0" indent="-514350" algn="l" rtl="0">
              <a:spcBef>
                <a:spcPts val="400"/>
              </a:spcBef>
              <a:spcAft>
                <a:spcPts val="0"/>
              </a:spcAft>
              <a:buClr>
                <a:schemeClr val="dk1"/>
              </a:buClr>
              <a:buSzPct val="100000"/>
              <a:buNone/>
            </a:pPr>
            <a:endParaRPr/>
          </a:p>
          <a:p>
            <a:pPr marL="342900" lvl="0" indent="-342900" algn="just" rtl="0">
              <a:spcBef>
                <a:spcPts val="400"/>
              </a:spcBef>
              <a:spcAft>
                <a:spcPts val="0"/>
              </a:spcAft>
              <a:buClr>
                <a:schemeClr val="dk1"/>
              </a:buClr>
              <a:buSzPct val="100000"/>
              <a:buNone/>
            </a:pPr>
            <a:r>
              <a:rPr lang="en-US"/>
              <a:t>	This stage is composed of two phases: Define and Plan. This stage refers to the business value and application requirements. Considering agile process, you should use tools that allow your development team to plan in iterations. You can learn from the users at an early stage and can optimize the product. Always consider tools that offer sprint planning features. During this stage, it is necessary that everyone can share and discuss anything: ideas, strategies, goals, requirements, roadmaps, and documentation. This phase includes:</a:t>
            </a:r>
            <a:endParaRPr/>
          </a:p>
          <a:p>
            <a:pPr marL="342900" lvl="0" indent="-342900" algn="just" rtl="0">
              <a:spcBef>
                <a:spcPts val="400"/>
              </a:spcBef>
              <a:spcAft>
                <a:spcPts val="0"/>
              </a:spcAft>
              <a:buClr>
                <a:schemeClr val="dk1"/>
              </a:buClr>
              <a:buSzPct val="100000"/>
              <a:buChar char="•"/>
            </a:pPr>
            <a:r>
              <a:rPr lang="en-US"/>
              <a:t>Production metrics, objects and feedback</a:t>
            </a:r>
            <a:endParaRPr/>
          </a:p>
          <a:p>
            <a:pPr marL="342900" lvl="0" indent="-342900" algn="just" rtl="0">
              <a:spcBef>
                <a:spcPts val="400"/>
              </a:spcBef>
              <a:spcAft>
                <a:spcPts val="0"/>
              </a:spcAft>
              <a:buClr>
                <a:schemeClr val="dk1"/>
              </a:buClr>
              <a:buSzPct val="100000"/>
              <a:buChar char="•"/>
            </a:pPr>
            <a:r>
              <a:rPr lang="en-US"/>
              <a:t>Requirements</a:t>
            </a:r>
            <a:endParaRPr/>
          </a:p>
          <a:p>
            <a:pPr marL="342900" lvl="0" indent="-342900" algn="just" rtl="0">
              <a:spcBef>
                <a:spcPts val="400"/>
              </a:spcBef>
              <a:spcAft>
                <a:spcPts val="0"/>
              </a:spcAft>
              <a:buClr>
                <a:schemeClr val="dk1"/>
              </a:buClr>
              <a:buSzPct val="100000"/>
              <a:buChar char="•"/>
            </a:pPr>
            <a:r>
              <a:rPr lang="en-US"/>
              <a:t>Business metrics</a:t>
            </a:r>
            <a:endParaRPr/>
          </a:p>
          <a:p>
            <a:pPr marL="342900" lvl="0" indent="-342900" algn="just" rtl="0">
              <a:spcBef>
                <a:spcPts val="400"/>
              </a:spcBef>
              <a:spcAft>
                <a:spcPts val="0"/>
              </a:spcAft>
              <a:buClr>
                <a:schemeClr val="dk1"/>
              </a:buClr>
              <a:buSzPct val="100000"/>
              <a:buChar char="•"/>
            </a:pPr>
            <a:r>
              <a:rPr lang="en-US"/>
              <a:t>Update release metrics</a:t>
            </a:r>
            <a:endParaRPr/>
          </a:p>
          <a:p>
            <a:pPr marL="342900" lvl="0" indent="-342900" algn="just" rtl="0">
              <a:spcBef>
                <a:spcPts val="400"/>
              </a:spcBef>
              <a:spcAft>
                <a:spcPts val="0"/>
              </a:spcAft>
              <a:buClr>
                <a:schemeClr val="dk1"/>
              </a:buClr>
              <a:buSzPct val="100000"/>
              <a:buChar char="•"/>
            </a:pPr>
            <a:r>
              <a:rPr lang="en-US"/>
              <a:t>Release plan, timing and business case</a:t>
            </a:r>
            <a:endParaRPr/>
          </a:p>
          <a:p>
            <a:pPr marL="342900" lvl="0" indent="-342900" algn="just" rtl="0">
              <a:spcBef>
                <a:spcPts val="400"/>
              </a:spcBef>
              <a:spcAft>
                <a:spcPts val="0"/>
              </a:spcAft>
              <a:buClr>
                <a:schemeClr val="dk1"/>
              </a:buClr>
              <a:buSzPct val="100000"/>
              <a:buChar char="•"/>
            </a:pPr>
            <a:r>
              <a:rPr lang="en-US"/>
              <a:t>Security policy and requirement</a:t>
            </a:r>
            <a:endParaRPr/>
          </a:p>
          <a:p>
            <a:pPr marL="342900" lvl="0" indent="-342900" algn="just" rtl="0">
              <a:spcBef>
                <a:spcPts val="400"/>
              </a:spcBef>
              <a:spcAft>
                <a:spcPts val="0"/>
              </a:spcAft>
              <a:buClr>
                <a:schemeClr val="dk1"/>
              </a:buClr>
              <a:buSzPct val="100000"/>
              <a:buNone/>
            </a:pPr>
            <a:r>
              <a:rPr lang="en-US"/>
              <a:t>Tools used: </a:t>
            </a:r>
            <a:r>
              <a:rPr lang="en-US" b="1"/>
              <a:t>JIRA ,Rally, Trac, Redmine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51" name="Google Shape;251;p42"/>
          <p:cNvSpPr txBox="1">
            <a:spLocks noGrp="1"/>
          </p:cNvSpPr>
          <p:nvPr>
            <p:ph type="body" idx="1"/>
          </p:nvPr>
        </p:nvSpPr>
        <p:spPr>
          <a:xfrm>
            <a:off x="457200" y="1447800"/>
            <a:ext cx="8229600" cy="51054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None/>
            </a:pPr>
            <a:r>
              <a:rPr lang="en-US" b="1"/>
              <a:t>2. Create</a:t>
            </a:r>
            <a:endParaRPr/>
          </a:p>
          <a:p>
            <a:pPr marL="342900" lvl="0" indent="-342900" algn="just" rtl="0">
              <a:spcBef>
                <a:spcPts val="544"/>
              </a:spcBef>
              <a:spcAft>
                <a:spcPts val="0"/>
              </a:spcAft>
              <a:buClr>
                <a:schemeClr val="dk1"/>
              </a:buClr>
              <a:buSzPct val="100000"/>
              <a:buNone/>
            </a:pPr>
            <a:r>
              <a:rPr lang="en-US"/>
              <a:t>    The second phase of DevOps is create. This is comprised of building, coding, and configuring the development process. Tools used in this category often overlap with other categories. As DevOps is breaking silos down, this impact the activities and solutions. Activities which comes under this stage are:</a:t>
            </a:r>
            <a:endParaRPr/>
          </a:p>
          <a:p>
            <a:pPr marL="342900" lvl="0" indent="-342900" algn="l" rtl="0">
              <a:spcBef>
                <a:spcPts val="544"/>
              </a:spcBef>
              <a:spcAft>
                <a:spcPts val="0"/>
              </a:spcAft>
              <a:buClr>
                <a:schemeClr val="dk1"/>
              </a:buClr>
              <a:buSzPct val="100000"/>
              <a:buNone/>
            </a:pPr>
            <a:r>
              <a:rPr lang="en-US"/>
              <a:t>Design of the software and configuration</a:t>
            </a:r>
            <a:endParaRPr/>
          </a:p>
          <a:p>
            <a:pPr marL="342900" lvl="0" indent="-342900" algn="l" rtl="0">
              <a:spcBef>
                <a:spcPts val="544"/>
              </a:spcBef>
              <a:spcAft>
                <a:spcPts val="0"/>
              </a:spcAft>
              <a:buClr>
                <a:schemeClr val="dk1"/>
              </a:buClr>
              <a:buSzPct val="100000"/>
              <a:buNone/>
            </a:pPr>
            <a:r>
              <a:rPr lang="en-US"/>
              <a:t>Coding including code quality and performance</a:t>
            </a:r>
            <a:endParaRPr/>
          </a:p>
          <a:p>
            <a:pPr marL="342900" lvl="0" indent="-342900" algn="l" rtl="0">
              <a:spcBef>
                <a:spcPts val="544"/>
              </a:spcBef>
              <a:spcAft>
                <a:spcPts val="0"/>
              </a:spcAft>
              <a:buClr>
                <a:schemeClr val="dk1"/>
              </a:buClr>
              <a:buSzPct val="100000"/>
              <a:buNone/>
            </a:pPr>
            <a:r>
              <a:rPr lang="en-US"/>
              <a:t>Software build and build performance</a:t>
            </a:r>
            <a:endParaRPr/>
          </a:p>
          <a:p>
            <a:pPr marL="342900" lvl="0" indent="-342900" algn="l" rtl="0">
              <a:spcBef>
                <a:spcPts val="544"/>
              </a:spcBef>
              <a:spcAft>
                <a:spcPts val="0"/>
              </a:spcAft>
              <a:buClr>
                <a:schemeClr val="dk1"/>
              </a:buClr>
              <a:buSzPct val="100000"/>
              <a:buNone/>
            </a:pPr>
            <a:r>
              <a:rPr lang="en-US"/>
              <a:t>Release candidate</a:t>
            </a:r>
            <a:endParaRPr/>
          </a:p>
          <a:p>
            <a:pPr marL="342900" lvl="0" indent="-342900" algn="l" rtl="0">
              <a:spcBef>
                <a:spcPts val="544"/>
              </a:spcBef>
              <a:spcAft>
                <a:spcPts val="0"/>
              </a:spcAft>
              <a:buClr>
                <a:schemeClr val="dk1"/>
              </a:buClr>
              <a:buSzPct val="100000"/>
              <a:buNone/>
            </a:pPr>
            <a:r>
              <a:rPr lang="en-US"/>
              <a:t>Tools used: </a:t>
            </a:r>
            <a:r>
              <a:rPr lang="en-US" b="1"/>
              <a:t>Gradle</a:t>
            </a:r>
            <a:r>
              <a:rPr lang="en-US"/>
              <a:t>, </a:t>
            </a:r>
            <a:r>
              <a:rPr lang="en-US" b="1"/>
              <a:t>Apache Maven, Grunt, WebPack, Github, Bitbucket, Docker, BuildMaster, Slack</a:t>
            </a:r>
            <a:endParaRPr/>
          </a:p>
          <a:p>
            <a:pPr marL="342900" lvl="0" indent="-170180" algn="l" rtl="0">
              <a:spcBef>
                <a:spcPts val="544"/>
              </a:spcBef>
              <a:spcAft>
                <a:spcPts val="0"/>
              </a:spcAft>
              <a:buClr>
                <a:schemeClr val="dk1"/>
              </a:buClr>
              <a:buSzPct val="1000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57" name="Google Shape;257;p43"/>
          <p:cNvSpPr txBox="1">
            <a:spLocks noGrp="1"/>
          </p:cNvSpPr>
          <p:nvPr>
            <p:ph type="body" idx="1"/>
          </p:nvPr>
        </p:nvSpPr>
        <p:spPr>
          <a:xfrm>
            <a:off x="457200" y="1447800"/>
            <a:ext cx="8229600" cy="5410200"/>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None/>
            </a:pPr>
            <a:r>
              <a:rPr lang="en-US" b="1"/>
              <a:t>3. Test</a:t>
            </a:r>
            <a:endParaRPr/>
          </a:p>
          <a:p>
            <a:pPr marL="342900" lvl="0" indent="-342900" algn="just" rtl="0">
              <a:spcBef>
                <a:spcPts val="400"/>
              </a:spcBef>
              <a:spcAft>
                <a:spcPts val="0"/>
              </a:spcAft>
              <a:buClr>
                <a:schemeClr val="dk1"/>
              </a:buClr>
              <a:buSzPct val="100000"/>
              <a:buNone/>
            </a:pPr>
            <a:r>
              <a:rPr lang="en-US"/>
              <a:t>	Testing is one of those functionalities which had shift left due to DevOps. The quality aspect of the software depends on the efficiency of testing. As continuous integration has numerous goals for the testing phase, testing should be always automated to assure a seamless flow, sharp and detailed results, and fair affirmation of the application. Early stage testing, initial validation and frequent testing ensure quality built-in to the application can be verified and issues to be tackled early. Testing is directly associated with ensuring the quality of the software release; activities designed to ensure code quality is maintained and the highest quality is deployed to the production. The main activities in this are:</a:t>
            </a:r>
            <a:endParaRPr/>
          </a:p>
          <a:p>
            <a:pPr marL="342900" lvl="0" indent="-342900" algn="l" rtl="0">
              <a:spcBef>
                <a:spcPts val="400"/>
              </a:spcBef>
              <a:spcAft>
                <a:spcPts val="0"/>
              </a:spcAft>
              <a:buClr>
                <a:schemeClr val="dk1"/>
              </a:buClr>
              <a:buSzPct val="100000"/>
              <a:buNone/>
            </a:pPr>
            <a:r>
              <a:rPr lang="en-US"/>
              <a:t>Acceptance testing</a:t>
            </a:r>
            <a:endParaRPr/>
          </a:p>
          <a:p>
            <a:pPr marL="342900" lvl="0" indent="-342900" algn="l" rtl="0">
              <a:spcBef>
                <a:spcPts val="400"/>
              </a:spcBef>
              <a:spcAft>
                <a:spcPts val="0"/>
              </a:spcAft>
              <a:buClr>
                <a:schemeClr val="dk1"/>
              </a:buClr>
              <a:buSzPct val="100000"/>
              <a:buNone/>
            </a:pPr>
            <a:r>
              <a:rPr lang="en-US"/>
              <a:t>Regression testing</a:t>
            </a:r>
            <a:endParaRPr/>
          </a:p>
          <a:p>
            <a:pPr marL="342900" lvl="0" indent="-342900" algn="l" rtl="0">
              <a:spcBef>
                <a:spcPts val="400"/>
              </a:spcBef>
              <a:spcAft>
                <a:spcPts val="0"/>
              </a:spcAft>
              <a:buClr>
                <a:schemeClr val="dk1"/>
              </a:buClr>
              <a:buSzPct val="100000"/>
              <a:buNone/>
            </a:pPr>
            <a:r>
              <a:rPr lang="en-US"/>
              <a:t>Security and vulnerability analysis</a:t>
            </a:r>
            <a:endParaRPr/>
          </a:p>
          <a:p>
            <a:pPr marL="342900" lvl="0" indent="-342900" algn="l" rtl="0">
              <a:spcBef>
                <a:spcPts val="400"/>
              </a:spcBef>
              <a:spcAft>
                <a:spcPts val="0"/>
              </a:spcAft>
              <a:buClr>
                <a:schemeClr val="dk1"/>
              </a:buClr>
              <a:buSzPct val="100000"/>
              <a:buNone/>
            </a:pPr>
            <a:r>
              <a:rPr lang="en-US"/>
              <a:t>Performance</a:t>
            </a:r>
            <a:endParaRPr/>
          </a:p>
          <a:p>
            <a:pPr marL="342900" lvl="0" indent="-342900" algn="l" rtl="0">
              <a:spcBef>
                <a:spcPts val="400"/>
              </a:spcBef>
              <a:spcAft>
                <a:spcPts val="0"/>
              </a:spcAft>
              <a:buClr>
                <a:schemeClr val="dk1"/>
              </a:buClr>
              <a:buSzPct val="100000"/>
              <a:buNone/>
            </a:pPr>
            <a:r>
              <a:rPr lang="en-US"/>
              <a:t>Configuration testing</a:t>
            </a:r>
            <a:endParaRPr/>
          </a:p>
          <a:p>
            <a:pPr marL="342900" lvl="0" indent="-342900" algn="l" rtl="0">
              <a:spcBef>
                <a:spcPts val="400"/>
              </a:spcBef>
              <a:spcAft>
                <a:spcPts val="0"/>
              </a:spcAft>
              <a:buClr>
                <a:schemeClr val="dk1"/>
              </a:buClr>
              <a:buSzPct val="100000"/>
              <a:buNone/>
            </a:pPr>
            <a:r>
              <a:rPr lang="en-US"/>
              <a:t>Tools used:</a:t>
            </a:r>
            <a:r>
              <a:rPr lang="en-US" b="1"/>
              <a:t> JIRA issue tracking, Bugzilla, Selenium, Mocha, Jasmine, JUnit, NUnit, JMeter, pytest, BlazeMeter, Load Impact</a:t>
            </a:r>
            <a:endParaRPr/>
          </a:p>
          <a:p>
            <a:pPr marL="342900" lvl="0" indent="-342900" algn="l" rtl="0">
              <a:spcBef>
                <a:spcPts val="400"/>
              </a:spcBef>
              <a:spcAft>
                <a:spcPts val="0"/>
              </a:spcAft>
              <a:buClr>
                <a:schemeClr val="dk1"/>
              </a:buClr>
              <a:buSzPct val="1000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63" name="Google Shape;263;p44"/>
          <p:cNvSpPr txBox="1">
            <a:spLocks noGrp="1"/>
          </p:cNvSpPr>
          <p:nvPr>
            <p:ph type="body" idx="1"/>
          </p:nvPr>
        </p:nvSpPr>
        <p:spPr>
          <a:xfrm>
            <a:off x="457200" y="1447800"/>
            <a:ext cx="8229600" cy="52578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None/>
            </a:pPr>
            <a:r>
              <a:rPr lang="en-US" b="1"/>
              <a:t>4. Packaging</a:t>
            </a:r>
            <a:endParaRPr/>
          </a:p>
          <a:p>
            <a:pPr marL="342900" lvl="0" indent="-342900" algn="l" rtl="0">
              <a:spcBef>
                <a:spcPts val="448"/>
              </a:spcBef>
              <a:spcAft>
                <a:spcPts val="0"/>
              </a:spcAft>
              <a:buClr>
                <a:schemeClr val="dk1"/>
              </a:buClr>
              <a:buSzPct val="100000"/>
              <a:buNone/>
            </a:pPr>
            <a:r>
              <a:rPr lang="en-US"/>
              <a:t>	Packaging phase starts once the release is ready for deployment. This stage is often referred to as Preproduction/preprod. The packaging stage comprises tools for package repositories and other storage mechanisms for the binaries created in the development stage. Repositories, also known as artifact or asset repositories — include all assets needed and connected with binaries to facilitate the deployment, such as scripts, configuration files, and additional infrastructural files. Packaging consists of following activities;</a:t>
            </a:r>
            <a:endParaRPr/>
          </a:p>
          <a:p>
            <a:pPr marL="342900" lvl="0" indent="-342900" algn="l" rtl="0">
              <a:spcBef>
                <a:spcPts val="448"/>
              </a:spcBef>
              <a:spcAft>
                <a:spcPts val="0"/>
              </a:spcAft>
              <a:buClr>
                <a:schemeClr val="dk1"/>
              </a:buClr>
              <a:buSzPct val="100000"/>
              <a:buNone/>
            </a:pPr>
            <a:r>
              <a:rPr lang="en-US"/>
              <a:t>Approval/preapprovals</a:t>
            </a:r>
            <a:endParaRPr/>
          </a:p>
          <a:p>
            <a:pPr marL="342900" lvl="0" indent="-342900" algn="l" rtl="0">
              <a:spcBef>
                <a:spcPts val="448"/>
              </a:spcBef>
              <a:spcAft>
                <a:spcPts val="0"/>
              </a:spcAft>
              <a:buClr>
                <a:schemeClr val="dk1"/>
              </a:buClr>
              <a:buSzPct val="100000"/>
              <a:buNone/>
            </a:pPr>
            <a:r>
              <a:rPr lang="en-US"/>
              <a:t>Package configuration</a:t>
            </a:r>
            <a:endParaRPr/>
          </a:p>
          <a:p>
            <a:pPr marL="342900" lvl="0" indent="-342900" algn="l" rtl="0">
              <a:spcBef>
                <a:spcPts val="448"/>
              </a:spcBef>
              <a:spcAft>
                <a:spcPts val="0"/>
              </a:spcAft>
              <a:buClr>
                <a:schemeClr val="dk1"/>
              </a:buClr>
              <a:buSzPct val="100000"/>
              <a:buNone/>
            </a:pPr>
            <a:r>
              <a:rPr lang="en-US"/>
              <a:t>Triggered releases</a:t>
            </a:r>
            <a:endParaRPr/>
          </a:p>
          <a:p>
            <a:pPr marL="342900" lvl="0" indent="-342900" algn="l" rtl="0">
              <a:spcBef>
                <a:spcPts val="448"/>
              </a:spcBef>
              <a:spcAft>
                <a:spcPts val="0"/>
              </a:spcAft>
              <a:buClr>
                <a:schemeClr val="dk1"/>
              </a:buClr>
              <a:buSzPct val="100000"/>
              <a:buNone/>
            </a:pPr>
            <a:r>
              <a:rPr lang="en-US"/>
              <a:t>Release staging and holding</a:t>
            </a:r>
            <a:endParaRPr/>
          </a:p>
          <a:p>
            <a:pPr marL="342900" lvl="0" indent="-342900" algn="l" rtl="0">
              <a:spcBef>
                <a:spcPts val="448"/>
              </a:spcBef>
              <a:spcAft>
                <a:spcPts val="0"/>
              </a:spcAft>
              <a:buClr>
                <a:schemeClr val="dk1"/>
              </a:buClr>
              <a:buSzPct val="100000"/>
              <a:buNone/>
            </a:pPr>
            <a:r>
              <a:rPr lang="en-US"/>
              <a:t>Tools used</a:t>
            </a:r>
            <a:r>
              <a:rPr lang="en-US" b="1"/>
              <a:t>: Dockers, consul.io, Ansible</a:t>
            </a:r>
            <a:r>
              <a:rPr lang="en-US"/>
              <a:t>, </a:t>
            </a:r>
            <a:r>
              <a:rPr lang="en-US" b="1"/>
              <a:t>SaltStack</a:t>
            </a:r>
            <a:r>
              <a:rPr lang="en-US"/>
              <a:t>, </a:t>
            </a:r>
            <a:r>
              <a:rPr lang="en-US" b="1"/>
              <a:t>Puppet, Chef</a:t>
            </a:r>
            <a:endParaRPr/>
          </a:p>
          <a:p>
            <a:pPr marL="342900" lvl="0" indent="-342900" algn="l" rtl="0">
              <a:spcBef>
                <a:spcPts val="448"/>
              </a:spcBef>
              <a:spcAft>
                <a:spcPts val="0"/>
              </a:spcAft>
              <a:buClr>
                <a:schemeClr val="dk1"/>
              </a:buClr>
              <a:buSzPct val="1000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69" name="Google Shape;269;p45"/>
          <p:cNvSpPr txBox="1">
            <a:spLocks noGrp="1"/>
          </p:cNvSpPr>
          <p:nvPr>
            <p:ph type="body" idx="1"/>
          </p:nvPr>
        </p:nvSpPr>
        <p:spPr>
          <a:xfrm>
            <a:off x="457200" y="1447800"/>
            <a:ext cx="8229600" cy="5410200"/>
          </a:xfrm>
          <a:prstGeom prst="rect">
            <a:avLst/>
          </a:prstGeom>
          <a:noFill/>
          <a:ln>
            <a:noFill/>
          </a:ln>
        </p:spPr>
        <p:txBody>
          <a:bodyPr spcFirstLastPara="1" wrap="square" lIns="91425" tIns="45700" rIns="91425" bIns="45700" anchor="t" anchorCtr="0">
            <a:normAutofit fontScale="55000" lnSpcReduction="20000"/>
          </a:bodyPr>
          <a:lstStyle/>
          <a:p>
            <a:pPr marL="342900" lvl="0" indent="-342900" algn="just" rtl="0">
              <a:spcBef>
                <a:spcPts val="0"/>
              </a:spcBef>
              <a:spcAft>
                <a:spcPts val="0"/>
              </a:spcAft>
              <a:buClr>
                <a:schemeClr val="dk1"/>
              </a:buClr>
              <a:buSzPct val="100000"/>
              <a:buNone/>
            </a:pPr>
            <a:r>
              <a:rPr lang="en-US" b="1"/>
              <a:t>5. Release</a:t>
            </a:r>
            <a:endParaRPr/>
          </a:p>
          <a:p>
            <a:pPr marL="342900" lvl="0" indent="-342900" algn="just" rtl="0">
              <a:spcBef>
                <a:spcPts val="352"/>
              </a:spcBef>
              <a:spcAft>
                <a:spcPts val="0"/>
              </a:spcAft>
              <a:buClr>
                <a:schemeClr val="dk1"/>
              </a:buClr>
              <a:buSzPct val="100000"/>
              <a:buNone/>
            </a:pPr>
            <a:r>
              <a:rPr lang="en-US"/>
              <a:t>	Release includes schedule, orchestration, provisioning and deploying software into production and targeted environment. Part of this process is application release automation tools that help up the packaging and deploying the application from development to production, using automation. The specific Release activities include:</a:t>
            </a:r>
            <a:endParaRPr/>
          </a:p>
          <a:p>
            <a:pPr marL="342900" lvl="0" indent="-342900" algn="just" rtl="0">
              <a:spcBef>
                <a:spcPts val="352"/>
              </a:spcBef>
              <a:spcAft>
                <a:spcPts val="0"/>
              </a:spcAft>
              <a:buClr>
                <a:schemeClr val="dk1"/>
              </a:buClr>
              <a:buSzPct val="100000"/>
              <a:buNone/>
            </a:pPr>
            <a:r>
              <a:rPr lang="en-US"/>
              <a:t>Release coordination</a:t>
            </a:r>
            <a:endParaRPr/>
          </a:p>
          <a:p>
            <a:pPr marL="342900" lvl="0" indent="-342900" algn="just" rtl="0">
              <a:spcBef>
                <a:spcPts val="352"/>
              </a:spcBef>
              <a:spcAft>
                <a:spcPts val="0"/>
              </a:spcAft>
              <a:buClr>
                <a:schemeClr val="dk1"/>
              </a:buClr>
              <a:buSzPct val="100000"/>
              <a:buNone/>
            </a:pPr>
            <a:r>
              <a:rPr lang="en-US"/>
              <a:t>Deploying and promoting applications</a:t>
            </a:r>
            <a:endParaRPr/>
          </a:p>
          <a:p>
            <a:pPr marL="342900" lvl="0" indent="-342900" algn="just" rtl="0">
              <a:spcBef>
                <a:spcPts val="352"/>
              </a:spcBef>
              <a:spcAft>
                <a:spcPts val="0"/>
              </a:spcAft>
              <a:buClr>
                <a:schemeClr val="dk1"/>
              </a:buClr>
              <a:buSzPct val="100000"/>
              <a:buNone/>
            </a:pPr>
            <a:r>
              <a:rPr lang="en-US"/>
              <a:t>Fallbacks and recovery</a:t>
            </a:r>
            <a:endParaRPr/>
          </a:p>
          <a:p>
            <a:pPr marL="342900" lvl="0" indent="-342900" algn="just" rtl="0">
              <a:spcBef>
                <a:spcPts val="352"/>
              </a:spcBef>
              <a:spcAft>
                <a:spcPts val="0"/>
              </a:spcAft>
              <a:buClr>
                <a:schemeClr val="dk1"/>
              </a:buClr>
              <a:buSzPct val="100000"/>
              <a:buNone/>
            </a:pPr>
            <a:r>
              <a:rPr lang="en-US"/>
              <a:t>Scheduled/timed releases</a:t>
            </a:r>
            <a:endParaRPr/>
          </a:p>
          <a:p>
            <a:pPr marL="342900" lvl="0" indent="-342900" algn="just" rtl="0">
              <a:spcBef>
                <a:spcPts val="352"/>
              </a:spcBef>
              <a:spcAft>
                <a:spcPts val="0"/>
              </a:spcAft>
              <a:buClr>
                <a:schemeClr val="dk1"/>
              </a:buClr>
              <a:buSzPct val="100000"/>
              <a:buNone/>
            </a:pPr>
            <a:r>
              <a:rPr lang="en-US"/>
              <a:t>Tools: </a:t>
            </a:r>
            <a:r>
              <a:rPr lang="en-US" b="1"/>
              <a:t>Jenkins, Kubernetes CI/CD</a:t>
            </a:r>
            <a:endParaRPr/>
          </a:p>
          <a:p>
            <a:pPr marL="342900" lvl="0" indent="-342900" algn="just" rtl="0">
              <a:spcBef>
                <a:spcPts val="352"/>
              </a:spcBef>
              <a:spcAft>
                <a:spcPts val="0"/>
              </a:spcAft>
              <a:buClr>
                <a:schemeClr val="dk1"/>
              </a:buClr>
              <a:buSzPct val="100000"/>
              <a:buNone/>
            </a:pPr>
            <a:r>
              <a:rPr lang="en-US"/>
              <a:t>	Jenkins is an open source automation server that offers a plugin architecture to support continuous integration and delivery. It integrates with a variety of software tools in the CI/CD toolchain and distributes work across multiple platforms. In DevOps, Jenkins is been used for packaging, release, and configuration.</a:t>
            </a:r>
            <a:endParaRPr/>
          </a:p>
          <a:p>
            <a:pPr marL="342900" lvl="0" indent="-342900" algn="just" rtl="0">
              <a:spcBef>
                <a:spcPts val="352"/>
              </a:spcBef>
              <a:spcAft>
                <a:spcPts val="0"/>
              </a:spcAft>
              <a:buClr>
                <a:schemeClr val="dk1"/>
              </a:buClr>
              <a:buSzPct val="100000"/>
              <a:buNone/>
            </a:pPr>
            <a:r>
              <a:rPr lang="en-US"/>
              <a:t>	Kubernetes is an open-source platform for automating deployments, scaling, and operations of application containers across clusters of hosts, providing container-centric infrastructure.</a:t>
            </a:r>
            <a:endParaRPr/>
          </a:p>
          <a:p>
            <a:pPr marL="342900" lvl="0" indent="-342900" algn="just" rtl="0">
              <a:spcBef>
                <a:spcPts val="352"/>
              </a:spcBef>
              <a:spcAft>
                <a:spcPts val="0"/>
              </a:spcAft>
              <a:buClr>
                <a:schemeClr val="dk1"/>
              </a:buClr>
              <a:buSzPct val="100000"/>
              <a:buNone/>
            </a:pPr>
            <a:r>
              <a:rPr lang="en-US"/>
              <a:t>Other tools used: </a:t>
            </a:r>
            <a:r>
              <a:rPr lang="en-US" b="1"/>
              <a:t>Dockers, Docker Hub, Docker Swarm, Travis CI, consul.io, Ansible</a:t>
            </a:r>
            <a:r>
              <a:rPr lang="en-US"/>
              <a:t>, </a:t>
            </a:r>
            <a:r>
              <a:rPr lang="en-US" b="1"/>
              <a:t>SaltStack</a:t>
            </a:r>
            <a:r>
              <a:rPr lang="en-US"/>
              <a:t>, </a:t>
            </a:r>
            <a:r>
              <a:rPr lang="en-US" b="1"/>
              <a:t>Puppet, Chef</a:t>
            </a:r>
            <a:endParaRPr/>
          </a:p>
          <a:p>
            <a:pPr marL="342900" lvl="0" indent="-342900" algn="just" rtl="0">
              <a:spcBef>
                <a:spcPts val="352"/>
              </a:spcBef>
              <a:spcAft>
                <a:spcPts val="0"/>
              </a:spcAft>
              <a:buClr>
                <a:schemeClr val="dk1"/>
              </a:buClr>
              <a:buSzPct val="1000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75" name="Google Shape;275;p46"/>
          <p:cNvSpPr txBox="1">
            <a:spLocks noGrp="1"/>
          </p:cNvSpPr>
          <p:nvPr>
            <p:ph type="body" idx="1"/>
          </p:nvPr>
        </p:nvSpPr>
        <p:spPr>
          <a:xfrm>
            <a:off x="152400" y="1447800"/>
            <a:ext cx="8839200" cy="54102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None/>
            </a:pPr>
            <a:r>
              <a:rPr lang="en-US" b="1"/>
              <a:t>6. Configure</a:t>
            </a:r>
            <a:endParaRPr/>
          </a:p>
          <a:p>
            <a:pPr marL="342900" lvl="0" indent="-342900" algn="just" rtl="0">
              <a:spcBef>
                <a:spcPts val="448"/>
              </a:spcBef>
              <a:spcAft>
                <a:spcPts val="0"/>
              </a:spcAft>
              <a:buClr>
                <a:schemeClr val="dk1"/>
              </a:buClr>
              <a:buSzPct val="100000"/>
              <a:buNone/>
            </a:pPr>
            <a:r>
              <a:rPr lang="en-US"/>
              <a:t>	Configure comes under the operation side of DevOps. Once the software is deployed, you need additional IT infrastructure and configuration. Configuration tools aim to allow the creation of better applications with flexibility, less downtime, and enhancing an overall cost effectiveness for the business. This approach is intended to reduce as many things creating complexity as possible by removing manual configurations. Automation and collaboration are the epicenters in DevOps and this is the reason why configuration is also widely automated across development flows. Specific configuration activities include;</a:t>
            </a:r>
            <a:endParaRPr/>
          </a:p>
          <a:p>
            <a:pPr marL="342900" lvl="0" indent="-342900" algn="l" rtl="0">
              <a:spcBef>
                <a:spcPts val="448"/>
              </a:spcBef>
              <a:spcAft>
                <a:spcPts val="0"/>
              </a:spcAft>
              <a:buClr>
                <a:schemeClr val="dk1"/>
              </a:buClr>
              <a:buSzPct val="100000"/>
              <a:buNone/>
            </a:pPr>
            <a:r>
              <a:rPr lang="en-US"/>
              <a:t>Infrastructure storage, database and network provisioning and configuring</a:t>
            </a:r>
            <a:endParaRPr/>
          </a:p>
          <a:p>
            <a:pPr marL="342900" lvl="0" indent="-342900" algn="l" rtl="0">
              <a:spcBef>
                <a:spcPts val="448"/>
              </a:spcBef>
              <a:spcAft>
                <a:spcPts val="0"/>
              </a:spcAft>
              <a:buClr>
                <a:schemeClr val="dk1"/>
              </a:buClr>
              <a:buSzPct val="100000"/>
              <a:buNone/>
            </a:pPr>
            <a:r>
              <a:rPr lang="en-US"/>
              <a:t>Application provision and configuration</a:t>
            </a:r>
            <a:endParaRPr/>
          </a:p>
          <a:p>
            <a:pPr marL="342900" lvl="0" indent="-342900" algn="l" rtl="0">
              <a:spcBef>
                <a:spcPts val="448"/>
              </a:spcBef>
              <a:spcAft>
                <a:spcPts val="0"/>
              </a:spcAft>
              <a:buClr>
                <a:schemeClr val="dk1"/>
              </a:buClr>
              <a:buSzPct val="100000"/>
              <a:buNone/>
            </a:pPr>
            <a:r>
              <a:rPr lang="en-US"/>
              <a:t>Tools used: </a:t>
            </a:r>
            <a:r>
              <a:rPr lang="en-US" b="1"/>
              <a:t>Dockers, Jenkins, Kubernetes CI/CD, consul.io, Ansible</a:t>
            </a:r>
            <a:r>
              <a:rPr lang="en-US"/>
              <a:t>, </a:t>
            </a:r>
            <a:r>
              <a:rPr lang="en-US" b="1"/>
              <a:t>SaltStack</a:t>
            </a:r>
            <a:r>
              <a:rPr lang="en-US"/>
              <a:t>, </a:t>
            </a:r>
            <a:r>
              <a:rPr lang="en-US" b="1"/>
              <a:t>Puppet, Chef</a:t>
            </a:r>
            <a:endParaRPr/>
          </a:p>
          <a:p>
            <a:pPr marL="342900" lvl="0" indent="-342900" algn="l" rtl="0">
              <a:spcBef>
                <a:spcPts val="448"/>
              </a:spcBef>
              <a:spcAft>
                <a:spcPts val="0"/>
              </a:spcAft>
              <a:buClr>
                <a:schemeClr val="dk1"/>
              </a:buClr>
              <a:buSzPct val="100000"/>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81" name="Google Shape;281;p47"/>
          <p:cNvSpPr txBox="1">
            <a:spLocks noGrp="1"/>
          </p:cNvSpPr>
          <p:nvPr>
            <p:ph type="body" idx="1"/>
          </p:nvPr>
        </p:nvSpPr>
        <p:spPr>
          <a:xfrm>
            <a:off x="228600" y="1447800"/>
            <a:ext cx="8763000" cy="54102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None/>
            </a:pPr>
            <a:r>
              <a:rPr lang="en-US" b="1"/>
              <a:t>7. Monitor</a:t>
            </a:r>
            <a:endParaRPr/>
          </a:p>
          <a:p>
            <a:pPr marL="342900" lvl="0" indent="-342900" algn="l" rtl="0">
              <a:spcBef>
                <a:spcPts val="448"/>
              </a:spcBef>
              <a:spcAft>
                <a:spcPts val="0"/>
              </a:spcAft>
              <a:buClr>
                <a:schemeClr val="dk1"/>
              </a:buClr>
              <a:buSzPct val="100000"/>
              <a:buNone/>
            </a:pPr>
            <a:r>
              <a:rPr lang="en-US"/>
              <a:t>Monitoring is an essential section in a DevOps process. It allows IT team to identify specific issues of specific releases and to know the impact on end-users. There is also an important aspect of making sure organization gets (only) valid data about the process, results in each step, and the outcome.</a:t>
            </a:r>
            <a:endParaRPr/>
          </a:p>
          <a:p>
            <a:pPr marL="342900" lvl="0" indent="-342900" algn="l" rtl="0">
              <a:spcBef>
                <a:spcPts val="448"/>
              </a:spcBef>
              <a:spcAft>
                <a:spcPts val="0"/>
              </a:spcAft>
              <a:buClr>
                <a:schemeClr val="dk1"/>
              </a:buClr>
              <a:buSzPct val="100000"/>
              <a:buNone/>
            </a:pPr>
            <a:r>
              <a:rPr lang="en-US"/>
              <a:t>Monitor related activities are:</a:t>
            </a:r>
            <a:endParaRPr/>
          </a:p>
          <a:p>
            <a:pPr marL="342900" lvl="0" indent="-342900" algn="l" rtl="0">
              <a:spcBef>
                <a:spcPts val="448"/>
              </a:spcBef>
              <a:spcAft>
                <a:spcPts val="0"/>
              </a:spcAft>
              <a:buClr>
                <a:schemeClr val="dk1"/>
              </a:buClr>
              <a:buSzPct val="100000"/>
              <a:buNone/>
            </a:pPr>
            <a:r>
              <a:rPr lang="en-US"/>
              <a:t>Performance of IT infrastructure</a:t>
            </a:r>
            <a:endParaRPr/>
          </a:p>
          <a:p>
            <a:pPr marL="342900" lvl="0" indent="-342900" algn="l" rtl="0">
              <a:spcBef>
                <a:spcPts val="448"/>
              </a:spcBef>
              <a:spcAft>
                <a:spcPts val="0"/>
              </a:spcAft>
              <a:buClr>
                <a:schemeClr val="dk1"/>
              </a:buClr>
              <a:buSzPct val="100000"/>
              <a:buNone/>
            </a:pPr>
            <a:r>
              <a:rPr lang="en-US"/>
              <a:t>End-user response and experience</a:t>
            </a:r>
            <a:endParaRPr/>
          </a:p>
          <a:p>
            <a:pPr marL="342900" lvl="0" indent="-342900" algn="l" rtl="0">
              <a:spcBef>
                <a:spcPts val="448"/>
              </a:spcBef>
              <a:spcAft>
                <a:spcPts val="0"/>
              </a:spcAft>
              <a:buClr>
                <a:schemeClr val="dk1"/>
              </a:buClr>
              <a:buSzPct val="100000"/>
              <a:buNone/>
            </a:pPr>
            <a:r>
              <a:rPr lang="en-US"/>
              <a:t>Production metrics and statistics</a:t>
            </a:r>
            <a:endParaRPr/>
          </a:p>
          <a:p>
            <a:pPr marL="342900" lvl="0" indent="-342900" algn="l" rtl="0">
              <a:spcBef>
                <a:spcPts val="448"/>
              </a:spcBef>
              <a:spcAft>
                <a:spcPts val="0"/>
              </a:spcAft>
              <a:buClr>
                <a:schemeClr val="dk1"/>
              </a:buClr>
              <a:buSzPct val="100000"/>
              <a:buNone/>
            </a:pPr>
            <a:r>
              <a:rPr lang="en-US"/>
              <a:t>Tools: </a:t>
            </a:r>
            <a:r>
              <a:rPr lang="en-US" b="1"/>
              <a:t>New Relic</a:t>
            </a:r>
            <a:endParaRPr/>
          </a:p>
          <a:p>
            <a:pPr marL="342900" lvl="0" indent="-342900" algn="l" rtl="0">
              <a:spcBef>
                <a:spcPts val="448"/>
              </a:spcBef>
              <a:spcAft>
                <a:spcPts val="0"/>
              </a:spcAft>
              <a:buClr>
                <a:schemeClr val="dk1"/>
              </a:buClr>
              <a:buSzPct val="100000"/>
              <a:buNone/>
            </a:pPr>
            <a:r>
              <a:rPr lang="en-US"/>
              <a:t>New Relic is SaaS web and mobile application performance monitoring tool that gives analytics from the customer experience perspective. It monitors availability, alerting, and notifications in real time for applications running in the cloud, on-premise, or hybrid environments.</a:t>
            </a:r>
            <a:endParaRPr/>
          </a:p>
          <a:p>
            <a:pPr marL="342900" lvl="0" indent="-342900" algn="l" rtl="0">
              <a:spcBef>
                <a:spcPts val="448"/>
              </a:spcBef>
              <a:spcAft>
                <a:spcPts val="0"/>
              </a:spcAft>
              <a:buClr>
                <a:schemeClr val="dk1"/>
              </a:buClr>
              <a:buSzPct val="100000"/>
              <a:buNone/>
            </a:pPr>
            <a:r>
              <a:rPr lang="en-US"/>
              <a:t>Other tools used: </a:t>
            </a:r>
            <a:r>
              <a:rPr lang="en-US" b="1"/>
              <a:t>Firebase Analytics, crashlytics</a:t>
            </a:r>
            <a:r>
              <a:rPr lang="en-US"/>
              <a:t>, </a:t>
            </a:r>
            <a:r>
              <a:rPr lang="en-US" b="1"/>
              <a:t>ELK stack — Data/BI analytics, Sumologic</a:t>
            </a:r>
            <a:r>
              <a:rPr lang="en-US"/>
              <a:t>, </a:t>
            </a:r>
            <a:r>
              <a:rPr lang="en-US" b="1"/>
              <a:t>Nagios, JIRA, Telegram, Slack</a:t>
            </a:r>
            <a:endParaRPr/>
          </a:p>
          <a:p>
            <a:pPr marL="342900" lvl="0" indent="-342900" algn="l" rtl="0">
              <a:spcBef>
                <a:spcPts val="448"/>
              </a:spcBef>
              <a:spcAft>
                <a:spcPts val="0"/>
              </a:spcAft>
              <a:buClr>
                <a:schemeClr val="dk1"/>
              </a:buClr>
              <a:buSzPct val="1000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
            </a:r>
            <a:br>
              <a:rPr lang="en-US" b="1"/>
            </a:br>
            <a:endParaRPr/>
          </a:p>
        </p:txBody>
      </p:sp>
      <p:pic>
        <p:nvPicPr>
          <p:cNvPr id="287" name="Google Shape;287;p48"/>
          <p:cNvPicPr preferRelativeResize="0">
            <a:picLocks noGrp="1"/>
          </p:cNvPicPr>
          <p:nvPr>
            <p:ph type="body" idx="1"/>
          </p:nvPr>
        </p:nvPicPr>
        <p:blipFill rotWithShape="1">
          <a:blip r:embed="rId3">
            <a:alphaModFix/>
          </a:blip>
          <a:srcRect/>
          <a:stretch/>
        </p:blipFill>
        <p:spPr>
          <a:xfrm>
            <a:off x="533400" y="1066800"/>
            <a:ext cx="8610600" cy="4724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DevOps ecosystem</a:t>
            </a:r>
            <a:endParaRPr/>
          </a:p>
        </p:txBody>
      </p:sp>
      <p:pic>
        <p:nvPicPr>
          <p:cNvPr id="293" name="Google Shape;293;p49" descr="DevOps Tutorial for Beginners, Devops Free Training Online"/>
          <p:cNvPicPr preferRelativeResize="0"/>
          <p:nvPr/>
        </p:nvPicPr>
        <p:blipFill rotWithShape="1">
          <a:blip r:embed="rId3">
            <a:alphaModFix/>
          </a:blip>
          <a:srcRect/>
          <a:stretch/>
        </p:blipFill>
        <p:spPr>
          <a:xfrm>
            <a:off x="241279" y="1600200"/>
            <a:ext cx="8902721" cy="4724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b="1"/>
              <a:t>Different Lifecycle Stages</a:t>
            </a:r>
            <a:br>
              <a:rPr lang="en-US" b="1"/>
            </a:br>
            <a:endParaRPr/>
          </a:p>
        </p:txBody>
      </p:sp>
      <p:sp>
        <p:nvSpPr>
          <p:cNvPr id="299" name="Google Shape;299;p5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a:t>Different stages in DevOps Lifecycle which contributes to the consistent software development lifecycle:</a:t>
            </a:r>
            <a:endParaRPr/>
          </a:p>
          <a:p>
            <a:pPr marL="342900" lvl="0" indent="-342900" algn="l" rtl="0">
              <a:spcBef>
                <a:spcPts val="640"/>
              </a:spcBef>
              <a:spcAft>
                <a:spcPts val="0"/>
              </a:spcAft>
              <a:buClr>
                <a:schemeClr val="dk1"/>
              </a:buClr>
              <a:buSzPts val="3200"/>
              <a:buChar char="•"/>
            </a:pPr>
            <a:r>
              <a:rPr lang="en-US"/>
              <a:t>Continuous Development</a:t>
            </a:r>
            <a:endParaRPr/>
          </a:p>
          <a:p>
            <a:pPr marL="342900" lvl="0" indent="-342900" algn="l" rtl="0">
              <a:spcBef>
                <a:spcPts val="640"/>
              </a:spcBef>
              <a:spcAft>
                <a:spcPts val="0"/>
              </a:spcAft>
              <a:buClr>
                <a:schemeClr val="dk1"/>
              </a:buClr>
              <a:buSzPts val="3200"/>
              <a:buChar char="•"/>
            </a:pPr>
            <a:r>
              <a:rPr lang="en-US"/>
              <a:t>Continuous Integration</a:t>
            </a:r>
            <a:endParaRPr/>
          </a:p>
          <a:p>
            <a:pPr marL="342900" lvl="0" indent="-342900" algn="l" rtl="0">
              <a:spcBef>
                <a:spcPts val="640"/>
              </a:spcBef>
              <a:spcAft>
                <a:spcPts val="0"/>
              </a:spcAft>
              <a:buClr>
                <a:schemeClr val="dk1"/>
              </a:buClr>
              <a:buSzPts val="3200"/>
              <a:buChar char="•"/>
            </a:pPr>
            <a:r>
              <a:rPr lang="en-US"/>
              <a:t>Continuous Testing</a:t>
            </a:r>
            <a:endParaRPr/>
          </a:p>
          <a:p>
            <a:pPr marL="342900" lvl="0" indent="-342900" algn="l" rtl="0">
              <a:spcBef>
                <a:spcPts val="640"/>
              </a:spcBef>
              <a:spcAft>
                <a:spcPts val="0"/>
              </a:spcAft>
              <a:buClr>
                <a:schemeClr val="dk1"/>
              </a:buClr>
              <a:buSzPts val="3200"/>
              <a:buChar char="•"/>
            </a:pPr>
            <a:r>
              <a:rPr lang="en-US"/>
              <a:t>Continuous Monitoring</a:t>
            </a:r>
            <a:endParaRPr/>
          </a:p>
          <a:p>
            <a:pPr marL="342900" lvl="0" indent="-342900" algn="l" rtl="0">
              <a:spcBef>
                <a:spcPts val="640"/>
              </a:spcBef>
              <a:spcAft>
                <a:spcPts val="0"/>
              </a:spcAft>
              <a:buClr>
                <a:schemeClr val="dk1"/>
              </a:buClr>
              <a:buSzPts val="3200"/>
              <a:buChar char="•"/>
            </a:pPr>
            <a:r>
              <a:rPr lang="en-US"/>
              <a:t>Virtualization and Containerization</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51" descr="DevOps lifecycle"/>
          <p:cNvPicPr preferRelativeResize="0"/>
          <p:nvPr/>
        </p:nvPicPr>
        <p:blipFill rotWithShape="1">
          <a:blip r:embed="rId3">
            <a:alphaModFix/>
          </a:blip>
          <a:srcRect/>
          <a:stretch/>
        </p:blipFill>
        <p:spPr>
          <a:xfrm>
            <a:off x="1371600" y="838200"/>
            <a:ext cx="5457825" cy="48958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52"/>
          <p:cNvSpPr txBox="1">
            <a:spLocks noGrp="1"/>
          </p:cNvSpPr>
          <p:nvPr>
            <p:ph type="body" idx="4294967295"/>
          </p:nvPr>
        </p:nvSpPr>
        <p:spPr>
          <a:xfrm>
            <a:off x="0" y="0"/>
            <a:ext cx="9144000" cy="6858000"/>
          </a:xfrm>
          <a:prstGeom prst="rect">
            <a:avLst/>
          </a:prstGeom>
          <a:noFill/>
          <a:ln>
            <a:noFill/>
          </a:ln>
        </p:spPr>
        <p:txBody>
          <a:bodyPr spcFirstLastPara="1" wrap="square" lIns="91425" tIns="45700" rIns="91425" bIns="45700" anchor="t" anchorCtr="0">
            <a:normAutofit fontScale="47500" lnSpcReduction="20000"/>
          </a:bodyPr>
          <a:lstStyle/>
          <a:p>
            <a:pPr marL="342900" lvl="0" indent="-342900" algn="l" rtl="0">
              <a:spcBef>
                <a:spcPts val="0"/>
              </a:spcBef>
              <a:spcAft>
                <a:spcPts val="0"/>
              </a:spcAft>
              <a:buClr>
                <a:schemeClr val="dk1"/>
              </a:buClr>
              <a:buSzPct val="100000"/>
              <a:buChar char="•"/>
            </a:pPr>
            <a:r>
              <a:rPr lang="en-US" b="1"/>
              <a:t>Continuous Development:</a:t>
            </a:r>
            <a:endParaRPr/>
          </a:p>
          <a:p>
            <a:pPr marL="342900" lvl="0" indent="-342900" algn="l" rtl="0">
              <a:spcBef>
                <a:spcPts val="304"/>
              </a:spcBef>
              <a:spcAft>
                <a:spcPts val="0"/>
              </a:spcAft>
              <a:buClr>
                <a:schemeClr val="dk1"/>
              </a:buClr>
              <a:buSzPct val="100000"/>
              <a:buChar char="•"/>
            </a:pPr>
            <a:r>
              <a:rPr lang="en-US"/>
              <a:t>In Waterfall Model, your software product parts get broken into multiple pieces or sub-parts for the short development cycles but in this stage, your software is getting developed continuously.</a:t>
            </a:r>
            <a:endParaRPr/>
          </a:p>
          <a:p>
            <a:pPr marL="342900" lvl="0" indent="-342900" algn="l" rtl="0">
              <a:spcBef>
                <a:spcPts val="304"/>
              </a:spcBef>
              <a:spcAft>
                <a:spcPts val="0"/>
              </a:spcAft>
              <a:buClr>
                <a:schemeClr val="dk1"/>
              </a:buClr>
              <a:buSzPct val="100000"/>
              <a:buChar char="•"/>
            </a:pPr>
            <a:r>
              <a:rPr lang="en-US" b="1"/>
              <a:t>Tools used:</a:t>
            </a:r>
            <a:endParaRPr/>
          </a:p>
          <a:p>
            <a:pPr marL="342900" lvl="0" indent="-342900" algn="l" rtl="0">
              <a:spcBef>
                <a:spcPts val="304"/>
              </a:spcBef>
              <a:spcAft>
                <a:spcPts val="0"/>
              </a:spcAft>
              <a:buClr>
                <a:schemeClr val="dk1"/>
              </a:buClr>
              <a:buSzPct val="100000"/>
              <a:buChar char="•"/>
            </a:pPr>
            <a:r>
              <a:rPr lang="en-US"/>
              <a:t>As we Code &amp; Build in this stage, so one can use </a:t>
            </a:r>
            <a:r>
              <a:rPr lang="en-US" b="1"/>
              <a:t>GIT </a:t>
            </a:r>
            <a:r>
              <a:rPr lang="en-US"/>
              <a:t>to maintain the different versions of the code and to build/package the code into an executable file, we use a reliable tool called as </a:t>
            </a:r>
            <a:r>
              <a:rPr lang="en-US" b="1"/>
              <a:t>Maven</a:t>
            </a:r>
            <a:r>
              <a:rPr lang="en-US"/>
              <a:t>.</a:t>
            </a:r>
            <a:endParaRPr/>
          </a:p>
          <a:p>
            <a:pPr marL="342900" lvl="0" indent="-342900" algn="l" rtl="0">
              <a:spcBef>
                <a:spcPts val="304"/>
              </a:spcBef>
              <a:spcAft>
                <a:spcPts val="0"/>
              </a:spcAft>
              <a:buClr>
                <a:schemeClr val="dk1"/>
              </a:buClr>
              <a:buSzPct val="100000"/>
              <a:buChar char="•"/>
            </a:pPr>
            <a:r>
              <a:rPr lang="en-US" b="1"/>
              <a:t>Continuous Integration:</a:t>
            </a:r>
            <a:endParaRPr/>
          </a:p>
          <a:p>
            <a:pPr marL="342900" lvl="0" indent="-342900" algn="l" rtl="0">
              <a:spcBef>
                <a:spcPts val="304"/>
              </a:spcBef>
              <a:spcAft>
                <a:spcPts val="0"/>
              </a:spcAft>
              <a:buClr>
                <a:schemeClr val="dk1"/>
              </a:buClr>
              <a:buSzPct val="100000"/>
              <a:buChar char="•"/>
            </a:pPr>
            <a:r>
              <a:rPr lang="en-US"/>
              <a:t>In this stage, if your code is supporting a new functionality, it is then integrated with an existing code continuously. As the continuous development keeps on taking place the existing code needs to be integrated with the latest one “</a:t>
            </a:r>
            <a:r>
              <a:rPr lang="en-US" b="1"/>
              <a:t>continuously</a:t>
            </a:r>
            <a:r>
              <a:rPr lang="en-US"/>
              <a:t>”, also the changed code should ensure that there are no errors in the current environment for them to work smoothly.</a:t>
            </a:r>
            <a:endParaRPr/>
          </a:p>
          <a:p>
            <a:pPr marL="342900" lvl="0" indent="-342900" algn="l" rtl="0">
              <a:spcBef>
                <a:spcPts val="304"/>
              </a:spcBef>
              <a:spcAft>
                <a:spcPts val="0"/>
              </a:spcAft>
              <a:buClr>
                <a:schemeClr val="dk1"/>
              </a:buClr>
              <a:buSzPct val="100000"/>
              <a:buChar char="•"/>
            </a:pPr>
            <a:r>
              <a:rPr lang="en-US" b="1"/>
              <a:t>Tools used:</a:t>
            </a:r>
            <a:endParaRPr/>
          </a:p>
          <a:p>
            <a:pPr marL="342900" lvl="0" indent="-342900" algn="l" rtl="0">
              <a:spcBef>
                <a:spcPts val="304"/>
              </a:spcBef>
              <a:spcAft>
                <a:spcPts val="0"/>
              </a:spcAft>
              <a:buClr>
                <a:schemeClr val="dk1"/>
              </a:buClr>
              <a:buSzPct val="100000"/>
              <a:buChar char="•"/>
            </a:pPr>
            <a:r>
              <a:rPr lang="en-US" b="1"/>
              <a:t>Jenkins </a:t>
            </a:r>
            <a:r>
              <a:rPr lang="en-US"/>
              <a:t>is the tool that is used for the </a:t>
            </a:r>
            <a:r>
              <a:rPr lang="en-US" b="1"/>
              <a:t>Continuous Integration</a:t>
            </a:r>
            <a:r>
              <a:rPr lang="en-US"/>
              <a:t> here, one can pull the latest code from the GIT Repository, of which you can produce the build and deploy on test or the production server.</a:t>
            </a:r>
            <a:endParaRPr/>
          </a:p>
          <a:p>
            <a:pPr marL="342900" lvl="0" indent="-342900" algn="l" rtl="0">
              <a:spcBef>
                <a:spcPts val="304"/>
              </a:spcBef>
              <a:spcAft>
                <a:spcPts val="0"/>
              </a:spcAft>
              <a:buClr>
                <a:schemeClr val="dk1"/>
              </a:buClr>
              <a:buSzPct val="100000"/>
              <a:buChar char="•"/>
            </a:pPr>
            <a:r>
              <a:rPr lang="en-US" b="1"/>
              <a:t>Continuous Testing:</a:t>
            </a:r>
            <a:endParaRPr/>
          </a:p>
          <a:p>
            <a:pPr marL="342900" lvl="0" indent="-342900" algn="l" rtl="0">
              <a:spcBef>
                <a:spcPts val="304"/>
              </a:spcBef>
              <a:spcAft>
                <a:spcPts val="0"/>
              </a:spcAft>
              <a:buClr>
                <a:schemeClr val="dk1"/>
              </a:buClr>
              <a:buSzPct val="100000"/>
              <a:buChar char="•"/>
            </a:pPr>
            <a:r>
              <a:rPr lang="en-US"/>
              <a:t>In this stage, your developed software is being tested continuously to detect the bugs using the several automation tools.</a:t>
            </a:r>
            <a:endParaRPr/>
          </a:p>
          <a:p>
            <a:pPr marL="342900" lvl="0" indent="-342900" algn="l" rtl="0">
              <a:spcBef>
                <a:spcPts val="304"/>
              </a:spcBef>
              <a:spcAft>
                <a:spcPts val="0"/>
              </a:spcAft>
              <a:buClr>
                <a:schemeClr val="dk1"/>
              </a:buClr>
              <a:buSzPct val="100000"/>
              <a:buChar char="•"/>
            </a:pPr>
            <a:r>
              <a:rPr lang="en-US" b="1"/>
              <a:t>Tools used:</a:t>
            </a:r>
            <a:endParaRPr/>
          </a:p>
          <a:p>
            <a:pPr marL="342900" lvl="0" indent="-342900" algn="l" rtl="0">
              <a:spcBef>
                <a:spcPts val="304"/>
              </a:spcBef>
              <a:spcAft>
                <a:spcPts val="0"/>
              </a:spcAft>
              <a:buClr>
                <a:schemeClr val="dk1"/>
              </a:buClr>
              <a:buSzPct val="100000"/>
              <a:buChar char="•"/>
            </a:pPr>
            <a:r>
              <a:rPr lang="en-US"/>
              <a:t>So, for the </a:t>
            </a:r>
            <a:r>
              <a:rPr lang="en-US" b="1"/>
              <a:t>QA/Testing </a:t>
            </a:r>
            <a:r>
              <a:rPr lang="en-US"/>
              <a:t>purposes, one can use the automated tools for it and the tool used widely for automation testing is Selenium, as it lets the QAs to test the codes in parallel fashion to ensure that there is no error, in-competencies or flaws in the software.</a:t>
            </a:r>
            <a:endParaRPr/>
          </a:p>
          <a:p>
            <a:pPr marL="342900" lvl="0" indent="-342900" algn="l" rtl="0">
              <a:spcBef>
                <a:spcPts val="304"/>
              </a:spcBef>
              <a:spcAft>
                <a:spcPts val="0"/>
              </a:spcAft>
              <a:buClr>
                <a:schemeClr val="dk1"/>
              </a:buClr>
              <a:buSzPct val="100000"/>
              <a:buChar char="•"/>
            </a:pPr>
            <a:r>
              <a:rPr lang="en-US" b="1"/>
              <a:t>Continuous Monitoring:</a:t>
            </a:r>
            <a:endParaRPr/>
          </a:p>
          <a:p>
            <a:pPr marL="342900" lvl="0" indent="-342900" algn="l" rtl="0">
              <a:spcBef>
                <a:spcPts val="304"/>
              </a:spcBef>
              <a:spcAft>
                <a:spcPts val="0"/>
              </a:spcAft>
              <a:buClr>
                <a:schemeClr val="dk1"/>
              </a:buClr>
              <a:buSzPct val="100000"/>
              <a:buChar char="•"/>
            </a:pPr>
            <a:r>
              <a:rPr lang="en-US" b="1"/>
              <a:t>Continuous monitoring </a:t>
            </a:r>
            <a:r>
              <a:rPr lang="en-US"/>
              <a:t>is a very crucial part of the DevOps life-cycle where it helps in providing the important information which basically helps you to ensure the service up-time and the optimal performance. The operations team get the results from the reliable monitoring tools to detect and fix the bugs/flaws in the application.</a:t>
            </a:r>
            <a:endParaRPr/>
          </a:p>
          <a:p>
            <a:pPr marL="342900" lvl="0" indent="-342900" algn="l" rtl="0">
              <a:spcBef>
                <a:spcPts val="304"/>
              </a:spcBef>
              <a:spcAft>
                <a:spcPts val="0"/>
              </a:spcAft>
              <a:buClr>
                <a:schemeClr val="dk1"/>
              </a:buClr>
              <a:buSzPct val="100000"/>
              <a:buChar char="•"/>
            </a:pPr>
            <a:r>
              <a:rPr lang="en-US" b="1"/>
              <a:t>Tools used:</a:t>
            </a:r>
            <a:endParaRPr/>
          </a:p>
          <a:p>
            <a:pPr marL="342900" lvl="0" indent="-342900" algn="l" rtl="0">
              <a:spcBef>
                <a:spcPts val="304"/>
              </a:spcBef>
              <a:spcAft>
                <a:spcPts val="0"/>
              </a:spcAft>
              <a:buClr>
                <a:schemeClr val="dk1"/>
              </a:buClr>
              <a:buSzPct val="100000"/>
              <a:buChar char="•"/>
            </a:pPr>
            <a:r>
              <a:rPr lang="en-US"/>
              <a:t>Several tools like </a:t>
            </a:r>
            <a:r>
              <a:rPr lang="en-US" b="1"/>
              <a:t>Nagios,</a:t>
            </a:r>
            <a:r>
              <a:rPr lang="en-US" b="1" u="sng">
                <a:solidFill>
                  <a:schemeClr val="hlink"/>
                </a:solidFill>
                <a:hlinkClick r:id="rId3"/>
              </a:rPr>
              <a:t> Splunk</a:t>
            </a:r>
            <a:r>
              <a:rPr lang="en-US" b="1"/>
              <a:t>, ELK Stack </a:t>
            </a:r>
            <a:r>
              <a:rPr lang="en-US"/>
              <a:t>and </a:t>
            </a:r>
            <a:r>
              <a:rPr lang="en-US" b="1"/>
              <a:t>Sensu </a:t>
            </a:r>
            <a:r>
              <a:rPr lang="en-US"/>
              <a:t>are used for monitoring the application.</a:t>
            </a:r>
            <a:br>
              <a:rPr lang="en-US"/>
            </a:br>
            <a:r>
              <a:rPr lang="en-US"/>
              <a:t>They help you to monitor your application and servers closely to check their health and if they are operating actively or not, any major issue detected by these tools are forwarded to the developer’s team for them to fix them in the continuous development phase.</a:t>
            </a:r>
            <a:endParaRPr/>
          </a:p>
          <a:p>
            <a:pPr marL="342900" lvl="0" indent="-246380" algn="l" rtl="0">
              <a:spcBef>
                <a:spcPts val="304"/>
              </a:spcBef>
              <a:spcAft>
                <a:spcPts val="0"/>
              </a:spcAft>
              <a:buClr>
                <a:schemeClr val="dk1"/>
              </a:buClr>
              <a:buSzPct val="1000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2173</Words>
  <Application>Microsoft Office PowerPoint</Application>
  <PresentationFormat>On-screen Show (4:3)</PresentationFormat>
  <Paragraphs>160</Paragraphs>
  <Slides>40</Slides>
  <Notes>40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Introduction to Microservices &amp; Devops </vt:lpstr>
      <vt:lpstr>Microservices</vt:lpstr>
      <vt:lpstr>Slide 3</vt:lpstr>
      <vt:lpstr>Microservice Architecture</vt:lpstr>
      <vt:lpstr>Benefits of Microservice Architecture </vt:lpstr>
      <vt:lpstr>API gateway</vt:lpstr>
      <vt:lpstr>Slide 7</vt:lpstr>
      <vt:lpstr>Slide 8</vt:lpstr>
      <vt:lpstr>Slide 9</vt:lpstr>
      <vt:lpstr>Slide 10</vt:lpstr>
      <vt:lpstr>Service Instance per Virtual Machine</vt:lpstr>
      <vt:lpstr>Service Instance per Container </vt:lpstr>
      <vt:lpstr>serverless deployment</vt:lpstr>
      <vt:lpstr>Service Registry</vt:lpstr>
      <vt:lpstr>Service Discovery</vt:lpstr>
      <vt:lpstr>Slide 16</vt:lpstr>
      <vt:lpstr>Slide 17</vt:lpstr>
      <vt:lpstr>Slide 18</vt:lpstr>
      <vt:lpstr>Slide 19</vt:lpstr>
      <vt:lpstr>Slide 20</vt:lpstr>
      <vt:lpstr>Slide 21</vt:lpstr>
      <vt:lpstr>Databases</vt:lpstr>
      <vt:lpstr>Databases</vt:lpstr>
      <vt:lpstr>Slide 24</vt:lpstr>
      <vt:lpstr>INTRODUCTION TO DevOps</vt:lpstr>
      <vt:lpstr>Slide 26</vt:lpstr>
      <vt:lpstr>Why You Need DevOps?</vt:lpstr>
      <vt:lpstr>Slide 28</vt:lpstr>
      <vt:lpstr>DevOps ecosystem</vt:lpstr>
      <vt:lpstr>Slide 30</vt:lpstr>
      <vt:lpstr>Slide 31</vt:lpstr>
      <vt:lpstr>Slide 32</vt:lpstr>
      <vt:lpstr>Slide 33</vt:lpstr>
      <vt:lpstr>Slide 34</vt:lpstr>
      <vt:lpstr>Slide 35</vt:lpstr>
      <vt:lpstr> </vt:lpstr>
      <vt:lpstr>DevOps ecosystem</vt:lpstr>
      <vt:lpstr>Different Lifecycle Stages </vt:lpstr>
      <vt:lpstr>Slide 39</vt:lpstr>
      <vt:lpstr>Slide 40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Microservices &amp; Devops </dc:title>
  <dc:creator>sarutigupta</dc:creator>
  <cp:lastModifiedBy>sarutigupta</cp:lastModifiedBy>
  <cp:revision>1</cp:revision>
  <dcterms:modified xsi:type="dcterms:W3CDTF">2022-04-25T04:28:00Z</dcterms:modified>
</cp:coreProperties>
</file>