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04824" y="2260549"/>
            <a:ext cx="7734350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rgbClr val="001F5F"/>
                </a:solidFill>
                <a:latin typeface="Caladea"/>
                <a:cs typeface="Calade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53400" y="0"/>
            <a:ext cx="990599" cy="7437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7486" y="594182"/>
            <a:ext cx="7809026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244" y="1618869"/>
            <a:ext cx="8071510" cy="2037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704824" y="2260549"/>
            <a:ext cx="8058176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Introduction </a:t>
            </a:r>
            <a:r>
              <a:rPr spc="-40" dirty="0"/>
              <a:t>to</a:t>
            </a:r>
            <a:r>
              <a:rPr spc="15" dirty="0"/>
              <a:t> </a:t>
            </a:r>
            <a:r>
              <a:rPr spc="-10" dirty="0"/>
              <a:t>Spark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1600" y="4267200"/>
            <a:ext cx="655320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spc="5" dirty="0">
                <a:solidFill>
                  <a:srgbClr val="001F5F"/>
                </a:solidFill>
                <a:latin typeface="Caladea"/>
                <a:cs typeface="Caladea"/>
              </a:rPr>
              <a:t>Priti </a:t>
            </a:r>
            <a:r>
              <a:rPr sz="2800" b="1" spc="-15" dirty="0">
                <a:solidFill>
                  <a:srgbClr val="001F5F"/>
                </a:solidFill>
                <a:latin typeface="Caladea"/>
                <a:cs typeface="Caladea"/>
              </a:rPr>
              <a:t>Bhardwaj, </a:t>
            </a:r>
            <a:r>
              <a:rPr sz="2800" b="1" spc="-40" dirty="0">
                <a:solidFill>
                  <a:srgbClr val="001F5F"/>
                </a:solidFill>
                <a:latin typeface="Caladea"/>
                <a:cs typeface="Caladea"/>
              </a:rPr>
              <a:t>CDAC </a:t>
            </a:r>
            <a:r>
              <a:rPr sz="2800" b="1" dirty="0">
                <a:solidFill>
                  <a:srgbClr val="001F5F"/>
                </a:solidFill>
                <a:latin typeface="Caladea"/>
                <a:cs typeface="Caladea"/>
              </a:rPr>
              <a:t>Noida,</a:t>
            </a:r>
            <a:r>
              <a:rPr sz="2800" b="1" spc="-165" dirty="0">
                <a:solidFill>
                  <a:srgbClr val="001F5F"/>
                </a:solidFill>
                <a:latin typeface="Caladea"/>
                <a:cs typeface="Caladea"/>
              </a:rPr>
              <a:t> </a:t>
            </a:r>
            <a:r>
              <a:rPr sz="2800" b="1" spc="5" dirty="0">
                <a:solidFill>
                  <a:srgbClr val="001F5F"/>
                </a:solidFill>
                <a:latin typeface="Caladea"/>
                <a:cs typeface="Caladea"/>
              </a:rPr>
              <a:t>India</a:t>
            </a:r>
            <a:endParaRPr sz="2800">
              <a:latin typeface="Caladea"/>
              <a:cs typeface="Calad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1" y="594182"/>
            <a:ext cx="548640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Real </a:t>
            </a:r>
            <a:r>
              <a:rPr spc="-10" dirty="0"/>
              <a:t>Time</a:t>
            </a:r>
            <a:r>
              <a:rPr spc="-5" dirty="0"/>
              <a:t> Analytics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2200655"/>
            <a:ext cx="7377565" cy="32110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854" y="320167"/>
            <a:ext cx="7311390" cy="1246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79420" marR="5080" indent="-2967355">
              <a:lnSpc>
                <a:spcPct val="100000"/>
              </a:lnSpc>
              <a:spcBef>
                <a:spcPts val="105"/>
              </a:spcBef>
            </a:pPr>
            <a:r>
              <a:rPr sz="4000" spc="-15" dirty="0"/>
              <a:t>Why </a:t>
            </a:r>
            <a:r>
              <a:rPr sz="4000" dirty="0"/>
              <a:t>Spark when Hadoop is</a:t>
            </a:r>
            <a:r>
              <a:rPr sz="4000" spc="-140" dirty="0"/>
              <a:t> </a:t>
            </a:r>
            <a:r>
              <a:rPr sz="4000" spc="-10" dirty="0"/>
              <a:t>already  </a:t>
            </a:r>
            <a:r>
              <a:rPr sz="4000" spc="-5" dirty="0"/>
              <a:t>there?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860465" y="1981200"/>
            <a:ext cx="7161286" cy="30906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854" y="320167"/>
            <a:ext cx="7311390" cy="1246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79420" marR="5080" indent="-2967355">
              <a:lnSpc>
                <a:spcPct val="100000"/>
              </a:lnSpc>
              <a:spcBef>
                <a:spcPts val="105"/>
              </a:spcBef>
            </a:pPr>
            <a:r>
              <a:rPr sz="4000" spc="-15" dirty="0"/>
              <a:t>Why </a:t>
            </a:r>
            <a:r>
              <a:rPr sz="4000" dirty="0"/>
              <a:t>Spark when Hadoop is</a:t>
            </a:r>
            <a:r>
              <a:rPr sz="4000" spc="-140" dirty="0"/>
              <a:t> </a:t>
            </a:r>
            <a:r>
              <a:rPr sz="4000" spc="-10" dirty="0"/>
              <a:t>already  </a:t>
            </a:r>
            <a:r>
              <a:rPr sz="4000" spc="-5" dirty="0"/>
              <a:t>there?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229220" y="1981200"/>
            <a:ext cx="6265946" cy="30499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1" y="594182"/>
            <a:ext cx="4214494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What </a:t>
            </a:r>
            <a:r>
              <a:rPr spc="-5" dirty="0"/>
              <a:t>is</a:t>
            </a:r>
            <a:r>
              <a:rPr spc="-15" dirty="0"/>
              <a:t> </a:t>
            </a:r>
            <a:r>
              <a:rPr spc="-5" dirty="0"/>
              <a:t>Spark?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618869"/>
            <a:ext cx="7781290" cy="1777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6870" algn="l"/>
                <a:tab pos="357505" algn="l"/>
              </a:tabLst>
            </a:pPr>
            <a:r>
              <a:rPr sz="1800" spc="-5" dirty="0">
                <a:latin typeface="Carlito"/>
                <a:cs typeface="Carlito"/>
              </a:rPr>
              <a:t>Apache Spark is </a:t>
            </a:r>
            <a:r>
              <a:rPr sz="1800" dirty="0">
                <a:latin typeface="Carlito"/>
                <a:cs typeface="Carlito"/>
              </a:rPr>
              <a:t>an </a:t>
            </a:r>
            <a:r>
              <a:rPr sz="1800" spc="-5" dirty="0">
                <a:latin typeface="Carlito"/>
                <a:cs typeface="Carlito"/>
              </a:rPr>
              <a:t>open </a:t>
            </a:r>
            <a:r>
              <a:rPr sz="1800" spc="-10" dirty="0">
                <a:latin typeface="Carlito"/>
                <a:cs typeface="Carlito"/>
              </a:rPr>
              <a:t>source </a:t>
            </a:r>
            <a:r>
              <a:rPr sz="1800" spc="-15" dirty="0">
                <a:latin typeface="Carlito"/>
                <a:cs typeface="Carlito"/>
              </a:rPr>
              <a:t>cluster </a:t>
            </a:r>
            <a:r>
              <a:rPr sz="1800" spc="-10" dirty="0">
                <a:latin typeface="Carlito"/>
                <a:cs typeface="Carlito"/>
              </a:rPr>
              <a:t>computing framework </a:t>
            </a:r>
            <a:r>
              <a:rPr sz="1800" spc="-15" dirty="0">
                <a:latin typeface="Carlito"/>
                <a:cs typeface="Carlito"/>
              </a:rPr>
              <a:t>for </a:t>
            </a:r>
            <a:r>
              <a:rPr sz="1800" spc="-5" dirty="0">
                <a:latin typeface="Carlito"/>
                <a:cs typeface="Carlito"/>
              </a:rPr>
              <a:t>real-time </a:t>
            </a:r>
            <a:r>
              <a:rPr sz="1800" spc="-20" dirty="0">
                <a:latin typeface="Carlito"/>
                <a:cs typeface="Carlito"/>
              </a:rPr>
              <a:t>data  </a:t>
            </a:r>
            <a:r>
              <a:rPr sz="1800" spc="-10" dirty="0">
                <a:latin typeface="Carlito"/>
                <a:cs typeface="Carlito"/>
              </a:rPr>
              <a:t>processing.</a:t>
            </a:r>
            <a:endParaRPr sz="1800" dirty="0">
              <a:latin typeface="Carlito"/>
              <a:cs typeface="Carlito"/>
            </a:endParaRPr>
          </a:p>
          <a:p>
            <a:pPr marL="356870" indent="-344805">
              <a:lnSpc>
                <a:spcPct val="100000"/>
              </a:lnSpc>
              <a:spcBef>
                <a:spcPts val="430"/>
              </a:spcBef>
              <a:buFont typeface="Wingdings"/>
              <a:buChar char=""/>
              <a:tabLst>
                <a:tab pos="356870" algn="l"/>
                <a:tab pos="357505" algn="l"/>
              </a:tabLst>
            </a:pPr>
            <a:r>
              <a:rPr sz="1800" spc="-5" dirty="0">
                <a:latin typeface="Carlito"/>
                <a:cs typeface="Carlito"/>
              </a:rPr>
              <a:t>Main </a:t>
            </a:r>
            <a:r>
              <a:rPr sz="1800" spc="-20" dirty="0">
                <a:latin typeface="Carlito"/>
                <a:cs typeface="Carlito"/>
              </a:rPr>
              <a:t>feature </a:t>
            </a:r>
            <a:r>
              <a:rPr sz="1800" dirty="0">
                <a:latin typeface="Carlito"/>
                <a:cs typeface="Carlito"/>
              </a:rPr>
              <a:t>of </a:t>
            </a:r>
            <a:r>
              <a:rPr sz="1800" spc="-10" dirty="0">
                <a:latin typeface="Carlito"/>
                <a:cs typeface="Carlito"/>
              </a:rPr>
              <a:t>Apache </a:t>
            </a:r>
            <a:r>
              <a:rPr sz="1800" spc="-5" dirty="0">
                <a:latin typeface="Carlito"/>
                <a:cs typeface="Carlito"/>
              </a:rPr>
              <a:t>Spark </a:t>
            </a:r>
            <a:r>
              <a:rPr sz="1800" dirty="0">
                <a:latin typeface="Carlito"/>
                <a:cs typeface="Carlito"/>
              </a:rPr>
              <a:t>: </a:t>
            </a:r>
            <a:r>
              <a:rPr sz="1800" spc="-5" dirty="0">
                <a:latin typeface="Carlito"/>
                <a:cs typeface="Carlito"/>
              </a:rPr>
              <a:t>in-memory </a:t>
            </a:r>
            <a:r>
              <a:rPr sz="1800" spc="-15" dirty="0">
                <a:latin typeface="Carlito"/>
                <a:cs typeface="Carlito"/>
              </a:rPr>
              <a:t>cluster </a:t>
            </a:r>
            <a:r>
              <a:rPr sz="1800" spc="-10" dirty="0">
                <a:latin typeface="Carlito"/>
                <a:cs typeface="Carlito"/>
              </a:rPr>
              <a:t>computing that increases</a:t>
            </a:r>
            <a:r>
              <a:rPr sz="1800" spc="375" dirty="0">
                <a:latin typeface="Carlito"/>
                <a:cs typeface="Carlito"/>
              </a:rPr>
              <a:t> </a:t>
            </a:r>
            <a:r>
              <a:rPr sz="1800" spc="-5" dirty="0" smtClean="0">
                <a:latin typeface="Carlito"/>
                <a:cs typeface="Carlito"/>
              </a:rPr>
              <a:t>the</a:t>
            </a:r>
            <a:r>
              <a:rPr lang="en-US" dirty="0">
                <a:latin typeface="Carlito"/>
                <a:cs typeface="Carlito"/>
              </a:rPr>
              <a:t> </a:t>
            </a:r>
            <a:r>
              <a:rPr sz="1800" spc="-10" dirty="0" smtClean="0">
                <a:latin typeface="Carlito"/>
                <a:cs typeface="Carlito"/>
              </a:rPr>
              <a:t>processing </a:t>
            </a:r>
            <a:r>
              <a:rPr sz="1800" spc="-10" dirty="0">
                <a:latin typeface="Carlito"/>
                <a:cs typeface="Carlito"/>
              </a:rPr>
              <a:t>speed </a:t>
            </a:r>
            <a:r>
              <a:rPr sz="1800" dirty="0">
                <a:latin typeface="Carlito"/>
                <a:cs typeface="Carlito"/>
              </a:rPr>
              <a:t>of an</a:t>
            </a:r>
            <a:r>
              <a:rPr sz="1800" spc="10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application.</a:t>
            </a:r>
            <a:endParaRPr sz="1800" dirty="0">
              <a:latin typeface="Carlito"/>
              <a:cs typeface="Carlito"/>
            </a:endParaRPr>
          </a:p>
          <a:p>
            <a:pPr marL="356870" indent="-344805">
              <a:lnSpc>
                <a:spcPct val="100000"/>
              </a:lnSpc>
              <a:spcBef>
                <a:spcPts val="430"/>
              </a:spcBef>
              <a:buFont typeface="Wingdings"/>
              <a:buChar char=""/>
              <a:tabLst>
                <a:tab pos="356870" algn="l"/>
                <a:tab pos="357505" algn="l"/>
              </a:tabLst>
            </a:pPr>
            <a:r>
              <a:rPr sz="1800" spc="-5" dirty="0">
                <a:latin typeface="Carlito"/>
                <a:cs typeface="Carlito"/>
              </a:rPr>
              <a:t>Spark </a:t>
            </a:r>
            <a:r>
              <a:rPr sz="1800" spc="-10" dirty="0">
                <a:latin typeface="Carlito"/>
                <a:cs typeface="Carlito"/>
              </a:rPr>
              <a:t>provides </a:t>
            </a:r>
            <a:r>
              <a:rPr sz="1800" dirty="0">
                <a:latin typeface="Carlito"/>
                <a:cs typeface="Carlito"/>
              </a:rPr>
              <a:t>an </a:t>
            </a:r>
            <a:r>
              <a:rPr sz="1800" spc="-15" dirty="0">
                <a:latin typeface="Carlito"/>
                <a:cs typeface="Carlito"/>
              </a:rPr>
              <a:t>interface for programming entire </a:t>
            </a:r>
            <a:r>
              <a:rPr sz="1800" spc="-20" dirty="0">
                <a:latin typeface="Carlito"/>
                <a:cs typeface="Carlito"/>
              </a:rPr>
              <a:t>clusters </a:t>
            </a:r>
            <a:r>
              <a:rPr sz="1800" spc="-5" dirty="0">
                <a:latin typeface="Carlito"/>
                <a:cs typeface="Carlito"/>
              </a:rPr>
              <a:t>with </a:t>
            </a:r>
            <a:r>
              <a:rPr sz="1800" spc="-10" dirty="0">
                <a:latin typeface="Carlito"/>
                <a:cs typeface="Carlito"/>
              </a:rPr>
              <a:t>implicit</a:t>
            </a:r>
            <a:r>
              <a:rPr sz="1800" spc="355" dirty="0">
                <a:latin typeface="Carlito"/>
                <a:cs typeface="Carlito"/>
              </a:rPr>
              <a:t> </a:t>
            </a:r>
            <a:r>
              <a:rPr sz="1800" spc="-20" dirty="0" smtClean="0">
                <a:latin typeface="Carlito"/>
                <a:cs typeface="Carlito"/>
              </a:rPr>
              <a:t>data</a:t>
            </a:r>
            <a:r>
              <a:rPr lang="en-US" dirty="0">
                <a:latin typeface="Carlito"/>
                <a:cs typeface="Carlito"/>
              </a:rPr>
              <a:t> </a:t>
            </a:r>
            <a:r>
              <a:rPr sz="1800" spc="-10" dirty="0" smtClean="0">
                <a:latin typeface="Carlito"/>
                <a:cs typeface="Carlito"/>
              </a:rPr>
              <a:t>parallelism </a:t>
            </a:r>
            <a:r>
              <a:rPr sz="1800" spc="-5" dirty="0">
                <a:latin typeface="Carlito"/>
                <a:cs typeface="Carlito"/>
              </a:rPr>
              <a:t>and </a:t>
            </a:r>
            <a:r>
              <a:rPr sz="1800" spc="-10" dirty="0">
                <a:latin typeface="Carlito"/>
                <a:cs typeface="Carlito"/>
              </a:rPr>
              <a:t>fault</a:t>
            </a:r>
            <a:r>
              <a:rPr sz="1800" spc="90" dirty="0">
                <a:latin typeface="Carlito"/>
                <a:cs typeface="Carlito"/>
              </a:rPr>
              <a:t> </a:t>
            </a:r>
            <a:r>
              <a:rPr sz="1800" spc="-15" dirty="0">
                <a:latin typeface="Carlito"/>
                <a:cs typeface="Carlito"/>
              </a:rPr>
              <a:t>tolerance.</a:t>
            </a:r>
            <a:endParaRPr sz="18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1" y="676275"/>
            <a:ext cx="6691502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Features </a:t>
            </a:r>
            <a:r>
              <a:rPr spc="-5" dirty="0"/>
              <a:t>of </a:t>
            </a:r>
            <a:r>
              <a:rPr spc="-10" dirty="0"/>
              <a:t>Apache</a:t>
            </a:r>
            <a:r>
              <a:rPr spc="100" dirty="0"/>
              <a:t> </a:t>
            </a:r>
            <a:r>
              <a:rPr spc="-10" dirty="0"/>
              <a:t>Spark</a:t>
            </a:r>
          </a:p>
        </p:txBody>
      </p:sp>
      <p:sp>
        <p:nvSpPr>
          <p:cNvPr id="3" name="object 3"/>
          <p:cNvSpPr/>
          <p:nvPr/>
        </p:nvSpPr>
        <p:spPr>
          <a:xfrm>
            <a:off x="609600" y="1981200"/>
            <a:ext cx="7924800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0104" y="320167"/>
            <a:ext cx="4933696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Spark</a:t>
            </a:r>
            <a:r>
              <a:rPr sz="4000" spc="-105" dirty="0"/>
              <a:t> </a:t>
            </a:r>
            <a:r>
              <a:rPr sz="4000" spc="-5" dirty="0"/>
              <a:t>Components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258824" y="3898391"/>
            <a:ext cx="6019800" cy="914400"/>
          </a:xfrm>
          <a:prstGeom prst="rect">
            <a:avLst/>
          </a:prstGeom>
          <a:ln w="24384">
            <a:solidFill>
              <a:srgbClr val="385D89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rlito"/>
                <a:cs typeface="Carlito"/>
              </a:rPr>
              <a:t>Apache </a:t>
            </a:r>
            <a:r>
              <a:rPr sz="1800" spc="-5" dirty="0">
                <a:latin typeface="Carlito"/>
                <a:cs typeface="Carlito"/>
              </a:rPr>
              <a:t>Spark </a:t>
            </a:r>
            <a:r>
              <a:rPr sz="1800" spc="-10" dirty="0">
                <a:latin typeface="Carlito"/>
                <a:cs typeface="Carlito"/>
              </a:rPr>
              <a:t>Core</a:t>
            </a:r>
            <a:r>
              <a:rPr sz="1800" spc="4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API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0" y="2743200"/>
            <a:ext cx="914400" cy="914400"/>
          </a:xfrm>
          <a:prstGeom prst="rect">
            <a:avLst/>
          </a:prstGeom>
          <a:ln w="24384">
            <a:solidFill>
              <a:srgbClr val="385D89"/>
            </a:solidFill>
          </a:ln>
        </p:spPr>
        <p:txBody>
          <a:bodyPr vert="horz" wrap="square" lIns="0" tIns="168910" rIns="0" bIns="0" rtlCol="0">
            <a:spAutoFit/>
          </a:bodyPr>
          <a:lstStyle/>
          <a:p>
            <a:pPr marL="198755">
              <a:lnSpc>
                <a:spcPct val="100000"/>
              </a:lnSpc>
              <a:spcBef>
                <a:spcPts val="1330"/>
              </a:spcBef>
            </a:pPr>
            <a:r>
              <a:rPr sz="1800" spc="-5" dirty="0">
                <a:latin typeface="Carlito"/>
                <a:cs typeface="Carlito"/>
              </a:rPr>
              <a:t>Spark</a:t>
            </a:r>
            <a:endParaRPr sz="1800">
              <a:latin typeface="Carlito"/>
              <a:cs typeface="Carlito"/>
            </a:endParaRPr>
          </a:p>
          <a:p>
            <a:pPr marL="281305">
              <a:lnSpc>
                <a:spcPct val="100000"/>
              </a:lnSpc>
            </a:pPr>
            <a:r>
              <a:rPr sz="1800" spc="-10" dirty="0">
                <a:latin typeface="Carlito"/>
                <a:cs typeface="Carlito"/>
              </a:rPr>
              <a:t>SQL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67000" y="2743200"/>
            <a:ext cx="914400" cy="863057"/>
          </a:xfrm>
          <a:prstGeom prst="rect">
            <a:avLst/>
          </a:prstGeom>
          <a:ln w="24383">
            <a:solidFill>
              <a:srgbClr val="385D89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01600" marR="91440" indent="-3175" algn="ctr">
              <a:lnSpc>
                <a:spcPct val="100000"/>
              </a:lnSpc>
              <a:spcBef>
                <a:spcPts val="250"/>
              </a:spcBef>
            </a:pPr>
            <a:r>
              <a:rPr sz="1800" spc="-5" dirty="0">
                <a:latin typeface="Carlito"/>
                <a:cs typeface="Carlito"/>
              </a:rPr>
              <a:t>Spark  </a:t>
            </a:r>
            <a:r>
              <a:rPr sz="1800" spc="-15" dirty="0" smtClean="0">
                <a:latin typeface="Carlito"/>
                <a:cs typeface="Carlito"/>
              </a:rPr>
              <a:t>S</a:t>
            </a:r>
            <a:r>
              <a:rPr sz="1800" dirty="0" smtClean="0">
                <a:latin typeface="Carlito"/>
                <a:cs typeface="Carlito"/>
              </a:rPr>
              <a:t>t</a:t>
            </a:r>
            <a:r>
              <a:rPr sz="1800" spc="-35" dirty="0" smtClean="0">
                <a:latin typeface="Carlito"/>
                <a:cs typeface="Carlito"/>
              </a:rPr>
              <a:t>r</a:t>
            </a:r>
            <a:r>
              <a:rPr sz="1800" spc="-10" dirty="0" smtClean="0">
                <a:latin typeface="Carlito"/>
                <a:cs typeface="Carlito"/>
              </a:rPr>
              <a:t>e</a:t>
            </a:r>
            <a:r>
              <a:rPr sz="1800" dirty="0" smtClean="0">
                <a:latin typeface="Carlito"/>
                <a:cs typeface="Carlito"/>
              </a:rPr>
              <a:t>ami</a:t>
            </a:r>
            <a:r>
              <a:rPr sz="1800" spc="-10" dirty="0" smtClean="0">
                <a:latin typeface="Carlito"/>
                <a:cs typeface="Carlito"/>
              </a:rPr>
              <a:t>ng</a:t>
            </a:r>
            <a:endParaRPr sz="1800" dirty="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10000" y="2743200"/>
            <a:ext cx="914400" cy="914400"/>
          </a:xfrm>
          <a:prstGeom prst="rect">
            <a:avLst/>
          </a:prstGeom>
          <a:ln w="24383">
            <a:solidFill>
              <a:srgbClr val="385D89"/>
            </a:solidFill>
          </a:ln>
        </p:spPr>
        <p:txBody>
          <a:bodyPr vert="horz" wrap="square" lIns="0" tIns="168910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1330"/>
              </a:spcBef>
            </a:pPr>
            <a:r>
              <a:rPr sz="1800" spc="-5" dirty="0">
                <a:latin typeface="Carlito"/>
                <a:cs typeface="Carlito"/>
              </a:rPr>
              <a:t>Spark</a:t>
            </a:r>
            <a:endParaRPr sz="1800">
              <a:latin typeface="Carlito"/>
              <a:cs typeface="Carlito"/>
            </a:endParaRPr>
          </a:p>
          <a:p>
            <a:pPr marL="200025">
              <a:lnSpc>
                <a:spcPct val="100000"/>
              </a:lnSpc>
            </a:pPr>
            <a:r>
              <a:rPr sz="1800" spc="-5" dirty="0">
                <a:latin typeface="Carlito"/>
                <a:cs typeface="Carlito"/>
              </a:rPr>
              <a:t>MLlib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53000" y="2743200"/>
            <a:ext cx="914400" cy="914400"/>
          </a:xfrm>
          <a:prstGeom prst="rect">
            <a:avLst/>
          </a:prstGeom>
          <a:ln w="24383">
            <a:solidFill>
              <a:srgbClr val="385D89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2050">
              <a:latin typeface="Times New Roman"/>
              <a:cs typeface="Times New Roman"/>
            </a:endParaRPr>
          </a:p>
          <a:p>
            <a:pPr marL="118110">
              <a:lnSpc>
                <a:spcPct val="100000"/>
              </a:lnSpc>
              <a:spcBef>
                <a:spcPts val="5"/>
              </a:spcBef>
            </a:pPr>
            <a:r>
              <a:rPr sz="1800" spc="-15" dirty="0">
                <a:latin typeface="Carlito"/>
                <a:cs typeface="Carlito"/>
              </a:rPr>
              <a:t>GraphX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14288" y="2743200"/>
            <a:ext cx="914400" cy="914400"/>
          </a:xfrm>
          <a:prstGeom prst="rect">
            <a:avLst/>
          </a:prstGeom>
          <a:ln w="24384">
            <a:solidFill>
              <a:srgbClr val="385D89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2050">
              <a:latin typeface="Times New Roman"/>
              <a:cs typeface="Times New Roman"/>
            </a:endParaRPr>
          </a:p>
          <a:p>
            <a:pPr marL="14097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rlito"/>
                <a:cs typeface="Carlito"/>
              </a:rPr>
              <a:t>SparkR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685800"/>
            <a:ext cx="9238512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Resilient </a:t>
            </a:r>
            <a:r>
              <a:rPr spc="-15" dirty="0"/>
              <a:t>Distributed</a:t>
            </a:r>
            <a:r>
              <a:rPr spc="70" dirty="0"/>
              <a:t> </a:t>
            </a:r>
            <a:r>
              <a:rPr spc="-15" dirty="0"/>
              <a:t>Dataset(RDD)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618869"/>
            <a:ext cx="7660005" cy="17932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9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2000" spc="-5" dirty="0">
                <a:latin typeface="Carlito"/>
                <a:cs typeface="Carlito"/>
              </a:rPr>
              <a:t>RDDs </a:t>
            </a:r>
            <a:r>
              <a:rPr sz="2000" spc="-15" dirty="0">
                <a:latin typeface="Carlito"/>
                <a:cs typeface="Carlito"/>
              </a:rPr>
              <a:t>are </a:t>
            </a:r>
            <a:r>
              <a:rPr sz="2000" spc="-5" dirty="0">
                <a:latin typeface="Carlito"/>
                <a:cs typeface="Carlito"/>
              </a:rPr>
              <a:t>the building </a:t>
            </a:r>
            <a:r>
              <a:rPr sz="2000" spc="-10" dirty="0">
                <a:latin typeface="Carlito"/>
                <a:cs typeface="Carlito"/>
              </a:rPr>
              <a:t>blocks </a:t>
            </a:r>
            <a:r>
              <a:rPr sz="2000" spc="-5" dirty="0">
                <a:latin typeface="Carlito"/>
                <a:cs typeface="Carlito"/>
              </a:rPr>
              <a:t>of </a:t>
            </a:r>
            <a:r>
              <a:rPr sz="2000" spc="-15" dirty="0">
                <a:latin typeface="Carlito"/>
                <a:cs typeface="Carlito"/>
              </a:rPr>
              <a:t>any </a:t>
            </a:r>
            <a:r>
              <a:rPr sz="2000" spc="-5" dirty="0">
                <a:latin typeface="Carlito"/>
                <a:cs typeface="Carlito"/>
              </a:rPr>
              <a:t>Spark </a:t>
            </a:r>
            <a:r>
              <a:rPr sz="2000" spc="-10" dirty="0">
                <a:latin typeface="Carlito"/>
                <a:cs typeface="Carlito"/>
              </a:rPr>
              <a:t>application. </a:t>
            </a:r>
            <a:r>
              <a:rPr sz="2000" spc="-5" dirty="0">
                <a:latin typeface="Carlito"/>
                <a:cs typeface="Carlito"/>
              </a:rPr>
              <a:t>RDDs </a:t>
            </a:r>
            <a:r>
              <a:rPr sz="2000" spc="-10" dirty="0">
                <a:latin typeface="Carlito"/>
                <a:cs typeface="Carlito"/>
              </a:rPr>
              <a:t>Stands</a:t>
            </a:r>
            <a:r>
              <a:rPr sz="2000" spc="229" dirty="0">
                <a:latin typeface="Carlito"/>
                <a:cs typeface="Carlito"/>
              </a:rPr>
              <a:t> </a:t>
            </a:r>
            <a:r>
              <a:rPr sz="2000" spc="-20" dirty="0">
                <a:latin typeface="Carlito"/>
                <a:cs typeface="Carlito"/>
              </a:rPr>
              <a:t>for:</a:t>
            </a:r>
            <a:endParaRPr sz="20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750">
              <a:latin typeface="Carlito"/>
              <a:cs typeface="Carlito"/>
            </a:endParaRPr>
          </a:p>
          <a:p>
            <a:pPr marL="356870" indent="-344805">
              <a:lnSpc>
                <a:spcPct val="100000"/>
              </a:lnSpc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2000" b="1" spc="-15" dirty="0">
                <a:latin typeface="Carlito"/>
                <a:cs typeface="Carlito"/>
              </a:rPr>
              <a:t>Resilient: </a:t>
            </a:r>
            <a:r>
              <a:rPr sz="2000" spc="-15" dirty="0">
                <a:latin typeface="Carlito"/>
                <a:cs typeface="Carlito"/>
              </a:rPr>
              <a:t>Fault tolerant </a:t>
            </a:r>
            <a:r>
              <a:rPr sz="2000" spc="-5" dirty="0">
                <a:latin typeface="Carlito"/>
                <a:cs typeface="Carlito"/>
              </a:rPr>
              <a:t>and is capable of rebuilding </a:t>
            </a:r>
            <a:r>
              <a:rPr sz="2000" spc="-15" dirty="0">
                <a:latin typeface="Carlito"/>
                <a:cs typeface="Carlito"/>
              </a:rPr>
              <a:t>data </a:t>
            </a:r>
            <a:r>
              <a:rPr sz="2000" spc="-5" dirty="0">
                <a:latin typeface="Carlito"/>
                <a:cs typeface="Carlito"/>
              </a:rPr>
              <a:t>on</a:t>
            </a:r>
            <a:r>
              <a:rPr sz="2000" spc="175" dirty="0">
                <a:latin typeface="Carlito"/>
                <a:cs typeface="Carlito"/>
              </a:rPr>
              <a:t> </a:t>
            </a:r>
            <a:r>
              <a:rPr sz="2000" spc="-15" dirty="0">
                <a:latin typeface="Carlito"/>
                <a:cs typeface="Carlito"/>
              </a:rPr>
              <a:t>failure</a:t>
            </a:r>
            <a:endParaRPr sz="2000">
              <a:latin typeface="Carlito"/>
              <a:cs typeface="Carlito"/>
            </a:endParaRPr>
          </a:p>
          <a:p>
            <a:pPr marL="356870" indent="-34480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2000" b="1" spc="-10" dirty="0">
                <a:latin typeface="Carlito"/>
                <a:cs typeface="Carlito"/>
              </a:rPr>
              <a:t>Distributed</a:t>
            </a:r>
            <a:r>
              <a:rPr sz="2000" spc="-10" dirty="0">
                <a:latin typeface="Carlito"/>
                <a:cs typeface="Carlito"/>
              </a:rPr>
              <a:t>: Distributed </a:t>
            </a:r>
            <a:r>
              <a:rPr sz="2000" spc="-15" dirty="0">
                <a:latin typeface="Carlito"/>
                <a:cs typeface="Carlito"/>
              </a:rPr>
              <a:t>data </a:t>
            </a:r>
            <a:r>
              <a:rPr sz="2000" spc="-5" dirty="0">
                <a:latin typeface="Carlito"/>
                <a:cs typeface="Carlito"/>
              </a:rPr>
              <a:t>among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multiple nodes in a</a:t>
            </a:r>
            <a:r>
              <a:rPr sz="2000" spc="155" dirty="0">
                <a:latin typeface="Carlito"/>
                <a:cs typeface="Carlito"/>
              </a:rPr>
              <a:t> </a:t>
            </a:r>
            <a:r>
              <a:rPr sz="2000" spc="-15" dirty="0">
                <a:latin typeface="Carlito"/>
                <a:cs typeface="Carlito"/>
              </a:rPr>
              <a:t>cluster</a:t>
            </a:r>
            <a:endParaRPr sz="2000">
              <a:latin typeface="Carlito"/>
              <a:cs typeface="Carlito"/>
            </a:endParaRPr>
          </a:p>
          <a:p>
            <a:pPr marL="356870" indent="-34480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2000" b="1" spc="-15" dirty="0">
                <a:latin typeface="Carlito"/>
                <a:cs typeface="Carlito"/>
              </a:rPr>
              <a:t>Dataset: </a:t>
            </a:r>
            <a:r>
              <a:rPr sz="2000" spc="-10" dirty="0">
                <a:latin typeface="Carlito"/>
                <a:cs typeface="Carlito"/>
              </a:rPr>
              <a:t>Collection </a:t>
            </a:r>
            <a:r>
              <a:rPr sz="2000" spc="-5" dirty="0">
                <a:latin typeface="Carlito"/>
                <a:cs typeface="Carlito"/>
              </a:rPr>
              <a:t>of partitioned </a:t>
            </a:r>
            <a:r>
              <a:rPr sz="2000" spc="-15" dirty="0">
                <a:latin typeface="Carlito"/>
                <a:cs typeface="Carlito"/>
              </a:rPr>
              <a:t>data </a:t>
            </a:r>
            <a:r>
              <a:rPr sz="2000" spc="-10" dirty="0">
                <a:latin typeface="Carlito"/>
                <a:cs typeface="Carlito"/>
              </a:rPr>
              <a:t>with</a:t>
            </a:r>
            <a:r>
              <a:rPr sz="2000" spc="13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values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609600"/>
            <a:ext cx="9238514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Resilient </a:t>
            </a:r>
            <a:r>
              <a:rPr spc="-15" dirty="0"/>
              <a:t>Distributed</a:t>
            </a:r>
            <a:r>
              <a:rPr spc="70" dirty="0"/>
              <a:t> </a:t>
            </a:r>
            <a:r>
              <a:rPr spc="-15" dirty="0"/>
              <a:t>Dataset(RDD)</a:t>
            </a:r>
          </a:p>
        </p:txBody>
      </p:sp>
      <p:sp>
        <p:nvSpPr>
          <p:cNvPr id="3" name="object 3"/>
          <p:cNvSpPr/>
          <p:nvPr/>
        </p:nvSpPr>
        <p:spPr>
          <a:xfrm>
            <a:off x="1632722" y="1981200"/>
            <a:ext cx="6368277" cy="30910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886" y="609600"/>
            <a:ext cx="8705114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Resilient </a:t>
            </a:r>
            <a:r>
              <a:rPr spc="-15" dirty="0"/>
              <a:t>Distributed</a:t>
            </a:r>
            <a:r>
              <a:rPr spc="70" dirty="0"/>
              <a:t> </a:t>
            </a:r>
            <a:r>
              <a:rPr spc="-15" dirty="0"/>
              <a:t>Dataset(RDD)</a:t>
            </a:r>
          </a:p>
        </p:txBody>
      </p:sp>
      <p:sp>
        <p:nvSpPr>
          <p:cNvPr id="3" name="object 3"/>
          <p:cNvSpPr/>
          <p:nvPr/>
        </p:nvSpPr>
        <p:spPr>
          <a:xfrm>
            <a:off x="956733" y="1981200"/>
            <a:ext cx="6965244" cy="33232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486" y="594182"/>
            <a:ext cx="9162314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Resilient </a:t>
            </a:r>
            <a:r>
              <a:rPr spc="-15" dirty="0"/>
              <a:t>Distributed</a:t>
            </a:r>
            <a:r>
              <a:rPr spc="70" dirty="0"/>
              <a:t> </a:t>
            </a:r>
            <a:r>
              <a:rPr spc="-15" dirty="0"/>
              <a:t>Dataset(RDD)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618869"/>
            <a:ext cx="8022590" cy="20370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55" dirty="0">
                <a:latin typeface="Carlito"/>
                <a:cs typeface="Carlito"/>
              </a:rPr>
              <a:t>Two </a:t>
            </a:r>
            <a:r>
              <a:rPr sz="2000" spc="-5" dirty="0">
                <a:latin typeface="Carlito"/>
                <a:cs typeface="Carlito"/>
              </a:rPr>
              <a:t>types of</a:t>
            </a:r>
            <a:r>
              <a:rPr sz="2000" spc="85" dirty="0">
                <a:latin typeface="Carlito"/>
                <a:cs typeface="Carlito"/>
              </a:rPr>
              <a:t> </a:t>
            </a:r>
            <a:r>
              <a:rPr sz="2000" spc="-15" dirty="0">
                <a:latin typeface="Carlito"/>
                <a:cs typeface="Carlito"/>
              </a:rPr>
              <a:t>operations:</a:t>
            </a:r>
            <a:endParaRPr sz="20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arlito"/>
              <a:cs typeface="Carlito"/>
            </a:endParaRPr>
          </a:p>
          <a:p>
            <a:pPr marL="356870" marR="5080" indent="-344805">
              <a:lnSpc>
                <a:spcPct val="100000"/>
              </a:lnSpc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2000" b="1" spc="-20" dirty="0">
                <a:latin typeface="Carlito"/>
                <a:cs typeface="Carlito"/>
              </a:rPr>
              <a:t>Transformations: </a:t>
            </a:r>
            <a:r>
              <a:rPr sz="2000" spc="-20" dirty="0">
                <a:latin typeface="Carlito"/>
                <a:cs typeface="Carlito"/>
              </a:rPr>
              <a:t>They </a:t>
            </a:r>
            <a:r>
              <a:rPr sz="2000" spc="-10" dirty="0">
                <a:latin typeface="Carlito"/>
                <a:cs typeface="Carlito"/>
              </a:rPr>
              <a:t>are </a:t>
            </a:r>
            <a:r>
              <a:rPr sz="2000" spc="-5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operations that </a:t>
            </a:r>
            <a:r>
              <a:rPr sz="2000" spc="-15" dirty="0">
                <a:latin typeface="Carlito"/>
                <a:cs typeface="Carlito"/>
              </a:rPr>
              <a:t>are </a:t>
            </a:r>
            <a:r>
              <a:rPr sz="2000" spc="-5" dirty="0">
                <a:latin typeface="Carlito"/>
                <a:cs typeface="Carlito"/>
              </a:rPr>
              <a:t>applied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spc="-20" dirty="0">
                <a:latin typeface="Carlito"/>
                <a:cs typeface="Carlito"/>
              </a:rPr>
              <a:t>create </a:t>
            </a:r>
            <a:r>
              <a:rPr sz="2000" spc="-5" dirty="0">
                <a:latin typeface="Carlito"/>
                <a:cs typeface="Carlito"/>
              </a:rPr>
              <a:t>a </a:t>
            </a:r>
            <a:r>
              <a:rPr sz="2000" spc="-10" dirty="0">
                <a:latin typeface="Carlito"/>
                <a:cs typeface="Carlito"/>
              </a:rPr>
              <a:t>new  </a:t>
            </a:r>
            <a:r>
              <a:rPr sz="2000" spc="-20" dirty="0">
                <a:latin typeface="Carlito"/>
                <a:cs typeface="Carlito"/>
              </a:rPr>
              <a:t>RDD.</a:t>
            </a:r>
            <a:endParaRPr sz="2000">
              <a:latin typeface="Carlito"/>
              <a:cs typeface="Carlito"/>
            </a:endParaRPr>
          </a:p>
          <a:p>
            <a:pPr marL="356870" marR="418465" indent="-34480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sz="2000" b="1" spc="-5" dirty="0">
                <a:latin typeface="Carlito"/>
                <a:cs typeface="Carlito"/>
              </a:rPr>
              <a:t>Actions</a:t>
            </a:r>
            <a:r>
              <a:rPr sz="2000" spc="-5" dirty="0">
                <a:latin typeface="Carlito"/>
                <a:cs typeface="Carlito"/>
              </a:rPr>
              <a:t>: </a:t>
            </a:r>
            <a:r>
              <a:rPr sz="2000" spc="-20" dirty="0">
                <a:latin typeface="Carlito"/>
                <a:cs typeface="Carlito"/>
              </a:rPr>
              <a:t>They </a:t>
            </a:r>
            <a:r>
              <a:rPr sz="2000" spc="-15" dirty="0">
                <a:latin typeface="Carlito"/>
                <a:cs typeface="Carlito"/>
              </a:rPr>
              <a:t>are </a:t>
            </a:r>
            <a:r>
              <a:rPr sz="2000" spc="-5" dirty="0">
                <a:latin typeface="Carlito"/>
                <a:cs typeface="Carlito"/>
              </a:rPr>
              <a:t>applied on an RDD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spc="-10" dirty="0">
                <a:latin typeface="Carlito"/>
                <a:cs typeface="Carlito"/>
              </a:rPr>
              <a:t>instruct </a:t>
            </a:r>
            <a:r>
              <a:rPr sz="2000" spc="-5" dirty="0">
                <a:latin typeface="Carlito"/>
                <a:cs typeface="Carlito"/>
              </a:rPr>
              <a:t>Apache Spark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dirty="0">
                <a:latin typeface="Carlito"/>
                <a:cs typeface="Carlito"/>
              </a:rPr>
              <a:t>apply  </a:t>
            </a:r>
            <a:r>
              <a:rPr sz="2000" spc="-10" dirty="0">
                <a:latin typeface="Carlito"/>
                <a:cs typeface="Carlito"/>
              </a:rPr>
              <a:t>computation </a:t>
            </a:r>
            <a:r>
              <a:rPr sz="2000" spc="-5" dirty="0">
                <a:latin typeface="Carlito"/>
                <a:cs typeface="Carlito"/>
              </a:rPr>
              <a:t>and pass the </a:t>
            </a:r>
            <a:r>
              <a:rPr sz="2000" spc="-15" dirty="0">
                <a:latin typeface="Carlito"/>
                <a:cs typeface="Carlito"/>
              </a:rPr>
              <a:t>result </a:t>
            </a:r>
            <a:r>
              <a:rPr sz="2000" spc="-5" dirty="0">
                <a:latin typeface="Carlito"/>
                <a:cs typeface="Carlito"/>
              </a:rPr>
              <a:t>back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spc="-5" dirty="0">
                <a:latin typeface="Carlito"/>
                <a:cs typeface="Carlito"/>
              </a:rPr>
              <a:t>the</a:t>
            </a:r>
            <a:r>
              <a:rPr sz="2000" spc="114" dirty="0">
                <a:latin typeface="Carlito"/>
                <a:cs typeface="Carlito"/>
              </a:rPr>
              <a:t> </a:t>
            </a:r>
            <a:r>
              <a:rPr sz="2000" spc="-40" dirty="0">
                <a:latin typeface="Carlito"/>
                <a:cs typeface="Carlito"/>
              </a:rPr>
              <a:t>driver.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9807" y="594182"/>
            <a:ext cx="684149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Working </a:t>
            </a:r>
            <a:r>
              <a:rPr spc="-5" dirty="0"/>
              <a:t>of </a:t>
            </a:r>
            <a:r>
              <a:rPr spc="-10" dirty="0"/>
              <a:t>Spark</a:t>
            </a:r>
            <a:r>
              <a:rPr spc="20" dirty="0"/>
              <a:t> </a:t>
            </a:r>
            <a:r>
              <a:rPr spc="-20" dirty="0"/>
              <a:t>Architecture</a:t>
            </a:r>
          </a:p>
        </p:txBody>
      </p:sp>
      <p:sp>
        <p:nvSpPr>
          <p:cNvPr id="3" name="object 3"/>
          <p:cNvSpPr/>
          <p:nvPr/>
        </p:nvSpPr>
        <p:spPr>
          <a:xfrm>
            <a:off x="1345101" y="1905000"/>
            <a:ext cx="6277781" cy="3810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9807" y="594182"/>
            <a:ext cx="684149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Working </a:t>
            </a:r>
            <a:r>
              <a:rPr spc="-5" dirty="0"/>
              <a:t>of </a:t>
            </a:r>
            <a:r>
              <a:rPr spc="-10" dirty="0"/>
              <a:t>Spark</a:t>
            </a:r>
            <a:r>
              <a:rPr spc="20" dirty="0"/>
              <a:t> </a:t>
            </a:r>
            <a:r>
              <a:rPr spc="-20" dirty="0"/>
              <a:t>Architecture</a:t>
            </a:r>
          </a:p>
        </p:txBody>
      </p:sp>
      <p:sp>
        <p:nvSpPr>
          <p:cNvPr id="3" name="object 3"/>
          <p:cNvSpPr/>
          <p:nvPr/>
        </p:nvSpPr>
        <p:spPr>
          <a:xfrm>
            <a:off x="873223" y="1775962"/>
            <a:ext cx="7028385" cy="42438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9807" y="594182"/>
            <a:ext cx="684149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Working </a:t>
            </a:r>
            <a:r>
              <a:rPr spc="-5" dirty="0"/>
              <a:t>of </a:t>
            </a:r>
            <a:r>
              <a:rPr spc="-10" dirty="0"/>
              <a:t>Spark</a:t>
            </a:r>
            <a:r>
              <a:rPr spc="20" dirty="0"/>
              <a:t> </a:t>
            </a:r>
            <a:r>
              <a:rPr spc="-20" dirty="0"/>
              <a:t>Architecture</a:t>
            </a:r>
          </a:p>
        </p:txBody>
      </p:sp>
      <p:sp>
        <p:nvSpPr>
          <p:cNvPr id="3" name="object 3"/>
          <p:cNvSpPr/>
          <p:nvPr/>
        </p:nvSpPr>
        <p:spPr>
          <a:xfrm>
            <a:off x="1001896" y="2081411"/>
            <a:ext cx="7049192" cy="3410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670" y="2724404"/>
            <a:ext cx="350393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1" spc="-15" dirty="0">
                <a:solidFill>
                  <a:srgbClr val="001F5F"/>
                </a:solidFill>
                <a:latin typeface="Caladea"/>
                <a:cs typeface="Caladea"/>
              </a:rPr>
              <a:t>Thank</a:t>
            </a:r>
            <a:r>
              <a:rPr b="1" spc="-40" dirty="0">
                <a:solidFill>
                  <a:srgbClr val="001F5F"/>
                </a:solidFill>
                <a:latin typeface="Caladea"/>
                <a:cs typeface="Caladea"/>
              </a:rPr>
              <a:t> </a:t>
            </a:r>
            <a:r>
              <a:rPr b="1" spc="-135" dirty="0">
                <a:solidFill>
                  <a:srgbClr val="001F5F"/>
                </a:solidFill>
                <a:latin typeface="Caladea"/>
                <a:cs typeface="Caladea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D60A097DE78448BA6DFD5D0AEC0127" ma:contentTypeVersion="14" ma:contentTypeDescription="Create a new document." ma:contentTypeScope="" ma:versionID="d689e8c1f7e8dd0eb0244179feefb6bb">
  <xsd:schema xmlns:xsd="http://www.w3.org/2001/XMLSchema" xmlns:xs="http://www.w3.org/2001/XMLSchema" xmlns:p="http://schemas.microsoft.com/office/2006/metadata/properties" xmlns:ns2="3a48d65c-488b-40f3-bfca-8ec0544224e8" xmlns:ns3="0f0b5f46-0ea9-40f4-a01f-2a01ec9df389" targetNamespace="http://schemas.microsoft.com/office/2006/metadata/properties" ma:root="true" ma:fieldsID="24e2b1d8b4a7fe43d9090dce88d1e9f4" ns2:_="" ns3:_="">
    <xsd:import namespace="3a48d65c-488b-40f3-bfca-8ec0544224e8"/>
    <xsd:import namespace="0f0b5f46-0ea9-40f4-a01f-2a01ec9df3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48d65c-488b-40f3-bfca-8ec0544224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8234f470-e8b5-4e69-ba45-ff9d62a3c2c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0b5f46-0ea9-40f4-a01f-2a01ec9df38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ef8d81c9-d777-4229-9c17-0475d51dc10a}" ma:internalName="TaxCatchAll" ma:showField="CatchAllData" ma:web="0f0b5f46-0ea9-40f4-a01f-2a01ec9df3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a48d65c-488b-40f3-bfca-8ec0544224e8">
      <Terms xmlns="http://schemas.microsoft.com/office/infopath/2007/PartnerControls"/>
    </lcf76f155ced4ddcb4097134ff3c332f>
    <TaxCatchAll xmlns="0f0b5f46-0ea9-40f4-a01f-2a01ec9df389" xsi:nil="true"/>
  </documentManagement>
</p:properties>
</file>

<file path=customXml/itemProps1.xml><?xml version="1.0" encoding="utf-8"?>
<ds:datastoreItem xmlns:ds="http://schemas.openxmlformats.org/officeDocument/2006/customXml" ds:itemID="{CC90A4C0-6AFB-4635-B5FC-6EE72C5A4C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a48d65c-488b-40f3-bfca-8ec0544224e8"/>
    <ds:schemaRef ds:uri="0f0b5f46-0ea9-40f4-a01f-2a01ec9df3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341C5DA-D4EB-42C9-A9AD-30696CAC14C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158473-AD51-4288-A50E-42D6B026B997}">
  <ds:schemaRefs>
    <ds:schemaRef ds:uri="http://schemas.microsoft.com/office/2006/metadata/properties"/>
    <ds:schemaRef ds:uri="http://schemas.microsoft.com/office/infopath/2007/PartnerControls"/>
    <ds:schemaRef ds:uri="3a48d65c-488b-40f3-bfca-8ec0544224e8"/>
    <ds:schemaRef ds:uri="0f0b5f46-0ea9-40f4-a01f-2a01ec9df38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</TotalTime>
  <Words>218</Words>
  <Application>Microsoft Office PowerPoint</Application>
  <PresentationFormat>On-screen Show (4:3)</PresentationFormat>
  <Paragraphs>39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Introduction to Spark</vt:lpstr>
      <vt:lpstr>Real Time Analytics</vt:lpstr>
      <vt:lpstr>Why Spark when Hadoop is already  there?</vt:lpstr>
      <vt:lpstr>Why Spark when Hadoop is already  there?</vt:lpstr>
      <vt:lpstr>What is Spark?</vt:lpstr>
      <vt:lpstr>Features of Apache Spark</vt:lpstr>
      <vt:lpstr>Spark Components</vt:lpstr>
      <vt:lpstr>Resilient Distributed Dataset(RDD)</vt:lpstr>
      <vt:lpstr>Resilient Distributed Dataset(RDD)</vt:lpstr>
      <vt:lpstr>Resilient Distributed Dataset(RDD)</vt:lpstr>
      <vt:lpstr>Resilient Distributed Dataset(RDD)</vt:lpstr>
      <vt:lpstr>Working of Spark Architecture</vt:lpstr>
      <vt:lpstr>Working of Spark Architecture</vt:lpstr>
      <vt:lpstr>Working of Spark Architecture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BIG DATA AND HADOOP</dc:title>
  <dc:creator>PRITI</dc:creator>
  <cp:lastModifiedBy>CDAC</cp:lastModifiedBy>
  <cp:revision>3</cp:revision>
  <dcterms:created xsi:type="dcterms:W3CDTF">2022-06-10T11:53:51Z</dcterms:created>
  <dcterms:modified xsi:type="dcterms:W3CDTF">2025-06-16T05:12:45Z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2020-06-05T00:00:00Z</vt:filetime>
  </property>
  <property fmtid="{D5CDD505-2E9C-101B-9397-08002B2CF9AE}" pid="3" name="LastSaved">
    <vt:filetime>2022-06-10T00:00:00Z</vt:filetime>
  </property>
  <property fmtid="{D5CDD505-2E9C-101B-9397-08002B2CF9AE}" pid="4" name="ContentTypeId">
    <vt:lpwstr>0x0101005DD60A097DE78448BA6DFD5D0AEC0127</vt:lpwstr>
  </property>
</Properties>
</file>